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6" r:id="rId2"/>
    <p:sldId id="272" r:id="rId3"/>
    <p:sldId id="262" r:id="rId4"/>
    <p:sldId id="257" r:id="rId5"/>
    <p:sldId id="266" r:id="rId6"/>
    <p:sldId id="269" r:id="rId7"/>
    <p:sldId id="271" r:id="rId8"/>
    <p:sldId id="274" r:id="rId9"/>
    <p:sldId id="264" r:id="rId10"/>
    <p:sldId id="263" r:id="rId11"/>
    <p:sldId id="273" r:id="rId12"/>
    <p:sldId id="265" r:id="rId13"/>
    <p:sldId id="268" r:id="rId14"/>
    <p:sldId id="267" r:id="rId15"/>
    <p:sldId id="258" r:id="rId16"/>
    <p:sldId id="270" r:id="rId17"/>
    <p:sldId id="27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52A1A5-036B-412B-8749-7E19F6E4D514}" type="doc">
      <dgm:prSet loTypeId="urn:microsoft.com/office/officeart/2005/8/layout/orgChart1" loCatId="hierarchy" qsTypeId="urn:microsoft.com/office/officeart/2005/8/quickstyle/simple5" qsCatId="simple" csTypeId="urn:microsoft.com/office/officeart/2005/8/colors/accent1_2" csCatId="accent1" phldr="1"/>
      <dgm:spPr/>
      <dgm:t>
        <a:bodyPr/>
        <a:lstStyle/>
        <a:p>
          <a:endParaRPr lang="en-IN"/>
        </a:p>
      </dgm:t>
    </dgm:pt>
    <dgm:pt modelId="{176A303E-602C-4981-93B0-7A6276B5E3DD}">
      <dgm:prSet phldrT="[Text]"/>
      <dgm:spPr/>
      <dgm:t>
        <a:bodyPr/>
        <a:lstStyle/>
        <a:p>
          <a:r>
            <a:rPr lang="en-IN" dirty="0"/>
            <a:t>Regression</a:t>
          </a:r>
        </a:p>
      </dgm:t>
    </dgm:pt>
    <dgm:pt modelId="{26DBAA7A-27D6-4B59-897E-EEC7A1CDB0E7}" type="parTrans" cxnId="{85BE31BB-DA22-4DC4-9F1C-96B7FCC897FB}">
      <dgm:prSet/>
      <dgm:spPr/>
      <dgm:t>
        <a:bodyPr/>
        <a:lstStyle/>
        <a:p>
          <a:endParaRPr lang="en-IN"/>
        </a:p>
      </dgm:t>
    </dgm:pt>
    <dgm:pt modelId="{5124F304-ABA1-4216-9B27-43B53FB1F963}" type="sibTrans" cxnId="{85BE31BB-DA22-4DC4-9F1C-96B7FCC897FB}">
      <dgm:prSet/>
      <dgm:spPr/>
      <dgm:t>
        <a:bodyPr/>
        <a:lstStyle/>
        <a:p>
          <a:endParaRPr lang="en-IN"/>
        </a:p>
      </dgm:t>
    </dgm:pt>
    <dgm:pt modelId="{6916BC70-412B-4BC8-9B5B-802565B0B7D5}">
      <dgm:prSet phldrT="[Text]"/>
      <dgm:spPr/>
      <dgm:t>
        <a:bodyPr/>
        <a:lstStyle/>
        <a:p>
          <a:r>
            <a:rPr lang="en-IN" dirty="0"/>
            <a:t>Simple Linear Regression</a:t>
          </a:r>
        </a:p>
      </dgm:t>
    </dgm:pt>
    <dgm:pt modelId="{CA2FD9F0-B400-4842-BE80-D61970DC1843}" type="parTrans" cxnId="{AA751911-3F0A-4652-8FF8-6B5A66861CE0}">
      <dgm:prSet/>
      <dgm:spPr/>
      <dgm:t>
        <a:bodyPr/>
        <a:lstStyle/>
        <a:p>
          <a:endParaRPr lang="en-IN"/>
        </a:p>
      </dgm:t>
    </dgm:pt>
    <dgm:pt modelId="{475B5489-B31A-4BF6-9BDD-56D65FC45380}" type="sibTrans" cxnId="{AA751911-3F0A-4652-8FF8-6B5A66861CE0}">
      <dgm:prSet/>
      <dgm:spPr/>
      <dgm:t>
        <a:bodyPr/>
        <a:lstStyle/>
        <a:p>
          <a:endParaRPr lang="en-IN"/>
        </a:p>
      </dgm:t>
    </dgm:pt>
    <dgm:pt modelId="{3DD1C264-87D3-4F47-9B34-78D48C49A1BE}">
      <dgm:prSet phldrT="[Text]"/>
      <dgm:spPr/>
      <dgm:t>
        <a:bodyPr/>
        <a:lstStyle/>
        <a:p>
          <a:r>
            <a:rPr lang="en-IN" dirty="0"/>
            <a:t>Ridge Regression</a:t>
          </a:r>
        </a:p>
      </dgm:t>
    </dgm:pt>
    <dgm:pt modelId="{A6064E83-7470-4024-AB5D-49FB9826ED64}" type="parTrans" cxnId="{B466789E-94EA-4123-95B5-D7E51BF25CFA}">
      <dgm:prSet/>
      <dgm:spPr/>
      <dgm:t>
        <a:bodyPr/>
        <a:lstStyle/>
        <a:p>
          <a:endParaRPr lang="en-IN"/>
        </a:p>
      </dgm:t>
    </dgm:pt>
    <dgm:pt modelId="{AB0F9319-5928-4C59-A3F6-D6DA9AB0D82C}" type="sibTrans" cxnId="{B466789E-94EA-4123-95B5-D7E51BF25CFA}">
      <dgm:prSet/>
      <dgm:spPr/>
      <dgm:t>
        <a:bodyPr/>
        <a:lstStyle/>
        <a:p>
          <a:endParaRPr lang="en-IN"/>
        </a:p>
      </dgm:t>
    </dgm:pt>
    <dgm:pt modelId="{463BB582-8D83-4719-93E0-32CF5E8C9D69}">
      <dgm:prSet phldrT="[Text]"/>
      <dgm:spPr/>
      <dgm:t>
        <a:bodyPr/>
        <a:lstStyle/>
        <a:p>
          <a:r>
            <a:rPr lang="en-IN" dirty="0"/>
            <a:t>LASSO Regression</a:t>
          </a:r>
        </a:p>
      </dgm:t>
    </dgm:pt>
    <dgm:pt modelId="{7A60D792-6D29-46A6-8AB1-92012C5C27EF}" type="parTrans" cxnId="{7B6042CC-4524-45F6-92F6-DB648898BC2E}">
      <dgm:prSet/>
      <dgm:spPr/>
      <dgm:t>
        <a:bodyPr/>
        <a:lstStyle/>
        <a:p>
          <a:endParaRPr lang="en-IN"/>
        </a:p>
      </dgm:t>
    </dgm:pt>
    <dgm:pt modelId="{F703FFBE-1A91-4167-B52C-2B428F31FAE9}" type="sibTrans" cxnId="{7B6042CC-4524-45F6-92F6-DB648898BC2E}">
      <dgm:prSet/>
      <dgm:spPr/>
      <dgm:t>
        <a:bodyPr/>
        <a:lstStyle/>
        <a:p>
          <a:endParaRPr lang="en-IN"/>
        </a:p>
      </dgm:t>
    </dgm:pt>
    <dgm:pt modelId="{6C6F37A8-E6CD-4BAE-82FE-8F37D0ED4E1F}">
      <dgm:prSet/>
      <dgm:spPr/>
      <dgm:t>
        <a:bodyPr/>
        <a:lstStyle/>
        <a:p>
          <a:r>
            <a:rPr lang="en-IN" dirty="0"/>
            <a:t>Elastic Net (Ridge+ LASSO) Regression</a:t>
          </a:r>
        </a:p>
      </dgm:t>
    </dgm:pt>
    <dgm:pt modelId="{DEAF14AA-ADA4-40D0-8F13-35F974284EAB}" type="parTrans" cxnId="{37A80524-1BEB-4130-937A-422C3DCF351A}">
      <dgm:prSet/>
      <dgm:spPr/>
      <dgm:t>
        <a:bodyPr/>
        <a:lstStyle/>
        <a:p>
          <a:endParaRPr lang="en-IN"/>
        </a:p>
      </dgm:t>
    </dgm:pt>
    <dgm:pt modelId="{1C8ACC4F-F2AB-4751-8CE6-EFF35DD90639}" type="sibTrans" cxnId="{37A80524-1BEB-4130-937A-422C3DCF351A}">
      <dgm:prSet/>
      <dgm:spPr/>
      <dgm:t>
        <a:bodyPr/>
        <a:lstStyle/>
        <a:p>
          <a:endParaRPr lang="en-IN"/>
        </a:p>
      </dgm:t>
    </dgm:pt>
    <dgm:pt modelId="{56B3CF42-A164-40D7-92DE-3E43918F4C8B}" type="pres">
      <dgm:prSet presAssocID="{1052A1A5-036B-412B-8749-7E19F6E4D514}" presName="hierChild1" presStyleCnt="0">
        <dgm:presLayoutVars>
          <dgm:orgChart val="1"/>
          <dgm:chPref val="1"/>
          <dgm:dir/>
          <dgm:animOne val="branch"/>
          <dgm:animLvl val="lvl"/>
          <dgm:resizeHandles/>
        </dgm:presLayoutVars>
      </dgm:prSet>
      <dgm:spPr/>
    </dgm:pt>
    <dgm:pt modelId="{9B91C8C8-C42E-4320-8EDA-85E402459B27}" type="pres">
      <dgm:prSet presAssocID="{176A303E-602C-4981-93B0-7A6276B5E3DD}" presName="hierRoot1" presStyleCnt="0">
        <dgm:presLayoutVars>
          <dgm:hierBranch val="init"/>
        </dgm:presLayoutVars>
      </dgm:prSet>
      <dgm:spPr/>
    </dgm:pt>
    <dgm:pt modelId="{DB6251D5-389E-45C8-A426-B9911EF1EBA9}" type="pres">
      <dgm:prSet presAssocID="{176A303E-602C-4981-93B0-7A6276B5E3DD}" presName="rootComposite1" presStyleCnt="0"/>
      <dgm:spPr/>
    </dgm:pt>
    <dgm:pt modelId="{9B7D0EA0-8BB2-4FC9-9316-8223F4F68BB4}" type="pres">
      <dgm:prSet presAssocID="{176A303E-602C-4981-93B0-7A6276B5E3DD}" presName="rootText1" presStyleLbl="node0" presStyleIdx="0" presStyleCnt="1">
        <dgm:presLayoutVars>
          <dgm:chPref val="3"/>
        </dgm:presLayoutVars>
      </dgm:prSet>
      <dgm:spPr/>
    </dgm:pt>
    <dgm:pt modelId="{22023B09-7C2F-48E0-9777-4B26680E4373}" type="pres">
      <dgm:prSet presAssocID="{176A303E-602C-4981-93B0-7A6276B5E3DD}" presName="rootConnector1" presStyleLbl="node1" presStyleIdx="0" presStyleCnt="0"/>
      <dgm:spPr/>
    </dgm:pt>
    <dgm:pt modelId="{17E9E093-84A7-432E-9485-116BD5DC46FF}" type="pres">
      <dgm:prSet presAssocID="{176A303E-602C-4981-93B0-7A6276B5E3DD}" presName="hierChild2" presStyleCnt="0"/>
      <dgm:spPr/>
    </dgm:pt>
    <dgm:pt modelId="{AAE68BA3-5D5D-4964-9C40-A6367CB21BD8}" type="pres">
      <dgm:prSet presAssocID="{CA2FD9F0-B400-4842-BE80-D61970DC1843}" presName="Name37" presStyleLbl="parChTrans1D2" presStyleIdx="0" presStyleCnt="4"/>
      <dgm:spPr/>
    </dgm:pt>
    <dgm:pt modelId="{E4AEC716-1161-410A-BD18-8F42A076626D}" type="pres">
      <dgm:prSet presAssocID="{6916BC70-412B-4BC8-9B5B-802565B0B7D5}" presName="hierRoot2" presStyleCnt="0">
        <dgm:presLayoutVars>
          <dgm:hierBranch val="init"/>
        </dgm:presLayoutVars>
      </dgm:prSet>
      <dgm:spPr/>
    </dgm:pt>
    <dgm:pt modelId="{B249D9F1-1D90-49B8-87F9-ECC262605235}" type="pres">
      <dgm:prSet presAssocID="{6916BC70-412B-4BC8-9B5B-802565B0B7D5}" presName="rootComposite" presStyleCnt="0"/>
      <dgm:spPr/>
    </dgm:pt>
    <dgm:pt modelId="{B30AA710-2784-490B-B7CF-675E4F8E7ED1}" type="pres">
      <dgm:prSet presAssocID="{6916BC70-412B-4BC8-9B5B-802565B0B7D5}" presName="rootText" presStyleLbl="node2" presStyleIdx="0" presStyleCnt="4">
        <dgm:presLayoutVars>
          <dgm:chPref val="3"/>
        </dgm:presLayoutVars>
      </dgm:prSet>
      <dgm:spPr/>
    </dgm:pt>
    <dgm:pt modelId="{BA6D4C02-873E-4A27-92DE-087F9B25145A}" type="pres">
      <dgm:prSet presAssocID="{6916BC70-412B-4BC8-9B5B-802565B0B7D5}" presName="rootConnector" presStyleLbl="node2" presStyleIdx="0" presStyleCnt="4"/>
      <dgm:spPr/>
    </dgm:pt>
    <dgm:pt modelId="{509C6692-D0FF-40BB-975E-F53E49CC5D46}" type="pres">
      <dgm:prSet presAssocID="{6916BC70-412B-4BC8-9B5B-802565B0B7D5}" presName="hierChild4" presStyleCnt="0"/>
      <dgm:spPr/>
    </dgm:pt>
    <dgm:pt modelId="{88BCE0FF-C497-4DEB-9287-D2EF292872FB}" type="pres">
      <dgm:prSet presAssocID="{6916BC70-412B-4BC8-9B5B-802565B0B7D5}" presName="hierChild5" presStyleCnt="0"/>
      <dgm:spPr/>
    </dgm:pt>
    <dgm:pt modelId="{87475B0E-719F-45DD-BA77-B6FBB4B38F29}" type="pres">
      <dgm:prSet presAssocID="{A6064E83-7470-4024-AB5D-49FB9826ED64}" presName="Name37" presStyleLbl="parChTrans1D2" presStyleIdx="1" presStyleCnt="4"/>
      <dgm:spPr/>
    </dgm:pt>
    <dgm:pt modelId="{F5AD63B4-4566-4F68-82A5-9E5C7EF7605E}" type="pres">
      <dgm:prSet presAssocID="{3DD1C264-87D3-4F47-9B34-78D48C49A1BE}" presName="hierRoot2" presStyleCnt="0">
        <dgm:presLayoutVars>
          <dgm:hierBranch val="init"/>
        </dgm:presLayoutVars>
      </dgm:prSet>
      <dgm:spPr/>
    </dgm:pt>
    <dgm:pt modelId="{A228F3D0-5828-41C8-ADA2-CF20441D8760}" type="pres">
      <dgm:prSet presAssocID="{3DD1C264-87D3-4F47-9B34-78D48C49A1BE}" presName="rootComposite" presStyleCnt="0"/>
      <dgm:spPr/>
    </dgm:pt>
    <dgm:pt modelId="{EA2B89D3-4BC1-4EFF-82A6-4CAF7B163043}" type="pres">
      <dgm:prSet presAssocID="{3DD1C264-87D3-4F47-9B34-78D48C49A1BE}" presName="rootText" presStyleLbl="node2" presStyleIdx="1" presStyleCnt="4">
        <dgm:presLayoutVars>
          <dgm:chPref val="3"/>
        </dgm:presLayoutVars>
      </dgm:prSet>
      <dgm:spPr/>
    </dgm:pt>
    <dgm:pt modelId="{1A6DDDDA-BB59-4ABC-9069-AAE4E4F8D46B}" type="pres">
      <dgm:prSet presAssocID="{3DD1C264-87D3-4F47-9B34-78D48C49A1BE}" presName="rootConnector" presStyleLbl="node2" presStyleIdx="1" presStyleCnt="4"/>
      <dgm:spPr/>
    </dgm:pt>
    <dgm:pt modelId="{94417ACF-BF22-49E4-8CA1-621482C113C7}" type="pres">
      <dgm:prSet presAssocID="{3DD1C264-87D3-4F47-9B34-78D48C49A1BE}" presName="hierChild4" presStyleCnt="0"/>
      <dgm:spPr/>
    </dgm:pt>
    <dgm:pt modelId="{6D76ED63-F949-4642-91D4-5F3A03C4D776}" type="pres">
      <dgm:prSet presAssocID="{3DD1C264-87D3-4F47-9B34-78D48C49A1BE}" presName="hierChild5" presStyleCnt="0"/>
      <dgm:spPr/>
    </dgm:pt>
    <dgm:pt modelId="{19BD9E65-5EC1-4E68-8DF7-E5D050B045C6}" type="pres">
      <dgm:prSet presAssocID="{7A60D792-6D29-46A6-8AB1-92012C5C27EF}" presName="Name37" presStyleLbl="parChTrans1D2" presStyleIdx="2" presStyleCnt="4"/>
      <dgm:spPr/>
    </dgm:pt>
    <dgm:pt modelId="{BC070AEE-8B57-42F1-8DD6-15E3C13CAA96}" type="pres">
      <dgm:prSet presAssocID="{463BB582-8D83-4719-93E0-32CF5E8C9D69}" presName="hierRoot2" presStyleCnt="0">
        <dgm:presLayoutVars>
          <dgm:hierBranch val="init"/>
        </dgm:presLayoutVars>
      </dgm:prSet>
      <dgm:spPr/>
    </dgm:pt>
    <dgm:pt modelId="{3B48079C-A783-40CD-8139-A80D1AC7A3D1}" type="pres">
      <dgm:prSet presAssocID="{463BB582-8D83-4719-93E0-32CF5E8C9D69}" presName="rootComposite" presStyleCnt="0"/>
      <dgm:spPr/>
    </dgm:pt>
    <dgm:pt modelId="{7B22DBF5-529B-4A5D-9AF2-873BF3CD40F9}" type="pres">
      <dgm:prSet presAssocID="{463BB582-8D83-4719-93E0-32CF5E8C9D69}" presName="rootText" presStyleLbl="node2" presStyleIdx="2" presStyleCnt="4">
        <dgm:presLayoutVars>
          <dgm:chPref val="3"/>
        </dgm:presLayoutVars>
      </dgm:prSet>
      <dgm:spPr/>
    </dgm:pt>
    <dgm:pt modelId="{6C9F7117-8951-487D-A61C-E4D824936D6D}" type="pres">
      <dgm:prSet presAssocID="{463BB582-8D83-4719-93E0-32CF5E8C9D69}" presName="rootConnector" presStyleLbl="node2" presStyleIdx="2" presStyleCnt="4"/>
      <dgm:spPr/>
    </dgm:pt>
    <dgm:pt modelId="{4E40893D-59B5-49D6-90BE-087C91DC1002}" type="pres">
      <dgm:prSet presAssocID="{463BB582-8D83-4719-93E0-32CF5E8C9D69}" presName="hierChild4" presStyleCnt="0"/>
      <dgm:spPr/>
    </dgm:pt>
    <dgm:pt modelId="{89310797-0D6B-4D2D-882E-C5AB87DBF530}" type="pres">
      <dgm:prSet presAssocID="{463BB582-8D83-4719-93E0-32CF5E8C9D69}" presName="hierChild5" presStyleCnt="0"/>
      <dgm:spPr/>
    </dgm:pt>
    <dgm:pt modelId="{11717339-4C83-4C26-9B02-80C0774B1602}" type="pres">
      <dgm:prSet presAssocID="{DEAF14AA-ADA4-40D0-8F13-35F974284EAB}" presName="Name37" presStyleLbl="parChTrans1D2" presStyleIdx="3" presStyleCnt="4"/>
      <dgm:spPr/>
    </dgm:pt>
    <dgm:pt modelId="{B02EAFF9-B85C-4D9B-BAC6-4972556FD0D9}" type="pres">
      <dgm:prSet presAssocID="{6C6F37A8-E6CD-4BAE-82FE-8F37D0ED4E1F}" presName="hierRoot2" presStyleCnt="0">
        <dgm:presLayoutVars>
          <dgm:hierBranch val="init"/>
        </dgm:presLayoutVars>
      </dgm:prSet>
      <dgm:spPr/>
    </dgm:pt>
    <dgm:pt modelId="{43FC7748-5082-409E-B1D0-59A8F0D1281D}" type="pres">
      <dgm:prSet presAssocID="{6C6F37A8-E6CD-4BAE-82FE-8F37D0ED4E1F}" presName="rootComposite" presStyleCnt="0"/>
      <dgm:spPr/>
    </dgm:pt>
    <dgm:pt modelId="{6B1BB7D1-E20C-48E4-87CC-9D4AC57FC945}" type="pres">
      <dgm:prSet presAssocID="{6C6F37A8-E6CD-4BAE-82FE-8F37D0ED4E1F}" presName="rootText" presStyleLbl="node2" presStyleIdx="3" presStyleCnt="4">
        <dgm:presLayoutVars>
          <dgm:chPref val="3"/>
        </dgm:presLayoutVars>
      </dgm:prSet>
      <dgm:spPr/>
    </dgm:pt>
    <dgm:pt modelId="{0528DBA3-5E3C-40F4-BFA7-8F40EA73383A}" type="pres">
      <dgm:prSet presAssocID="{6C6F37A8-E6CD-4BAE-82FE-8F37D0ED4E1F}" presName="rootConnector" presStyleLbl="node2" presStyleIdx="3" presStyleCnt="4"/>
      <dgm:spPr/>
    </dgm:pt>
    <dgm:pt modelId="{EBFD93A3-0075-405B-A820-71F350078126}" type="pres">
      <dgm:prSet presAssocID="{6C6F37A8-E6CD-4BAE-82FE-8F37D0ED4E1F}" presName="hierChild4" presStyleCnt="0"/>
      <dgm:spPr/>
    </dgm:pt>
    <dgm:pt modelId="{79D56CF4-DA8C-424D-99E3-67C073C42DF2}" type="pres">
      <dgm:prSet presAssocID="{6C6F37A8-E6CD-4BAE-82FE-8F37D0ED4E1F}" presName="hierChild5" presStyleCnt="0"/>
      <dgm:spPr/>
    </dgm:pt>
    <dgm:pt modelId="{C46C959B-B032-4E7F-8933-E31B66B81C71}" type="pres">
      <dgm:prSet presAssocID="{176A303E-602C-4981-93B0-7A6276B5E3DD}" presName="hierChild3" presStyleCnt="0"/>
      <dgm:spPr/>
    </dgm:pt>
  </dgm:ptLst>
  <dgm:cxnLst>
    <dgm:cxn modelId="{AA5CF703-BBD0-4045-A61D-90899768DFF2}" type="presOf" srcId="{6916BC70-412B-4BC8-9B5B-802565B0B7D5}" destId="{BA6D4C02-873E-4A27-92DE-087F9B25145A}" srcOrd="1" destOrd="0" presId="urn:microsoft.com/office/officeart/2005/8/layout/orgChart1"/>
    <dgm:cxn modelId="{AA751911-3F0A-4652-8FF8-6B5A66861CE0}" srcId="{176A303E-602C-4981-93B0-7A6276B5E3DD}" destId="{6916BC70-412B-4BC8-9B5B-802565B0B7D5}" srcOrd="0" destOrd="0" parTransId="{CA2FD9F0-B400-4842-BE80-D61970DC1843}" sibTransId="{475B5489-B31A-4BF6-9BDD-56D65FC45380}"/>
    <dgm:cxn modelId="{6FF7441B-95AB-4F67-A623-39B2EDAA372A}" type="presOf" srcId="{6916BC70-412B-4BC8-9B5B-802565B0B7D5}" destId="{B30AA710-2784-490B-B7CF-675E4F8E7ED1}" srcOrd="0" destOrd="0" presId="urn:microsoft.com/office/officeart/2005/8/layout/orgChart1"/>
    <dgm:cxn modelId="{C0900A21-89AD-4E2E-AA1B-0A758924CE94}" type="presOf" srcId="{A6064E83-7470-4024-AB5D-49FB9826ED64}" destId="{87475B0E-719F-45DD-BA77-B6FBB4B38F29}" srcOrd="0" destOrd="0" presId="urn:microsoft.com/office/officeart/2005/8/layout/orgChart1"/>
    <dgm:cxn modelId="{3B6AAE22-A4C9-4EFE-9D3A-1FA50864F83C}" type="presOf" srcId="{176A303E-602C-4981-93B0-7A6276B5E3DD}" destId="{22023B09-7C2F-48E0-9777-4B26680E4373}" srcOrd="1" destOrd="0" presId="urn:microsoft.com/office/officeart/2005/8/layout/orgChart1"/>
    <dgm:cxn modelId="{37A80524-1BEB-4130-937A-422C3DCF351A}" srcId="{176A303E-602C-4981-93B0-7A6276B5E3DD}" destId="{6C6F37A8-E6CD-4BAE-82FE-8F37D0ED4E1F}" srcOrd="3" destOrd="0" parTransId="{DEAF14AA-ADA4-40D0-8F13-35F974284EAB}" sibTransId="{1C8ACC4F-F2AB-4751-8CE6-EFF35DD90639}"/>
    <dgm:cxn modelId="{D765C743-8D08-431B-AC3D-ECC64254BB3A}" type="presOf" srcId="{6C6F37A8-E6CD-4BAE-82FE-8F37D0ED4E1F}" destId="{0528DBA3-5E3C-40F4-BFA7-8F40EA73383A}" srcOrd="1" destOrd="0" presId="urn:microsoft.com/office/officeart/2005/8/layout/orgChart1"/>
    <dgm:cxn modelId="{67293854-5CDE-4AF5-97A3-CB65D29F2C48}" type="presOf" srcId="{3DD1C264-87D3-4F47-9B34-78D48C49A1BE}" destId="{EA2B89D3-4BC1-4EFF-82A6-4CAF7B163043}" srcOrd="0" destOrd="0" presId="urn:microsoft.com/office/officeart/2005/8/layout/orgChart1"/>
    <dgm:cxn modelId="{B77F9158-76FC-463E-9FE4-77FC07B02474}" type="presOf" srcId="{7A60D792-6D29-46A6-8AB1-92012C5C27EF}" destId="{19BD9E65-5EC1-4E68-8DF7-E5D050B045C6}" srcOrd="0" destOrd="0" presId="urn:microsoft.com/office/officeart/2005/8/layout/orgChart1"/>
    <dgm:cxn modelId="{A293A77C-B7C4-4DE1-B73D-9494A3801194}" type="presOf" srcId="{3DD1C264-87D3-4F47-9B34-78D48C49A1BE}" destId="{1A6DDDDA-BB59-4ABC-9069-AAE4E4F8D46B}" srcOrd="1" destOrd="0" presId="urn:microsoft.com/office/officeart/2005/8/layout/orgChart1"/>
    <dgm:cxn modelId="{D8A9A17F-4440-4DB9-AACC-CE8AFAD55009}" type="presOf" srcId="{6C6F37A8-E6CD-4BAE-82FE-8F37D0ED4E1F}" destId="{6B1BB7D1-E20C-48E4-87CC-9D4AC57FC945}" srcOrd="0" destOrd="0" presId="urn:microsoft.com/office/officeart/2005/8/layout/orgChart1"/>
    <dgm:cxn modelId="{4B7E9D84-2117-4D55-BAE7-CDAC98EED3CE}" type="presOf" srcId="{CA2FD9F0-B400-4842-BE80-D61970DC1843}" destId="{AAE68BA3-5D5D-4964-9C40-A6367CB21BD8}" srcOrd="0" destOrd="0" presId="urn:microsoft.com/office/officeart/2005/8/layout/orgChart1"/>
    <dgm:cxn modelId="{11062C98-66AF-4622-8339-CB17B7957DBE}" type="presOf" srcId="{176A303E-602C-4981-93B0-7A6276B5E3DD}" destId="{9B7D0EA0-8BB2-4FC9-9316-8223F4F68BB4}" srcOrd="0" destOrd="0" presId="urn:microsoft.com/office/officeart/2005/8/layout/orgChart1"/>
    <dgm:cxn modelId="{B466789E-94EA-4123-95B5-D7E51BF25CFA}" srcId="{176A303E-602C-4981-93B0-7A6276B5E3DD}" destId="{3DD1C264-87D3-4F47-9B34-78D48C49A1BE}" srcOrd="1" destOrd="0" parTransId="{A6064E83-7470-4024-AB5D-49FB9826ED64}" sibTransId="{AB0F9319-5928-4C59-A3F6-D6DA9AB0D82C}"/>
    <dgm:cxn modelId="{4AA220AE-668A-4B85-AC2E-990EE6BBBF15}" type="presOf" srcId="{463BB582-8D83-4719-93E0-32CF5E8C9D69}" destId="{7B22DBF5-529B-4A5D-9AF2-873BF3CD40F9}" srcOrd="0" destOrd="0" presId="urn:microsoft.com/office/officeart/2005/8/layout/orgChart1"/>
    <dgm:cxn modelId="{85BE31BB-DA22-4DC4-9F1C-96B7FCC897FB}" srcId="{1052A1A5-036B-412B-8749-7E19F6E4D514}" destId="{176A303E-602C-4981-93B0-7A6276B5E3DD}" srcOrd="0" destOrd="0" parTransId="{26DBAA7A-27D6-4B59-897E-EEC7A1CDB0E7}" sibTransId="{5124F304-ABA1-4216-9B27-43B53FB1F963}"/>
    <dgm:cxn modelId="{801EEEBF-7048-4D6E-BB93-F0C36322247D}" type="presOf" srcId="{463BB582-8D83-4719-93E0-32CF5E8C9D69}" destId="{6C9F7117-8951-487D-A61C-E4D824936D6D}" srcOrd="1" destOrd="0" presId="urn:microsoft.com/office/officeart/2005/8/layout/orgChart1"/>
    <dgm:cxn modelId="{7B6042CC-4524-45F6-92F6-DB648898BC2E}" srcId="{176A303E-602C-4981-93B0-7A6276B5E3DD}" destId="{463BB582-8D83-4719-93E0-32CF5E8C9D69}" srcOrd="2" destOrd="0" parTransId="{7A60D792-6D29-46A6-8AB1-92012C5C27EF}" sibTransId="{F703FFBE-1A91-4167-B52C-2B428F31FAE9}"/>
    <dgm:cxn modelId="{2AA23ED2-70AC-4E90-9347-964003ED0255}" type="presOf" srcId="{1052A1A5-036B-412B-8749-7E19F6E4D514}" destId="{56B3CF42-A164-40D7-92DE-3E43918F4C8B}" srcOrd="0" destOrd="0" presId="urn:microsoft.com/office/officeart/2005/8/layout/orgChart1"/>
    <dgm:cxn modelId="{CE6F34EE-9378-4B83-9558-B67462EAF5DF}" type="presOf" srcId="{DEAF14AA-ADA4-40D0-8F13-35F974284EAB}" destId="{11717339-4C83-4C26-9B02-80C0774B1602}" srcOrd="0" destOrd="0" presId="urn:microsoft.com/office/officeart/2005/8/layout/orgChart1"/>
    <dgm:cxn modelId="{EF3BE59F-4B18-4928-945D-F952F15BAAC2}" type="presParOf" srcId="{56B3CF42-A164-40D7-92DE-3E43918F4C8B}" destId="{9B91C8C8-C42E-4320-8EDA-85E402459B27}" srcOrd="0" destOrd="0" presId="urn:microsoft.com/office/officeart/2005/8/layout/orgChart1"/>
    <dgm:cxn modelId="{22FAE3F1-17F7-456D-AE76-86B1E1C9B5AB}" type="presParOf" srcId="{9B91C8C8-C42E-4320-8EDA-85E402459B27}" destId="{DB6251D5-389E-45C8-A426-B9911EF1EBA9}" srcOrd="0" destOrd="0" presId="urn:microsoft.com/office/officeart/2005/8/layout/orgChart1"/>
    <dgm:cxn modelId="{5D7DE65E-62F4-4827-AA18-A0742B097746}" type="presParOf" srcId="{DB6251D5-389E-45C8-A426-B9911EF1EBA9}" destId="{9B7D0EA0-8BB2-4FC9-9316-8223F4F68BB4}" srcOrd="0" destOrd="0" presId="urn:microsoft.com/office/officeart/2005/8/layout/orgChart1"/>
    <dgm:cxn modelId="{D6D604DB-6A74-456B-A4D2-1F3660D84C70}" type="presParOf" srcId="{DB6251D5-389E-45C8-A426-B9911EF1EBA9}" destId="{22023B09-7C2F-48E0-9777-4B26680E4373}" srcOrd="1" destOrd="0" presId="urn:microsoft.com/office/officeart/2005/8/layout/orgChart1"/>
    <dgm:cxn modelId="{0C29DAC1-E9F3-4DD1-BF55-0BD7C2315148}" type="presParOf" srcId="{9B91C8C8-C42E-4320-8EDA-85E402459B27}" destId="{17E9E093-84A7-432E-9485-116BD5DC46FF}" srcOrd="1" destOrd="0" presId="urn:microsoft.com/office/officeart/2005/8/layout/orgChart1"/>
    <dgm:cxn modelId="{616ADC8B-ABC1-42BA-9E66-D02C8B009B18}" type="presParOf" srcId="{17E9E093-84A7-432E-9485-116BD5DC46FF}" destId="{AAE68BA3-5D5D-4964-9C40-A6367CB21BD8}" srcOrd="0" destOrd="0" presId="urn:microsoft.com/office/officeart/2005/8/layout/orgChart1"/>
    <dgm:cxn modelId="{9BA609DF-79C8-4E96-BD17-91B8C5C53A9D}" type="presParOf" srcId="{17E9E093-84A7-432E-9485-116BD5DC46FF}" destId="{E4AEC716-1161-410A-BD18-8F42A076626D}" srcOrd="1" destOrd="0" presId="urn:microsoft.com/office/officeart/2005/8/layout/orgChart1"/>
    <dgm:cxn modelId="{50C75F5F-1221-46A3-BD4D-FFD2AC30B9EB}" type="presParOf" srcId="{E4AEC716-1161-410A-BD18-8F42A076626D}" destId="{B249D9F1-1D90-49B8-87F9-ECC262605235}" srcOrd="0" destOrd="0" presId="urn:microsoft.com/office/officeart/2005/8/layout/orgChart1"/>
    <dgm:cxn modelId="{7388F07C-2544-417C-86AD-42BE009D463D}" type="presParOf" srcId="{B249D9F1-1D90-49B8-87F9-ECC262605235}" destId="{B30AA710-2784-490B-B7CF-675E4F8E7ED1}" srcOrd="0" destOrd="0" presId="urn:microsoft.com/office/officeart/2005/8/layout/orgChart1"/>
    <dgm:cxn modelId="{C530259A-E8F1-4B5F-BA5C-5202E7957CDC}" type="presParOf" srcId="{B249D9F1-1D90-49B8-87F9-ECC262605235}" destId="{BA6D4C02-873E-4A27-92DE-087F9B25145A}" srcOrd="1" destOrd="0" presId="urn:microsoft.com/office/officeart/2005/8/layout/orgChart1"/>
    <dgm:cxn modelId="{E15439DC-D83B-45BB-AFFB-657F0C015628}" type="presParOf" srcId="{E4AEC716-1161-410A-BD18-8F42A076626D}" destId="{509C6692-D0FF-40BB-975E-F53E49CC5D46}" srcOrd="1" destOrd="0" presId="urn:microsoft.com/office/officeart/2005/8/layout/orgChart1"/>
    <dgm:cxn modelId="{8C2D3B10-6DFA-4AF4-B2FD-28B1AF9406B2}" type="presParOf" srcId="{E4AEC716-1161-410A-BD18-8F42A076626D}" destId="{88BCE0FF-C497-4DEB-9287-D2EF292872FB}" srcOrd="2" destOrd="0" presId="urn:microsoft.com/office/officeart/2005/8/layout/orgChart1"/>
    <dgm:cxn modelId="{239F6C23-2586-4F75-98C1-EB7CA815E7F4}" type="presParOf" srcId="{17E9E093-84A7-432E-9485-116BD5DC46FF}" destId="{87475B0E-719F-45DD-BA77-B6FBB4B38F29}" srcOrd="2" destOrd="0" presId="urn:microsoft.com/office/officeart/2005/8/layout/orgChart1"/>
    <dgm:cxn modelId="{A2DE2E95-3384-4FC0-A594-1D9B36C5CF35}" type="presParOf" srcId="{17E9E093-84A7-432E-9485-116BD5DC46FF}" destId="{F5AD63B4-4566-4F68-82A5-9E5C7EF7605E}" srcOrd="3" destOrd="0" presId="urn:microsoft.com/office/officeart/2005/8/layout/orgChart1"/>
    <dgm:cxn modelId="{1851D6AB-5CBA-466D-B531-9AFAC046EF11}" type="presParOf" srcId="{F5AD63B4-4566-4F68-82A5-9E5C7EF7605E}" destId="{A228F3D0-5828-41C8-ADA2-CF20441D8760}" srcOrd="0" destOrd="0" presId="urn:microsoft.com/office/officeart/2005/8/layout/orgChart1"/>
    <dgm:cxn modelId="{5875BD55-E9DF-4142-9FB7-8518262E7DBE}" type="presParOf" srcId="{A228F3D0-5828-41C8-ADA2-CF20441D8760}" destId="{EA2B89D3-4BC1-4EFF-82A6-4CAF7B163043}" srcOrd="0" destOrd="0" presId="urn:microsoft.com/office/officeart/2005/8/layout/orgChart1"/>
    <dgm:cxn modelId="{6D8CD7D7-F0FC-4F89-B144-FB7BAE01723E}" type="presParOf" srcId="{A228F3D0-5828-41C8-ADA2-CF20441D8760}" destId="{1A6DDDDA-BB59-4ABC-9069-AAE4E4F8D46B}" srcOrd="1" destOrd="0" presId="urn:microsoft.com/office/officeart/2005/8/layout/orgChart1"/>
    <dgm:cxn modelId="{D818B344-0E04-4F8C-8DF2-783E96F6764F}" type="presParOf" srcId="{F5AD63B4-4566-4F68-82A5-9E5C7EF7605E}" destId="{94417ACF-BF22-49E4-8CA1-621482C113C7}" srcOrd="1" destOrd="0" presId="urn:microsoft.com/office/officeart/2005/8/layout/orgChart1"/>
    <dgm:cxn modelId="{FEC9F985-4F48-400F-9431-AAB182078ED1}" type="presParOf" srcId="{F5AD63B4-4566-4F68-82A5-9E5C7EF7605E}" destId="{6D76ED63-F949-4642-91D4-5F3A03C4D776}" srcOrd="2" destOrd="0" presId="urn:microsoft.com/office/officeart/2005/8/layout/orgChart1"/>
    <dgm:cxn modelId="{0A120DD4-3387-4B86-B6B7-D9D4DA963F47}" type="presParOf" srcId="{17E9E093-84A7-432E-9485-116BD5DC46FF}" destId="{19BD9E65-5EC1-4E68-8DF7-E5D050B045C6}" srcOrd="4" destOrd="0" presId="urn:microsoft.com/office/officeart/2005/8/layout/orgChart1"/>
    <dgm:cxn modelId="{7CA65EA0-3020-4B83-A66C-FB0C5561B67A}" type="presParOf" srcId="{17E9E093-84A7-432E-9485-116BD5DC46FF}" destId="{BC070AEE-8B57-42F1-8DD6-15E3C13CAA96}" srcOrd="5" destOrd="0" presId="urn:microsoft.com/office/officeart/2005/8/layout/orgChart1"/>
    <dgm:cxn modelId="{67651821-5CCB-47E7-8F33-8B0EA7DD129B}" type="presParOf" srcId="{BC070AEE-8B57-42F1-8DD6-15E3C13CAA96}" destId="{3B48079C-A783-40CD-8139-A80D1AC7A3D1}" srcOrd="0" destOrd="0" presId="urn:microsoft.com/office/officeart/2005/8/layout/orgChart1"/>
    <dgm:cxn modelId="{EEA7B7D3-3DBB-4081-B45A-A98762120ECA}" type="presParOf" srcId="{3B48079C-A783-40CD-8139-A80D1AC7A3D1}" destId="{7B22DBF5-529B-4A5D-9AF2-873BF3CD40F9}" srcOrd="0" destOrd="0" presId="urn:microsoft.com/office/officeart/2005/8/layout/orgChart1"/>
    <dgm:cxn modelId="{F5A38606-53C8-4E0A-88DC-EDDAE8EA01DB}" type="presParOf" srcId="{3B48079C-A783-40CD-8139-A80D1AC7A3D1}" destId="{6C9F7117-8951-487D-A61C-E4D824936D6D}" srcOrd="1" destOrd="0" presId="urn:microsoft.com/office/officeart/2005/8/layout/orgChart1"/>
    <dgm:cxn modelId="{FA065A4E-3ACE-41BB-A4B0-4BF8A75DB0C7}" type="presParOf" srcId="{BC070AEE-8B57-42F1-8DD6-15E3C13CAA96}" destId="{4E40893D-59B5-49D6-90BE-087C91DC1002}" srcOrd="1" destOrd="0" presId="urn:microsoft.com/office/officeart/2005/8/layout/orgChart1"/>
    <dgm:cxn modelId="{A447B80B-45CE-448E-9066-FAD6DAAA608B}" type="presParOf" srcId="{BC070AEE-8B57-42F1-8DD6-15E3C13CAA96}" destId="{89310797-0D6B-4D2D-882E-C5AB87DBF530}" srcOrd="2" destOrd="0" presId="urn:microsoft.com/office/officeart/2005/8/layout/orgChart1"/>
    <dgm:cxn modelId="{42B56E9E-E511-4A96-8017-466B23ACAB1F}" type="presParOf" srcId="{17E9E093-84A7-432E-9485-116BD5DC46FF}" destId="{11717339-4C83-4C26-9B02-80C0774B1602}" srcOrd="6" destOrd="0" presId="urn:microsoft.com/office/officeart/2005/8/layout/orgChart1"/>
    <dgm:cxn modelId="{3991BDB1-B17D-435D-9E92-88B2BEAC5233}" type="presParOf" srcId="{17E9E093-84A7-432E-9485-116BD5DC46FF}" destId="{B02EAFF9-B85C-4D9B-BAC6-4972556FD0D9}" srcOrd="7" destOrd="0" presId="urn:microsoft.com/office/officeart/2005/8/layout/orgChart1"/>
    <dgm:cxn modelId="{91F24A52-37E0-41C9-BD1F-11ECFFD21EF2}" type="presParOf" srcId="{B02EAFF9-B85C-4D9B-BAC6-4972556FD0D9}" destId="{43FC7748-5082-409E-B1D0-59A8F0D1281D}" srcOrd="0" destOrd="0" presId="urn:microsoft.com/office/officeart/2005/8/layout/orgChart1"/>
    <dgm:cxn modelId="{3E2D938E-1C1D-40B8-89E3-F3682EDC69D9}" type="presParOf" srcId="{43FC7748-5082-409E-B1D0-59A8F0D1281D}" destId="{6B1BB7D1-E20C-48E4-87CC-9D4AC57FC945}" srcOrd="0" destOrd="0" presId="urn:microsoft.com/office/officeart/2005/8/layout/orgChart1"/>
    <dgm:cxn modelId="{AD8CF289-2709-4E2A-BB77-DB5643C836DA}" type="presParOf" srcId="{43FC7748-5082-409E-B1D0-59A8F0D1281D}" destId="{0528DBA3-5E3C-40F4-BFA7-8F40EA73383A}" srcOrd="1" destOrd="0" presId="urn:microsoft.com/office/officeart/2005/8/layout/orgChart1"/>
    <dgm:cxn modelId="{675B1F59-09C8-40D0-87D3-CA4408D33B6A}" type="presParOf" srcId="{B02EAFF9-B85C-4D9B-BAC6-4972556FD0D9}" destId="{EBFD93A3-0075-405B-A820-71F350078126}" srcOrd="1" destOrd="0" presId="urn:microsoft.com/office/officeart/2005/8/layout/orgChart1"/>
    <dgm:cxn modelId="{9ABD28A8-9DE4-48D2-B792-5CF53FF9003A}" type="presParOf" srcId="{B02EAFF9-B85C-4D9B-BAC6-4972556FD0D9}" destId="{79D56CF4-DA8C-424D-99E3-67C073C42DF2}" srcOrd="2" destOrd="0" presId="urn:microsoft.com/office/officeart/2005/8/layout/orgChart1"/>
    <dgm:cxn modelId="{9DEF3465-6116-4C17-B9D8-838BDFC929E7}" type="presParOf" srcId="{9B91C8C8-C42E-4320-8EDA-85E402459B27}" destId="{C46C959B-B032-4E7F-8933-E31B66B81C7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17339-4C83-4C26-9B02-80C0774B1602}">
      <dsp:nvSpPr>
        <dsp:cNvPr id="0" name=""/>
        <dsp:cNvSpPr/>
      </dsp:nvSpPr>
      <dsp:spPr>
        <a:xfrm>
          <a:off x="5874327" y="1825873"/>
          <a:ext cx="4600809" cy="532325"/>
        </a:xfrm>
        <a:custGeom>
          <a:avLst/>
          <a:gdLst/>
          <a:ahLst/>
          <a:cxnLst/>
          <a:rect l="0" t="0" r="0" b="0"/>
          <a:pathLst>
            <a:path>
              <a:moveTo>
                <a:pt x="0" y="0"/>
              </a:moveTo>
              <a:lnTo>
                <a:pt x="0" y="266162"/>
              </a:lnTo>
              <a:lnTo>
                <a:pt x="4600809" y="266162"/>
              </a:lnTo>
              <a:lnTo>
                <a:pt x="4600809" y="53232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BD9E65-5EC1-4E68-8DF7-E5D050B045C6}">
      <dsp:nvSpPr>
        <dsp:cNvPr id="0" name=""/>
        <dsp:cNvSpPr/>
      </dsp:nvSpPr>
      <dsp:spPr>
        <a:xfrm>
          <a:off x="5874327" y="1825873"/>
          <a:ext cx="1533603" cy="532325"/>
        </a:xfrm>
        <a:custGeom>
          <a:avLst/>
          <a:gdLst/>
          <a:ahLst/>
          <a:cxnLst/>
          <a:rect l="0" t="0" r="0" b="0"/>
          <a:pathLst>
            <a:path>
              <a:moveTo>
                <a:pt x="0" y="0"/>
              </a:moveTo>
              <a:lnTo>
                <a:pt x="0" y="266162"/>
              </a:lnTo>
              <a:lnTo>
                <a:pt x="1533603" y="266162"/>
              </a:lnTo>
              <a:lnTo>
                <a:pt x="1533603" y="53232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475B0E-719F-45DD-BA77-B6FBB4B38F29}">
      <dsp:nvSpPr>
        <dsp:cNvPr id="0" name=""/>
        <dsp:cNvSpPr/>
      </dsp:nvSpPr>
      <dsp:spPr>
        <a:xfrm>
          <a:off x="4340724" y="1825873"/>
          <a:ext cx="1533603" cy="532325"/>
        </a:xfrm>
        <a:custGeom>
          <a:avLst/>
          <a:gdLst/>
          <a:ahLst/>
          <a:cxnLst/>
          <a:rect l="0" t="0" r="0" b="0"/>
          <a:pathLst>
            <a:path>
              <a:moveTo>
                <a:pt x="1533603" y="0"/>
              </a:moveTo>
              <a:lnTo>
                <a:pt x="1533603" y="266162"/>
              </a:lnTo>
              <a:lnTo>
                <a:pt x="0" y="266162"/>
              </a:lnTo>
              <a:lnTo>
                <a:pt x="0" y="53232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E68BA3-5D5D-4964-9C40-A6367CB21BD8}">
      <dsp:nvSpPr>
        <dsp:cNvPr id="0" name=""/>
        <dsp:cNvSpPr/>
      </dsp:nvSpPr>
      <dsp:spPr>
        <a:xfrm>
          <a:off x="1273517" y="1825873"/>
          <a:ext cx="4600809" cy="532325"/>
        </a:xfrm>
        <a:custGeom>
          <a:avLst/>
          <a:gdLst/>
          <a:ahLst/>
          <a:cxnLst/>
          <a:rect l="0" t="0" r="0" b="0"/>
          <a:pathLst>
            <a:path>
              <a:moveTo>
                <a:pt x="4600809" y="0"/>
              </a:moveTo>
              <a:lnTo>
                <a:pt x="4600809" y="266162"/>
              </a:lnTo>
              <a:lnTo>
                <a:pt x="0" y="266162"/>
              </a:lnTo>
              <a:lnTo>
                <a:pt x="0" y="53232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7D0EA0-8BB2-4FC9-9316-8223F4F68BB4}">
      <dsp:nvSpPr>
        <dsp:cNvPr id="0" name=""/>
        <dsp:cNvSpPr/>
      </dsp:nvSpPr>
      <dsp:spPr>
        <a:xfrm>
          <a:off x="4606886" y="558433"/>
          <a:ext cx="2534881" cy="12674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IN" sz="3000" kern="1200" dirty="0"/>
            <a:t>Regression</a:t>
          </a:r>
        </a:p>
      </dsp:txBody>
      <dsp:txXfrm>
        <a:off x="4606886" y="558433"/>
        <a:ext cx="2534881" cy="1267440"/>
      </dsp:txXfrm>
    </dsp:sp>
    <dsp:sp modelId="{B30AA710-2784-490B-B7CF-675E4F8E7ED1}">
      <dsp:nvSpPr>
        <dsp:cNvPr id="0" name=""/>
        <dsp:cNvSpPr/>
      </dsp:nvSpPr>
      <dsp:spPr>
        <a:xfrm>
          <a:off x="6077" y="2358199"/>
          <a:ext cx="2534881" cy="12674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IN" sz="3000" kern="1200" dirty="0"/>
            <a:t>Simple Linear Regression</a:t>
          </a:r>
        </a:p>
      </dsp:txBody>
      <dsp:txXfrm>
        <a:off x="6077" y="2358199"/>
        <a:ext cx="2534881" cy="1267440"/>
      </dsp:txXfrm>
    </dsp:sp>
    <dsp:sp modelId="{EA2B89D3-4BC1-4EFF-82A6-4CAF7B163043}">
      <dsp:nvSpPr>
        <dsp:cNvPr id="0" name=""/>
        <dsp:cNvSpPr/>
      </dsp:nvSpPr>
      <dsp:spPr>
        <a:xfrm>
          <a:off x="3073283" y="2358199"/>
          <a:ext cx="2534881" cy="12674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IN" sz="3000" kern="1200" dirty="0"/>
            <a:t>Ridge Regression</a:t>
          </a:r>
        </a:p>
      </dsp:txBody>
      <dsp:txXfrm>
        <a:off x="3073283" y="2358199"/>
        <a:ext cx="2534881" cy="1267440"/>
      </dsp:txXfrm>
    </dsp:sp>
    <dsp:sp modelId="{7B22DBF5-529B-4A5D-9AF2-873BF3CD40F9}">
      <dsp:nvSpPr>
        <dsp:cNvPr id="0" name=""/>
        <dsp:cNvSpPr/>
      </dsp:nvSpPr>
      <dsp:spPr>
        <a:xfrm>
          <a:off x="6140490" y="2358199"/>
          <a:ext cx="2534881" cy="12674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IN" sz="3000" kern="1200" dirty="0"/>
            <a:t>LASSO Regression</a:t>
          </a:r>
        </a:p>
      </dsp:txBody>
      <dsp:txXfrm>
        <a:off x="6140490" y="2358199"/>
        <a:ext cx="2534881" cy="1267440"/>
      </dsp:txXfrm>
    </dsp:sp>
    <dsp:sp modelId="{6B1BB7D1-E20C-48E4-87CC-9D4AC57FC945}">
      <dsp:nvSpPr>
        <dsp:cNvPr id="0" name=""/>
        <dsp:cNvSpPr/>
      </dsp:nvSpPr>
      <dsp:spPr>
        <a:xfrm>
          <a:off x="9207696" y="2358199"/>
          <a:ext cx="2534881" cy="12674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IN" sz="3000" kern="1200" dirty="0"/>
            <a:t>Elastic Net (Ridge+ LASSO) Regression</a:t>
          </a:r>
        </a:p>
      </dsp:txBody>
      <dsp:txXfrm>
        <a:off x="9207696" y="2358199"/>
        <a:ext cx="2534881" cy="126744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algn="l"/>
            <a:fld id="{0DCFB061-4267-4D9F-8017-6F550D3068DF}" type="datetime1">
              <a:rPr lang="en-US" smtClean="0"/>
              <a:t>9/10/2024</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180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9/10/2024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655497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CABC0C-B6DF-45E9-B954-11C99AA62C3E}" type="datetime1">
              <a:rPr lang="en-US" smtClean="0"/>
              <a:t>9/10/2024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3113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9/10/2024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781873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9/10/2024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718008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9/10/2024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667109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363A0F-DEF3-4134-98D0-2E1276938A8B}" type="datetime1">
              <a:rPr lang="en-US" smtClean="0"/>
              <a:t>9/10/2024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181521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A2E4C8-2960-4ADD-862C-4D9643CB15AC}" type="datetime1">
              <a:rPr lang="en-US" smtClean="0"/>
              <a:t>9/10/2024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401730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BDEA15-09CD-4275-A8E0-385C965F48B0}" type="datetime1">
              <a:rPr lang="en-US" smtClean="0"/>
              <a:t>9/10/2024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484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9/10/2024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881605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9D1C6-60D0-4CD1-8F31-F912522EB041}" type="datetime1">
              <a:rPr lang="en-US" smtClean="0"/>
              <a:t>9/10/2024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6779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AF8082C-0922-4249-A612-B415F5231620}" type="datetime1">
              <a:rPr lang="en-US" smtClean="0"/>
              <a:t>9/10/2024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AEF9944-A4F6-4C59-AEBD-678D6480B8EA}"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39528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tatology.org/ridge-regress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Residual_sum_of_squares"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eppatel23.medium.com/ridge-lasso-regression-4272a1990aea"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tatology.org/ridge-regression/"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scikit-learn.org/stable/modules/linear_model.html#ridge-regression" TargetMode="Externa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en.wikipedia.org/wiki/Ridge_regress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rful light bulb with business icons">
            <a:extLst>
              <a:ext uri="{FF2B5EF4-FFF2-40B4-BE49-F238E27FC236}">
                <a16:creationId xmlns:a16="http://schemas.microsoft.com/office/drawing/2014/main" id="{88897DF5-077E-AB30-4B6C-AA6E370EC0FD}"/>
              </a:ext>
            </a:extLst>
          </p:cNvPr>
          <p:cNvPicPr>
            <a:picLocks noChangeAspect="1"/>
          </p:cNvPicPr>
          <p:nvPr/>
        </p:nvPicPr>
        <p:blipFill rotWithShape="1">
          <a:blip r:embed="rId2"/>
          <a:srcRect t="12758" b="6885"/>
          <a:stretch/>
        </p:blipFill>
        <p:spPr>
          <a:xfrm>
            <a:off x="20" y="14830"/>
            <a:ext cx="12191980" cy="6858000"/>
          </a:xfrm>
          <a:prstGeom prst="rect">
            <a:avLst/>
          </a:prstGeom>
        </p:spPr>
      </p:pic>
      <p:sp>
        <p:nvSpPr>
          <p:cNvPr id="7" name="Rectangle 1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E9FEF-2875-5A40-3179-92981D8F9BA3}"/>
              </a:ext>
            </a:extLst>
          </p:cNvPr>
          <p:cNvSpPr>
            <a:spLocks noGrp="1"/>
          </p:cNvSpPr>
          <p:nvPr>
            <p:ph type="ctrTitle"/>
          </p:nvPr>
        </p:nvSpPr>
        <p:spPr>
          <a:xfrm>
            <a:off x="4309349" y="3429000"/>
            <a:ext cx="7501651" cy="1090938"/>
          </a:xfrm>
        </p:spPr>
        <p:txBody>
          <a:bodyPr anchor="b">
            <a:normAutofit/>
          </a:bodyPr>
          <a:lstStyle/>
          <a:p>
            <a:pPr algn="l"/>
            <a:r>
              <a:rPr lang="en-IN">
                <a:solidFill>
                  <a:srgbClr val="FFFFFF"/>
                </a:solidFill>
              </a:rPr>
              <a:t>Ridge Regression</a:t>
            </a:r>
          </a:p>
        </p:txBody>
      </p:sp>
      <p:sp>
        <p:nvSpPr>
          <p:cNvPr id="3" name="Subtitle 2">
            <a:extLst>
              <a:ext uri="{FF2B5EF4-FFF2-40B4-BE49-F238E27FC236}">
                <a16:creationId xmlns:a16="http://schemas.microsoft.com/office/drawing/2014/main" id="{BACC9FB5-74C5-D4A1-7C95-75CBC590A804}"/>
              </a:ext>
            </a:extLst>
          </p:cNvPr>
          <p:cNvSpPr>
            <a:spLocks noGrp="1"/>
          </p:cNvSpPr>
          <p:nvPr>
            <p:ph type="subTitle" idx="1"/>
          </p:nvPr>
        </p:nvSpPr>
        <p:spPr>
          <a:xfrm>
            <a:off x="4309349" y="4779313"/>
            <a:ext cx="7501650" cy="514816"/>
          </a:xfrm>
        </p:spPr>
        <p:txBody>
          <a:bodyPr anchor="t">
            <a:normAutofit/>
          </a:bodyPr>
          <a:lstStyle/>
          <a:p>
            <a:r>
              <a:rPr lang="en-IN">
                <a:solidFill>
                  <a:srgbClr val="FFFFFF"/>
                </a:solidFill>
              </a:rPr>
              <a:t>Dr. Debajyoti Biswas</a:t>
            </a:r>
          </a:p>
        </p:txBody>
      </p:sp>
      <p:cxnSp>
        <p:nvCxnSpPr>
          <p:cNvPr id="8" name="Straight Connector 1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FF5D99"/>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90929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6840B-3FDA-2050-8CF2-833DB3FCED56}"/>
              </a:ext>
            </a:extLst>
          </p:cNvPr>
          <p:cNvSpPr>
            <a:spLocks noGrp="1"/>
          </p:cNvSpPr>
          <p:nvPr>
            <p:ph type="title"/>
          </p:nvPr>
        </p:nvSpPr>
        <p:spPr/>
        <p:txBody>
          <a:bodyPr/>
          <a:lstStyle/>
          <a:p>
            <a:r>
              <a:rPr lang="en-IN" dirty="0"/>
              <a:t>Regression</a:t>
            </a:r>
          </a:p>
        </p:txBody>
      </p:sp>
      <p:graphicFrame>
        <p:nvGraphicFramePr>
          <p:cNvPr id="4" name="Content Placeholder 3">
            <a:extLst>
              <a:ext uri="{FF2B5EF4-FFF2-40B4-BE49-F238E27FC236}">
                <a16:creationId xmlns:a16="http://schemas.microsoft.com/office/drawing/2014/main" id="{6C397A97-EADF-E9CB-495A-4F296E32749E}"/>
              </a:ext>
            </a:extLst>
          </p:cNvPr>
          <p:cNvGraphicFramePr>
            <a:graphicFrameLocks noGrp="1"/>
          </p:cNvGraphicFramePr>
          <p:nvPr>
            <p:ph idx="1"/>
            <p:extLst>
              <p:ext uri="{D42A27DB-BD31-4B8C-83A1-F6EECF244321}">
                <p14:modId xmlns:p14="http://schemas.microsoft.com/office/powerpoint/2010/main" val="775065527"/>
              </p:ext>
            </p:extLst>
          </p:nvPr>
        </p:nvGraphicFramePr>
        <p:xfrm>
          <a:off x="221672" y="2216727"/>
          <a:ext cx="11748655" cy="4184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1612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C9EB6-4921-FE57-3D15-6A66B6BCDE55}"/>
              </a:ext>
            </a:extLst>
          </p:cNvPr>
          <p:cNvSpPr>
            <a:spLocks noGrp="1"/>
          </p:cNvSpPr>
          <p:nvPr>
            <p:ph type="title"/>
          </p:nvPr>
        </p:nvSpPr>
        <p:spPr/>
        <p:txBody>
          <a:bodyPr/>
          <a:lstStyle/>
          <a:p>
            <a:r>
              <a:rPr lang="en-IN" dirty="0"/>
              <a:t>overfitting</a:t>
            </a:r>
          </a:p>
        </p:txBody>
      </p:sp>
      <p:sp>
        <p:nvSpPr>
          <p:cNvPr id="3" name="Content Placeholder 2">
            <a:extLst>
              <a:ext uri="{FF2B5EF4-FFF2-40B4-BE49-F238E27FC236}">
                <a16:creationId xmlns:a16="http://schemas.microsoft.com/office/drawing/2014/main" id="{8DF13A1D-863C-EA6C-356E-A38BA26FFFB8}"/>
              </a:ext>
            </a:extLst>
          </p:cNvPr>
          <p:cNvSpPr>
            <a:spLocks noGrp="1"/>
          </p:cNvSpPr>
          <p:nvPr>
            <p:ph idx="1"/>
          </p:nvPr>
        </p:nvSpPr>
        <p:spPr>
          <a:xfrm>
            <a:off x="885583" y="1801091"/>
            <a:ext cx="9720073" cy="4023360"/>
          </a:xfrm>
        </p:spPr>
        <p:txBody>
          <a:bodyPr/>
          <a:lstStyle/>
          <a:p>
            <a:r>
              <a:rPr lang="en-US" dirty="0">
                <a:solidFill>
                  <a:srgbClr val="00B050"/>
                </a:solidFill>
                <a:latin typeface="Arial" panose="020B0604020202020204" pitchFamily="34" charset="0"/>
                <a:cs typeface="Arial" panose="020B0604020202020204" pitchFamily="34" charset="0"/>
              </a:rPr>
              <a:t>Overfitting occurs when the model works very well with the training dataset, but on the testing dataset, it fails (meaning that the accuracy of training data is &gt;90% and testing data is &lt; 65%).</a:t>
            </a:r>
          </a:p>
          <a:p>
            <a:r>
              <a:rPr lang="en-US" dirty="0">
                <a:latin typeface="Arial" panose="020B0604020202020204" pitchFamily="34" charset="0"/>
                <a:cs typeface="Arial" panose="020B0604020202020204" pitchFamily="34" charset="0"/>
              </a:rPr>
              <a:t>It is also called a model with high variance. A possible solution is to use the correct regression technique, that is </a:t>
            </a:r>
            <a:r>
              <a:rPr lang="en-US" dirty="0">
                <a:solidFill>
                  <a:srgbClr val="FF0000"/>
                </a:solidFill>
                <a:latin typeface="Arial" panose="020B0604020202020204" pitchFamily="34" charset="0"/>
                <a:cs typeface="Arial" panose="020B0604020202020204" pitchFamily="34" charset="0"/>
              </a:rPr>
              <a:t>Ridge </a:t>
            </a:r>
            <a:r>
              <a:rPr lang="en-US" dirty="0">
                <a:latin typeface="Arial" panose="020B0604020202020204" pitchFamily="34" charset="0"/>
                <a:cs typeface="Arial" panose="020B0604020202020204" pitchFamily="34" charset="0"/>
              </a:rPr>
              <a:t>and </a:t>
            </a:r>
            <a:r>
              <a:rPr lang="en-US" dirty="0">
                <a:solidFill>
                  <a:srgbClr val="FF0000"/>
                </a:solidFill>
                <a:latin typeface="Arial" panose="020B0604020202020204" pitchFamily="34" charset="0"/>
                <a:cs typeface="Arial" panose="020B0604020202020204" pitchFamily="34" charset="0"/>
              </a:rPr>
              <a:t>Lasso</a:t>
            </a:r>
          </a:p>
          <a:p>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7C321D2-D2A8-0476-D898-11D3AB2C3048}"/>
              </a:ext>
            </a:extLst>
          </p:cNvPr>
          <p:cNvPicPr>
            <a:picLocks noChangeAspect="1"/>
          </p:cNvPicPr>
          <p:nvPr/>
        </p:nvPicPr>
        <p:blipFill>
          <a:blip r:embed="rId2"/>
          <a:stretch>
            <a:fillRect/>
          </a:stretch>
        </p:blipFill>
        <p:spPr>
          <a:xfrm>
            <a:off x="738187" y="3620745"/>
            <a:ext cx="10715625" cy="3724275"/>
          </a:xfrm>
          <a:prstGeom prst="rect">
            <a:avLst/>
          </a:prstGeom>
        </p:spPr>
      </p:pic>
    </p:spTree>
    <p:extLst>
      <p:ext uri="{BB962C8B-B14F-4D97-AF65-F5344CB8AC3E}">
        <p14:creationId xmlns:p14="http://schemas.microsoft.com/office/powerpoint/2010/main" val="4131096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54F162-82B5-FAC0-1FC1-E5D546D6875F}"/>
              </a:ext>
            </a:extLst>
          </p:cNvPr>
          <p:cNvSpPr>
            <a:spLocks noGrp="1"/>
          </p:cNvSpPr>
          <p:nvPr>
            <p:ph idx="1"/>
          </p:nvPr>
        </p:nvSpPr>
        <p:spPr>
          <a:xfrm>
            <a:off x="304800" y="817418"/>
            <a:ext cx="11693236" cy="5491942"/>
          </a:xfrm>
        </p:spPr>
        <p:txBody>
          <a:bodyPr>
            <a:normAutofit/>
          </a:bodyPr>
          <a:lstStyle/>
          <a:p>
            <a:pPr>
              <a:lnSpc>
                <a:spcPct val="150000"/>
              </a:lnSpc>
              <a:buFont typeface="Wingdings" panose="05000000000000000000" pitchFamily="2" charset="2"/>
              <a:buChar char="q"/>
            </a:pPr>
            <a:r>
              <a:rPr lang="en-US" sz="2400" dirty="0">
                <a:highlight>
                  <a:srgbClr val="FFFF00"/>
                </a:highlight>
                <a:latin typeface="Arial" panose="020B0604020202020204" pitchFamily="34" charset="0"/>
                <a:cs typeface="Arial" panose="020B0604020202020204" pitchFamily="34" charset="0"/>
              </a:rPr>
              <a:t>A situation in which more than two independent variables in a multiple regression model are highly linearly related</a:t>
            </a:r>
          </a:p>
          <a:p>
            <a:pPr>
              <a:lnSpc>
                <a:spcPct val="150000"/>
              </a:lnSpc>
              <a:buFont typeface="Wingdings" panose="05000000000000000000" pitchFamily="2" charset="2"/>
              <a:buChar char="q"/>
            </a:pPr>
            <a:r>
              <a:rPr lang="en-US" sz="2400" dirty="0">
                <a:solidFill>
                  <a:srgbClr val="FF0000"/>
                </a:solidFill>
                <a:latin typeface="Arial" panose="020B0604020202020204" pitchFamily="34" charset="0"/>
                <a:cs typeface="Arial" panose="020B0604020202020204" pitchFamily="34" charset="0"/>
              </a:rPr>
              <a:t>In this situation, the coefficient estimates of the multiple regression may change erratically in response to small changes in the data or the procedure used to fit the model</a:t>
            </a:r>
          </a:p>
          <a:p>
            <a:pPr>
              <a:lnSpc>
                <a:spcPct val="150000"/>
              </a:lnSpc>
              <a:buFont typeface="Wingdings" panose="05000000000000000000" pitchFamily="2" charset="2"/>
              <a:buChar char="q"/>
            </a:pPr>
            <a:r>
              <a:rPr lang="en-US" sz="2400" dirty="0">
                <a:solidFill>
                  <a:srgbClr val="00B050"/>
                </a:solidFill>
                <a:latin typeface="Arial" panose="020B0604020202020204" pitchFamily="34" charset="0"/>
                <a:cs typeface="Arial" panose="020B0604020202020204" pitchFamily="34" charset="0"/>
              </a:rPr>
              <a:t> If there is no multicollinearity present in the data then there may be no need to perform ridge regression in the first place. Instead, we can perform ordinary least squares regression</a:t>
            </a:r>
          </a:p>
          <a:p>
            <a:pPr>
              <a:buFont typeface="Wingdings" panose="05000000000000000000" pitchFamily="2" charset="2"/>
              <a:buChar char="q"/>
            </a:pPr>
            <a:endParaRPr lang="en-IN" b="1" dirty="0">
              <a:solidFill>
                <a:srgbClr val="FF0000"/>
              </a:solidFill>
            </a:endParaRPr>
          </a:p>
        </p:txBody>
      </p:sp>
      <p:sp>
        <p:nvSpPr>
          <p:cNvPr id="6" name="Title 1">
            <a:extLst>
              <a:ext uri="{FF2B5EF4-FFF2-40B4-BE49-F238E27FC236}">
                <a16:creationId xmlns:a16="http://schemas.microsoft.com/office/drawing/2014/main" id="{2FAD90EA-5234-5FEF-5B41-CBD73D3EA879}"/>
              </a:ext>
            </a:extLst>
          </p:cNvPr>
          <p:cNvSpPr txBox="1">
            <a:spLocks/>
          </p:cNvSpPr>
          <p:nvPr/>
        </p:nvSpPr>
        <p:spPr>
          <a:xfrm>
            <a:off x="1828800" y="-201168"/>
            <a:ext cx="9720072"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err="1"/>
              <a:t>Multicolinearity</a:t>
            </a:r>
            <a:endParaRPr lang="en-IN" dirty="0"/>
          </a:p>
        </p:txBody>
      </p:sp>
    </p:spTree>
    <p:extLst>
      <p:ext uri="{BB962C8B-B14F-4D97-AF65-F5344CB8AC3E}">
        <p14:creationId xmlns:p14="http://schemas.microsoft.com/office/powerpoint/2010/main" val="1987514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E53C2-B816-C6F6-2F46-509967795692}"/>
              </a:ext>
            </a:extLst>
          </p:cNvPr>
          <p:cNvSpPr>
            <a:spLocks noGrp="1"/>
          </p:cNvSpPr>
          <p:nvPr>
            <p:ph type="title"/>
          </p:nvPr>
        </p:nvSpPr>
        <p:spPr>
          <a:xfrm>
            <a:off x="207817" y="166256"/>
            <a:ext cx="9720072" cy="1499616"/>
          </a:xfrm>
        </p:spPr>
        <p:txBody>
          <a:bodyPr/>
          <a:lstStyle/>
          <a:p>
            <a:r>
              <a:rPr lang="en-IN" dirty="0"/>
              <a:t>Ridge Regression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6838891-8C51-D333-76B7-A0DC90A6EB3C}"/>
                  </a:ext>
                </a:extLst>
              </p:cNvPr>
              <p:cNvSpPr>
                <a:spLocks noGrp="1"/>
              </p:cNvSpPr>
              <p:nvPr>
                <p:ph idx="1"/>
              </p:nvPr>
            </p:nvSpPr>
            <p:spPr>
              <a:xfrm>
                <a:off x="207817" y="1108365"/>
                <a:ext cx="7592292" cy="5583380"/>
              </a:xfrm>
            </p:spPr>
            <p:txBody>
              <a:bodyPr>
                <a:normAutofit/>
              </a:bodyPr>
              <a:lstStyle/>
              <a:p>
                <a:r>
                  <a:rPr lang="en-US" dirty="0">
                    <a:solidFill>
                      <a:srgbClr val="00B050"/>
                    </a:solidFill>
                    <a:latin typeface="Arial" panose="020B0604020202020204" pitchFamily="34" charset="0"/>
                    <a:cs typeface="Arial" panose="020B0604020202020204" pitchFamily="34" charset="0"/>
                  </a:rPr>
                  <a:t>The basic idea of ridge regression is to introduce a little bias so that the variance can be substantially reduced in “</a:t>
                </a:r>
                <a:r>
                  <a:rPr lang="en-US" b="1" dirty="0">
                    <a:solidFill>
                      <a:srgbClr val="00B050"/>
                    </a:solidFill>
                    <a:latin typeface="Arial" panose="020B0604020202020204" pitchFamily="34" charset="0"/>
                    <a:cs typeface="Arial" panose="020B0604020202020204" pitchFamily="34" charset="0"/>
                  </a:rPr>
                  <a:t>bias-variance tradeoff</a:t>
                </a:r>
                <a:r>
                  <a:rPr lang="en-US" dirty="0">
                    <a:solidFill>
                      <a:srgbClr val="00B050"/>
                    </a:solidFill>
                    <a:latin typeface="Arial" panose="020B0604020202020204" pitchFamily="34" charset="0"/>
                    <a:cs typeface="Arial" panose="020B0604020202020204" pitchFamily="34" charset="0"/>
                  </a:rPr>
                  <a:t>”, which leads to a lower overall MSE.</a:t>
                </a:r>
              </a:p>
              <a:p>
                <a:r>
                  <a:rPr lang="en-US" dirty="0">
                    <a:latin typeface="Arial" panose="020B0604020202020204" pitchFamily="34" charset="0"/>
                    <a:cs typeface="Arial" panose="020B0604020202020204" pitchFamily="34" charset="0"/>
                  </a:rPr>
                  <a:t>Recall that mean squared error (MSE) is a metric we can use to measure the accuracy of a given model and it is calculated as:</a:t>
                </a:r>
              </a:p>
              <a:p>
                <a:r>
                  <a:rPr lang="es-ES" b="0" i="0" dirty="0">
                    <a:solidFill>
                      <a:srgbClr val="000000"/>
                    </a:solidFill>
                    <a:effectLst/>
                    <a:highlight>
                      <a:srgbClr val="FFFF00"/>
                    </a:highlight>
                    <a:latin typeface="Helvetica" panose="020B0604020202020204" pitchFamily="34" charset="0"/>
                  </a:rPr>
                  <a:t>MSE = </a:t>
                </a:r>
                <a:r>
                  <a:rPr lang="es-ES" b="0" i="0" dirty="0" err="1">
                    <a:solidFill>
                      <a:srgbClr val="000000"/>
                    </a:solidFill>
                    <a:effectLst/>
                    <a:highlight>
                      <a:srgbClr val="FFFF00"/>
                    </a:highlight>
                    <a:latin typeface="Helvetica" panose="020B0604020202020204" pitchFamily="34" charset="0"/>
                  </a:rPr>
                  <a:t>Variance</a:t>
                </a:r>
                <a:r>
                  <a:rPr lang="es-ES" b="0" i="0" dirty="0">
                    <a:solidFill>
                      <a:srgbClr val="000000"/>
                    </a:solidFill>
                    <a:effectLst/>
                    <a:highlight>
                      <a:srgbClr val="FFFF00"/>
                    </a:highlight>
                    <a:latin typeface="Helvetica" panose="020B0604020202020204" pitchFamily="34" charset="0"/>
                  </a:rPr>
                  <a:t> + Bias</a:t>
                </a:r>
                <a:r>
                  <a:rPr lang="es-ES" b="0" i="0" baseline="30000" dirty="0">
                    <a:solidFill>
                      <a:srgbClr val="000000"/>
                    </a:solidFill>
                    <a:effectLst/>
                    <a:highlight>
                      <a:srgbClr val="FFFF00"/>
                    </a:highlight>
                    <a:latin typeface="Helvetica" panose="020B0604020202020204" pitchFamily="34" charset="0"/>
                  </a:rPr>
                  <a:t>2</a:t>
                </a:r>
                <a:r>
                  <a:rPr lang="es-ES" b="0" i="0" dirty="0">
                    <a:solidFill>
                      <a:srgbClr val="000000"/>
                    </a:solidFill>
                    <a:effectLst/>
                    <a:highlight>
                      <a:srgbClr val="FFFF00"/>
                    </a:highlight>
                    <a:latin typeface="Helvetica" panose="020B0604020202020204" pitchFamily="34" charset="0"/>
                  </a:rPr>
                  <a:t> + Irreducible error</a:t>
                </a:r>
              </a:p>
              <a:p>
                <a14:m>
                  <m:oMath xmlns:m="http://schemas.openxmlformats.org/officeDocument/2006/math">
                    <m:r>
                      <a:rPr lang="en-US" sz="2000" i="1" dirty="0" smtClean="0">
                        <a:highlight>
                          <a:srgbClr val="00FF00"/>
                        </a:highlight>
                        <a:latin typeface="Cambria Math" panose="02040503050406030204" pitchFamily="18" charset="0"/>
                        <a:ea typeface="Cambria Math" panose="02040503050406030204" pitchFamily="18" charset="0"/>
                      </a:rPr>
                      <m:t>𝜆</m:t>
                    </m:r>
                    <m:r>
                      <a:rPr lang="en-IN" sz="2000" b="0" i="1" dirty="0" smtClean="0">
                        <a:highlight>
                          <a:srgbClr val="00FF00"/>
                        </a:highlight>
                        <a:latin typeface="Cambria Math" panose="02040503050406030204" pitchFamily="18" charset="0"/>
                        <a:ea typeface="Cambria Math" panose="02040503050406030204" pitchFamily="18" charset="0"/>
                      </a:rPr>
                      <m:t> </m:t>
                    </m:r>
                  </m:oMath>
                </a14:m>
                <a:r>
                  <a:rPr lang="en-US" sz="2000" dirty="0">
                    <a:highlight>
                      <a:srgbClr val="00FF00"/>
                    </a:highlight>
                    <a:latin typeface="Arial" panose="020B0604020202020204" pitchFamily="34" charset="0"/>
                    <a:cs typeface="Arial" panose="020B0604020202020204" pitchFamily="34" charset="0"/>
                  </a:rPr>
                  <a:t>is a hyper-parameter (</a:t>
                </a:r>
                <a:r>
                  <a:rPr lang="en-US" sz="2000" b="1" dirty="0">
                    <a:highlight>
                      <a:srgbClr val="00FF00"/>
                    </a:highlight>
                    <a:latin typeface="Arial" panose="020B0604020202020204" pitchFamily="34" charset="0"/>
                    <a:cs typeface="Arial" panose="020B0604020202020204" pitchFamily="34" charset="0"/>
                  </a:rPr>
                  <a:t>a parameter whose value is used to control the learning process)</a:t>
                </a:r>
                <a:r>
                  <a:rPr lang="en-US" sz="2000" dirty="0">
                    <a:highlight>
                      <a:srgbClr val="00FF00"/>
                    </a:highlight>
                    <a:latin typeface="Arial" panose="020B0604020202020204" pitchFamily="34" charset="0"/>
                    <a:cs typeface="Arial" panose="020B0604020202020204" pitchFamily="34" charset="0"/>
                  </a:rPr>
                  <a:t> that we tune and we set it to a particular value based on our choice</a:t>
                </a:r>
                <a:r>
                  <a:rPr lang="en-US" sz="2000" dirty="0">
                    <a:highlight>
                      <a:srgbClr val="FFFF00"/>
                    </a:highlight>
                    <a:latin typeface="Arial" panose="020B0604020202020204" pitchFamily="34" charset="0"/>
                    <a:cs typeface="Arial" panose="020B0604020202020204" pitchFamily="34" charset="0"/>
                  </a:rPr>
                  <a:t>. If it is set to zero then the equation gets converted to that of normal linear regression</a:t>
                </a:r>
                <a:r>
                  <a:rPr lang="en-US" sz="2000" dirty="0">
                    <a:latin typeface="Arial" panose="020B0604020202020204" pitchFamily="34" charset="0"/>
                    <a:cs typeface="Arial" panose="020B0604020202020204" pitchFamily="34" charset="0"/>
                  </a:rPr>
                  <a:t>. </a:t>
                </a:r>
                <a:endParaRPr lang="en-US" dirty="0">
                  <a:highlight>
                    <a:srgbClr val="FFFF00"/>
                  </a:highlight>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As λ increases, variance drops substantially with very little increase in bias. </a:t>
                </a:r>
              </a:p>
            </p:txBody>
          </p:sp>
        </mc:Choice>
        <mc:Fallback>
          <p:sp>
            <p:nvSpPr>
              <p:cNvPr id="3" name="Content Placeholder 2">
                <a:extLst>
                  <a:ext uri="{FF2B5EF4-FFF2-40B4-BE49-F238E27FC236}">
                    <a16:creationId xmlns:a16="http://schemas.microsoft.com/office/drawing/2014/main" id="{66838891-8C51-D333-76B7-A0DC90A6EB3C}"/>
                  </a:ext>
                </a:extLst>
              </p:cNvPr>
              <p:cNvSpPr>
                <a:spLocks noGrp="1" noRot="1" noChangeAspect="1" noMove="1" noResize="1" noEditPoints="1" noAdjustHandles="1" noChangeArrowheads="1" noChangeShapeType="1" noTextEdit="1"/>
              </p:cNvSpPr>
              <p:nvPr>
                <p:ph idx="1"/>
              </p:nvPr>
            </p:nvSpPr>
            <p:spPr>
              <a:xfrm>
                <a:off x="207817" y="1108365"/>
                <a:ext cx="7592292" cy="5583380"/>
              </a:xfrm>
              <a:blipFill>
                <a:blip r:embed="rId2"/>
                <a:stretch>
                  <a:fillRect l="-1605" t="-1310"/>
                </a:stretch>
              </a:blipFill>
            </p:spPr>
            <p:txBody>
              <a:bodyPr/>
              <a:lstStyle/>
              <a:p>
                <a:r>
                  <a:rPr lang="en-IN">
                    <a:noFill/>
                  </a:rPr>
                  <a:t> </a:t>
                </a:r>
              </a:p>
            </p:txBody>
          </p:sp>
        </mc:Fallback>
      </mc:AlternateContent>
      <p:pic>
        <p:nvPicPr>
          <p:cNvPr id="2050" name="Picture 2" descr="Ridge regression bias-variance tradeoff">
            <a:extLst>
              <a:ext uri="{FF2B5EF4-FFF2-40B4-BE49-F238E27FC236}">
                <a16:creationId xmlns:a16="http://schemas.microsoft.com/office/drawing/2014/main" id="{89E52DDD-C69B-3B80-1BFE-C3DFA42C8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959" y="1483437"/>
            <a:ext cx="4325211" cy="31578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40B46FF-CCFB-1038-CB09-3A1FBA19DE71}"/>
              </a:ext>
            </a:extLst>
          </p:cNvPr>
          <p:cNvSpPr txBox="1"/>
          <p:nvPr/>
        </p:nvSpPr>
        <p:spPr>
          <a:xfrm>
            <a:off x="8451273" y="4835236"/>
            <a:ext cx="2507013" cy="1938992"/>
          </a:xfrm>
          <a:prstGeom prst="rect">
            <a:avLst/>
          </a:prstGeom>
          <a:noFill/>
        </p:spPr>
        <p:txBody>
          <a:bodyPr wrap="square" rtlCol="0">
            <a:spAutoFit/>
          </a:bodyPr>
          <a:lstStyle/>
          <a:p>
            <a:r>
              <a:rPr lang="en-US" sz="2000" dirty="0">
                <a:highlight>
                  <a:srgbClr val="FFFF00"/>
                </a:highlight>
                <a:latin typeface="Arial" panose="020B0604020202020204" pitchFamily="34" charset="0"/>
                <a:cs typeface="Arial" panose="020B0604020202020204" pitchFamily="34" charset="0"/>
              </a:rPr>
              <a:t>MSE is lowest when we choose a value for λ that produces an optimal tradeoff between bias and variance.</a:t>
            </a:r>
            <a:endParaRPr lang="en-IN" sz="20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0738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1C693-2E92-6FAC-496A-F79B07F56B94}"/>
              </a:ext>
            </a:extLst>
          </p:cNvPr>
          <p:cNvSpPr>
            <a:spLocks noGrp="1"/>
          </p:cNvSpPr>
          <p:nvPr>
            <p:ph type="title"/>
          </p:nvPr>
        </p:nvSpPr>
        <p:spPr/>
        <p:txBody>
          <a:bodyPr/>
          <a:lstStyle/>
          <a:p>
            <a:r>
              <a:rPr lang="en-IN" dirty="0"/>
              <a:t>Pros and cons of ridge regression</a:t>
            </a:r>
          </a:p>
        </p:txBody>
      </p:sp>
      <p:sp>
        <p:nvSpPr>
          <p:cNvPr id="3" name="Content Placeholder 2">
            <a:extLst>
              <a:ext uri="{FF2B5EF4-FFF2-40B4-BE49-F238E27FC236}">
                <a16:creationId xmlns:a16="http://schemas.microsoft.com/office/drawing/2014/main" id="{FDB4495B-9A0C-BD89-381C-32D4155B0387}"/>
              </a:ext>
            </a:extLst>
          </p:cNvPr>
          <p:cNvSpPr>
            <a:spLocks noGrp="1"/>
          </p:cNvSpPr>
          <p:nvPr>
            <p:ph idx="1"/>
          </p:nvPr>
        </p:nvSpPr>
        <p:spPr>
          <a:xfrm>
            <a:off x="263236" y="2286000"/>
            <a:ext cx="11748655" cy="4023360"/>
          </a:xfrm>
        </p:spPr>
        <p:txBody>
          <a:bodyPr/>
          <a:lstStyle/>
          <a:p>
            <a:r>
              <a:rPr lang="en-US" dirty="0">
                <a:solidFill>
                  <a:srgbClr val="00B050"/>
                </a:solidFill>
                <a:latin typeface="Arial" panose="020B0604020202020204" pitchFamily="34" charset="0"/>
                <a:cs typeface="Arial" panose="020B0604020202020204" pitchFamily="34" charset="0"/>
              </a:rPr>
              <a:t>The </a:t>
            </a:r>
            <a:r>
              <a:rPr lang="en-US" b="1" dirty="0">
                <a:solidFill>
                  <a:srgbClr val="00B050"/>
                </a:solidFill>
                <a:latin typeface="Arial" panose="020B0604020202020204" pitchFamily="34" charset="0"/>
                <a:cs typeface="Arial" panose="020B0604020202020204" pitchFamily="34" charset="0"/>
              </a:rPr>
              <a:t>biggest benefit of ridge regression </a:t>
            </a:r>
            <a:r>
              <a:rPr lang="en-US" dirty="0">
                <a:solidFill>
                  <a:srgbClr val="00B050"/>
                </a:solidFill>
                <a:latin typeface="Arial" panose="020B0604020202020204" pitchFamily="34" charset="0"/>
                <a:cs typeface="Arial" panose="020B0604020202020204" pitchFamily="34" charset="0"/>
              </a:rPr>
              <a:t>is its </a:t>
            </a:r>
            <a:r>
              <a:rPr lang="en-US" dirty="0">
                <a:solidFill>
                  <a:srgbClr val="00B050"/>
                </a:solidFill>
                <a:highlight>
                  <a:srgbClr val="FFFF00"/>
                </a:highlight>
                <a:latin typeface="Arial" panose="020B0604020202020204" pitchFamily="34" charset="0"/>
                <a:cs typeface="Arial" panose="020B0604020202020204" pitchFamily="34" charset="0"/>
              </a:rPr>
              <a:t>ability to produce a lower test mean squared error (MSE) compared to least squares regression when multicollinearity is present</a:t>
            </a:r>
            <a:r>
              <a:rPr lang="en-US" dirty="0">
                <a:solidFill>
                  <a:srgbClr val="00B050"/>
                </a:solidFill>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However, the </a:t>
            </a:r>
            <a:r>
              <a:rPr lang="en-US" b="1" dirty="0">
                <a:solidFill>
                  <a:srgbClr val="FF0000"/>
                </a:solidFill>
                <a:latin typeface="Arial" panose="020B0604020202020204" pitchFamily="34" charset="0"/>
                <a:cs typeface="Arial" panose="020B0604020202020204" pitchFamily="34" charset="0"/>
              </a:rPr>
              <a:t>biggest drawback of ridge regression </a:t>
            </a:r>
            <a:r>
              <a:rPr lang="en-US" dirty="0">
                <a:solidFill>
                  <a:srgbClr val="FF0000"/>
                </a:solidFill>
                <a:highlight>
                  <a:srgbClr val="FFFF00"/>
                </a:highlight>
                <a:latin typeface="Arial" panose="020B0604020202020204" pitchFamily="34" charset="0"/>
                <a:cs typeface="Arial" panose="020B0604020202020204" pitchFamily="34" charset="0"/>
              </a:rPr>
              <a:t>is its inability to perform variable selection since it includes all predictor variables in the final model. </a:t>
            </a:r>
            <a:endParaRPr lang="en-IN" dirty="0">
              <a:solidFill>
                <a:srgbClr val="FF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611BE51-14C5-DCA0-3FE3-9258A139A40E}"/>
              </a:ext>
            </a:extLst>
          </p:cNvPr>
          <p:cNvSpPr txBox="1"/>
          <p:nvPr/>
        </p:nvSpPr>
        <p:spPr>
          <a:xfrm>
            <a:off x="3740727" y="6325862"/>
            <a:ext cx="6096000" cy="369332"/>
          </a:xfrm>
          <a:prstGeom prst="rect">
            <a:avLst/>
          </a:prstGeom>
          <a:noFill/>
        </p:spPr>
        <p:txBody>
          <a:bodyPr wrap="square">
            <a:spAutoFit/>
          </a:bodyPr>
          <a:lstStyle/>
          <a:p>
            <a:r>
              <a:rPr lang="en-US" dirty="0">
                <a:hlinkClick r:id="rId2"/>
              </a:rPr>
              <a:t>Introduction to Ridge Regression - </a:t>
            </a:r>
            <a:r>
              <a:rPr lang="en-US" dirty="0" err="1">
                <a:hlinkClick r:id="rId2"/>
              </a:rPr>
              <a:t>Statology</a:t>
            </a:r>
            <a:endParaRPr lang="en-IN" dirty="0"/>
          </a:p>
        </p:txBody>
      </p:sp>
    </p:spTree>
    <p:extLst>
      <p:ext uri="{BB962C8B-B14F-4D97-AF65-F5344CB8AC3E}">
        <p14:creationId xmlns:p14="http://schemas.microsoft.com/office/powerpoint/2010/main" val="1811437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584EC-DB48-9AA8-482E-B9C258275F63}"/>
              </a:ext>
            </a:extLst>
          </p:cNvPr>
          <p:cNvSpPr>
            <a:spLocks noGrp="1"/>
          </p:cNvSpPr>
          <p:nvPr>
            <p:ph type="title"/>
          </p:nvPr>
        </p:nvSpPr>
        <p:spPr>
          <a:xfrm>
            <a:off x="1024127" y="585216"/>
            <a:ext cx="10378163" cy="1499616"/>
          </a:xfrm>
        </p:spPr>
        <p:txBody>
          <a:bodyPr/>
          <a:lstStyle/>
          <a:p>
            <a:r>
              <a:rPr lang="en-IN" dirty="0"/>
              <a:t>LASSO Regression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C1469B1-0935-B30E-05DC-2F951F24F932}"/>
                  </a:ext>
                </a:extLst>
              </p:cNvPr>
              <p:cNvSpPr>
                <a:spLocks noGrp="1"/>
              </p:cNvSpPr>
              <p:nvPr>
                <p:ph idx="1"/>
              </p:nvPr>
            </p:nvSpPr>
            <p:spPr>
              <a:xfrm>
                <a:off x="110836" y="2286000"/>
                <a:ext cx="12081164" cy="4023360"/>
              </a:xfrm>
            </p:spPr>
            <p:txBody>
              <a:bodyPr/>
              <a:lstStyle/>
              <a:p>
                <a:r>
                  <a:rPr lang="en-US" dirty="0">
                    <a:latin typeface="Arial" panose="020B0604020202020204" pitchFamily="34" charset="0"/>
                    <a:cs typeface="Arial" panose="020B0604020202020204" pitchFamily="34" charset="0"/>
                  </a:rPr>
                  <a:t>Lasso Regression: </a:t>
                </a:r>
                <a:r>
                  <a:rPr lang="en-US" dirty="0">
                    <a:highlight>
                      <a:srgbClr val="FFFF00"/>
                    </a:highlight>
                    <a:latin typeface="Arial" panose="020B0604020202020204" pitchFamily="34" charset="0"/>
                    <a:cs typeface="Arial" panose="020B0604020202020204" pitchFamily="34" charset="0"/>
                  </a:rPr>
                  <a:t>LASSO stands for Least </a:t>
                </a:r>
                <a:r>
                  <a:rPr lang="en-US" b="1" dirty="0">
                    <a:highlight>
                      <a:srgbClr val="FFFF00"/>
                    </a:highlight>
                    <a:latin typeface="Arial" panose="020B0604020202020204" pitchFamily="34" charset="0"/>
                    <a:cs typeface="Arial" panose="020B0604020202020204" pitchFamily="34" charset="0"/>
                  </a:rPr>
                  <a:t>Absolute</a:t>
                </a:r>
                <a:r>
                  <a:rPr lang="en-US" dirty="0">
                    <a:highlight>
                      <a:srgbClr val="FFFF00"/>
                    </a:highlight>
                    <a:latin typeface="Arial" panose="020B0604020202020204" pitchFamily="34" charset="0"/>
                    <a:cs typeface="Arial" panose="020B0604020202020204" pitchFamily="34" charset="0"/>
                  </a:rPr>
                  <a:t> Shrinkage and </a:t>
                </a:r>
                <a:r>
                  <a:rPr lang="en-US" b="1" dirty="0">
                    <a:highlight>
                      <a:srgbClr val="FFFF00"/>
                    </a:highlight>
                    <a:latin typeface="Arial" panose="020B0604020202020204" pitchFamily="34" charset="0"/>
                    <a:cs typeface="Arial" panose="020B0604020202020204" pitchFamily="34" charset="0"/>
                  </a:rPr>
                  <a:t>Selection</a:t>
                </a:r>
                <a:r>
                  <a:rPr lang="en-US" dirty="0">
                    <a:highlight>
                      <a:srgbClr val="FFFF00"/>
                    </a:highlight>
                    <a:latin typeface="Arial" panose="020B0604020202020204" pitchFamily="34" charset="0"/>
                    <a:cs typeface="Arial" panose="020B0604020202020204" pitchFamily="34" charset="0"/>
                  </a:rPr>
                  <a:t> Operator</a:t>
                </a: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a:t>
                </a:r>
                <a:r>
                  <a:rPr lang="en-US" dirty="0">
                    <a:highlight>
                      <a:srgbClr val="FFFF00"/>
                    </a:highlight>
                    <a:latin typeface="Arial" panose="020B0604020202020204" pitchFamily="34" charset="0"/>
                    <a:cs typeface="Arial" panose="020B0604020202020204" pitchFamily="34" charset="0"/>
                  </a:rPr>
                  <a:t>only difference found between Ridge &amp; Lasso is that: instead of taking the square of the coefficients (</a:t>
                </a:r>
                <a14:m>
                  <m:oMath xmlns:m="http://schemas.openxmlformats.org/officeDocument/2006/math">
                    <m:sSub>
                      <m:sSubPr>
                        <m:ctrlPr>
                          <a:rPr lang="en-US" i="1" smtClean="0">
                            <a:highlight>
                              <a:srgbClr val="FFFF00"/>
                            </a:highlight>
                            <a:latin typeface="Cambria Math" panose="02040503050406030204" pitchFamily="18" charset="0"/>
                            <a:cs typeface="Arial" panose="020B0604020202020204" pitchFamily="34" charset="0"/>
                          </a:rPr>
                        </m:ctrlPr>
                      </m:sSubPr>
                      <m:e>
                        <m:r>
                          <a:rPr lang="en-IN" b="0" i="1" smtClean="0">
                            <a:highlight>
                              <a:srgbClr val="FFFF00"/>
                            </a:highlight>
                            <a:latin typeface="Cambria Math" panose="02040503050406030204" pitchFamily="18" charset="0"/>
                            <a:cs typeface="Arial" panose="020B0604020202020204" pitchFamily="34" charset="0"/>
                          </a:rPr>
                          <m:t>𝑙</m:t>
                        </m:r>
                      </m:e>
                      <m:sub>
                        <m:r>
                          <a:rPr lang="en-IN" b="0" i="1" smtClean="0">
                            <a:highlight>
                              <a:srgbClr val="FFFF00"/>
                            </a:highlight>
                            <a:latin typeface="Cambria Math" panose="02040503050406030204" pitchFamily="18" charset="0"/>
                            <a:cs typeface="Arial" panose="020B0604020202020204" pitchFamily="34" charset="0"/>
                          </a:rPr>
                          <m:t>2</m:t>
                        </m:r>
                      </m:sub>
                    </m:sSub>
                    <m:r>
                      <a:rPr lang="en-IN" b="0" i="1" smtClean="0">
                        <a:highlight>
                          <a:srgbClr val="FFFF00"/>
                        </a:highlight>
                        <a:latin typeface="Cambria Math" panose="02040503050406030204" pitchFamily="18" charset="0"/>
                        <a:cs typeface="Arial" panose="020B0604020202020204" pitchFamily="34" charset="0"/>
                      </a:rPr>
                      <m:t> </m:t>
                    </m:r>
                    <m:r>
                      <a:rPr lang="en-IN" b="0" i="1" smtClean="0">
                        <a:highlight>
                          <a:srgbClr val="FFFF00"/>
                        </a:highlight>
                        <a:latin typeface="Cambria Math" panose="02040503050406030204" pitchFamily="18" charset="0"/>
                        <a:cs typeface="Arial" panose="020B0604020202020204" pitchFamily="34" charset="0"/>
                      </a:rPr>
                      <m:t>𝑛𝑜𝑟𝑚</m:t>
                    </m:r>
                    <m:r>
                      <a:rPr lang="en-IN" b="0" i="1" smtClean="0">
                        <a:highlight>
                          <a:srgbClr val="FFFF00"/>
                        </a:highlight>
                        <a:latin typeface="Cambria Math" panose="02040503050406030204" pitchFamily="18" charset="0"/>
                        <a:cs typeface="Arial" panose="020B0604020202020204" pitchFamily="34" charset="0"/>
                      </a:rPr>
                      <m:t>)</m:t>
                    </m:r>
                  </m:oMath>
                </a14:m>
                <a:r>
                  <a:rPr lang="en-US" dirty="0">
                    <a:highlight>
                      <a:srgbClr val="FFFF00"/>
                    </a:highlight>
                    <a:latin typeface="Arial" panose="020B0604020202020204" pitchFamily="34" charset="0"/>
                    <a:cs typeface="Arial" panose="020B0604020202020204" pitchFamily="34" charset="0"/>
                  </a:rPr>
                  <a:t>, magnitudes (</a:t>
                </a:r>
                <a14:m>
                  <m:oMath xmlns:m="http://schemas.openxmlformats.org/officeDocument/2006/math">
                    <m:sSub>
                      <m:sSubPr>
                        <m:ctrlPr>
                          <a:rPr lang="en-US" i="1">
                            <a:highlight>
                              <a:srgbClr val="FFFF00"/>
                            </a:highlight>
                            <a:latin typeface="Cambria Math" panose="02040503050406030204" pitchFamily="18" charset="0"/>
                            <a:cs typeface="Arial" panose="020B0604020202020204" pitchFamily="34" charset="0"/>
                          </a:rPr>
                        </m:ctrlPr>
                      </m:sSubPr>
                      <m:e>
                        <m:r>
                          <a:rPr lang="en-IN" i="1">
                            <a:highlight>
                              <a:srgbClr val="FFFF00"/>
                            </a:highlight>
                            <a:latin typeface="Cambria Math" panose="02040503050406030204" pitchFamily="18" charset="0"/>
                            <a:cs typeface="Arial" panose="020B0604020202020204" pitchFamily="34" charset="0"/>
                          </a:rPr>
                          <m:t>𝑙</m:t>
                        </m:r>
                      </m:e>
                      <m:sub>
                        <m:r>
                          <a:rPr lang="en-IN" b="0" i="1" smtClean="0">
                            <a:highlight>
                              <a:srgbClr val="FFFF00"/>
                            </a:highlight>
                            <a:latin typeface="Cambria Math" panose="02040503050406030204" pitchFamily="18" charset="0"/>
                            <a:cs typeface="Arial" panose="020B0604020202020204" pitchFamily="34" charset="0"/>
                          </a:rPr>
                          <m:t>1</m:t>
                        </m:r>
                      </m:sub>
                    </m:sSub>
                    <m:r>
                      <a:rPr lang="en-IN" i="1">
                        <a:highlight>
                          <a:srgbClr val="FFFF00"/>
                        </a:highlight>
                        <a:latin typeface="Cambria Math" panose="02040503050406030204" pitchFamily="18" charset="0"/>
                        <a:cs typeface="Arial" panose="020B0604020202020204" pitchFamily="34" charset="0"/>
                      </a:rPr>
                      <m:t> </m:t>
                    </m:r>
                    <m:r>
                      <a:rPr lang="en-IN" i="1">
                        <a:highlight>
                          <a:srgbClr val="FFFF00"/>
                        </a:highlight>
                        <a:latin typeface="Cambria Math" panose="02040503050406030204" pitchFamily="18" charset="0"/>
                        <a:cs typeface="Arial" panose="020B0604020202020204" pitchFamily="34" charset="0"/>
                      </a:rPr>
                      <m:t>𝑛𝑜𝑟𝑚</m:t>
                    </m:r>
                    <m:r>
                      <a:rPr lang="en-IN" i="1">
                        <a:highlight>
                          <a:srgbClr val="FFFF00"/>
                        </a:highlight>
                        <a:latin typeface="Cambria Math" panose="02040503050406030204" pitchFamily="18" charset="0"/>
                        <a:cs typeface="Arial" panose="020B0604020202020204" pitchFamily="34" charset="0"/>
                      </a:rPr>
                      <m:t>)</m:t>
                    </m:r>
                  </m:oMath>
                </a14:m>
                <a:r>
                  <a:rPr lang="en-US" dirty="0">
                    <a:highlight>
                      <a:srgbClr val="FFFF00"/>
                    </a:highlight>
                    <a:latin typeface="Arial" panose="020B0604020202020204" pitchFamily="34" charset="0"/>
                    <a:cs typeface="Arial" panose="020B0604020202020204" pitchFamily="34" charset="0"/>
                  </a:rPr>
                  <a:t> are taken into account</a:t>
                </a:r>
                <a:r>
                  <a:rPr lang="en-US" dirty="0">
                    <a:latin typeface="Arial" panose="020B0604020202020204" pitchFamily="34" charset="0"/>
                    <a:cs typeface="Arial" panose="020B0604020202020204" pitchFamily="34" charset="0"/>
                  </a:rPr>
                  <a:t>. This type of regularization can lead to zero coefficients, i.e. some of the features are completely neglected for evaluating output. </a:t>
                </a:r>
                <a:endParaRPr lang="en-IN"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2C1469B1-0935-B30E-05DC-2F951F24F932}"/>
                  </a:ext>
                </a:extLst>
              </p:cNvPr>
              <p:cNvSpPr>
                <a:spLocks noGrp="1" noRot="1" noChangeAspect="1" noMove="1" noResize="1" noEditPoints="1" noAdjustHandles="1" noChangeArrowheads="1" noChangeShapeType="1" noTextEdit="1"/>
              </p:cNvSpPr>
              <p:nvPr>
                <p:ph idx="1"/>
              </p:nvPr>
            </p:nvSpPr>
            <p:spPr>
              <a:xfrm>
                <a:off x="110836" y="2286000"/>
                <a:ext cx="12081164" cy="4023360"/>
              </a:xfrm>
              <a:blipFill>
                <a:blip r:embed="rId2"/>
                <a:stretch>
                  <a:fillRect l="-252" t="-1818"/>
                </a:stretch>
              </a:blipFill>
            </p:spPr>
            <p:txBody>
              <a:bodyPr/>
              <a:lstStyle/>
              <a:p>
                <a:r>
                  <a:rPr lang="en-IN">
                    <a:noFill/>
                  </a:rPr>
                  <a:t> </a:t>
                </a:r>
              </a:p>
            </p:txBody>
          </p:sp>
        </mc:Fallback>
      </mc:AlternateContent>
    </p:spTree>
    <p:extLst>
      <p:ext uri="{BB962C8B-B14F-4D97-AF65-F5344CB8AC3E}">
        <p14:creationId xmlns:p14="http://schemas.microsoft.com/office/powerpoint/2010/main" val="3447221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1F238-1EFE-A83F-075E-4A10E510640A}"/>
              </a:ext>
            </a:extLst>
          </p:cNvPr>
          <p:cNvSpPr>
            <a:spLocks noGrp="1"/>
          </p:cNvSpPr>
          <p:nvPr>
            <p:ph type="title"/>
          </p:nvPr>
        </p:nvSpPr>
        <p:spPr/>
        <p:txBody>
          <a:bodyPr/>
          <a:lstStyle/>
          <a:p>
            <a:r>
              <a:rPr lang="en-IN" dirty="0"/>
              <a:t>Rest of the slides in this ppt are for further reading only</a:t>
            </a:r>
          </a:p>
        </p:txBody>
      </p:sp>
      <p:sp>
        <p:nvSpPr>
          <p:cNvPr id="3" name="Content Placeholder 2">
            <a:extLst>
              <a:ext uri="{FF2B5EF4-FFF2-40B4-BE49-F238E27FC236}">
                <a16:creationId xmlns:a16="http://schemas.microsoft.com/office/drawing/2014/main" id="{5BC950C4-C938-D4C0-960A-3D94F59E16B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53846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34580-DB8F-F567-3809-D534A23C9837}"/>
              </a:ext>
            </a:extLst>
          </p:cNvPr>
          <p:cNvSpPr>
            <a:spLocks noGrp="1"/>
          </p:cNvSpPr>
          <p:nvPr>
            <p:ph type="title"/>
          </p:nvPr>
        </p:nvSpPr>
        <p:spPr/>
        <p:txBody>
          <a:bodyPr/>
          <a:lstStyle/>
          <a:p>
            <a:r>
              <a:rPr lang="en-IN" dirty="0"/>
              <a:t>Residual sum of squares (</a:t>
            </a:r>
            <a:r>
              <a:rPr lang="en-IN" dirty="0" err="1"/>
              <a:t>rss</a:t>
            </a:r>
            <a:r>
              <a:rPr lang="en-IN" dirty="0"/>
              <a:t>)</a:t>
            </a:r>
          </a:p>
        </p:txBody>
      </p:sp>
      <p:sp>
        <p:nvSpPr>
          <p:cNvPr id="3" name="Content Placeholder 2">
            <a:extLst>
              <a:ext uri="{FF2B5EF4-FFF2-40B4-BE49-F238E27FC236}">
                <a16:creationId xmlns:a16="http://schemas.microsoft.com/office/drawing/2014/main" id="{C190AB06-1A7D-D45C-10D6-8C32C3CEDC8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C1BB32C-E5EE-569E-C0A0-A1C87E764EBE}"/>
              </a:ext>
            </a:extLst>
          </p:cNvPr>
          <p:cNvPicPr>
            <a:picLocks noChangeAspect="1"/>
          </p:cNvPicPr>
          <p:nvPr/>
        </p:nvPicPr>
        <p:blipFill>
          <a:blip r:embed="rId2"/>
          <a:stretch>
            <a:fillRect/>
          </a:stretch>
        </p:blipFill>
        <p:spPr>
          <a:xfrm>
            <a:off x="0" y="2084832"/>
            <a:ext cx="12192000" cy="3557544"/>
          </a:xfrm>
          <a:prstGeom prst="rect">
            <a:avLst/>
          </a:prstGeom>
        </p:spPr>
      </p:pic>
      <p:sp>
        <p:nvSpPr>
          <p:cNvPr id="7" name="TextBox 6">
            <a:extLst>
              <a:ext uri="{FF2B5EF4-FFF2-40B4-BE49-F238E27FC236}">
                <a16:creationId xmlns:a16="http://schemas.microsoft.com/office/drawing/2014/main" id="{778B6383-1ED7-7D77-2C77-BF1D3ACF6E9A}"/>
              </a:ext>
            </a:extLst>
          </p:cNvPr>
          <p:cNvSpPr txBox="1"/>
          <p:nvPr/>
        </p:nvSpPr>
        <p:spPr>
          <a:xfrm>
            <a:off x="3214255" y="6325862"/>
            <a:ext cx="6096000" cy="369332"/>
          </a:xfrm>
          <a:prstGeom prst="rect">
            <a:avLst/>
          </a:prstGeom>
          <a:noFill/>
        </p:spPr>
        <p:txBody>
          <a:bodyPr wrap="square">
            <a:spAutoFit/>
          </a:bodyPr>
          <a:lstStyle/>
          <a:p>
            <a:r>
              <a:rPr lang="en-US" dirty="0">
                <a:hlinkClick r:id="rId3"/>
              </a:rPr>
              <a:t>Residual sum of squares - Wikipedia</a:t>
            </a:r>
            <a:endParaRPr lang="en-IN" dirty="0"/>
          </a:p>
        </p:txBody>
      </p:sp>
    </p:spTree>
    <p:extLst>
      <p:ext uri="{BB962C8B-B14F-4D97-AF65-F5344CB8AC3E}">
        <p14:creationId xmlns:p14="http://schemas.microsoft.com/office/powerpoint/2010/main" val="911689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955F-2231-5A6D-69CD-DF7A7EDD27E3}"/>
              </a:ext>
            </a:extLst>
          </p:cNvPr>
          <p:cNvSpPr>
            <a:spLocks noGrp="1"/>
          </p:cNvSpPr>
          <p:nvPr>
            <p:ph type="title"/>
          </p:nvPr>
        </p:nvSpPr>
        <p:spPr/>
        <p:txBody>
          <a:bodyPr/>
          <a:lstStyle/>
          <a:p>
            <a:r>
              <a:rPr lang="en-IN" dirty="0"/>
              <a:t>regularization</a:t>
            </a:r>
          </a:p>
        </p:txBody>
      </p:sp>
      <p:sp>
        <p:nvSpPr>
          <p:cNvPr id="3" name="Content Placeholder 2">
            <a:extLst>
              <a:ext uri="{FF2B5EF4-FFF2-40B4-BE49-F238E27FC236}">
                <a16:creationId xmlns:a16="http://schemas.microsoft.com/office/drawing/2014/main" id="{A00033BC-8992-A438-349E-AEDB43AEE786}"/>
              </a:ext>
            </a:extLst>
          </p:cNvPr>
          <p:cNvSpPr>
            <a:spLocks noGrp="1"/>
          </p:cNvSpPr>
          <p:nvPr>
            <p:ph idx="1"/>
          </p:nvPr>
        </p:nvSpPr>
        <p:spPr>
          <a:xfrm>
            <a:off x="152400" y="1842655"/>
            <a:ext cx="11776364" cy="4466705"/>
          </a:xfrm>
        </p:spPr>
        <p:txBody>
          <a:bodyPr/>
          <a:lstStyle/>
          <a:p>
            <a:r>
              <a:rPr lang="en-US" dirty="0">
                <a:highlight>
                  <a:srgbClr val="FFFF00"/>
                </a:highlight>
                <a:latin typeface="Arial" panose="020B0604020202020204" pitchFamily="34" charset="0"/>
                <a:cs typeface="Arial" panose="020B0604020202020204" pitchFamily="34" charset="0"/>
              </a:rPr>
              <a:t>Regularization is the process that regularizes or shrinks the coefficients towards zero</a:t>
            </a:r>
          </a:p>
          <a:p>
            <a:r>
              <a:rPr lang="en-US" dirty="0">
                <a:highlight>
                  <a:srgbClr val="00FF00"/>
                </a:highlight>
                <a:latin typeface="Arial" panose="020B0604020202020204" pitchFamily="34" charset="0"/>
                <a:cs typeface="Arial" panose="020B0604020202020204" pitchFamily="34" charset="0"/>
              </a:rPr>
              <a:t>Regularization discourages learning a more complex or flexible model to prevent overfitting</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RSS(Residual Sum of Squares) measures the amount of error staying between the regression function and the data set. It is a measure of the amount of statistical variance present in the dataset</a:t>
            </a:r>
            <a:endParaRPr lang="en-IN" dirty="0">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0C156E1D-A6E8-93C4-8CAF-DFCD11DE69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757488"/>
            <a:ext cx="6667500" cy="13430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3D7F7FC-D861-D37A-F231-520B4DEA8662}"/>
              </a:ext>
            </a:extLst>
          </p:cNvPr>
          <p:cNvSpPr txBox="1"/>
          <p:nvPr/>
        </p:nvSpPr>
        <p:spPr>
          <a:xfrm>
            <a:off x="768927" y="6440177"/>
            <a:ext cx="9975273" cy="369332"/>
          </a:xfrm>
          <a:prstGeom prst="rect">
            <a:avLst/>
          </a:prstGeom>
          <a:noFill/>
        </p:spPr>
        <p:txBody>
          <a:bodyPr wrap="square">
            <a:spAutoFit/>
          </a:bodyPr>
          <a:lstStyle/>
          <a:p>
            <a:r>
              <a:rPr lang="en-US" dirty="0">
                <a:hlinkClick r:id="rId3"/>
              </a:rPr>
              <a:t>Ridge &amp; Lasso Regression. Solving overfitting and underfitting… | by Deep Patel | Medium</a:t>
            </a:r>
            <a:endParaRPr lang="en-IN" dirty="0"/>
          </a:p>
        </p:txBody>
      </p:sp>
    </p:spTree>
    <p:extLst>
      <p:ext uri="{BB962C8B-B14F-4D97-AF65-F5344CB8AC3E}">
        <p14:creationId xmlns:p14="http://schemas.microsoft.com/office/powerpoint/2010/main" val="2006347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60946A-CC12-B5FF-4295-8691DCE81745}"/>
              </a:ext>
            </a:extLst>
          </p:cNvPr>
          <p:cNvSpPr>
            <a:spLocks noGrp="1"/>
          </p:cNvSpPr>
          <p:nvPr>
            <p:ph idx="1"/>
          </p:nvPr>
        </p:nvSpPr>
        <p:spPr>
          <a:xfrm>
            <a:off x="1235963" y="498763"/>
            <a:ext cx="9720073" cy="6677891"/>
          </a:xfrm>
        </p:spPr>
        <p:txBody>
          <a:bodyPr>
            <a:normAutofit/>
          </a:bodyPr>
          <a:lstStyle/>
          <a:p>
            <a:r>
              <a:rPr lang="en-IN" sz="3600" dirty="0"/>
              <a:t>Error=True Value-Predicted value</a:t>
            </a:r>
          </a:p>
          <a:p>
            <a:r>
              <a:rPr lang="en-IN" sz="3600" dirty="0"/>
              <a:t>For a linear regression model, Error=True value-Predicted value from Linear Regression</a:t>
            </a:r>
          </a:p>
          <a:p>
            <a:r>
              <a:rPr lang="en-IN" sz="3600" dirty="0"/>
              <a:t>Linear Regression </a:t>
            </a:r>
            <a:r>
              <a:rPr lang="en-IN" sz="3600" dirty="0">
                <a:sym typeface="Wingdings" panose="05000000000000000000" pitchFamily="2" charset="2"/>
              </a:rPr>
              <a:t> y=</a:t>
            </a:r>
            <a:r>
              <a:rPr lang="en-IN" sz="3600" dirty="0" err="1">
                <a:sym typeface="Wingdings" panose="05000000000000000000" pitchFamily="2" charset="2"/>
              </a:rPr>
              <a:t>mx+c</a:t>
            </a:r>
            <a:endParaRPr lang="en-IN" sz="3600" dirty="0">
              <a:sym typeface="Wingdings" panose="05000000000000000000" pitchFamily="2" charset="2"/>
            </a:endParaRPr>
          </a:p>
          <a:p>
            <a:r>
              <a:rPr lang="en-IN" sz="3600" dirty="0">
                <a:sym typeface="Wingdings" panose="05000000000000000000" pitchFamily="2" charset="2"/>
              </a:rPr>
              <a:t>This is true for ideal case. Real life has errors</a:t>
            </a:r>
          </a:p>
          <a:p>
            <a:r>
              <a:rPr lang="en-IN" sz="3600" dirty="0">
                <a:sym typeface="Wingdings" panose="05000000000000000000" pitchFamily="2" charset="2"/>
              </a:rPr>
              <a:t>Error=y-(</a:t>
            </a:r>
            <a:r>
              <a:rPr lang="en-IN" sz="3600" dirty="0" err="1">
                <a:sym typeface="Wingdings" panose="05000000000000000000" pitchFamily="2" charset="2"/>
              </a:rPr>
              <a:t>mx+c</a:t>
            </a:r>
            <a:r>
              <a:rPr lang="en-IN" sz="3600" dirty="0">
                <a:sym typeface="Wingdings" panose="05000000000000000000" pitchFamily="2" charset="2"/>
              </a:rPr>
              <a:t>) or True value</a:t>
            </a:r>
            <a:r>
              <a:rPr lang="en-IN" sz="3600" dirty="0"/>
              <a:t> y- Predicted value (</a:t>
            </a:r>
            <a:r>
              <a:rPr lang="en-IN" sz="3600" dirty="0" err="1"/>
              <a:t>mx+c</a:t>
            </a:r>
            <a:r>
              <a:rPr lang="en-IN" sz="3600" dirty="0"/>
              <a:t>)</a:t>
            </a:r>
          </a:p>
          <a:p>
            <a:r>
              <a:rPr lang="en-IN" sz="3600" dirty="0"/>
              <a:t>RSS=[y-(</a:t>
            </a:r>
            <a:r>
              <a:rPr lang="en-IN" sz="3600" dirty="0" err="1"/>
              <a:t>mx+c</a:t>
            </a:r>
            <a:r>
              <a:rPr lang="en-IN" sz="3600" dirty="0"/>
              <a:t>)]^2 or for many cases, Sum of [</a:t>
            </a:r>
            <a:r>
              <a:rPr lang="en-IN" sz="3600" dirty="0" err="1"/>
              <a:t>yi</a:t>
            </a:r>
            <a:r>
              <a:rPr lang="en-IN" sz="3600" dirty="0"/>
              <a:t>-(</a:t>
            </a:r>
            <a:r>
              <a:rPr lang="en-IN" sz="3600" dirty="0" err="1"/>
              <a:t>mxi+c</a:t>
            </a:r>
            <a:r>
              <a:rPr lang="en-IN" sz="3600" dirty="0"/>
              <a:t>)]2</a:t>
            </a:r>
          </a:p>
          <a:p>
            <a:r>
              <a:rPr lang="en-IN" sz="3600" dirty="0"/>
              <a:t>Cost=Cost of utilizing a ML model=</a:t>
            </a:r>
            <a:r>
              <a:rPr lang="en-IN" sz="3600" dirty="0" err="1"/>
              <a:t>Error+Some</a:t>
            </a:r>
            <a:r>
              <a:rPr lang="en-IN" sz="3600" dirty="0"/>
              <a:t> parameter * The coefficients of model</a:t>
            </a:r>
          </a:p>
        </p:txBody>
      </p:sp>
    </p:spTree>
    <p:extLst>
      <p:ext uri="{BB962C8B-B14F-4D97-AF65-F5344CB8AC3E}">
        <p14:creationId xmlns:p14="http://schemas.microsoft.com/office/powerpoint/2010/main" val="106212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E2253-1F20-F484-0DBE-2309255DD87C}"/>
              </a:ext>
            </a:extLst>
          </p:cNvPr>
          <p:cNvSpPr>
            <a:spLocks noGrp="1"/>
          </p:cNvSpPr>
          <p:nvPr>
            <p:ph type="title"/>
          </p:nvPr>
        </p:nvSpPr>
        <p:spPr>
          <a:xfrm>
            <a:off x="1037983" y="246056"/>
            <a:ext cx="9720072" cy="1499616"/>
          </a:xfrm>
        </p:spPr>
        <p:txBody>
          <a:bodyPr/>
          <a:lstStyle/>
          <a:p>
            <a:r>
              <a:rPr lang="en-IN" dirty="0"/>
              <a:t>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C3A00C-23C0-3FA1-56C3-772ED2E1D6D6}"/>
                  </a:ext>
                </a:extLst>
              </p:cNvPr>
              <p:cNvSpPr>
                <a:spLocks noGrp="1"/>
              </p:cNvSpPr>
              <p:nvPr>
                <p:ph idx="1"/>
              </p:nvPr>
            </p:nvSpPr>
            <p:spPr>
              <a:xfrm>
                <a:off x="110836" y="1246909"/>
                <a:ext cx="12192000" cy="4959927"/>
              </a:xfrm>
            </p:spPr>
            <p:txBody>
              <a:bodyPr>
                <a:normAutofit fontScale="92500" lnSpcReduction="10000"/>
              </a:bodyPr>
              <a:lstStyle/>
              <a:p>
                <a14:m>
                  <m:oMath xmlns:m="http://schemas.openxmlformats.org/officeDocument/2006/math">
                    <m:r>
                      <a:rPr lang="en-US" sz="2400" i="1" dirty="0" smtClean="0">
                        <a:highlight>
                          <a:srgbClr val="00FF00"/>
                        </a:highlight>
                        <a:latin typeface="Cambria Math" panose="02040503050406030204" pitchFamily="18" charset="0"/>
                        <a:ea typeface="Cambria Math" panose="02040503050406030204" pitchFamily="18" charset="0"/>
                      </a:rPr>
                      <m:t>𝜆</m:t>
                    </m:r>
                    <m:r>
                      <a:rPr lang="en-IN" sz="2400" b="0" i="1" dirty="0" smtClean="0">
                        <a:highlight>
                          <a:srgbClr val="00FF00"/>
                        </a:highlight>
                        <a:latin typeface="Cambria Math" panose="02040503050406030204" pitchFamily="18" charset="0"/>
                        <a:ea typeface="Cambria Math" panose="02040503050406030204" pitchFamily="18" charset="0"/>
                      </a:rPr>
                      <m:t> </m:t>
                    </m:r>
                  </m:oMath>
                </a14:m>
                <a:r>
                  <a:rPr lang="en-US" sz="2400" dirty="0">
                    <a:highlight>
                      <a:srgbClr val="00FF00"/>
                    </a:highlight>
                    <a:latin typeface="Arial" panose="020B0604020202020204" pitchFamily="34" charset="0"/>
                    <a:cs typeface="Arial" panose="020B0604020202020204" pitchFamily="34" charset="0"/>
                  </a:rPr>
                  <a:t>is a hyper-parameter (</a:t>
                </a:r>
                <a:r>
                  <a:rPr lang="en-US" sz="2400" b="1" dirty="0">
                    <a:highlight>
                      <a:srgbClr val="00FF00"/>
                    </a:highlight>
                    <a:latin typeface="Arial" panose="020B0604020202020204" pitchFamily="34" charset="0"/>
                    <a:cs typeface="Arial" panose="020B0604020202020204" pitchFamily="34" charset="0"/>
                  </a:rPr>
                  <a:t>a parameter whose value is used to control the learning process)</a:t>
                </a:r>
                <a:r>
                  <a:rPr lang="en-US" sz="2400" dirty="0">
                    <a:highlight>
                      <a:srgbClr val="00FF00"/>
                    </a:highlight>
                    <a:latin typeface="Arial" panose="020B0604020202020204" pitchFamily="34" charset="0"/>
                    <a:cs typeface="Arial" panose="020B0604020202020204" pitchFamily="34" charset="0"/>
                  </a:rPr>
                  <a:t> that we tune and we set it to a particular value based on our choice</a:t>
                </a:r>
                <a:r>
                  <a:rPr lang="en-US" sz="2400" dirty="0">
                    <a:highlight>
                      <a:srgbClr val="FFFF00"/>
                    </a:highlight>
                    <a:latin typeface="Arial" panose="020B0604020202020204" pitchFamily="34" charset="0"/>
                    <a:cs typeface="Arial" panose="020B0604020202020204" pitchFamily="34" charset="0"/>
                  </a:rPr>
                  <a:t>. If it is set to zero then the equation gets converted to that of normal linear regression</a:t>
                </a:r>
                <a:r>
                  <a:rPr lang="en-US" sz="2400" dirty="0">
                    <a:latin typeface="Arial" panose="020B0604020202020204" pitchFamily="34" charset="0"/>
                    <a:cs typeface="Arial" panose="020B0604020202020204" pitchFamily="34" charset="0"/>
                  </a:rPr>
                  <a:t>. </a:t>
                </a:r>
              </a:p>
              <a:p>
                <a:r>
                  <a:rPr lang="en-IN" sz="2400" dirty="0">
                    <a:latin typeface="Arial" panose="020B0604020202020204" pitchFamily="34" charset="0"/>
                    <a:cs typeface="Arial" panose="020B0604020202020204" pitchFamily="34" charset="0"/>
                  </a:rPr>
                  <a:t>Case 1: </a:t>
                </a:r>
                <a14:m>
                  <m:oMath xmlns:m="http://schemas.openxmlformats.org/officeDocument/2006/math">
                    <m:r>
                      <a:rPr lang="en-IN" sz="2400" i="1" smtClean="0">
                        <a:latin typeface="Cambria Math" panose="02040503050406030204" pitchFamily="18" charset="0"/>
                        <a:ea typeface="Cambria Math" panose="02040503050406030204" pitchFamily="18" charset="0"/>
                        <a:cs typeface="Arial" panose="020B0604020202020204" pitchFamily="34" charset="0"/>
                      </a:rPr>
                      <m:t>𝜆</m:t>
                    </m:r>
                    <m:r>
                      <a:rPr lang="en-IN" sz="2400" b="0" i="1" smtClean="0">
                        <a:latin typeface="Cambria Math" panose="02040503050406030204" pitchFamily="18" charset="0"/>
                        <a:ea typeface="Cambria Math" panose="02040503050406030204" pitchFamily="18" charset="0"/>
                        <a:cs typeface="Arial" panose="020B0604020202020204" pitchFamily="34" charset="0"/>
                      </a:rPr>
                      <m:t>=0  </m:t>
                    </m:r>
                  </m:oMath>
                </a14:m>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This is simple linear regression</a:t>
                </a:r>
              </a:p>
              <a:p>
                <a:r>
                  <a:rPr lang="en-US" sz="2400" dirty="0">
                    <a:latin typeface="Arial" panose="020B0604020202020204" pitchFamily="34" charset="0"/>
                    <a:cs typeface="Arial" panose="020B0604020202020204" pitchFamily="34" charset="0"/>
                  </a:rPr>
                  <a:t>Case 2: </a:t>
                </a:r>
                <a14:m>
                  <m:oMath xmlns:m="http://schemas.openxmlformats.org/officeDocument/2006/math">
                    <m:r>
                      <a:rPr lang="en-US" sz="2400" i="1" smtClean="0">
                        <a:latin typeface="Cambria Math" panose="02040503050406030204" pitchFamily="18" charset="0"/>
                        <a:ea typeface="Cambria Math" panose="02040503050406030204" pitchFamily="18" charset="0"/>
                        <a:cs typeface="Arial" panose="020B0604020202020204" pitchFamily="34" charset="0"/>
                      </a:rPr>
                      <m:t>𝜆</m:t>
                    </m:r>
                    <m:r>
                      <a:rPr lang="en-IN" sz="2400" b="0" i="1"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The coefficients will be zero</a:t>
                </a:r>
              </a:p>
              <a:p>
                <a:r>
                  <a:rPr lang="en-US" sz="2400" dirty="0">
                    <a:latin typeface="Arial" panose="020B0604020202020204" pitchFamily="34" charset="0"/>
                    <a:cs typeface="Arial" panose="020B0604020202020204" pitchFamily="34" charset="0"/>
                  </a:rPr>
                  <a:t>Case 3:</a:t>
                </a:r>
                <a14:m>
                  <m:oMath xmlns:m="http://schemas.openxmlformats.org/officeDocument/2006/math">
                    <m:r>
                      <a:rPr lang="en-IN" sz="2400" b="0" i="1" smtClean="0">
                        <a:latin typeface="Cambria Math" panose="02040503050406030204" pitchFamily="18" charset="0"/>
                        <a:cs typeface="Arial" panose="020B0604020202020204" pitchFamily="34" charset="0"/>
                      </a:rPr>
                      <m:t>0&lt;</m:t>
                    </m:r>
                    <m:r>
                      <a:rPr lang="en-IN" sz="2400" b="0" i="1" smtClean="0">
                        <a:latin typeface="Cambria Math" panose="02040503050406030204" pitchFamily="18" charset="0"/>
                        <a:ea typeface="Cambria Math" panose="02040503050406030204" pitchFamily="18" charset="0"/>
                        <a:cs typeface="Arial" panose="020B0604020202020204" pitchFamily="34" charset="0"/>
                      </a:rPr>
                      <m:t>𝜆</m:t>
                    </m:r>
                    <m:r>
                      <a:rPr lang="en-IN" sz="2400" b="0" i="1" smtClean="0">
                        <a:latin typeface="Cambria Math" panose="02040503050406030204" pitchFamily="18" charset="0"/>
                        <a:ea typeface="Cambria Math" panose="02040503050406030204" pitchFamily="18" charset="0"/>
                        <a:cs typeface="Arial" panose="020B0604020202020204" pitchFamily="34" charset="0"/>
                      </a:rPr>
                      <m:t>&lt;∞</m:t>
                    </m:r>
                  </m:oMath>
                </a14:m>
                <a:endParaRPr lang="en-US" sz="2400" b="0" dirty="0">
                  <a:latin typeface="Arial" panose="020B0604020202020204" pitchFamily="34" charset="0"/>
                  <a:ea typeface="Cambria Math" panose="02040503050406030204" pitchFamily="18" charset="0"/>
                  <a:cs typeface="Arial" panose="020B0604020202020204" pitchFamily="34" charset="0"/>
                </a:endParaRPr>
              </a:p>
              <a:p>
                <a:r>
                  <a:rPr lang="en-US" sz="2400" b="0" dirty="0">
                    <a:latin typeface="Arial" panose="020B0604020202020204" pitchFamily="34" charset="0"/>
                    <a:ea typeface="Cambria Math" panose="02040503050406030204" pitchFamily="18" charset="0"/>
                    <a:cs typeface="Arial" panose="020B0604020202020204" pitchFamily="34" charset="0"/>
                  </a:rPr>
                  <a:t>The magnitude of </a:t>
                </a:r>
                <a14:m>
                  <m:oMath xmlns:m="http://schemas.openxmlformats.org/officeDocument/2006/math">
                    <m:r>
                      <a:rPr lang="en-IN" sz="2400" b="0" i="1" smtClean="0">
                        <a:latin typeface="Cambria Math" panose="02040503050406030204" pitchFamily="18" charset="0"/>
                        <a:ea typeface="Cambria Math" panose="02040503050406030204" pitchFamily="18" charset="0"/>
                        <a:cs typeface="Arial" panose="020B0604020202020204" pitchFamily="34" charset="0"/>
                      </a:rPr>
                      <m:t>𝜆</m:t>
                    </m:r>
                  </m:oMath>
                </a14:m>
                <a:r>
                  <a:rPr lang="en-US" sz="2400" b="0" dirty="0">
                    <a:latin typeface="Arial" panose="020B0604020202020204" pitchFamily="34" charset="0"/>
                    <a:ea typeface="Cambria Math" panose="02040503050406030204" pitchFamily="18" charset="0"/>
                    <a:cs typeface="Arial" panose="020B0604020202020204" pitchFamily="34" charset="0"/>
                  </a:rPr>
                  <a:t> will decide the weightage given to different parts of the cost function and value of the coefficients. </a:t>
                </a:r>
                <a:endParaRPr lang="en-IN" sz="2400" b="0" dirty="0">
                  <a:latin typeface="Arial" panose="020B0604020202020204" pitchFamily="34" charset="0"/>
                  <a:ea typeface="Cambria Math" panose="02040503050406030204" pitchFamily="18"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p:txBody>
          </p:sp>
        </mc:Choice>
        <mc:Fallback xmlns="">
          <p:sp>
            <p:nvSpPr>
              <p:cNvPr id="3" name="Content Placeholder 2">
                <a:extLst>
                  <a:ext uri="{FF2B5EF4-FFF2-40B4-BE49-F238E27FC236}">
                    <a16:creationId xmlns:a16="http://schemas.microsoft.com/office/drawing/2014/main" id="{49C3A00C-23C0-3FA1-56C3-772ED2E1D6D6}"/>
                  </a:ext>
                </a:extLst>
              </p:cNvPr>
              <p:cNvSpPr>
                <a:spLocks noGrp="1" noRot="1" noChangeAspect="1" noMove="1" noResize="1" noEditPoints="1" noAdjustHandles="1" noChangeArrowheads="1" noChangeShapeType="1" noTextEdit="1"/>
              </p:cNvSpPr>
              <p:nvPr>
                <p:ph idx="1"/>
              </p:nvPr>
            </p:nvSpPr>
            <p:spPr>
              <a:xfrm>
                <a:off x="110836" y="1246909"/>
                <a:ext cx="12192000" cy="4959927"/>
              </a:xfrm>
              <a:blipFill>
                <a:blip r:embed="rId2"/>
                <a:stretch>
                  <a:fillRect l="-1000" t="-2214"/>
                </a:stretch>
              </a:blipFill>
            </p:spPr>
            <p:txBody>
              <a:bodyPr/>
              <a:lstStyle/>
              <a:p>
                <a:r>
                  <a:rPr lang="en-IN">
                    <a:noFill/>
                  </a:rPr>
                  <a:t> </a:t>
                </a:r>
              </a:p>
            </p:txBody>
          </p:sp>
        </mc:Fallback>
      </mc:AlternateContent>
      <p:pic>
        <p:nvPicPr>
          <p:cNvPr id="4" name="Picture 2">
            <a:extLst>
              <a:ext uri="{FF2B5EF4-FFF2-40B4-BE49-F238E27FC236}">
                <a16:creationId xmlns:a16="http://schemas.microsoft.com/office/drawing/2014/main" id="{39735195-1956-E3CC-38CF-49EE0E974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0" y="2390773"/>
            <a:ext cx="6667500"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268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E20C5-70DF-1190-25F3-C77A1344A594}"/>
              </a:ext>
            </a:extLst>
          </p:cNvPr>
          <p:cNvSpPr>
            <a:spLocks noGrp="1"/>
          </p:cNvSpPr>
          <p:nvPr>
            <p:ph type="title"/>
          </p:nvPr>
        </p:nvSpPr>
        <p:spPr/>
        <p:txBody>
          <a:bodyPr/>
          <a:lstStyle/>
          <a:p>
            <a:r>
              <a:rPr lang="en-IN" dirty="0"/>
              <a:t>Ridge trace</a:t>
            </a:r>
          </a:p>
        </p:txBody>
      </p:sp>
      <p:sp>
        <p:nvSpPr>
          <p:cNvPr id="3" name="Content Placeholder 2">
            <a:extLst>
              <a:ext uri="{FF2B5EF4-FFF2-40B4-BE49-F238E27FC236}">
                <a16:creationId xmlns:a16="http://schemas.microsoft.com/office/drawing/2014/main" id="{2117E30A-01EF-3A2D-35F8-A111BBC7C864}"/>
              </a:ext>
            </a:extLst>
          </p:cNvPr>
          <p:cNvSpPr>
            <a:spLocks noGrp="1"/>
          </p:cNvSpPr>
          <p:nvPr>
            <p:ph idx="1"/>
          </p:nvPr>
        </p:nvSpPr>
        <p:spPr>
          <a:xfrm>
            <a:off x="180110" y="2286000"/>
            <a:ext cx="4835236" cy="4023360"/>
          </a:xfrm>
        </p:spPr>
        <p:txBody>
          <a:bodyPr>
            <a:normAutofit/>
          </a:bodyPr>
          <a:lstStyle/>
          <a:p>
            <a:r>
              <a:rPr lang="en-US" dirty="0">
                <a:solidFill>
                  <a:srgbClr val="FF0000"/>
                </a:solidFill>
                <a:latin typeface="Arial" panose="020B0604020202020204" pitchFamily="34" charset="0"/>
                <a:cs typeface="Arial" panose="020B0604020202020204" pitchFamily="34" charset="0"/>
              </a:rPr>
              <a:t>This is a plot that visualizes the values of the coefficient estimates as λ increases towards infinity.</a:t>
            </a:r>
          </a:p>
          <a:p>
            <a:r>
              <a:rPr lang="en-US" dirty="0">
                <a:solidFill>
                  <a:srgbClr val="FF0000"/>
                </a:solidFill>
                <a:latin typeface="Arial" panose="020B0604020202020204" pitchFamily="34" charset="0"/>
                <a:cs typeface="Arial" panose="020B0604020202020204" pitchFamily="34" charset="0"/>
              </a:rPr>
              <a:t> Typically we choose λ as the value where most of the coefficient estimates begin to stabilize</a:t>
            </a:r>
          </a:p>
          <a:p>
            <a:r>
              <a:rPr lang="en-US" dirty="0">
                <a:solidFill>
                  <a:srgbClr val="00B050"/>
                </a:solidFill>
                <a:latin typeface="Arial" panose="020B0604020202020204" pitchFamily="34" charset="0"/>
                <a:cs typeface="Arial" panose="020B0604020202020204" pitchFamily="34" charset="0"/>
              </a:rPr>
              <a:t>Another way to choose λ is to simply calculate the test MSE of each model with different values of λ and choose λ to be the value that produces the lowest test MSE</a:t>
            </a:r>
            <a:endParaRPr lang="en-IN" dirty="0">
              <a:solidFill>
                <a:srgbClr val="00B050"/>
              </a:solidFill>
              <a:latin typeface="Arial" panose="020B0604020202020204" pitchFamily="34" charset="0"/>
              <a:cs typeface="Arial" panose="020B0604020202020204" pitchFamily="34" charset="0"/>
            </a:endParaRPr>
          </a:p>
        </p:txBody>
      </p:sp>
      <p:pic>
        <p:nvPicPr>
          <p:cNvPr id="5122" name="Picture 2" descr="Ridge trace plot">
            <a:extLst>
              <a:ext uri="{FF2B5EF4-FFF2-40B4-BE49-F238E27FC236}">
                <a16:creationId xmlns:a16="http://schemas.microsoft.com/office/drawing/2014/main" id="{3811E6D0-17F2-AFA5-41D6-1DADBA648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5346" y="2051517"/>
            <a:ext cx="6174648" cy="44524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2EE5D0C-60E0-2E5A-15F5-4D95966125DD}"/>
              </a:ext>
            </a:extLst>
          </p:cNvPr>
          <p:cNvSpPr txBox="1"/>
          <p:nvPr/>
        </p:nvSpPr>
        <p:spPr>
          <a:xfrm>
            <a:off x="3048000" y="6269458"/>
            <a:ext cx="6096000" cy="369332"/>
          </a:xfrm>
          <a:prstGeom prst="rect">
            <a:avLst/>
          </a:prstGeom>
          <a:noFill/>
        </p:spPr>
        <p:txBody>
          <a:bodyPr wrap="square">
            <a:spAutoFit/>
          </a:bodyPr>
          <a:lstStyle/>
          <a:p>
            <a:r>
              <a:rPr lang="en-US" dirty="0">
                <a:hlinkClick r:id="rId3"/>
              </a:rPr>
              <a:t>Introduction to Ridge Regression - </a:t>
            </a:r>
            <a:r>
              <a:rPr lang="en-US" dirty="0" err="1">
                <a:hlinkClick r:id="rId3"/>
              </a:rPr>
              <a:t>Statology</a:t>
            </a: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70961E0-6AF4-A4BB-ECD8-3209B7F3BDE9}"/>
                  </a:ext>
                </a:extLst>
              </p:cNvPr>
              <p:cNvSpPr txBox="1"/>
              <p:nvPr/>
            </p:nvSpPr>
            <p:spPr>
              <a:xfrm>
                <a:off x="5361709" y="5534891"/>
                <a:ext cx="581891"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oMath>
                  </m:oMathPara>
                </a14:m>
                <a:endParaRPr lang="en-IN" dirty="0"/>
              </a:p>
            </p:txBody>
          </p:sp>
        </mc:Choice>
        <mc:Fallback xmlns="">
          <p:sp>
            <p:nvSpPr>
              <p:cNvPr id="4" name="TextBox 3">
                <a:extLst>
                  <a:ext uri="{FF2B5EF4-FFF2-40B4-BE49-F238E27FC236}">
                    <a16:creationId xmlns:a16="http://schemas.microsoft.com/office/drawing/2014/main" id="{D70961E0-6AF4-A4BB-ECD8-3209B7F3BDE9}"/>
                  </a:ext>
                </a:extLst>
              </p:cNvPr>
              <p:cNvSpPr txBox="1">
                <a:spLocks noRot="1" noChangeAspect="1" noMove="1" noResize="1" noEditPoints="1" noAdjustHandles="1" noChangeArrowheads="1" noChangeShapeType="1" noTextEdit="1"/>
              </p:cNvSpPr>
              <p:nvPr/>
            </p:nvSpPr>
            <p:spPr>
              <a:xfrm>
                <a:off x="5361709" y="5534891"/>
                <a:ext cx="581891" cy="276999"/>
              </a:xfrm>
              <a:prstGeom prst="rect">
                <a:avLst/>
              </a:prstGeom>
              <a:blipFill>
                <a:blip r:embed="rId4"/>
                <a:stretch>
                  <a:fillRect b="-15556"/>
                </a:stretch>
              </a:blipFill>
            </p:spPr>
            <p:txBody>
              <a:bodyPr/>
              <a:lstStyle/>
              <a:p>
                <a:r>
                  <a:rPr lang="en-IN">
                    <a:noFill/>
                  </a:rPr>
                  <a:t> </a:t>
                </a:r>
              </a:p>
            </p:txBody>
          </p:sp>
        </mc:Fallback>
      </mc:AlternateContent>
    </p:spTree>
    <p:extLst>
      <p:ext uri="{BB962C8B-B14F-4D97-AF65-F5344CB8AC3E}">
        <p14:creationId xmlns:p14="http://schemas.microsoft.com/office/powerpoint/2010/main" val="1568337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3E74-09DC-E49C-3602-42CED601BA29}"/>
              </a:ext>
            </a:extLst>
          </p:cNvPr>
          <p:cNvSpPr>
            <a:spLocks noGrp="1"/>
          </p:cNvSpPr>
          <p:nvPr>
            <p:ph type="title"/>
          </p:nvPr>
        </p:nvSpPr>
        <p:spPr/>
        <p:txBody>
          <a:bodyPr/>
          <a:lstStyle/>
          <a:p>
            <a:r>
              <a:rPr lang="en-IN" dirty="0"/>
              <a:t>Ok, so what?</a:t>
            </a:r>
          </a:p>
        </p:txBody>
      </p:sp>
      <p:sp>
        <p:nvSpPr>
          <p:cNvPr id="3" name="Content Placeholder 2">
            <a:extLst>
              <a:ext uri="{FF2B5EF4-FFF2-40B4-BE49-F238E27FC236}">
                <a16:creationId xmlns:a16="http://schemas.microsoft.com/office/drawing/2014/main" id="{56EB8502-1186-DF75-C7A8-A725D37B495E}"/>
              </a:ext>
            </a:extLst>
          </p:cNvPr>
          <p:cNvSpPr>
            <a:spLocks noGrp="1"/>
          </p:cNvSpPr>
          <p:nvPr>
            <p:ph idx="1"/>
          </p:nvPr>
        </p:nvSpPr>
        <p:spPr>
          <a:xfrm>
            <a:off x="1024129" y="2286000"/>
            <a:ext cx="3852672" cy="4023360"/>
          </a:xfrm>
        </p:spPr>
        <p:txBody>
          <a:bodyPr/>
          <a:lstStyle/>
          <a:p>
            <a:r>
              <a:rPr lang="en-US" dirty="0">
                <a:latin typeface="Arial" panose="020B0604020202020204" pitchFamily="34" charset="0"/>
                <a:cs typeface="Arial" panose="020B0604020202020204" pitchFamily="34" charset="0"/>
              </a:rPr>
              <a:t>This means the model fit by ridge regression will produce smaller test errors than the model fit by least squares regression.</a:t>
            </a:r>
            <a:endParaRPr lang="en-IN" dirty="0">
              <a:latin typeface="Arial" panose="020B0604020202020204" pitchFamily="34" charset="0"/>
              <a:cs typeface="Arial" panose="020B0604020202020204" pitchFamily="34" charset="0"/>
            </a:endParaRPr>
          </a:p>
        </p:txBody>
      </p:sp>
      <p:pic>
        <p:nvPicPr>
          <p:cNvPr id="4098" name="Picture 2" descr="Ridge regression test MSE reduction">
            <a:extLst>
              <a:ext uri="{FF2B5EF4-FFF2-40B4-BE49-F238E27FC236}">
                <a16:creationId xmlns:a16="http://schemas.microsoft.com/office/drawing/2014/main" id="{ECC77615-EF3A-2AB7-8047-A5CC44FCF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962" y="1594346"/>
            <a:ext cx="5864909" cy="4196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983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2D538-ECBF-8031-BCD1-6FC1BC6A4477}"/>
              </a:ext>
            </a:extLst>
          </p:cNvPr>
          <p:cNvSpPr>
            <a:spLocks noGrp="1"/>
          </p:cNvSpPr>
          <p:nvPr>
            <p:ph type="title"/>
          </p:nvPr>
        </p:nvSpPr>
        <p:spPr>
          <a:xfrm>
            <a:off x="775855" y="585216"/>
            <a:ext cx="11416145" cy="1499616"/>
          </a:xfrm>
        </p:spPr>
        <p:txBody>
          <a:bodyPr/>
          <a:lstStyle/>
          <a:p>
            <a:r>
              <a:rPr lang="en-IN" dirty="0"/>
              <a:t>Euclidean norm and penalty for ridge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02EC6C-3134-B266-DE64-6794927CAA61}"/>
                  </a:ext>
                </a:extLst>
              </p:cNvPr>
              <p:cNvSpPr>
                <a:spLocks noGrp="1"/>
              </p:cNvSpPr>
              <p:nvPr>
                <p:ph idx="1"/>
              </p:nvPr>
            </p:nvSpPr>
            <p:spPr>
              <a:xfrm>
                <a:off x="263236" y="1745673"/>
                <a:ext cx="11928764" cy="4563687"/>
              </a:xfrm>
            </p:spPr>
            <p:txBody>
              <a:bodyPr>
                <a:normAutofit/>
              </a:bodyPr>
              <a:lstStyle/>
              <a:p>
                <a:pPr>
                  <a:buFont typeface="Wingdings" panose="05000000000000000000" pitchFamily="2" charset="2"/>
                  <a:buChar char="q"/>
                </a:pPr>
                <a:r>
                  <a:rPr lang="en-IN" sz="2400" dirty="0">
                    <a:latin typeface="Arial" panose="020B0604020202020204" pitchFamily="34" charset="0"/>
                    <a:cs typeface="Arial" panose="020B0604020202020204" pitchFamily="34" charset="0"/>
                  </a:rPr>
                  <a:t>Euclidean Norm or </a:t>
                </a:r>
                <a14:m>
                  <m:oMath xmlns:m="http://schemas.openxmlformats.org/officeDocument/2006/math">
                    <m:sSup>
                      <m:sSupPr>
                        <m:ctrlPr>
                          <a:rPr lang="en-IN" sz="2400" i="1" smtClean="0">
                            <a:latin typeface="Cambria Math" panose="02040503050406030204" pitchFamily="18" charset="0"/>
                          </a:rPr>
                        </m:ctrlPr>
                      </m:sSupPr>
                      <m:e>
                        <m:r>
                          <a:rPr lang="en-IN" sz="2400" b="0" i="1" smtClean="0">
                            <a:latin typeface="Cambria Math" panose="02040503050406030204" pitchFamily="18" charset="0"/>
                          </a:rPr>
                          <m:t>𝐿</m:t>
                        </m:r>
                      </m:e>
                      <m:sup>
                        <m:r>
                          <a:rPr lang="en-IN" sz="2400" b="0" i="1" smtClean="0">
                            <a:latin typeface="Cambria Math" panose="02040503050406030204" pitchFamily="18" charset="0"/>
                          </a:rPr>
                          <m:t>2</m:t>
                        </m:r>
                      </m:sup>
                    </m:sSup>
                    <m:r>
                      <a:rPr lang="en-IN" sz="2400" b="0" i="1" smtClean="0">
                        <a:latin typeface="Cambria Math" panose="02040503050406030204" pitchFamily="18" charset="0"/>
                      </a:rPr>
                      <m:t>  </m:t>
                    </m:r>
                  </m:oMath>
                </a14:m>
                <a:r>
                  <a:rPr lang="en-IN" sz="2400" dirty="0">
                    <a:latin typeface="Arial" panose="020B0604020202020204" pitchFamily="34" charset="0"/>
                    <a:cs typeface="Arial" panose="020B0604020202020204" pitchFamily="34" charset="0"/>
                  </a:rPr>
                  <a:t>norm for a vector </a:t>
                </a:r>
                <a14:m>
                  <m:oMath xmlns:m="http://schemas.openxmlformats.org/officeDocument/2006/math">
                    <m:r>
                      <a:rPr lang="en-IN" sz="2400" b="0" i="1" smtClean="0">
                        <a:latin typeface="Cambria Math" panose="02040503050406030204" pitchFamily="18" charset="0"/>
                      </a:rPr>
                      <m:t>𝑥</m:t>
                    </m:r>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𝑥</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𝑥</m:t>
                        </m:r>
                      </m:e>
                      <m:sub>
                        <m:r>
                          <a:rPr lang="en-IN" sz="2400" b="0" i="1" smtClean="0">
                            <a:latin typeface="Cambria Math" panose="02040503050406030204" pitchFamily="18" charset="0"/>
                          </a:rPr>
                          <m:t>2</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𝑥</m:t>
                        </m:r>
                      </m:e>
                      <m:sub>
                        <m:r>
                          <a:rPr lang="en-IN" sz="2400" b="0" i="1" smtClean="0">
                            <a:latin typeface="Cambria Math" panose="02040503050406030204" pitchFamily="18" charset="0"/>
                          </a:rPr>
                          <m:t>3</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𝑥</m:t>
                        </m:r>
                      </m:e>
                      <m:sub>
                        <m:r>
                          <a:rPr lang="en-IN" sz="2400" b="0" i="1" smtClean="0">
                            <a:latin typeface="Cambria Math" panose="02040503050406030204" pitchFamily="18" charset="0"/>
                          </a:rPr>
                          <m:t>𝑛</m:t>
                        </m:r>
                      </m:sub>
                    </m:sSub>
                    <m:r>
                      <a:rPr lang="en-IN" sz="2400" b="0" i="1" smtClean="0">
                        <a:latin typeface="Cambria Math" panose="02040503050406030204" pitchFamily="18" charset="0"/>
                      </a:rPr>
                      <m:t>)</m:t>
                    </m:r>
                  </m:oMath>
                </a14:m>
                <a:r>
                  <a:rPr lang="en-IN" sz="2400" dirty="0">
                    <a:latin typeface="Arial" panose="020B0604020202020204" pitchFamily="34" charset="0"/>
                    <a:cs typeface="Arial" panose="020B0604020202020204" pitchFamily="34" charset="0"/>
                  </a:rPr>
                  <a:t> :</a:t>
                </a:r>
              </a:p>
              <a:p>
                <a:pPr marL="0" indent="0" algn="ctr">
                  <a:buNone/>
                </a:pPr>
                <a:r>
                  <a:rPr lang="en-IN" sz="2400" dirty="0">
                    <a:latin typeface="Arial" panose="020B0604020202020204" pitchFamily="34" charset="0"/>
                    <a:cs typeface="Arial" panose="020B0604020202020204" pitchFamily="34" charset="0"/>
                  </a:rPr>
                  <a:t> </a:t>
                </a:r>
                <a14:m>
                  <m:oMath xmlns:m="http://schemas.openxmlformats.org/officeDocument/2006/math">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m:t>
                        </m:r>
                        <m:d>
                          <m:dPr>
                            <m:begChr m:val="|"/>
                            <m:endChr m:val="|"/>
                            <m:ctrlPr>
                              <a:rPr lang="en-IN" sz="2400" b="1" i="1" smtClean="0">
                                <a:latin typeface="Cambria Math" panose="02040503050406030204" pitchFamily="18" charset="0"/>
                              </a:rPr>
                            </m:ctrlPr>
                          </m:dPr>
                          <m:e>
                            <m:r>
                              <a:rPr lang="en-IN" sz="2400" b="1" i="1" smtClean="0">
                                <a:latin typeface="Cambria Math" panose="02040503050406030204" pitchFamily="18" charset="0"/>
                              </a:rPr>
                              <m:t>𝒙</m:t>
                            </m:r>
                          </m:e>
                        </m:d>
                        <m:r>
                          <a:rPr lang="en-IN" sz="2400" b="0" i="1" smtClean="0">
                            <a:latin typeface="Cambria Math" panose="02040503050406030204" pitchFamily="18" charset="0"/>
                          </a:rPr>
                          <m:t>|</m:t>
                        </m:r>
                      </m:e>
                      <m:sub>
                        <m:r>
                          <a:rPr lang="en-IN" sz="2400" b="0" i="1" smtClean="0">
                            <a:latin typeface="Cambria Math" panose="02040503050406030204" pitchFamily="18" charset="0"/>
                          </a:rPr>
                          <m:t>2</m:t>
                        </m:r>
                      </m:sub>
                    </m:sSub>
                    <m:r>
                      <a:rPr lang="en-IN" sz="2400" b="0" i="1" smtClean="0">
                        <a:latin typeface="Cambria Math" panose="02040503050406030204" pitchFamily="18" charset="0"/>
                      </a:rPr>
                      <m:t>=</m:t>
                    </m:r>
                    <m:rad>
                      <m:radPr>
                        <m:degHide m:val="on"/>
                        <m:ctrlPr>
                          <a:rPr lang="en-IN" sz="2400" b="0" i="1" smtClean="0">
                            <a:latin typeface="Cambria Math" panose="02040503050406030204" pitchFamily="18" charset="0"/>
                          </a:rPr>
                        </m:ctrlPr>
                      </m:radPr>
                      <m:deg/>
                      <m:e>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𝑥</m:t>
                            </m:r>
                          </m:e>
                          <m:sub>
                            <m:r>
                              <a:rPr lang="en-IN" sz="2400" b="0" i="1" smtClean="0">
                                <a:latin typeface="Cambria Math" panose="02040503050406030204" pitchFamily="18" charset="0"/>
                              </a:rPr>
                              <m:t>1</m:t>
                            </m:r>
                          </m:sub>
                          <m:sup>
                            <m:r>
                              <a:rPr lang="en-IN" sz="2400" b="0" i="1" smtClean="0">
                                <a:latin typeface="Cambria Math" panose="02040503050406030204" pitchFamily="18" charset="0"/>
                              </a:rPr>
                              <m:t>2</m:t>
                            </m:r>
                          </m:sup>
                        </m:sSubSup>
                        <m:r>
                          <a:rPr lang="en-IN" sz="2400" b="0" i="1" smtClean="0">
                            <a:latin typeface="Cambria Math" panose="02040503050406030204" pitchFamily="18" charset="0"/>
                          </a:rPr>
                          <m:t>+</m:t>
                        </m:r>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𝑥</m:t>
                            </m:r>
                          </m:e>
                          <m:sub>
                            <m:r>
                              <a:rPr lang="en-IN" sz="2400" b="0" i="1" smtClean="0">
                                <a:latin typeface="Cambria Math" panose="02040503050406030204" pitchFamily="18" charset="0"/>
                              </a:rPr>
                              <m:t>2</m:t>
                            </m:r>
                          </m:sub>
                          <m:sup>
                            <m:r>
                              <a:rPr lang="en-IN" sz="2400" b="0" i="1" smtClean="0">
                                <a:latin typeface="Cambria Math" panose="02040503050406030204" pitchFamily="18" charset="0"/>
                              </a:rPr>
                              <m:t>2</m:t>
                            </m:r>
                          </m:sup>
                        </m:sSubSup>
                        <m:r>
                          <a:rPr lang="en-IN" sz="2400" b="0" i="1" smtClean="0">
                            <a:latin typeface="Cambria Math" panose="02040503050406030204" pitchFamily="18" charset="0"/>
                          </a:rPr>
                          <m:t>+…+</m:t>
                        </m:r>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𝑥</m:t>
                            </m:r>
                          </m:e>
                          <m:sub>
                            <m:r>
                              <a:rPr lang="en-IN" sz="2400" b="0" i="1" smtClean="0">
                                <a:latin typeface="Cambria Math" panose="02040503050406030204" pitchFamily="18" charset="0"/>
                              </a:rPr>
                              <m:t>𝑛</m:t>
                            </m:r>
                          </m:sub>
                          <m:sup>
                            <m:r>
                              <a:rPr lang="en-IN" sz="2400" b="0" i="1" smtClean="0">
                                <a:latin typeface="Cambria Math" panose="02040503050406030204" pitchFamily="18" charset="0"/>
                              </a:rPr>
                              <m:t>2</m:t>
                            </m:r>
                          </m:sup>
                        </m:sSubSup>
                      </m:e>
                    </m:rad>
                  </m:oMath>
                </a14:m>
                <a:endParaRPr lang="en-IN" sz="2400" dirty="0">
                  <a:latin typeface="Arial" panose="020B0604020202020204" pitchFamily="34" charset="0"/>
                  <a:cs typeface="Arial" panose="020B0604020202020204" pitchFamily="34" charset="0"/>
                </a:endParaRPr>
              </a:p>
              <a:p>
                <a:pPr>
                  <a:buFont typeface="Wingdings" panose="05000000000000000000" pitchFamily="2" charset="2"/>
                  <a:buChar char="q"/>
                </a:pPr>
                <a:r>
                  <a:rPr lang="en-US" sz="2400" dirty="0">
                    <a:highlight>
                      <a:srgbClr val="FFFF00"/>
                    </a:highlight>
                    <a:latin typeface="Arial" panose="020B0604020202020204" pitchFamily="34" charset="0"/>
                    <a:cs typeface="Arial" panose="020B0604020202020204" pitchFamily="34" charset="0"/>
                  </a:rPr>
                  <a:t>Ridge regression addresses some of the problems of Ordinary Least Squares by imposing a penalty on the size of the coefficients.</a:t>
                </a:r>
              </a:p>
              <a:p>
                <a:pPr>
                  <a:buFont typeface="Wingdings" panose="05000000000000000000" pitchFamily="2" charset="2"/>
                  <a:buChar char="q"/>
                </a:pPr>
                <a:r>
                  <a:rPr lang="en-US" sz="2400" dirty="0">
                    <a:latin typeface="Arial" panose="020B0604020202020204" pitchFamily="34" charset="0"/>
                    <a:cs typeface="Arial" panose="020B0604020202020204" pitchFamily="34" charset="0"/>
                  </a:rPr>
                  <a:t> The ridge coefficients minimize a penalized sum of squares or penalty</a:t>
                </a:r>
              </a:p>
              <a:p>
                <a:pPr marL="0" indent="0" algn="ctr">
                  <a:buNone/>
                </a:pP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smtClean="0">
                            <a:highlight>
                              <a:srgbClr val="00FFFF"/>
                            </a:highlight>
                            <a:latin typeface="Cambria Math" panose="02040503050406030204" pitchFamily="18" charset="0"/>
                          </a:rPr>
                        </m:ctrlPr>
                      </m:sSubPr>
                      <m:e>
                        <m:r>
                          <a:rPr lang="en-IN" sz="2400" b="0" i="1" smtClean="0">
                            <a:highlight>
                              <a:srgbClr val="00FFFF"/>
                            </a:highlight>
                            <a:latin typeface="Cambria Math" panose="02040503050406030204" pitchFamily="18" charset="0"/>
                          </a:rPr>
                          <m:t>𝑚𝑖𝑛</m:t>
                        </m:r>
                      </m:e>
                      <m:sub>
                        <m:r>
                          <a:rPr lang="en-US" sz="2400" i="1" smtClean="0">
                            <a:highlight>
                              <a:srgbClr val="00FFFF"/>
                            </a:highlight>
                            <a:latin typeface="Cambria Math" panose="02040503050406030204" pitchFamily="18" charset="0"/>
                            <a:ea typeface="Cambria Math" panose="02040503050406030204" pitchFamily="18" charset="0"/>
                          </a:rPr>
                          <m:t>𝜔</m:t>
                        </m:r>
                      </m:sub>
                    </m:sSub>
                    <m:sSubSup>
                      <m:sSubSupPr>
                        <m:ctrlPr>
                          <a:rPr lang="en-US" sz="2400" i="1" smtClean="0">
                            <a:highlight>
                              <a:srgbClr val="00FFFF"/>
                            </a:highlight>
                            <a:latin typeface="Cambria Math" panose="02040503050406030204" pitchFamily="18" charset="0"/>
                          </a:rPr>
                        </m:ctrlPr>
                      </m:sSubSupPr>
                      <m:e>
                        <m:r>
                          <a:rPr lang="en-IN" sz="2400" i="1">
                            <a:highlight>
                              <a:srgbClr val="00FFFF"/>
                            </a:highlight>
                            <a:latin typeface="Cambria Math" panose="02040503050406030204" pitchFamily="18" charset="0"/>
                          </a:rPr>
                          <m:t>(|</m:t>
                        </m:r>
                        <m:d>
                          <m:dPr>
                            <m:begChr m:val="|"/>
                            <m:endChr m:val="|"/>
                            <m:ctrlPr>
                              <a:rPr lang="en-IN" sz="2400" i="1">
                                <a:highlight>
                                  <a:srgbClr val="00FFFF"/>
                                </a:highlight>
                                <a:latin typeface="Cambria Math" panose="02040503050406030204" pitchFamily="18" charset="0"/>
                              </a:rPr>
                            </m:ctrlPr>
                          </m:dPr>
                          <m:e>
                            <m:sSub>
                              <m:sSubPr>
                                <m:ctrlPr>
                                  <a:rPr lang="en-IN" sz="2400" i="1">
                                    <a:highlight>
                                      <a:srgbClr val="00FFFF"/>
                                    </a:highlight>
                                    <a:latin typeface="Cambria Math" panose="02040503050406030204" pitchFamily="18" charset="0"/>
                                  </a:rPr>
                                </m:ctrlPr>
                              </m:sSubPr>
                              <m:e>
                                <m:r>
                                  <a:rPr lang="en-IN" sz="2400" i="1">
                                    <a:highlight>
                                      <a:srgbClr val="00FFFF"/>
                                    </a:highlight>
                                    <a:latin typeface="Cambria Math" panose="02040503050406030204" pitchFamily="18" charset="0"/>
                                  </a:rPr>
                                  <m:t>𝑋</m:t>
                                </m:r>
                              </m:e>
                              <m:sub>
                                <m:r>
                                  <a:rPr lang="en-IN" sz="2400" i="1">
                                    <a:highlight>
                                      <a:srgbClr val="00FFFF"/>
                                    </a:highlight>
                                    <a:latin typeface="Cambria Math" panose="02040503050406030204" pitchFamily="18" charset="0"/>
                                    <a:ea typeface="Cambria Math" panose="02040503050406030204" pitchFamily="18" charset="0"/>
                                  </a:rPr>
                                  <m:t>𝜔</m:t>
                                </m:r>
                              </m:sub>
                            </m:sSub>
                            <m:r>
                              <a:rPr lang="en-IN" sz="2400" i="1">
                                <a:highlight>
                                  <a:srgbClr val="00FFFF"/>
                                </a:highlight>
                                <a:latin typeface="Cambria Math" panose="02040503050406030204" pitchFamily="18" charset="0"/>
                              </a:rPr>
                              <m:t>−</m:t>
                            </m:r>
                            <m:r>
                              <a:rPr lang="en-IN" sz="2400" i="1">
                                <a:highlight>
                                  <a:srgbClr val="00FFFF"/>
                                </a:highlight>
                                <a:latin typeface="Cambria Math" panose="02040503050406030204" pitchFamily="18" charset="0"/>
                              </a:rPr>
                              <m:t>𝑦</m:t>
                            </m:r>
                          </m:e>
                        </m:d>
                        <m:r>
                          <a:rPr lang="en-IN" sz="2400" i="1">
                            <a:highlight>
                              <a:srgbClr val="00FFFF"/>
                            </a:highlight>
                            <a:latin typeface="Cambria Math" panose="02040503050406030204" pitchFamily="18" charset="0"/>
                          </a:rPr>
                          <m:t>|)</m:t>
                        </m:r>
                      </m:e>
                      <m:sub>
                        <m:r>
                          <a:rPr lang="en-IN" sz="2400" b="0" i="1" smtClean="0">
                            <a:highlight>
                              <a:srgbClr val="00FFFF"/>
                            </a:highlight>
                            <a:latin typeface="Cambria Math" panose="02040503050406030204" pitchFamily="18" charset="0"/>
                          </a:rPr>
                          <m:t>2</m:t>
                        </m:r>
                      </m:sub>
                      <m:sup>
                        <m:r>
                          <a:rPr lang="en-IN" sz="2400" b="0" i="1" smtClean="0">
                            <a:highlight>
                              <a:srgbClr val="00FFFF"/>
                            </a:highlight>
                            <a:latin typeface="Cambria Math" panose="02040503050406030204" pitchFamily="18" charset="0"/>
                          </a:rPr>
                          <m:t>2</m:t>
                        </m:r>
                      </m:sup>
                    </m:sSubSup>
                    <m:r>
                      <a:rPr lang="en-IN" sz="2400" b="0" i="1" smtClean="0">
                        <a:highlight>
                          <a:srgbClr val="00FFFF"/>
                        </a:highlight>
                        <a:latin typeface="Cambria Math" panose="02040503050406030204" pitchFamily="18" charset="0"/>
                      </a:rPr>
                      <m:t>+</m:t>
                    </m:r>
                    <m:sSubSup>
                      <m:sSubSupPr>
                        <m:ctrlPr>
                          <a:rPr lang="en-IN" sz="2400" b="0" i="1" smtClean="0">
                            <a:highlight>
                              <a:srgbClr val="00FFFF"/>
                            </a:highlight>
                            <a:latin typeface="Cambria Math" panose="02040503050406030204" pitchFamily="18" charset="0"/>
                            <a:ea typeface="Cambria Math" panose="02040503050406030204" pitchFamily="18" charset="0"/>
                          </a:rPr>
                        </m:ctrlPr>
                      </m:sSubSupPr>
                      <m:e>
                        <m:r>
                          <a:rPr lang="en-IN" sz="2400" b="0" i="1" smtClean="0">
                            <a:highlight>
                              <a:srgbClr val="00FFFF"/>
                            </a:highlight>
                            <a:latin typeface="Cambria Math" panose="02040503050406030204" pitchFamily="18" charset="0"/>
                            <a:ea typeface="Cambria Math" panose="02040503050406030204" pitchFamily="18" charset="0"/>
                          </a:rPr>
                          <m:t>𝜆</m:t>
                        </m:r>
                        <m:r>
                          <a:rPr lang="en-IN" sz="2400" b="0" i="1" smtClean="0">
                            <a:highlight>
                              <a:srgbClr val="00FFFF"/>
                            </a:highlight>
                            <a:latin typeface="Cambria Math" panose="02040503050406030204" pitchFamily="18" charset="0"/>
                            <a:ea typeface="Cambria Math" panose="02040503050406030204" pitchFamily="18" charset="0"/>
                          </a:rPr>
                          <m:t>|</m:t>
                        </m:r>
                        <m:d>
                          <m:dPr>
                            <m:begChr m:val="|"/>
                            <m:endChr m:val="|"/>
                            <m:ctrlPr>
                              <a:rPr lang="en-IN" sz="2400" b="0" i="1" smtClean="0">
                                <a:highlight>
                                  <a:srgbClr val="00FFFF"/>
                                </a:highlight>
                                <a:latin typeface="Cambria Math" panose="02040503050406030204" pitchFamily="18" charset="0"/>
                                <a:ea typeface="Cambria Math" panose="02040503050406030204" pitchFamily="18" charset="0"/>
                              </a:rPr>
                            </m:ctrlPr>
                          </m:dPr>
                          <m:e>
                            <m:r>
                              <a:rPr lang="en-IN" sz="2400" b="0" i="1" smtClean="0">
                                <a:highlight>
                                  <a:srgbClr val="00FFFF"/>
                                </a:highlight>
                                <a:latin typeface="Cambria Math" panose="02040503050406030204" pitchFamily="18" charset="0"/>
                                <a:ea typeface="Cambria Math" panose="02040503050406030204" pitchFamily="18" charset="0"/>
                              </a:rPr>
                              <m:t>𝜔</m:t>
                            </m:r>
                          </m:e>
                        </m:d>
                        <m:r>
                          <a:rPr lang="en-IN" sz="2400" b="0" i="1" smtClean="0">
                            <a:highlight>
                              <a:srgbClr val="00FFFF"/>
                            </a:highlight>
                            <a:latin typeface="Cambria Math" panose="02040503050406030204" pitchFamily="18" charset="0"/>
                            <a:ea typeface="Cambria Math" panose="02040503050406030204" pitchFamily="18" charset="0"/>
                          </a:rPr>
                          <m:t>|</m:t>
                        </m:r>
                      </m:e>
                      <m:sub>
                        <m:r>
                          <a:rPr lang="en-IN" sz="2400" b="0" i="1" smtClean="0">
                            <a:highlight>
                              <a:srgbClr val="00FFFF"/>
                            </a:highlight>
                            <a:latin typeface="Cambria Math" panose="02040503050406030204" pitchFamily="18" charset="0"/>
                            <a:ea typeface="Cambria Math" panose="02040503050406030204" pitchFamily="18" charset="0"/>
                          </a:rPr>
                          <m:t>2</m:t>
                        </m:r>
                      </m:sub>
                      <m:sup>
                        <m:r>
                          <a:rPr lang="en-IN" sz="2400" b="0" i="1" smtClean="0">
                            <a:highlight>
                              <a:srgbClr val="00FFFF"/>
                            </a:highlight>
                            <a:latin typeface="Cambria Math" panose="02040503050406030204" pitchFamily="18" charset="0"/>
                            <a:ea typeface="Cambria Math" panose="02040503050406030204" pitchFamily="18" charset="0"/>
                          </a:rPr>
                          <m:t>2</m:t>
                        </m:r>
                      </m:sup>
                    </m:sSubSup>
                    <m:r>
                      <a:rPr lang="en-IN" sz="2400" b="0" i="1" smtClean="0">
                        <a:highlight>
                          <a:srgbClr val="00FFFF"/>
                        </a:highlight>
                        <a:latin typeface="Cambria Math" panose="02040503050406030204" pitchFamily="18" charset="0"/>
                        <a:ea typeface="Cambria Math" panose="02040503050406030204" pitchFamily="18" charset="0"/>
                      </a:rPr>
                      <m:t>)</m:t>
                    </m:r>
                  </m:oMath>
                </a14:m>
                <a:endParaRPr lang="en-IN" sz="2400" dirty="0">
                  <a:highlight>
                    <a:srgbClr val="00FFFF"/>
                  </a:highlight>
                  <a:latin typeface="Arial" panose="020B0604020202020204" pitchFamily="34" charset="0"/>
                  <a:cs typeface="Arial" panose="020B0604020202020204" pitchFamily="34" charset="0"/>
                </a:endParaRPr>
              </a:p>
              <a:p>
                <a:pPr>
                  <a:buFont typeface="Wingdings" panose="05000000000000000000" pitchFamily="2" charset="2"/>
                  <a:buChar char="q"/>
                </a:pPr>
                <a:r>
                  <a:rPr lang="en-IN" sz="2400" dirty="0">
                    <a:latin typeface="Arial" panose="020B0604020202020204" pitchFamily="34" charset="0"/>
                    <a:cs typeface="Arial" panose="020B0604020202020204" pitchFamily="34" charset="0"/>
                  </a:rPr>
                  <a:t>Here </a:t>
                </a:r>
                <a14:m>
                  <m:oMath xmlns:m="http://schemas.openxmlformats.org/officeDocument/2006/math">
                    <m:r>
                      <a:rPr lang="en-IN" sz="2400" i="1" smtClean="0">
                        <a:latin typeface="Cambria Math" panose="02040503050406030204" pitchFamily="18" charset="0"/>
                        <a:ea typeface="Cambria Math" panose="02040503050406030204" pitchFamily="18" charset="0"/>
                      </a:rPr>
                      <m:t>𝛼</m:t>
                    </m:r>
                    <m:r>
                      <a:rPr lang="el-GR" sz="2400" i="1">
                        <a:latin typeface="Cambria Math" panose="02040503050406030204" pitchFamily="18" charset="0"/>
                        <a:ea typeface="Cambria Math" panose="02040503050406030204" pitchFamily="18" charset="0"/>
                      </a:rPr>
                      <m:t>≥</m:t>
                    </m:r>
                    <m:r>
                      <a:rPr lang="en-IN" sz="2400" b="0" i="1" smtClean="0">
                        <a:latin typeface="Cambria Math" panose="02040503050406030204" pitchFamily="18" charset="0"/>
                        <a:ea typeface="Cambria Math" panose="02040503050406030204" pitchFamily="18" charset="0"/>
                      </a:rPr>
                      <m:t>0</m:t>
                    </m:r>
                  </m:oMath>
                </a14:m>
                <a:r>
                  <a:rPr lang="en-IN" sz="2400" dirty="0">
                    <a:latin typeface="Arial" panose="020B0604020202020204" pitchFamily="34" charset="0"/>
                    <a:cs typeface="Arial" panose="020B0604020202020204" pitchFamily="34" charset="0"/>
                  </a:rPr>
                  <a:t> is called complexity parameter and </a:t>
                </a:r>
                <a14:m>
                  <m:oMath xmlns:m="http://schemas.openxmlformats.org/officeDocument/2006/math">
                    <m:r>
                      <a:rPr lang="en-IN" sz="2400" i="1" smtClean="0">
                        <a:latin typeface="Cambria Math" panose="02040503050406030204" pitchFamily="18" charset="0"/>
                        <a:ea typeface="Cambria Math" panose="02040503050406030204" pitchFamily="18" charset="0"/>
                      </a:rPr>
                      <m:t>𝜔</m:t>
                    </m:r>
                  </m:oMath>
                </a14:m>
                <a:r>
                  <a:rPr lang="en-IN" sz="2400" dirty="0">
                    <a:latin typeface="Arial" panose="020B0604020202020204" pitchFamily="34" charset="0"/>
                    <a:cs typeface="Arial" panose="020B0604020202020204" pitchFamily="34" charset="0"/>
                  </a:rPr>
                  <a:t> is the coefficient of linear model</a:t>
                </a:r>
              </a:p>
              <a:p>
                <a:pPr>
                  <a:buFont typeface="Wingdings" panose="05000000000000000000" pitchFamily="2" charset="2"/>
                  <a:buChar char="q"/>
                </a:pPr>
                <a14:m>
                  <m:oMath xmlns:m="http://schemas.openxmlformats.org/officeDocument/2006/math">
                    <m:r>
                      <a:rPr lang="en-IN" sz="2400" i="1">
                        <a:highlight>
                          <a:srgbClr val="00FFFF"/>
                        </a:highlight>
                        <a:latin typeface="Cambria Math" panose="02040503050406030204" pitchFamily="18" charset="0"/>
                        <a:ea typeface="Cambria Math" panose="02040503050406030204" pitchFamily="18" charset="0"/>
                      </a:rPr>
                      <m:t>𝜆</m:t>
                    </m:r>
                  </m:oMath>
                </a14:m>
                <a:r>
                  <a:rPr lang="en-US" sz="2400" dirty="0">
                    <a:solidFill>
                      <a:srgbClr val="7030A0"/>
                    </a:solidFill>
                    <a:latin typeface="Arial" panose="020B0604020202020204" pitchFamily="34" charset="0"/>
                    <a:cs typeface="Arial" panose="020B0604020202020204" pitchFamily="34" charset="0"/>
                  </a:rPr>
                  <a:t>controls the amount of shrinkage: the larger the value of</a:t>
                </a:r>
                <a14:m>
                  <m:oMath xmlns:m="http://schemas.openxmlformats.org/officeDocument/2006/math">
                    <m:r>
                      <a:rPr lang="en-IN" sz="2400" b="0" i="0" smtClean="0">
                        <a:highlight>
                          <a:srgbClr val="00FFFF"/>
                        </a:highlight>
                        <a:latin typeface="Cambria Math" panose="02040503050406030204" pitchFamily="18" charset="0"/>
                        <a:ea typeface="Cambria Math" panose="02040503050406030204" pitchFamily="18" charset="0"/>
                      </a:rPr>
                      <m:t> </m:t>
                    </m:r>
                    <m:r>
                      <a:rPr lang="en-IN" sz="2400" i="1">
                        <a:highlight>
                          <a:srgbClr val="00FFFF"/>
                        </a:highlight>
                        <a:latin typeface="Cambria Math" panose="02040503050406030204" pitchFamily="18" charset="0"/>
                        <a:ea typeface="Cambria Math" panose="02040503050406030204" pitchFamily="18" charset="0"/>
                      </a:rPr>
                      <m:t>𝜆</m:t>
                    </m:r>
                  </m:oMath>
                </a14:m>
                <a:r>
                  <a:rPr lang="en-US" sz="2400" dirty="0">
                    <a:solidFill>
                      <a:srgbClr val="7030A0"/>
                    </a:solidFill>
                    <a:latin typeface="Arial" panose="020B0604020202020204" pitchFamily="34" charset="0"/>
                    <a:cs typeface="Arial" panose="020B0604020202020204" pitchFamily="34" charset="0"/>
                  </a:rPr>
                  <a:t>, the greater the amount of shrinkage and thus the coefficients become more robust to collinearity.</a:t>
                </a:r>
                <a:endParaRPr lang="en-IN" sz="2400" dirty="0">
                  <a:solidFill>
                    <a:srgbClr val="7030A0"/>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B702EC6C-3134-B266-DE64-6794927CAA61}"/>
                  </a:ext>
                </a:extLst>
              </p:cNvPr>
              <p:cNvSpPr>
                <a:spLocks noGrp="1" noRot="1" noChangeAspect="1" noMove="1" noResize="1" noEditPoints="1" noAdjustHandles="1" noChangeArrowheads="1" noChangeShapeType="1" noTextEdit="1"/>
              </p:cNvSpPr>
              <p:nvPr>
                <p:ph idx="1"/>
              </p:nvPr>
            </p:nvSpPr>
            <p:spPr>
              <a:xfrm>
                <a:off x="263236" y="1745673"/>
                <a:ext cx="11928764" cy="4563687"/>
              </a:xfrm>
              <a:blipFill>
                <a:blip r:embed="rId2"/>
                <a:stretch>
                  <a:fillRect l="-1073" t="-1736" r="-1584"/>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AC35E373-2EE8-2326-C485-7B61F3ED3EED}"/>
              </a:ext>
            </a:extLst>
          </p:cNvPr>
          <p:cNvSpPr txBox="1"/>
          <p:nvPr/>
        </p:nvSpPr>
        <p:spPr>
          <a:xfrm>
            <a:off x="3519054" y="5980636"/>
            <a:ext cx="6096000" cy="646331"/>
          </a:xfrm>
          <a:prstGeom prst="rect">
            <a:avLst/>
          </a:prstGeom>
          <a:noFill/>
        </p:spPr>
        <p:txBody>
          <a:bodyPr wrap="square">
            <a:spAutoFit/>
          </a:bodyPr>
          <a:lstStyle/>
          <a:p>
            <a:r>
              <a:rPr lang="en-IN" dirty="0">
                <a:hlinkClick r:id="rId3"/>
              </a:rPr>
              <a:t>1.1. Linear Models — scikit-learn 1.3.1 documentation</a:t>
            </a:r>
            <a:endParaRPr lang="en-IN" dirty="0"/>
          </a:p>
          <a:p>
            <a:r>
              <a:rPr lang="en-IN" dirty="0">
                <a:hlinkClick r:id="rId4"/>
              </a:rPr>
              <a:t>Ridge regression - Wikipedia</a:t>
            </a:r>
            <a:endParaRPr lang="en-IN" dirty="0"/>
          </a:p>
        </p:txBody>
      </p:sp>
    </p:spTree>
    <p:extLst>
      <p:ext uri="{BB962C8B-B14F-4D97-AF65-F5344CB8AC3E}">
        <p14:creationId xmlns:p14="http://schemas.microsoft.com/office/powerpoint/2010/main" val="48193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73E16D-D3BB-8126-0393-B5A8AB8A1F8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AB75280C-BFCD-B7A3-95F2-A963CDBFBE8D}"/>
              </a:ext>
            </a:extLst>
          </p:cNvPr>
          <p:cNvSpPr txBox="1"/>
          <p:nvPr/>
        </p:nvSpPr>
        <p:spPr>
          <a:xfrm>
            <a:off x="374072" y="2358688"/>
            <a:ext cx="11443855" cy="2308324"/>
          </a:xfrm>
          <a:prstGeom prst="rect">
            <a:avLst/>
          </a:prstGeom>
          <a:solidFill>
            <a:srgbClr val="92D050"/>
          </a:solidFill>
          <a:ln>
            <a:solidFill>
              <a:schemeClr val="tx1"/>
            </a:solidFill>
          </a:ln>
        </p:spPr>
        <p:txBody>
          <a:bodyPr wrap="square">
            <a:spAutoFit/>
          </a:bodyPr>
          <a:lstStyle/>
          <a:p>
            <a:r>
              <a:rPr lang="en-US" sz="2400" dirty="0">
                <a:latin typeface="Arial" panose="020B0604020202020204" pitchFamily="34" charset="0"/>
                <a:cs typeface="Arial" panose="020B0604020202020204" pitchFamily="34" charset="0"/>
              </a:rPr>
              <a:t>Ridge regression is basically minimizing a penalized version of the least-squared function. The penalizing shrinks the value of the regression coefficients. </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Despite the few data points in each dimension, the slope of the prediction is much more stable and the variance in the line itself is greatly reduced, in comparison to that of the standard linear regression</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4292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584EC-DB48-9AA8-482E-B9C258275F63}"/>
              </a:ext>
            </a:extLst>
          </p:cNvPr>
          <p:cNvSpPr>
            <a:spLocks noGrp="1"/>
          </p:cNvSpPr>
          <p:nvPr>
            <p:ph type="title"/>
          </p:nvPr>
        </p:nvSpPr>
        <p:spPr>
          <a:xfrm>
            <a:off x="1024127" y="585216"/>
            <a:ext cx="10378163" cy="1499616"/>
          </a:xfrm>
        </p:spPr>
        <p:txBody>
          <a:bodyPr/>
          <a:lstStyle/>
          <a:p>
            <a:r>
              <a:rPr lang="en-IN" dirty="0"/>
              <a:t>LASSO Regression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C1469B1-0935-B30E-05DC-2F951F24F932}"/>
                  </a:ext>
                </a:extLst>
              </p:cNvPr>
              <p:cNvSpPr>
                <a:spLocks noGrp="1"/>
              </p:cNvSpPr>
              <p:nvPr>
                <p:ph idx="1"/>
              </p:nvPr>
            </p:nvSpPr>
            <p:spPr>
              <a:xfrm>
                <a:off x="110836" y="2286000"/>
                <a:ext cx="12081164" cy="4023360"/>
              </a:xfrm>
            </p:spPr>
            <p:txBody>
              <a:bodyPr/>
              <a:lstStyle/>
              <a:p>
                <a:r>
                  <a:rPr lang="en-US" dirty="0">
                    <a:latin typeface="Arial" panose="020B0604020202020204" pitchFamily="34" charset="0"/>
                    <a:cs typeface="Arial" panose="020B0604020202020204" pitchFamily="34" charset="0"/>
                  </a:rPr>
                  <a:t>Lasso Regression: </a:t>
                </a:r>
                <a:r>
                  <a:rPr lang="en-US" dirty="0">
                    <a:highlight>
                      <a:srgbClr val="FFFF00"/>
                    </a:highlight>
                    <a:latin typeface="Arial" panose="020B0604020202020204" pitchFamily="34" charset="0"/>
                    <a:cs typeface="Arial" panose="020B0604020202020204" pitchFamily="34" charset="0"/>
                  </a:rPr>
                  <a:t>LASSO stands for Least </a:t>
                </a:r>
                <a:r>
                  <a:rPr lang="en-US" b="1" dirty="0">
                    <a:highlight>
                      <a:srgbClr val="FFFF00"/>
                    </a:highlight>
                    <a:latin typeface="Arial" panose="020B0604020202020204" pitchFamily="34" charset="0"/>
                    <a:cs typeface="Arial" panose="020B0604020202020204" pitchFamily="34" charset="0"/>
                  </a:rPr>
                  <a:t>Absolute</a:t>
                </a:r>
                <a:r>
                  <a:rPr lang="en-US" dirty="0">
                    <a:highlight>
                      <a:srgbClr val="FFFF00"/>
                    </a:highlight>
                    <a:latin typeface="Arial" panose="020B0604020202020204" pitchFamily="34" charset="0"/>
                    <a:cs typeface="Arial" panose="020B0604020202020204" pitchFamily="34" charset="0"/>
                  </a:rPr>
                  <a:t> Shrinkage and </a:t>
                </a:r>
                <a:r>
                  <a:rPr lang="en-US" b="1" dirty="0">
                    <a:highlight>
                      <a:srgbClr val="FFFF00"/>
                    </a:highlight>
                    <a:latin typeface="Arial" panose="020B0604020202020204" pitchFamily="34" charset="0"/>
                    <a:cs typeface="Arial" panose="020B0604020202020204" pitchFamily="34" charset="0"/>
                  </a:rPr>
                  <a:t>Selection</a:t>
                </a:r>
                <a:r>
                  <a:rPr lang="en-US" dirty="0">
                    <a:highlight>
                      <a:srgbClr val="FFFF00"/>
                    </a:highlight>
                    <a:latin typeface="Arial" panose="020B0604020202020204" pitchFamily="34" charset="0"/>
                    <a:cs typeface="Arial" panose="020B0604020202020204" pitchFamily="34" charset="0"/>
                  </a:rPr>
                  <a:t> Operator</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The cost function for Lasso (Least Absolute Shrinkage and Selection Operator) regression can be written as: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a:t>
                </a:r>
                <a:r>
                  <a:rPr lang="en-US" dirty="0">
                    <a:highlight>
                      <a:srgbClr val="FFFF00"/>
                    </a:highlight>
                    <a:latin typeface="Arial" panose="020B0604020202020204" pitchFamily="34" charset="0"/>
                    <a:cs typeface="Arial" panose="020B0604020202020204" pitchFamily="34" charset="0"/>
                  </a:rPr>
                  <a:t>only difference found between Ridge &amp; Lasso is that: instead of taking the square of the coefficients (</a:t>
                </a:r>
                <a14:m>
                  <m:oMath xmlns:m="http://schemas.openxmlformats.org/officeDocument/2006/math">
                    <m:sSub>
                      <m:sSubPr>
                        <m:ctrlPr>
                          <a:rPr lang="en-US" i="1" smtClean="0">
                            <a:highlight>
                              <a:srgbClr val="FFFF00"/>
                            </a:highlight>
                            <a:latin typeface="Cambria Math" panose="02040503050406030204" pitchFamily="18" charset="0"/>
                            <a:cs typeface="Arial" panose="020B0604020202020204" pitchFamily="34" charset="0"/>
                          </a:rPr>
                        </m:ctrlPr>
                      </m:sSubPr>
                      <m:e>
                        <m:r>
                          <a:rPr lang="en-IN" b="0" i="1" smtClean="0">
                            <a:highlight>
                              <a:srgbClr val="FFFF00"/>
                            </a:highlight>
                            <a:latin typeface="Cambria Math" panose="02040503050406030204" pitchFamily="18" charset="0"/>
                            <a:cs typeface="Arial" panose="020B0604020202020204" pitchFamily="34" charset="0"/>
                          </a:rPr>
                          <m:t>𝑙</m:t>
                        </m:r>
                      </m:e>
                      <m:sub>
                        <m:r>
                          <a:rPr lang="en-IN" b="0" i="1" smtClean="0">
                            <a:highlight>
                              <a:srgbClr val="FFFF00"/>
                            </a:highlight>
                            <a:latin typeface="Cambria Math" panose="02040503050406030204" pitchFamily="18" charset="0"/>
                            <a:cs typeface="Arial" panose="020B0604020202020204" pitchFamily="34" charset="0"/>
                          </a:rPr>
                          <m:t>2</m:t>
                        </m:r>
                      </m:sub>
                    </m:sSub>
                    <m:r>
                      <a:rPr lang="en-IN" b="0" i="1" smtClean="0">
                        <a:highlight>
                          <a:srgbClr val="FFFF00"/>
                        </a:highlight>
                        <a:latin typeface="Cambria Math" panose="02040503050406030204" pitchFamily="18" charset="0"/>
                        <a:cs typeface="Arial" panose="020B0604020202020204" pitchFamily="34" charset="0"/>
                      </a:rPr>
                      <m:t> </m:t>
                    </m:r>
                    <m:r>
                      <a:rPr lang="en-IN" b="0" i="1" smtClean="0">
                        <a:highlight>
                          <a:srgbClr val="FFFF00"/>
                        </a:highlight>
                        <a:latin typeface="Cambria Math" panose="02040503050406030204" pitchFamily="18" charset="0"/>
                        <a:cs typeface="Arial" panose="020B0604020202020204" pitchFamily="34" charset="0"/>
                      </a:rPr>
                      <m:t>𝑛𝑜𝑟𝑚</m:t>
                    </m:r>
                    <m:r>
                      <a:rPr lang="en-IN" b="0" i="1" smtClean="0">
                        <a:highlight>
                          <a:srgbClr val="FFFF00"/>
                        </a:highlight>
                        <a:latin typeface="Cambria Math" panose="02040503050406030204" pitchFamily="18" charset="0"/>
                        <a:cs typeface="Arial" panose="020B0604020202020204" pitchFamily="34" charset="0"/>
                      </a:rPr>
                      <m:t>)</m:t>
                    </m:r>
                  </m:oMath>
                </a14:m>
                <a:r>
                  <a:rPr lang="en-US" dirty="0">
                    <a:highlight>
                      <a:srgbClr val="FFFF00"/>
                    </a:highlight>
                    <a:latin typeface="Arial" panose="020B0604020202020204" pitchFamily="34" charset="0"/>
                    <a:cs typeface="Arial" panose="020B0604020202020204" pitchFamily="34" charset="0"/>
                  </a:rPr>
                  <a:t>, magnitudes (</a:t>
                </a:r>
                <a14:m>
                  <m:oMath xmlns:m="http://schemas.openxmlformats.org/officeDocument/2006/math">
                    <m:sSub>
                      <m:sSubPr>
                        <m:ctrlPr>
                          <a:rPr lang="en-US" i="1">
                            <a:highlight>
                              <a:srgbClr val="FFFF00"/>
                            </a:highlight>
                            <a:latin typeface="Cambria Math" panose="02040503050406030204" pitchFamily="18" charset="0"/>
                            <a:cs typeface="Arial" panose="020B0604020202020204" pitchFamily="34" charset="0"/>
                          </a:rPr>
                        </m:ctrlPr>
                      </m:sSubPr>
                      <m:e>
                        <m:r>
                          <a:rPr lang="en-IN" i="1">
                            <a:highlight>
                              <a:srgbClr val="FFFF00"/>
                            </a:highlight>
                            <a:latin typeface="Cambria Math" panose="02040503050406030204" pitchFamily="18" charset="0"/>
                            <a:cs typeface="Arial" panose="020B0604020202020204" pitchFamily="34" charset="0"/>
                          </a:rPr>
                          <m:t>𝑙</m:t>
                        </m:r>
                      </m:e>
                      <m:sub>
                        <m:r>
                          <a:rPr lang="en-IN" b="0" i="1" smtClean="0">
                            <a:highlight>
                              <a:srgbClr val="FFFF00"/>
                            </a:highlight>
                            <a:latin typeface="Cambria Math" panose="02040503050406030204" pitchFamily="18" charset="0"/>
                            <a:cs typeface="Arial" panose="020B0604020202020204" pitchFamily="34" charset="0"/>
                          </a:rPr>
                          <m:t>1</m:t>
                        </m:r>
                      </m:sub>
                    </m:sSub>
                    <m:r>
                      <a:rPr lang="en-IN" i="1">
                        <a:highlight>
                          <a:srgbClr val="FFFF00"/>
                        </a:highlight>
                        <a:latin typeface="Cambria Math" panose="02040503050406030204" pitchFamily="18" charset="0"/>
                        <a:cs typeface="Arial" panose="020B0604020202020204" pitchFamily="34" charset="0"/>
                      </a:rPr>
                      <m:t> </m:t>
                    </m:r>
                    <m:r>
                      <a:rPr lang="en-IN" i="1">
                        <a:highlight>
                          <a:srgbClr val="FFFF00"/>
                        </a:highlight>
                        <a:latin typeface="Cambria Math" panose="02040503050406030204" pitchFamily="18" charset="0"/>
                        <a:cs typeface="Arial" panose="020B0604020202020204" pitchFamily="34" charset="0"/>
                      </a:rPr>
                      <m:t>𝑛𝑜𝑟𝑚</m:t>
                    </m:r>
                    <m:r>
                      <a:rPr lang="en-IN" i="1">
                        <a:highlight>
                          <a:srgbClr val="FFFF00"/>
                        </a:highlight>
                        <a:latin typeface="Cambria Math" panose="02040503050406030204" pitchFamily="18" charset="0"/>
                        <a:cs typeface="Arial" panose="020B0604020202020204" pitchFamily="34" charset="0"/>
                      </a:rPr>
                      <m:t>)</m:t>
                    </m:r>
                  </m:oMath>
                </a14:m>
                <a:r>
                  <a:rPr lang="en-US" dirty="0">
                    <a:highlight>
                      <a:srgbClr val="FFFF00"/>
                    </a:highlight>
                    <a:latin typeface="Arial" panose="020B0604020202020204" pitchFamily="34" charset="0"/>
                    <a:cs typeface="Arial" panose="020B0604020202020204" pitchFamily="34" charset="0"/>
                  </a:rPr>
                  <a:t> are taken into account</a:t>
                </a:r>
                <a:r>
                  <a:rPr lang="en-US" dirty="0">
                    <a:latin typeface="Arial" panose="020B0604020202020204" pitchFamily="34" charset="0"/>
                    <a:cs typeface="Arial" panose="020B0604020202020204" pitchFamily="34" charset="0"/>
                  </a:rPr>
                  <a:t>. This type of regularization can lead to zero coefficients, i.e. some of the features are completely neglected for evaluating output. </a:t>
                </a:r>
                <a:endParaRPr lang="en-IN"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2C1469B1-0935-B30E-05DC-2F951F24F932}"/>
                  </a:ext>
                </a:extLst>
              </p:cNvPr>
              <p:cNvSpPr>
                <a:spLocks noGrp="1" noRot="1" noChangeAspect="1" noMove="1" noResize="1" noEditPoints="1" noAdjustHandles="1" noChangeArrowheads="1" noChangeShapeType="1" noTextEdit="1"/>
              </p:cNvSpPr>
              <p:nvPr>
                <p:ph idx="1"/>
              </p:nvPr>
            </p:nvSpPr>
            <p:spPr>
              <a:xfrm>
                <a:off x="110836" y="2286000"/>
                <a:ext cx="12081164" cy="4023360"/>
              </a:xfrm>
              <a:blipFill>
                <a:blip r:embed="rId2"/>
                <a:stretch>
                  <a:fillRect l="-252" t="-1818" b="-2424"/>
                </a:stretch>
              </a:blipFill>
            </p:spPr>
            <p:txBody>
              <a:bodyPr/>
              <a:lstStyle/>
              <a:p>
                <a:r>
                  <a:rPr lang="en-IN">
                    <a:noFill/>
                  </a:rPr>
                  <a:t> </a:t>
                </a:r>
              </a:p>
            </p:txBody>
          </p:sp>
        </mc:Fallback>
      </mc:AlternateContent>
      <p:pic>
        <p:nvPicPr>
          <p:cNvPr id="7170" name="Picture 2">
            <a:extLst>
              <a:ext uri="{FF2B5EF4-FFF2-40B4-BE49-F238E27FC236}">
                <a16:creationId xmlns:a16="http://schemas.microsoft.com/office/drawing/2014/main" id="{63B7FA14-2025-5FD3-203C-0A07EF68C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9959" y="3429000"/>
            <a:ext cx="66675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773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521</TotalTime>
  <Words>1164</Words>
  <Application>Microsoft Office PowerPoint</Application>
  <PresentationFormat>Widescreen</PresentationFormat>
  <Paragraphs>88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Cambria Math</vt:lpstr>
      <vt:lpstr>Helvetica</vt:lpstr>
      <vt:lpstr>Tw Cen MT</vt:lpstr>
      <vt:lpstr>Tw Cen MT Condensed</vt:lpstr>
      <vt:lpstr>Wingdings</vt:lpstr>
      <vt:lpstr>Wingdings 3</vt:lpstr>
      <vt:lpstr>Integral</vt:lpstr>
      <vt:lpstr>Ridge Regression</vt:lpstr>
      <vt:lpstr>Regression</vt:lpstr>
      <vt:lpstr>overfitting</vt:lpstr>
      <vt:lpstr>PowerPoint Presentation</vt:lpstr>
      <vt:lpstr>Ridge Regression </vt:lpstr>
      <vt:lpstr>Pros and cons of ridge regression</vt:lpstr>
      <vt:lpstr>LASSO Regression</vt:lpstr>
      <vt:lpstr>Rest of the slides in this ppt are for further reading only</vt:lpstr>
      <vt:lpstr>Residual sum of squares (rss)</vt:lpstr>
      <vt:lpstr>regularization</vt:lpstr>
      <vt:lpstr>PowerPoint Presentation</vt:lpstr>
      <vt:lpstr>regularization</vt:lpstr>
      <vt:lpstr>Ridge trace</vt:lpstr>
      <vt:lpstr>Ok, so what?</vt:lpstr>
      <vt:lpstr>Euclidean norm and penalty for ridge regression</vt:lpstr>
      <vt:lpstr>PowerPoint Presentation</vt:lpstr>
      <vt:lpstr>LASSO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Ridge Regression</dc:title>
  <dc:creator>DEBAJYOTI BISWAS</dc:creator>
  <cp:lastModifiedBy>DEBAJYOTI BISWAS</cp:lastModifiedBy>
  <cp:revision>29</cp:revision>
  <dcterms:created xsi:type="dcterms:W3CDTF">2023-10-03T04:00:56Z</dcterms:created>
  <dcterms:modified xsi:type="dcterms:W3CDTF">2024-09-10T02:22:20Z</dcterms:modified>
</cp:coreProperties>
</file>