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 id="2147483689" r:id="rId4"/>
  </p:sldMasterIdLst>
  <p:sldIdLst>
    <p:sldId id="256" r:id="rId5"/>
    <p:sldId id="351" r:id="rId6"/>
    <p:sldId id="362" r:id="rId7"/>
    <p:sldId id="353" r:id="rId8"/>
    <p:sldId id="363" r:id="rId9"/>
    <p:sldId id="364" r:id="rId10"/>
    <p:sldId id="365" r:id="rId11"/>
    <p:sldId id="354" r:id="rId12"/>
    <p:sldId id="355" r:id="rId13"/>
    <p:sldId id="356" r:id="rId14"/>
    <p:sldId id="357" r:id="rId15"/>
    <p:sldId id="358" r:id="rId16"/>
    <p:sldId id="359" r:id="rId17"/>
    <p:sldId id="360" r:id="rId18"/>
    <p:sldId id="361" r:id="rId19"/>
    <p:sldId id="352" r:id="rId20"/>
    <p:sldId id="283" r:id="rId21"/>
    <p:sldId id="284" r:id="rId22"/>
    <p:sldId id="285" r:id="rId23"/>
    <p:sldId id="286" r:id="rId24"/>
    <p:sldId id="287" r:id="rId25"/>
    <p:sldId id="316" r:id="rId26"/>
    <p:sldId id="317" r:id="rId27"/>
    <p:sldId id="318" r:id="rId28"/>
    <p:sldId id="319" r:id="rId29"/>
    <p:sldId id="288" r:id="rId30"/>
    <p:sldId id="315" r:id="rId31"/>
    <p:sldId id="289" r:id="rId32"/>
    <p:sldId id="290" r:id="rId33"/>
    <p:sldId id="291" r:id="rId34"/>
    <p:sldId id="292" r:id="rId35"/>
    <p:sldId id="293" r:id="rId36"/>
    <p:sldId id="294" r:id="rId37"/>
    <p:sldId id="296" r:id="rId38"/>
    <p:sldId id="297" r:id="rId39"/>
    <p:sldId id="298" r:id="rId40"/>
    <p:sldId id="299" r:id="rId41"/>
    <p:sldId id="300" r:id="rId42"/>
    <p:sldId id="306" r:id="rId43"/>
    <p:sldId id="305" r:id="rId44"/>
    <p:sldId id="307" r:id="rId45"/>
    <p:sldId id="308" r:id="rId46"/>
    <p:sldId id="369" r:id="rId47"/>
    <p:sldId id="309" r:id="rId48"/>
    <p:sldId id="310" r:id="rId49"/>
    <p:sldId id="320" r:id="rId50"/>
    <p:sldId id="311" r:id="rId51"/>
    <p:sldId id="312" r:id="rId52"/>
    <p:sldId id="314" r:id="rId53"/>
    <p:sldId id="303" r:id="rId54"/>
    <p:sldId id="304" r:id="rId55"/>
    <p:sldId id="368" r:id="rId56"/>
    <p:sldId id="366" r:id="rId57"/>
    <p:sldId id="374" r:id="rId58"/>
    <p:sldId id="367" r:id="rId59"/>
    <p:sldId id="371" r:id="rId60"/>
    <p:sldId id="370" r:id="rId61"/>
    <p:sldId id="372" r:id="rId62"/>
    <p:sldId id="377" r:id="rId63"/>
    <p:sldId id="376" r:id="rId64"/>
    <p:sldId id="378" r:id="rId65"/>
    <p:sldId id="379" r:id="rId66"/>
    <p:sldId id="373" r:id="rId67"/>
    <p:sldId id="37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7T03:08:00.426"/>
    </inkml:context>
    <inkml:brush xml:id="br0">
      <inkml:brushProperty name="width" value="0.05" units="cm"/>
      <inkml:brushProperty name="height" value="0.0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7T03:08:00.846"/>
    </inkml:context>
    <inkml:brush xml:id="br0">
      <inkml:brushProperty name="width" value="0.05" units="cm"/>
      <inkml:brushProperty name="height" value="0.05" units="cm"/>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7T03:08:04.815"/>
    </inkml:context>
    <inkml:brush xml:id="br0">
      <inkml:brushProperty name="width" value="0.05" units="cm"/>
      <inkml:brushProperty name="height" value="0.05" units="cm"/>
    </inkml:brush>
  </inkml:definitions>
  <inkml:trace contextRef="#ctx0" brushRef="#br0">3 1 24575,'-2'110'0,"5"126"0,0-219 0,1-1 0,1 0 0,1 0 0,0 0 0,1 0 0,0-1 0,1-1 0,11 16 0,5 11 0,86 125 0,-103-156 0,18 20 0,1-1 0,1-2 0,34 27 0,-16-14 0,117 126 0,-111-111 0,-36-37 0,-1 1 0,-1 0 0,16 30 0,-17-28 0,0 0 0,1-1 0,22 25 0,142 160 0,-154-174 0,-2 1 0,-1 1 0,-1 0 0,-2 2 0,13 39 0,-25-61 0,3 15 0,2 0 0,2-1 0,0-1 0,23 38 0,-16-35 0,-2 1 0,-1 1 0,11 34 0,-1-6 0,-3-8 0,3-1 0,1-2 0,3 0 0,2-2 0,2-1 0,40 42 0,210 197 0,-227-234 0,85 58 0,-71-57 0,-25-16 0,83 57 0,-84-62 0,55 50 0,-57-44 0,53 34 0,54 26 0,274 164 0,-318-191 0,-27-16 0,118 82 0,-93-69 0,-34-20 0,110 54 0,131 50 0,-270-130 0,-1 2 0,74 55 0,37 21 0,81 35 0,-84-65 0,-70-27 0,-60-31 0,0 0 0,0 0 0,1-2 0,25 8 0,304 79 0,-219-67 0,-69-17 0,-1 3 0,112 42 0,-128-41 0,0-2 0,1-1 0,82 9 0,-91-16 0,51 6 0,-43-6 0,0 1 0,77 23 0,109 29 0,2 0 0,-171-41 0,108 16 0,-89-19 0,-16-2 0,100 35 0,-134-39 0,1-1 0,0-1 0,0-2 0,57 2 0,-19-3 0,28 14 0,-69-11 0,51 5 0,-62-11 0,37 2 0,1 3 0,62 13 0,-45-1 0,-31-6 0,0-2 0,1-2 0,58 3 0,-66-7 0,-1 0 0,38 10 0,-37-6 0,0-1 0,37 1 0,458-6 0,-246-3 0,-237 4 0,78 15 0,23 1 0,45 2 0,-117-9 0,79 0 0,-114-9 0,67 12 0,7 2 0,302-11 0,-241-6 0,-151 2 0,-1 1 0,1 2 0,31 8 0,-27-5 0,52 5 0,-43-10-1365,-4-1-5461</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Google Shape;54;p13">
            <a:extLst>
              <a:ext uri="{FF2B5EF4-FFF2-40B4-BE49-F238E27FC236}">
                <a16:creationId xmlns:a16="http://schemas.microsoft.com/office/drawing/2014/main" id="{86D26913-F960-4A22-86DE-26274AE3F540}"/>
              </a:ext>
            </a:extLst>
          </p:cNvPr>
          <p:cNvSpPr/>
          <p:nvPr userDrawn="1"/>
        </p:nvSpPr>
        <p:spPr>
          <a:xfrm>
            <a:off x="357900" y="569000"/>
            <a:ext cx="11476200" cy="1368300"/>
          </a:xfrm>
          <a:prstGeom prst="roundRect">
            <a:avLst>
              <a:gd name="adj" fmla="val 9040"/>
            </a:avLst>
          </a:prstGeom>
          <a:solidFill>
            <a:srgbClr val="335295"/>
          </a:solidFill>
          <a:ln>
            <a:noFill/>
          </a:ln>
          <a:effectLst>
            <a:outerShdw blurRad="57150" dist="114300" dir="2700000" algn="bl" rotWithShape="0">
              <a:srgbClr val="000000">
                <a:alpha val="3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3">
            <a:extLst>
              <a:ext uri="{FF2B5EF4-FFF2-40B4-BE49-F238E27FC236}">
                <a16:creationId xmlns:a16="http://schemas.microsoft.com/office/drawing/2014/main" id="{098C0B80-F99D-470B-9FDD-4D592A4D3B83}"/>
              </a:ext>
            </a:extLst>
          </p:cNvPr>
          <p:cNvSpPr txBox="1"/>
          <p:nvPr userDrawn="1"/>
        </p:nvSpPr>
        <p:spPr>
          <a:xfrm>
            <a:off x="492034" y="718403"/>
            <a:ext cx="11207931" cy="68015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800" dirty="0">
                <a:solidFill>
                  <a:srgbClr val="FFFFFF"/>
                </a:solidFill>
              </a:rPr>
              <a:t> </a:t>
            </a:r>
            <a:endParaRPr sz="2200" dirty="0">
              <a:solidFill>
                <a:srgbClr val="FFFFFF"/>
              </a:solidFill>
            </a:endParaRPr>
          </a:p>
        </p:txBody>
      </p:sp>
      <p:pic>
        <p:nvPicPr>
          <p:cNvPr id="11" name="Google Shape;55;p13">
            <a:extLst>
              <a:ext uri="{FF2B5EF4-FFF2-40B4-BE49-F238E27FC236}">
                <a16:creationId xmlns:a16="http://schemas.microsoft.com/office/drawing/2014/main" id="{873C1C94-609F-4385-B415-448B95C211FD}"/>
              </a:ext>
            </a:extLst>
          </p:cNvPr>
          <p:cNvPicPr preferRelativeResize="0"/>
          <p:nvPr userDrawn="1"/>
        </p:nvPicPr>
        <p:blipFill>
          <a:blip r:embed="rId2">
            <a:alphaModFix/>
          </a:blip>
          <a:stretch>
            <a:fillRect/>
          </a:stretch>
        </p:blipFill>
        <p:spPr>
          <a:xfrm>
            <a:off x="357900" y="5905897"/>
            <a:ext cx="11476199" cy="766205"/>
          </a:xfrm>
          <a:prstGeom prst="rect">
            <a:avLst/>
          </a:prstGeom>
          <a:noFill/>
          <a:ln>
            <a:noFill/>
          </a:ln>
        </p:spPr>
      </p:pic>
    </p:spTree>
    <p:extLst>
      <p:ext uri="{BB962C8B-B14F-4D97-AF65-F5344CB8AC3E}">
        <p14:creationId xmlns:p14="http://schemas.microsoft.com/office/powerpoint/2010/main" val="1450418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030C6-AA40-41A1-B609-4A6625C5BF1A}"/>
              </a:ext>
            </a:extLst>
          </p:cNvPr>
          <p:cNvSpPr>
            <a:spLocks noGrp="1"/>
          </p:cNvSpPr>
          <p:nvPr>
            <p:ph idx="1"/>
          </p:nvPr>
        </p:nvSpPr>
        <p:spPr>
          <a:xfrm>
            <a:off x="496389" y="1018903"/>
            <a:ext cx="11364684" cy="467369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Google Shape;64;p14">
            <a:extLst>
              <a:ext uri="{FF2B5EF4-FFF2-40B4-BE49-F238E27FC236}">
                <a16:creationId xmlns:a16="http://schemas.microsoft.com/office/drawing/2014/main" id="{4364185B-C74A-41B8-A4AD-5ECB797475EB}"/>
              </a:ext>
            </a:extLst>
          </p:cNvPr>
          <p:cNvPicPr preferRelativeResize="0"/>
          <p:nvPr userDrawn="1"/>
        </p:nvPicPr>
        <p:blipFill>
          <a:blip r:embed="rId2">
            <a:alphaModFix/>
          </a:blip>
          <a:stretch>
            <a:fillRect/>
          </a:stretch>
        </p:blipFill>
        <p:spPr>
          <a:xfrm>
            <a:off x="496389" y="5734595"/>
            <a:ext cx="11364685" cy="843626"/>
          </a:xfrm>
          <a:prstGeom prst="rect">
            <a:avLst/>
          </a:prstGeom>
          <a:noFill/>
          <a:ln>
            <a:noFill/>
          </a:ln>
        </p:spPr>
      </p:pic>
      <p:sp>
        <p:nvSpPr>
          <p:cNvPr id="9" name="Google Shape;63;p14">
            <a:extLst>
              <a:ext uri="{FF2B5EF4-FFF2-40B4-BE49-F238E27FC236}">
                <a16:creationId xmlns:a16="http://schemas.microsoft.com/office/drawing/2014/main" id="{6FF94A92-8A89-4AFB-8DCD-9C8B9FEDD4FB}"/>
              </a:ext>
            </a:extLst>
          </p:cNvPr>
          <p:cNvSpPr/>
          <p:nvPr userDrawn="1"/>
        </p:nvSpPr>
        <p:spPr>
          <a:xfrm>
            <a:off x="74" y="-28226"/>
            <a:ext cx="12191925" cy="800215"/>
          </a:xfrm>
          <a:prstGeom prst="rect">
            <a:avLst/>
          </a:prstGeom>
          <a:solidFill>
            <a:srgbClr val="3352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730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9/10/2024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59620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03006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9/10/2024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435580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14808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9/10/2024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217853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429458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9307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9/10/2024</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78168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9/10/2024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60745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4300711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03967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CC77-CDEB-92D3-3D5D-FD83CAF771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B5FBC9-6499-02A0-249F-E9DD3D01AA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62C62D-611F-6F09-92D7-C6C1E66F20E6}"/>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569F5A99-4650-DE8E-648B-44B9DD0656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502B6C-F976-6926-5962-88B3FC6C853A}"/>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2512153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A898-B707-40F6-19F2-F2A81C77BD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B43FE2-D07B-3E95-DC6B-9E29167BB3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133A62-9E1A-3C61-F269-7B58A2687B70}"/>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D1804B7D-097D-47AA-7387-3AECFCEB9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2D4E5-D461-F663-D837-E4FBC9FA13D4}"/>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153803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B7DA-422C-4B24-954C-CD4E0F73A2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0A575A-F2C2-6615-FC52-91BD7D0B7F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60892-F979-A67D-25DC-96AC463515B8}"/>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06FDF2F5-7442-FFBA-127C-EAD583FFB0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315441-9A42-E977-2292-B6D1F461F90A}"/>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322061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68DC-A3A2-EBD0-324C-DFF6819D5A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773055-7BF9-2C5E-5323-D68C43E6E5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1BFCF1-D0BF-BE20-EAAB-2EC425CDF3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2EF393-B084-D641-D902-C04875AB8D2D}"/>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6" name="Footer Placeholder 5">
            <a:extLst>
              <a:ext uri="{FF2B5EF4-FFF2-40B4-BE49-F238E27FC236}">
                <a16:creationId xmlns:a16="http://schemas.microsoft.com/office/drawing/2014/main" id="{E6A568CA-DF2F-99DC-0096-45F6B4FA67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CCFCF7-23FF-ABD3-5DA3-1B4F1B69BEBB}"/>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2308324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97B0-8C6A-53C2-5E9D-52772A4D02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290111-1689-FD91-FC14-333232EC4E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9A11A7-006C-76CF-1D29-A293E16141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BC927D-0AE2-74C4-5185-9467B2821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E6B033-E914-2AAE-C523-875130EB94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990802-5C77-EC58-A6C2-127202ED7B47}"/>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8" name="Footer Placeholder 7">
            <a:extLst>
              <a:ext uri="{FF2B5EF4-FFF2-40B4-BE49-F238E27FC236}">
                <a16:creationId xmlns:a16="http://schemas.microsoft.com/office/drawing/2014/main" id="{9AE85F83-2D75-946D-8D79-2DF603B6E4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2B5FB2-B4D9-3048-90D7-F26C01EFED08}"/>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2430819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956E-17C6-A3AB-1B4C-AB7C4A9A40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D368E5-F8A4-E38B-A6BC-F9977BDA62E9}"/>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4" name="Footer Placeholder 3">
            <a:extLst>
              <a:ext uri="{FF2B5EF4-FFF2-40B4-BE49-F238E27FC236}">
                <a16:creationId xmlns:a16="http://schemas.microsoft.com/office/drawing/2014/main" id="{36529E8D-C0A5-16C1-0677-005ACA392D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E74FED-DDA9-28C1-08D2-BB6E2AE281FC}"/>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514524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3FB780-69FF-A0B6-FE3B-6D331D785BE2}"/>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3" name="Footer Placeholder 2">
            <a:extLst>
              <a:ext uri="{FF2B5EF4-FFF2-40B4-BE49-F238E27FC236}">
                <a16:creationId xmlns:a16="http://schemas.microsoft.com/office/drawing/2014/main" id="{4B6005E5-FA9E-6738-FB66-EC8EE29A46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E1ECF9-A0DD-9591-B795-9F60B5BCCE3C}"/>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2900739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1169-77E4-1D4B-3DB6-39B28968D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6B67E3-FF14-7F1E-6A8D-C6747B5342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F1F48A-0943-EB69-56A6-1B0763017D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F477D5-E8FC-77E0-D815-786B65BCFC9C}"/>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6" name="Footer Placeholder 5">
            <a:extLst>
              <a:ext uri="{FF2B5EF4-FFF2-40B4-BE49-F238E27FC236}">
                <a16:creationId xmlns:a16="http://schemas.microsoft.com/office/drawing/2014/main" id="{760B1F0B-7BCC-EACF-1E74-F7ED99E022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5AB0E2-CC20-C8CB-3107-F01F74B3AC35}"/>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1094472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E05C-6BA0-0F5A-6656-0408918F2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752793-272C-667F-DF09-6B0EC411DE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B6F3BF-5CDC-2BE0-6BF4-121EDCDD9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1D4108-3FE9-AF82-09BC-B543C4E0DD38}"/>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6" name="Footer Placeholder 5">
            <a:extLst>
              <a:ext uri="{FF2B5EF4-FFF2-40B4-BE49-F238E27FC236}">
                <a16:creationId xmlns:a16="http://schemas.microsoft.com/office/drawing/2014/main" id="{92085A79-5345-DA33-FD33-230561BF94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43C179-D098-E737-87EE-679F3BF0D6D5}"/>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17855071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498EF-B46C-7627-2580-E80EF39F99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6C85A3-A9AC-98BA-25C8-B21C980BD4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489381-7CE8-72C2-D78E-C4D0826F5123}"/>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F95372BE-B860-A69D-768A-7F7027AEC8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D7CE33-402D-22B9-13D7-B2B5E5D78C04}"/>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1063886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DC72-C647-07D3-2368-AA03663B1B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99A48E-C081-8C77-86F0-65E41C2EC5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4966FF-23AA-5277-6F46-87CFEC101D33}"/>
              </a:ext>
            </a:extLst>
          </p:cNvPr>
          <p:cNvSpPr>
            <a:spLocks noGrp="1"/>
          </p:cNvSpPr>
          <p:nvPr>
            <p:ph type="dt" sz="half" idx="10"/>
          </p:nvPr>
        </p:nvSpPr>
        <p:spPr/>
        <p:txBody>
          <a:body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EDBC1D52-7BF3-91C0-06FC-19DE4CB423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28446-2791-DDC1-3CBF-2196E4041AD3}"/>
              </a:ext>
            </a:extLst>
          </p:cNvPr>
          <p:cNvSpPr>
            <a:spLocks noGrp="1"/>
          </p:cNvSpPr>
          <p:nvPr>
            <p:ph type="sldNum" sz="quarter" idx="12"/>
          </p:nvPr>
        </p:nvSpPr>
        <p:spPr/>
        <p:txBody>
          <a:bodyPr/>
          <a:lstStyle/>
          <a:p>
            <a:fld id="{9C21CB19-6DD1-4DE6-9ADA-1F877948562F}" type="slidenum">
              <a:rPr lang="en-IN" smtClean="0"/>
              <a:t>‹#›</a:t>
            </a:fld>
            <a:endParaRPr lang="en-IN"/>
          </a:p>
        </p:txBody>
      </p:sp>
    </p:spTree>
    <p:extLst>
      <p:ext uri="{BB962C8B-B14F-4D97-AF65-F5344CB8AC3E}">
        <p14:creationId xmlns:p14="http://schemas.microsoft.com/office/powerpoint/2010/main" val="2816041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Google Shape;54;p13">
            <a:extLst>
              <a:ext uri="{FF2B5EF4-FFF2-40B4-BE49-F238E27FC236}">
                <a16:creationId xmlns:a16="http://schemas.microsoft.com/office/drawing/2014/main" id="{86D26913-F960-4A22-86DE-26274AE3F540}"/>
              </a:ext>
            </a:extLst>
          </p:cNvPr>
          <p:cNvSpPr/>
          <p:nvPr userDrawn="1"/>
        </p:nvSpPr>
        <p:spPr>
          <a:xfrm>
            <a:off x="357900" y="569000"/>
            <a:ext cx="11476200" cy="1368300"/>
          </a:xfrm>
          <a:prstGeom prst="roundRect">
            <a:avLst>
              <a:gd name="adj" fmla="val 9040"/>
            </a:avLst>
          </a:prstGeom>
          <a:solidFill>
            <a:srgbClr val="335295"/>
          </a:solidFill>
          <a:ln>
            <a:noFill/>
          </a:ln>
          <a:effectLst>
            <a:outerShdw blurRad="57150" dist="114300" dir="2700000" algn="bl" rotWithShape="0">
              <a:srgbClr val="000000">
                <a:alpha val="3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3">
            <a:extLst>
              <a:ext uri="{FF2B5EF4-FFF2-40B4-BE49-F238E27FC236}">
                <a16:creationId xmlns:a16="http://schemas.microsoft.com/office/drawing/2014/main" id="{098C0B80-F99D-470B-9FDD-4D592A4D3B83}"/>
              </a:ext>
            </a:extLst>
          </p:cNvPr>
          <p:cNvSpPr txBox="1"/>
          <p:nvPr userDrawn="1"/>
        </p:nvSpPr>
        <p:spPr>
          <a:xfrm>
            <a:off x="492034" y="718403"/>
            <a:ext cx="11207931" cy="68015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800" dirty="0">
                <a:solidFill>
                  <a:srgbClr val="FFFFFF"/>
                </a:solidFill>
              </a:rPr>
              <a:t> </a:t>
            </a:r>
            <a:endParaRPr sz="2200" dirty="0">
              <a:solidFill>
                <a:srgbClr val="FFFFFF"/>
              </a:solidFill>
            </a:endParaRPr>
          </a:p>
        </p:txBody>
      </p:sp>
      <p:pic>
        <p:nvPicPr>
          <p:cNvPr id="11" name="Google Shape;55;p13">
            <a:extLst>
              <a:ext uri="{FF2B5EF4-FFF2-40B4-BE49-F238E27FC236}">
                <a16:creationId xmlns:a16="http://schemas.microsoft.com/office/drawing/2014/main" id="{873C1C94-609F-4385-B415-448B95C211FD}"/>
              </a:ext>
            </a:extLst>
          </p:cNvPr>
          <p:cNvPicPr preferRelativeResize="0"/>
          <p:nvPr userDrawn="1"/>
        </p:nvPicPr>
        <p:blipFill>
          <a:blip r:embed="rId2">
            <a:alphaModFix/>
          </a:blip>
          <a:stretch>
            <a:fillRect/>
          </a:stretch>
        </p:blipFill>
        <p:spPr>
          <a:xfrm>
            <a:off x="357900" y="5905897"/>
            <a:ext cx="11476199" cy="766205"/>
          </a:xfrm>
          <a:prstGeom prst="rect">
            <a:avLst/>
          </a:prstGeom>
          <a:noFill/>
          <a:ln>
            <a:noFill/>
          </a:ln>
        </p:spPr>
      </p:pic>
    </p:spTree>
    <p:extLst>
      <p:ext uri="{BB962C8B-B14F-4D97-AF65-F5344CB8AC3E}">
        <p14:creationId xmlns:p14="http://schemas.microsoft.com/office/powerpoint/2010/main" val="11870465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030C6-AA40-41A1-B609-4A6625C5BF1A}"/>
              </a:ext>
            </a:extLst>
          </p:cNvPr>
          <p:cNvSpPr>
            <a:spLocks noGrp="1"/>
          </p:cNvSpPr>
          <p:nvPr>
            <p:ph idx="1"/>
          </p:nvPr>
        </p:nvSpPr>
        <p:spPr>
          <a:xfrm>
            <a:off x="496389" y="1018903"/>
            <a:ext cx="11364684" cy="467369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Google Shape;64;p14">
            <a:extLst>
              <a:ext uri="{FF2B5EF4-FFF2-40B4-BE49-F238E27FC236}">
                <a16:creationId xmlns:a16="http://schemas.microsoft.com/office/drawing/2014/main" id="{4364185B-C74A-41B8-A4AD-5ECB797475EB}"/>
              </a:ext>
            </a:extLst>
          </p:cNvPr>
          <p:cNvPicPr preferRelativeResize="0"/>
          <p:nvPr userDrawn="1"/>
        </p:nvPicPr>
        <p:blipFill>
          <a:blip r:embed="rId2">
            <a:alphaModFix/>
          </a:blip>
          <a:stretch>
            <a:fillRect/>
          </a:stretch>
        </p:blipFill>
        <p:spPr>
          <a:xfrm>
            <a:off x="496389" y="5734595"/>
            <a:ext cx="11364685" cy="843626"/>
          </a:xfrm>
          <a:prstGeom prst="rect">
            <a:avLst/>
          </a:prstGeom>
          <a:noFill/>
          <a:ln>
            <a:noFill/>
          </a:ln>
        </p:spPr>
      </p:pic>
      <p:sp>
        <p:nvSpPr>
          <p:cNvPr id="9" name="Google Shape;63;p14">
            <a:extLst>
              <a:ext uri="{FF2B5EF4-FFF2-40B4-BE49-F238E27FC236}">
                <a16:creationId xmlns:a16="http://schemas.microsoft.com/office/drawing/2014/main" id="{6FF94A92-8A89-4AFB-8DCD-9C8B9FEDD4FB}"/>
              </a:ext>
            </a:extLst>
          </p:cNvPr>
          <p:cNvSpPr/>
          <p:nvPr userDrawn="1"/>
        </p:nvSpPr>
        <p:spPr>
          <a:xfrm>
            <a:off x="74" y="-28226"/>
            <a:ext cx="12191925" cy="800215"/>
          </a:xfrm>
          <a:prstGeom prst="rect">
            <a:avLst/>
          </a:prstGeom>
          <a:solidFill>
            <a:srgbClr val="3352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53942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862667" y="3050536"/>
            <a:ext cx="8466667" cy="695588"/>
          </a:xfrm>
          <a:prstGeom prst="rect">
            <a:avLst/>
          </a:prstGeom>
        </p:spPr>
        <p:txBody>
          <a:bodyPr wrap="square" lIns="0" tIns="0" rIns="0" bIns="0">
            <a:spAutoFit/>
          </a:bodyPr>
          <a:lstStyle>
            <a:lvl1pPr>
              <a:defRPr sz="4367" b="0" i="0">
                <a:solidFill>
                  <a:schemeClr val="hlink"/>
                </a:solidFill>
                <a:latin typeface="Verdana"/>
                <a:cs typeface="Verdana"/>
              </a:defRPr>
            </a:lvl1pPr>
          </a:lstStyle>
          <a:p>
            <a:endParaRPr/>
          </a:p>
        </p:txBody>
      </p:sp>
      <p:sp>
        <p:nvSpPr>
          <p:cNvPr id="3" name="Holder 3"/>
          <p:cNvSpPr>
            <a:spLocks noGrp="1"/>
          </p:cNvSpPr>
          <p:nvPr>
            <p:ph type="subTitle" idx="4"/>
          </p:nvPr>
        </p:nvSpPr>
        <p:spPr>
          <a:xfrm>
            <a:off x="1828800" y="3840480"/>
            <a:ext cx="8534401" cy="35580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6" name="Holder 6"/>
          <p:cNvSpPr>
            <a:spLocks noGrp="1"/>
          </p:cNvSpPr>
          <p:nvPr>
            <p:ph type="sldNum" sz="quarter" idx="7"/>
          </p:nvPr>
        </p:nvSpPr>
        <p:spPr/>
        <p:txBody>
          <a:bodyPr lIns="0" tIns="0" rIns="0" bIns="0"/>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6484477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12" b="0" i="0">
                <a:solidFill>
                  <a:schemeClr val="folHlink"/>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2312" b="0" i="0">
                <a:solidFill>
                  <a:schemeClr val="folHlink"/>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6" name="Holder 6"/>
          <p:cNvSpPr>
            <a:spLocks noGrp="1"/>
          </p:cNvSpPr>
          <p:nvPr>
            <p:ph type="sldNum" sz="quarter" idx="7"/>
          </p:nvPr>
        </p:nvSpPr>
        <p:spPr/>
        <p:txBody>
          <a:bodyPr lIns="0" tIns="0" rIns="0" bIns="0"/>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23847251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12" b="0" i="0">
                <a:solidFill>
                  <a:schemeClr val="folHlink"/>
                </a:solidFill>
                <a:latin typeface="Microsoft Sans Serif"/>
                <a:cs typeface="Microsoft Sans Serif"/>
              </a:defRPr>
            </a:lvl1pPr>
          </a:lstStyle>
          <a:p>
            <a:endParaRPr/>
          </a:p>
        </p:txBody>
      </p:sp>
      <p:sp>
        <p:nvSpPr>
          <p:cNvPr id="3" name="Holder 3"/>
          <p:cNvSpPr>
            <a:spLocks noGrp="1"/>
          </p:cNvSpPr>
          <p:nvPr>
            <p:ph sz="half" idx="2"/>
          </p:nvPr>
        </p:nvSpPr>
        <p:spPr>
          <a:xfrm>
            <a:off x="609600" y="1577341"/>
            <a:ext cx="5303520" cy="35580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1"/>
            <a:ext cx="5303520" cy="35580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7" name="Holder 7"/>
          <p:cNvSpPr>
            <a:spLocks noGrp="1"/>
          </p:cNvSpPr>
          <p:nvPr>
            <p:ph type="sldNum" sz="quarter" idx="7"/>
          </p:nvPr>
        </p:nvSpPr>
        <p:spPr/>
        <p:txBody>
          <a:bodyPr lIns="0" tIns="0" rIns="0" bIns="0"/>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3070169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12" b="0" i="0">
                <a:solidFill>
                  <a:schemeClr val="folHlink"/>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5" name="Holder 5"/>
          <p:cNvSpPr>
            <a:spLocks noGrp="1"/>
          </p:cNvSpPr>
          <p:nvPr>
            <p:ph type="sldNum" sz="quarter" idx="7"/>
          </p:nvPr>
        </p:nvSpPr>
        <p:spPr/>
        <p:txBody>
          <a:bodyPr lIns="0" tIns="0" rIns="0" bIns="0"/>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15179713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4" name="Holder 4"/>
          <p:cNvSpPr>
            <a:spLocks noGrp="1"/>
          </p:cNvSpPr>
          <p:nvPr>
            <p:ph type="sldNum" sz="quarter" idx="7"/>
          </p:nvPr>
        </p:nvSpPr>
        <p:spPr/>
        <p:txBody>
          <a:bodyPr lIns="0" tIns="0" rIns="0" bIns="0"/>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12188381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Google Shape;54;p13">
            <a:extLst>
              <a:ext uri="{FF2B5EF4-FFF2-40B4-BE49-F238E27FC236}">
                <a16:creationId xmlns:a16="http://schemas.microsoft.com/office/drawing/2014/main" id="{86D26913-F960-4A22-86DE-26274AE3F540}"/>
              </a:ext>
            </a:extLst>
          </p:cNvPr>
          <p:cNvSpPr/>
          <p:nvPr userDrawn="1"/>
        </p:nvSpPr>
        <p:spPr>
          <a:xfrm>
            <a:off x="357901" y="569000"/>
            <a:ext cx="11476200" cy="1368300"/>
          </a:xfrm>
          <a:prstGeom prst="roundRect">
            <a:avLst>
              <a:gd name="adj" fmla="val 9040"/>
            </a:avLst>
          </a:prstGeom>
          <a:solidFill>
            <a:srgbClr val="335295"/>
          </a:solidFill>
          <a:ln>
            <a:noFill/>
          </a:ln>
          <a:effectLst>
            <a:outerShdw blurRad="57150" dist="114300" dir="2700000" algn="bl" rotWithShape="0">
              <a:srgbClr val="000000">
                <a:alpha val="30000"/>
              </a:srgbClr>
            </a:outerShdw>
          </a:effectLst>
        </p:spPr>
        <p:txBody>
          <a:bodyPr spcFirstLastPara="1" wrap="square" lIns="91422" tIns="91422" rIns="91422" bIns="91422" anchor="ctr" anchorCtr="0">
            <a:noAutofit/>
          </a:bodyPr>
          <a:lstStyle/>
          <a:p>
            <a:pPr marL="0" lvl="0" indent="0" algn="l" rtl="0">
              <a:spcBef>
                <a:spcPts val="0"/>
              </a:spcBef>
              <a:spcAft>
                <a:spcPts val="0"/>
              </a:spcAft>
              <a:buNone/>
            </a:pPr>
            <a:endParaRPr sz="1800"/>
          </a:p>
        </p:txBody>
      </p:sp>
      <p:sp>
        <p:nvSpPr>
          <p:cNvPr id="8" name="Google Shape;56;p13">
            <a:extLst>
              <a:ext uri="{FF2B5EF4-FFF2-40B4-BE49-F238E27FC236}">
                <a16:creationId xmlns:a16="http://schemas.microsoft.com/office/drawing/2014/main" id="{098C0B80-F99D-470B-9FDD-4D592A4D3B83}"/>
              </a:ext>
            </a:extLst>
          </p:cNvPr>
          <p:cNvSpPr txBox="1"/>
          <p:nvPr userDrawn="1"/>
        </p:nvSpPr>
        <p:spPr>
          <a:xfrm>
            <a:off x="492035" y="718402"/>
            <a:ext cx="11207931" cy="693829"/>
          </a:xfrm>
          <a:prstGeom prst="rect">
            <a:avLst/>
          </a:prstGeom>
          <a:noFill/>
          <a:ln>
            <a:noFill/>
          </a:ln>
        </p:spPr>
        <p:txBody>
          <a:bodyPr spcFirstLastPara="1" wrap="square" lIns="91422" tIns="91422" rIns="91422" bIns="91422" anchor="t" anchorCtr="0">
            <a:spAutoFit/>
          </a:bodyPr>
          <a:lstStyle/>
          <a:p>
            <a:pPr marL="0" lvl="0" indent="0" algn="ctr" rtl="0">
              <a:lnSpc>
                <a:spcPct val="115000"/>
              </a:lnSpc>
              <a:spcBef>
                <a:spcPts val="0"/>
              </a:spcBef>
              <a:spcAft>
                <a:spcPts val="0"/>
              </a:spcAft>
              <a:buNone/>
            </a:pPr>
            <a:r>
              <a:rPr lang="en-US" sz="2800" dirty="0">
                <a:solidFill>
                  <a:srgbClr val="FFFFFF"/>
                </a:solidFill>
              </a:rPr>
              <a:t> </a:t>
            </a:r>
            <a:endParaRPr sz="2200" dirty="0">
              <a:solidFill>
                <a:srgbClr val="FFFFFF"/>
              </a:solidFill>
            </a:endParaRPr>
          </a:p>
        </p:txBody>
      </p:sp>
      <p:pic>
        <p:nvPicPr>
          <p:cNvPr id="11" name="Google Shape;55;p13">
            <a:extLst>
              <a:ext uri="{FF2B5EF4-FFF2-40B4-BE49-F238E27FC236}">
                <a16:creationId xmlns:a16="http://schemas.microsoft.com/office/drawing/2014/main" id="{873C1C94-609F-4385-B415-448B95C211FD}"/>
              </a:ext>
            </a:extLst>
          </p:cNvPr>
          <p:cNvPicPr preferRelativeResize="0"/>
          <p:nvPr userDrawn="1"/>
        </p:nvPicPr>
        <p:blipFill>
          <a:blip r:embed="rId2">
            <a:alphaModFix/>
          </a:blip>
          <a:stretch>
            <a:fillRect/>
          </a:stretch>
        </p:blipFill>
        <p:spPr>
          <a:xfrm>
            <a:off x="357901" y="5905898"/>
            <a:ext cx="11476199" cy="766205"/>
          </a:xfrm>
          <a:prstGeom prst="rect">
            <a:avLst/>
          </a:prstGeom>
          <a:noFill/>
          <a:ln>
            <a:noFill/>
          </a:ln>
        </p:spPr>
      </p:pic>
    </p:spTree>
    <p:extLst>
      <p:ext uri="{BB962C8B-B14F-4D97-AF65-F5344CB8AC3E}">
        <p14:creationId xmlns:p14="http://schemas.microsoft.com/office/powerpoint/2010/main" val="988716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030C6-AA40-41A1-B609-4A6625C5BF1A}"/>
              </a:ext>
            </a:extLst>
          </p:cNvPr>
          <p:cNvSpPr>
            <a:spLocks noGrp="1"/>
          </p:cNvSpPr>
          <p:nvPr>
            <p:ph idx="1"/>
          </p:nvPr>
        </p:nvSpPr>
        <p:spPr>
          <a:xfrm>
            <a:off x="496389" y="1018902"/>
            <a:ext cx="11364684" cy="1494371"/>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Google Shape;64;p14">
            <a:extLst>
              <a:ext uri="{FF2B5EF4-FFF2-40B4-BE49-F238E27FC236}">
                <a16:creationId xmlns:a16="http://schemas.microsoft.com/office/drawing/2014/main" id="{4364185B-C74A-41B8-A4AD-5ECB797475EB}"/>
              </a:ext>
            </a:extLst>
          </p:cNvPr>
          <p:cNvPicPr preferRelativeResize="0"/>
          <p:nvPr userDrawn="1"/>
        </p:nvPicPr>
        <p:blipFill>
          <a:blip r:embed="rId2">
            <a:alphaModFix/>
          </a:blip>
          <a:stretch>
            <a:fillRect/>
          </a:stretch>
        </p:blipFill>
        <p:spPr>
          <a:xfrm>
            <a:off x="496390" y="5734596"/>
            <a:ext cx="11364685" cy="843626"/>
          </a:xfrm>
          <a:prstGeom prst="rect">
            <a:avLst/>
          </a:prstGeom>
          <a:noFill/>
          <a:ln>
            <a:noFill/>
          </a:ln>
        </p:spPr>
      </p:pic>
      <p:sp>
        <p:nvSpPr>
          <p:cNvPr id="9" name="Google Shape;63;p14">
            <a:extLst>
              <a:ext uri="{FF2B5EF4-FFF2-40B4-BE49-F238E27FC236}">
                <a16:creationId xmlns:a16="http://schemas.microsoft.com/office/drawing/2014/main" id="{6FF94A92-8A89-4AFB-8DCD-9C8B9FEDD4FB}"/>
              </a:ext>
            </a:extLst>
          </p:cNvPr>
          <p:cNvSpPr/>
          <p:nvPr userDrawn="1"/>
        </p:nvSpPr>
        <p:spPr>
          <a:xfrm>
            <a:off x="75" y="-28226"/>
            <a:ext cx="12191925" cy="800215"/>
          </a:xfrm>
          <a:prstGeom prst="rect">
            <a:avLst/>
          </a:prstGeom>
          <a:solidFill>
            <a:srgbClr val="335295"/>
          </a:solidFill>
          <a:ln>
            <a:noFill/>
          </a:ln>
        </p:spPr>
        <p:txBody>
          <a:bodyPr spcFirstLastPara="1" wrap="square" lIns="91422" tIns="91422" rIns="91422" bIns="91422"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173850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90766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9/10/2024</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3342647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6E188-6B29-7F39-990A-CA7D76F6F4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6A219E-DDFF-9F64-597C-3FEAE2A216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86AF84-D7B1-7763-1492-DF6A8B90A2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85BF4D-2F8F-4A3A-93B4-3B010457C1E6}" type="datetimeFigureOut">
              <a:rPr lang="en-IN" smtClean="0"/>
              <a:t>10-09-2024</a:t>
            </a:fld>
            <a:endParaRPr lang="en-IN"/>
          </a:p>
        </p:txBody>
      </p:sp>
      <p:sp>
        <p:nvSpPr>
          <p:cNvPr id="5" name="Footer Placeholder 4">
            <a:extLst>
              <a:ext uri="{FF2B5EF4-FFF2-40B4-BE49-F238E27FC236}">
                <a16:creationId xmlns:a16="http://schemas.microsoft.com/office/drawing/2014/main" id="{CF7393A4-FB54-2C24-41BF-1A7604B1B8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C60021-3738-9C09-DCA5-77FF81136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21CB19-6DD1-4DE6-9ADA-1F877948562F}" type="slidenum">
              <a:rPr lang="en-IN" smtClean="0"/>
              <a:t>‹#›</a:t>
            </a:fld>
            <a:endParaRPr lang="en-IN"/>
          </a:p>
        </p:txBody>
      </p:sp>
    </p:spTree>
    <p:extLst>
      <p:ext uri="{BB962C8B-B14F-4D97-AF65-F5344CB8AC3E}">
        <p14:creationId xmlns:p14="http://schemas.microsoft.com/office/powerpoint/2010/main" val="379712886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22166" y="327566"/>
            <a:ext cx="10147664" cy="355803"/>
          </a:xfrm>
          <a:prstGeom prst="rect">
            <a:avLst/>
          </a:prstGeom>
        </p:spPr>
        <p:txBody>
          <a:bodyPr wrap="square" lIns="0" tIns="0" rIns="0" bIns="0">
            <a:spAutoFit/>
          </a:bodyPr>
          <a:lstStyle>
            <a:lvl1pPr>
              <a:defRPr sz="2250" b="0" i="0">
                <a:solidFill>
                  <a:schemeClr val="folHlink"/>
                </a:solidFill>
                <a:latin typeface="Microsoft Sans Serif"/>
                <a:cs typeface="Microsoft Sans Serif"/>
              </a:defRPr>
            </a:lvl1pPr>
          </a:lstStyle>
          <a:p>
            <a:endParaRPr/>
          </a:p>
        </p:txBody>
      </p:sp>
      <p:sp>
        <p:nvSpPr>
          <p:cNvPr id="3" name="Holder 3"/>
          <p:cNvSpPr>
            <a:spLocks noGrp="1"/>
          </p:cNvSpPr>
          <p:nvPr>
            <p:ph type="body" idx="1"/>
          </p:nvPr>
        </p:nvSpPr>
        <p:spPr>
          <a:xfrm>
            <a:off x="1570566" y="1215321"/>
            <a:ext cx="9480127" cy="355803"/>
          </a:xfrm>
          <a:prstGeom prst="rect">
            <a:avLst/>
          </a:prstGeom>
        </p:spPr>
        <p:txBody>
          <a:bodyPr wrap="square" lIns="0" tIns="0" rIns="0" bIns="0">
            <a:spAutoFit/>
          </a:bodyPr>
          <a:lstStyle>
            <a:lvl1pPr>
              <a:defRPr sz="2250" b="0" i="0">
                <a:solidFill>
                  <a:schemeClr val="folHlink"/>
                </a:solidFill>
                <a:latin typeface="Microsoft Sans Serif"/>
                <a:cs typeface="Microsoft Sans Serif"/>
              </a:defRPr>
            </a:lvl1pPr>
          </a:lstStyle>
          <a:p>
            <a:endParaRPr/>
          </a:p>
        </p:txBody>
      </p:sp>
      <p:sp>
        <p:nvSpPr>
          <p:cNvPr id="4" name="Holder 4"/>
          <p:cNvSpPr>
            <a:spLocks noGrp="1"/>
          </p:cNvSpPr>
          <p:nvPr>
            <p:ph type="ftr" sz="quarter" idx="5"/>
          </p:nvPr>
        </p:nvSpPr>
        <p:spPr>
          <a:xfrm>
            <a:off x="4145281" y="6377940"/>
            <a:ext cx="3901440" cy="2846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846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9/10/2024</a:t>
            </a:fld>
            <a:endParaRPr lang="en-US"/>
          </a:p>
        </p:txBody>
      </p:sp>
      <p:sp>
        <p:nvSpPr>
          <p:cNvPr id="6" name="Holder 6"/>
          <p:cNvSpPr>
            <a:spLocks noGrp="1"/>
          </p:cNvSpPr>
          <p:nvPr>
            <p:ph type="sldNum" sz="quarter" idx="7"/>
          </p:nvPr>
        </p:nvSpPr>
        <p:spPr>
          <a:xfrm>
            <a:off x="11778258" y="6576304"/>
            <a:ext cx="299720" cy="158134"/>
          </a:xfrm>
          <a:prstGeom prst="rect">
            <a:avLst/>
          </a:prstGeom>
        </p:spPr>
        <p:txBody>
          <a:bodyPr wrap="square" lIns="0" tIns="0" rIns="0" bIns="0">
            <a:spAutoFit/>
          </a:bodyPr>
          <a:lstStyle>
            <a:lvl1pPr>
              <a:defRPr sz="1079" b="0" i="0">
                <a:solidFill>
                  <a:srgbClr val="111111"/>
                </a:solidFill>
                <a:latin typeface="Verdana"/>
                <a:cs typeface="Verdana"/>
              </a:defRPr>
            </a:lvl1pPr>
          </a:lstStyle>
          <a:p>
            <a:pPr marL="39152">
              <a:lnSpc>
                <a:spcPts val="1151"/>
              </a:lnSpc>
            </a:pPr>
            <a:fld id="{81D60167-4931-47E6-BA6A-407CBD079E47}" type="slidenum">
              <a:rPr lang="en-IN" spc="-87" smtClean="0"/>
              <a:pPr marL="39152">
                <a:lnSpc>
                  <a:spcPts val="1151"/>
                </a:lnSpc>
              </a:pPr>
              <a:t>‹#›</a:t>
            </a:fld>
            <a:endParaRPr lang="en-IN" spc="-87" dirty="0"/>
          </a:p>
        </p:txBody>
      </p:sp>
    </p:spTree>
    <p:extLst>
      <p:ext uri="{BB962C8B-B14F-4D97-AF65-F5344CB8AC3E}">
        <p14:creationId xmlns:p14="http://schemas.microsoft.com/office/powerpoint/2010/main" val="163607286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Lst>
  <p:txStyles>
    <p:titleStyle>
      <a:lvl1pPr>
        <a:defRPr>
          <a:latin typeface="+mj-lt"/>
          <a:ea typeface="+mj-ea"/>
          <a:cs typeface="+mj-cs"/>
        </a:defRPr>
      </a:lvl1pPr>
    </p:titleStyle>
    <p:bodyStyle>
      <a:lvl1pPr marL="0">
        <a:defRPr>
          <a:latin typeface="+mn-lt"/>
          <a:ea typeface="+mn-ea"/>
          <a:cs typeface="+mn-cs"/>
        </a:defRPr>
      </a:lvl1pPr>
      <a:lvl2pPr marL="469819">
        <a:defRPr>
          <a:latin typeface="+mn-lt"/>
          <a:ea typeface="+mn-ea"/>
          <a:cs typeface="+mn-cs"/>
        </a:defRPr>
      </a:lvl2pPr>
      <a:lvl3pPr marL="939637">
        <a:defRPr>
          <a:latin typeface="+mn-lt"/>
          <a:ea typeface="+mn-ea"/>
          <a:cs typeface="+mn-cs"/>
        </a:defRPr>
      </a:lvl3pPr>
      <a:lvl4pPr marL="1409456">
        <a:defRPr>
          <a:latin typeface="+mn-lt"/>
          <a:ea typeface="+mn-ea"/>
          <a:cs typeface="+mn-cs"/>
        </a:defRPr>
      </a:lvl4pPr>
      <a:lvl5pPr marL="1879275">
        <a:defRPr>
          <a:latin typeface="+mn-lt"/>
          <a:ea typeface="+mn-ea"/>
          <a:cs typeface="+mn-cs"/>
        </a:defRPr>
      </a:lvl5pPr>
      <a:lvl6pPr marL="2349094">
        <a:defRPr>
          <a:latin typeface="+mn-lt"/>
          <a:ea typeface="+mn-ea"/>
          <a:cs typeface="+mn-cs"/>
        </a:defRPr>
      </a:lvl6pPr>
      <a:lvl7pPr marL="2818912">
        <a:defRPr>
          <a:latin typeface="+mn-lt"/>
          <a:ea typeface="+mn-ea"/>
          <a:cs typeface="+mn-cs"/>
        </a:defRPr>
      </a:lvl7pPr>
      <a:lvl8pPr marL="3288731">
        <a:defRPr>
          <a:latin typeface="+mn-lt"/>
          <a:ea typeface="+mn-ea"/>
          <a:cs typeface="+mn-cs"/>
        </a:defRPr>
      </a:lvl8pPr>
      <a:lvl9pPr marL="3758550">
        <a:defRPr>
          <a:latin typeface="+mn-lt"/>
          <a:ea typeface="+mn-ea"/>
          <a:cs typeface="+mn-cs"/>
        </a:defRPr>
      </a:lvl9pPr>
    </p:bodyStyle>
    <p:otherStyle>
      <a:lvl1pPr marL="0">
        <a:defRPr>
          <a:latin typeface="+mn-lt"/>
          <a:ea typeface="+mn-ea"/>
          <a:cs typeface="+mn-cs"/>
        </a:defRPr>
      </a:lvl1pPr>
      <a:lvl2pPr marL="469819">
        <a:defRPr>
          <a:latin typeface="+mn-lt"/>
          <a:ea typeface="+mn-ea"/>
          <a:cs typeface="+mn-cs"/>
        </a:defRPr>
      </a:lvl2pPr>
      <a:lvl3pPr marL="939637">
        <a:defRPr>
          <a:latin typeface="+mn-lt"/>
          <a:ea typeface="+mn-ea"/>
          <a:cs typeface="+mn-cs"/>
        </a:defRPr>
      </a:lvl3pPr>
      <a:lvl4pPr marL="1409456">
        <a:defRPr>
          <a:latin typeface="+mn-lt"/>
          <a:ea typeface="+mn-ea"/>
          <a:cs typeface="+mn-cs"/>
        </a:defRPr>
      </a:lvl4pPr>
      <a:lvl5pPr marL="1879275">
        <a:defRPr>
          <a:latin typeface="+mn-lt"/>
          <a:ea typeface="+mn-ea"/>
          <a:cs typeface="+mn-cs"/>
        </a:defRPr>
      </a:lvl5pPr>
      <a:lvl6pPr marL="2349094">
        <a:defRPr>
          <a:latin typeface="+mn-lt"/>
          <a:ea typeface="+mn-ea"/>
          <a:cs typeface="+mn-cs"/>
        </a:defRPr>
      </a:lvl6pPr>
      <a:lvl7pPr marL="2818912">
        <a:defRPr>
          <a:latin typeface="+mn-lt"/>
          <a:ea typeface="+mn-ea"/>
          <a:cs typeface="+mn-cs"/>
        </a:defRPr>
      </a:lvl7pPr>
      <a:lvl8pPr marL="3288731">
        <a:defRPr>
          <a:latin typeface="+mn-lt"/>
          <a:ea typeface="+mn-ea"/>
          <a:cs typeface="+mn-cs"/>
        </a:defRPr>
      </a:lvl8pPr>
      <a:lvl9pPr marL="375855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eaborn.pydata.org/generated/seaborn.boxplot.html" TargetMode="External"/><Relationship Id="rId2" Type="http://schemas.openxmlformats.org/officeDocument/2006/relationships/image" Target="../media/image3.pn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hyperlink" Target="https://seaborn.pydata.org/generated/seaborn.kdeplot.html" TargetMode="External"/><Relationship Id="rId2" Type="http://schemas.openxmlformats.org/officeDocument/2006/relationships/image" Target="../media/image4.png"/><Relationship Id="rId1" Type="http://schemas.openxmlformats.org/officeDocument/2006/relationships/slideLayout" Target="../slideLayouts/slideLayout3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Probability_density_function" TargetMode="External"/><Relationship Id="rId2" Type="http://schemas.openxmlformats.org/officeDocument/2006/relationships/hyperlink" Target="https://en.wikipedia.org/wiki/Independent_and_identically_distributed_random_variables" TargetMode="External"/><Relationship Id="rId1" Type="http://schemas.openxmlformats.org/officeDocument/2006/relationships/slideLayout" Target="../slideLayouts/slideLayout33.xml"/><Relationship Id="rId6" Type="http://schemas.openxmlformats.org/officeDocument/2006/relationships/image" Target="../media/image6.png"/><Relationship Id="rId5" Type="http://schemas.openxmlformats.org/officeDocument/2006/relationships/hyperlink" Target="https://en.wikipedia.org/wiki/Smoothing" TargetMode="External"/><Relationship Id="rId4" Type="http://schemas.openxmlformats.org/officeDocument/2006/relationships/hyperlink" Target="https://en.wikipedia.org/wiki/Kernel_(statistics)#In_non-parametric_statistic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eaborn.pydata.org/generated/seaborn.violinplot.html#seaborn.violinplot" TargetMode="External"/><Relationship Id="rId1" Type="http://schemas.openxmlformats.org/officeDocument/2006/relationships/slideLayout" Target="../slideLayouts/slideLayout3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raviudal/NPTEL-Intro-to-ML" TargetMode="Externa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hyperlink" Target="https://www.geeksforgeeks.org/ml-bias-variance-trade-off/"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customXml" Target="../ink/ink3.xml"/><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1.png"/><Relationship Id="rId4" Type="http://schemas.openxmlformats.org/officeDocument/2006/relationships/customXml" Target="../ink/ink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hyperlink" Target="https://machinelearningcompass.com/machine_learning_models/ridge_regression/" TargetMode="Externa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ml-ridge-regressor-using-sklearn/" TargetMode="Externa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hyperlink" Target="https://www.geeksforgeeks.org/auc-roc-curve/" TargetMode="External"/><Relationship Id="rId2" Type="http://schemas.openxmlformats.org/officeDocument/2006/relationships/hyperlink" Target="https://colab.research.google.com/drive/1zlb0KBHWDyQpUm-FfmP_l_lL947018c7?usp=sharing" TargetMode="Externa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5132AB-4918-2C65-7CE3-1CB2A8D917AC}"/>
              </a:ext>
            </a:extLst>
          </p:cNvPr>
          <p:cNvSpPr txBox="1"/>
          <p:nvPr/>
        </p:nvSpPr>
        <p:spPr>
          <a:xfrm>
            <a:off x="3134751" y="900333"/>
            <a:ext cx="5922498"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a:t>
            </a:r>
            <a:endParaRPr lang="en-IN" sz="4000" dirty="0">
              <a:solidFill>
                <a:schemeClr val="bg1"/>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D1E7A3C9-9295-3FFD-64D1-5D568811C68C}"/>
              </a:ext>
            </a:extLst>
          </p:cNvPr>
          <p:cNvSpPr txBox="1"/>
          <p:nvPr/>
        </p:nvSpPr>
        <p:spPr>
          <a:xfrm>
            <a:off x="3134751" y="3261360"/>
            <a:ext cx="5922498" cy="707886"/>
          </a:xfrm>
          <a:prstGeom prst="rect">
            <a:avLst/>
          </a:prstGeom>
          <a:noFill/>
        </p:spPr>
        <p:txBody>
          <a:bodyPr wrap="square" rtlCol="0">
            <a:spAutoFit/>
          </a:bodyPr>
          <a:lstStyle/>
          <a:p>
            <a:r>
              <a:rPr lang="en-US" sz="4000" dirty="0">
                <a:latin typeface="Arial Rounded MT Bold" panose="020F0704030504030204" pitchFamily="34" charset="0"/>
              </a:rPr>
              <a:t>Debajyoti Biswas</a:t>
            </a:r>
            <a:endParaRPr lang="en-IN" sz="4000" dirty="0">
              <a:latin typeface="Arial Rounded MT Bold" panose="020F0704030504030204" pitchFamily="34" charset="0"/>
            </a:endParaRPr>
          </a:p>
        </p:txBody>
      </p:sp>
    </p:spTree>
    <p:extLst>
      <p:ext uri="{BB962C8B-B14F-4D97-AF65-F5344CB8AC3E}">
        <p14:creationId xmlns:p14="http://schemas.microsoft.com/office/powerpoint/2010/main" val="2212263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F71558C-1541-40B7-6CF5-74AA872730F1}"/>
              </a:ext>
            </a:extLst>
          </p:cNvPr>
          <p:cNvSpPr>
            <a:spLocks noGrp="1"/>
          </p:cNvSpPr>
          <p:nvPr>
            <p:ph idx="1"/>
          </p:nvPr>
        </p:nvSpPr>
        <p:spPr>
          <a:xfrm>
            <a:off x="496389" y="1018974"/>
            <a:ext cx="11364684" cy="779909"/>
          </a:xfrm>
        </p:spPr>
        <p:txBody>
          <a:bodyPr/>
          <a:lstStyle/>
          <a:p>
            <a:r>
              <a:rPr lang="en-US" sz="4932" dirty="0"/>
              <a:t>Box Plot</a:t>
            </a:r>
            <a:endParaRPr lang="en-IN" sz="4932" dirty="0"/>
          </a:p>
        </p:txBody>
      </p:sp>
      <p:sp>
        <p:nvSpPr>
          <p:cNvPr id="5" name="TextBox 4">
            <a:extLst>
              <a:ext uri="{FF2B5EF4-FFF2-40B4-BE49-F238E27FC236}">
                <a16:creationId xmlns:a16="http://schemas.microsoft.com/office/drawing/2014/main" id="{0D435C96-FE17-41B3-7D05-DB85DD187D46}"/>
              </a:ext>
            </a:extLst>
          </p:cNvPr>
          <p:cNvSpPr txBox="1"/>
          <p:nvPr/>
        </p:nvSpPr>
        <p:spPr>
          <a:xfrm>
            <a:off x="496389" y="1885783"/>
            <a:ext cx="6852415" cy="4519827"/>
          </a:xfrm>
          <a:prstGeom prst="rect">
            <a:avLst/>
          </a:prstGeom>
          <a:noFill/>
        </p:spPr>
        <p:txBody>
          <a:bodyPr wrap="square" rtlCol="0">
            <a:spAutoFit/>
          </a:bodyPr>
          <a:lstStyle/>
          <a:p>
            <a:pPr defTabSz="939637"/>
            <a:r>
              <a:rPr lang="en-US" sz="2877" dirty="0">
                <a:solidFill>
                  <a:prstClr val="black"/>
                </a:solidFill>
                <a:latin typeface="Calibri"/>
              </a:rPr>
              <a:t>A box plot (or box-and-whisker plot)-</a:t>
            </a:r>
          </a:p>
          <a:p>
            <a:pPr marL="293637" indent="-293637" defTabSz="939637">
              <a:buFont typeface="Arial" panose="020B0604020202020204" pitchFamily="34" charset="0"/>
              <a:buChar char="•"/>
            </a:pPr>
            <a:r>
              <a:rPr lang="en-US" sz="2877" dirty="0">
                <a:solidFill>
                  <a:prstClr val="black"/>
                </a:solidFill>
                <a:latin typeface="Calibri"/>
              </a:rPr>
              <a:t> shows the distribution of quantitative data in a way that facilitates comparisons between variables or across levels of a categorical variable. </a:t>
            </a:r>
          </a:p>
          <a:p>
            <a:pPr marL="293637" indent="-293637" defTabSz="939637">
              <a:buFont typeface="Arial" panose="020B0604020202020204" pitchFamily="34" charset="0"/>
              <a:buChar char="•"/>
            </a:pPr>
            <a:r>
              <a:rPr lang="en-US" sz="2877" dirty="0">
                <a:solidFill>
                  <a:prstClr val="black"/>
                </a:solidFill>
                <a:latin typeface="Calibri"/>
              </a:rPr>
              <a:t>The box shows the quartiles of the dataset </a:t>
            </a:r>
          </a:p>
          <a:p>
            <a:pPr marL="293637" indent="-293637" defTabSz="939637">
              <a:buFont typeface="Arial" panose="020B0604020202020204" pitchFamily="34" charset="0"/>
              <a:buChar char="•"/>
            </a:pPr>
            <a:r>
              <a:rPr lang="en-US" sz="2877" dirty="0">
                <a:solidFill>
                  <a:prstClr val="black"/>
                </a:solidFill>
                <a:latin typeface="Calibri"/>
              </a:rPr>
              <a:t>while the whiskers extend to show the rest of the distribution,</a:t>
            </a:r>
          </a:p>
          <a:p>
            <a:pPr marL="293637" indent="-293637" defTabSz="939637">
              <a:buFont typeface="Arial" panose="020B0604020202020204" pitchFamily="34" charset="0"/>
              <a:buChar char="•"/>
            </a:pPr>
            <a:r>
              <a:rPr lang="en-US" sz="2877" dirty="0">
                <a:solidFill>
                  <a:prstClr val="black"/>
                </a:solidFill>
                <a:latin typeface="Calibri"/>
              </a:rPr>
              <a:t> except for points that are determined to be “outliers”</a:t>
            </a:r>
            <a:endParaRPr lang="en-IN" sz="2877" dirty="0">
              <a:solidFill>
                <a:prstClr val="black"/>
              </a:solidFill>
              <a:latin typeface="Calibri"/>
            </a:endParaRPr>
          </a:p>
        </p:txBody>
      </p:sp>
      <p:pic>
        <p:nvPicPr>
          <p:cNvPr id="6" name="Picture 5">
            <a:extLst>
              <a:ext uri="{FF2B5EF4-FFF2-40B4-BE49-F238E27FC236}">
                <a16:creationId xmlns:a16="http://schemas.microsoft.com/office/drawing/2014/main" id="{D9A36A9B-656D-0B3C-1C1F-BB4EB12C101D}"/>
              </a:ext>
            </a:extLst>
          </p:cNvPr>
          <p:cNvPicPr>
            <a:picLocks noChangeAspect="1"/>
          </p:cNvPicPr>
          <p:nvPr/>
        </p:nvPicPr>
        <p:blipFill>
          <a:blip r:embed="rId2"/>
          <a:stretch>
            <a:fillRect/>
          </a:stretch>
        </p:blipFill>
        <p:spPr>
          <a:xfrm>
            <a:off x="7417534" y="1544901"/>
            <a:ext cx="4443539" cy="3768199"/>
          </a:xfrm>
          <a:prstGeom prst="rect">
            <a:avLst/>
          </a:prstGeom>
        </p:spPr>
      </p:pic>
      <p:sp>
        <p:nvSpPr>
          <p:cNvPr id="8" name="TextBox 7">
            <a:extLst>
              <a:ext uri="{FF2B5EF4-FFF2-40B4-BE49-F238E27FC236}">
                <a16:creationId xmlns:a16="http://schemas.microsoft.com/office/drawing/2014/main" id="{808B41F5-483E-6E00-3EAE-D6CDBCADDA2F}"/>
              </a:ext>
            </a:extLst>
          </p:cNvPr>
          <p:cNvSpPr txBox="1"/>
          <p:nvPr/>
        </p:nvSpPr>
        <p:spPr>
          <a:xfrm>
            <a:off x="1084785" y="6408294"/>
            <a:ext cx="9779961" cy="387418"/>
          </a:xfrm>
          <a:prstGeom prst="rect">
            <a:avLst/>
          </a:prstGeom>
          <a:noFill/>
        </p:spPr>
        <p:txBody>
          <a:bodyPr wrap="square">
            <a:spAutoFit/>
          </a:bodyPr>
          <a:lstStyle/>
          <a:p>
            <a:pPr defTabSz="939637"/>
            <a:r>
              <a:rPr lang="en-IN" sz="1850" dirty="0" err="1">
                <a:solidFill>
                  <a:prstClr val="black"/>
                </a:solidFill>
                <a:latin typeface="Calibri"/>
                <a:hlinkClick r:id="rId3"/>
              </a:rPr>
              <a:t>seaborn.boxplot</a:t>
            </a:r>
            <a:r>
              <a:rPr lang="en-IN" sz="1850" dirty="0">
                <a:solidFill>
                  <a:prstClr val="black"/>
                </a:solidFill>
                <a:latin typeface="Calibri"/>
                <a:hlinkClick r:id="rId3"/>
              </a:rPr>
              <a:t> — seaborn 0.12.2 documentation (pydata.org)</a:t>
            </a:r>
            <a:endParaRPr lang="en-IN" sz="1850" dirty="0">
              <a:solidFill>
                <a:prstClr val="black"/>
              </a:solidFill>
              <a:latin typeface="Calibri"/>
            </a:endParaRPr>
          </a:p>
        </p:txBody>
      </p:sp>
    </p:spTree>
    <p:extLst>
      <p:ext uri="{BB962C8B-B14F-4D97-AF65-F5344CB8AC3E}">
        <p14:creationId xmlns:p14="http://schemas.microsoft.com/office/powerpoint/2010/main" val="1984748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56C40D-9B28-489D-A47D-01D1C25FA902}"/>
              </a:ext>
            </a:extLst>
          </p:cNvPr>
          <p:cNvSpPr>
            <a:spLocks noGrp="1"/>
          </p:cNvSpPr>
          <p:nvPr>
            <p:ph idx="1"/>
          </p:nvPr>
        </p:nvSpPr>
        <p:spPr>
          <a:xfrm>
            <a:off x="232734" y="15880"/>
            <a:ext cx="8105219" cy="649914"/>
          </a:xfrm>
        </p:spPr>
        <p:txBody>
          <a:bodyPr/>
          <a:lstStyle/>
          <a:p>
            <a:r>
              <a:rPr lang="en-US" sz="4110" dirty="0">
                <a:solidFill>
                  <a:schemeClr val="bg1"/>
                </a:solidFill>
              </a:rPr>
              <a:t>KDE Plot</a:t>
            </a:r>
            <a:endParaRPr lang="en-IN" sz="4110" dirty="0">
              <a:solidFill>
                <a:schemeClr val="bg1"/>
              </a:solidFill>
            </a:endParaRPr>
          </a:p>
        </p:txBody>
      </p:sp>
      <p:sp>
        <p:nvSpPr>
          <p:cNvPr id="4" name="TextBox 3">
            <a:extLst>
              <a:ext uri="{FF2B5EF4-FFF2-40B4-BE49-F238E27FC236}">
                <a16:creationId xmlns:a16="http://schemas.microsoft.com/office/drawing/2014/main" id="{436C4D41-4ABF-8A6F-4EDC-F032A9D90E29}"/>
              </a:ext>
            </a:extLst>
          </p:cNvPr>
          <p:cNvSpPr txBox="1"/>
          <p:nvPr/>
        </p:nvSpPr>
        <p:spPr>
          <a:xfrm>
            <a:off x="232734" y="980191"/>
            <a:ext cx="6694539" cy="3552960"/>
          </a:xfrm>
          <a:prstGeom prst="rect">
            <a:avLst/>
          </a:prstGeom>
          <a:noFill/>
        </p:spPr>
        <p:txBody>
          <a:bodyPr wrap="square">
            <a:spAutoFit/>
          </a:bodyPr>
          <a:lstStyle/>
          <a:p>
            <a:pPr marL="293637" indent="-293637" defTabSz="939637">
              <a:buFont typeface="Arial" panose="020B0604020202020204" pitchFamily="34" charset="0"/>
              <a:buChar char="•"/>
            </a:pPr>
            <a:r>
              <a:rPr lang="en-IN" sz="2400" dirty="0">
                <a:solidFill>
                  <a:prstClr val="black"/>
                </a:solidFill>
                <a:latin typeface="Calibri"/>
              </a:rPr>
              <a:t>Plot univariate or bivariate distributions using kernel density estimation.</a:t>
            </a:r>
          </a:p>
          <a:p>
            <a:pPr marL="293637" indent="-293637" defTabSz="939637">
              <a:buFont typeface="Arial" panose="020B0604020202020204" pitchFamily="34" charset="0"/>
              <a:buChar char="•"/>
            </a:pPr>
            <a:r>
              <a:rPr lang="en-IN" sz="2400" dirty="0">
                <a:solidFill>
                  <a:prstClr val="black"/>
                </a:solidFill>
                <a:latin typeface="Calibri"/>
              </a:rPr>
              <a:t>A kernel density estimate (KDE) plot is a method for visualizing the distribution of observations in a dataset, analogous to a histogram. </a:t>
            </a:r>
          </a:p>
          <a:p>
            <a:pPr marL="293637" indent="-293637" defTabSz="939637">
              <a:buFont typeface="Arial" panose="020B0604020202020204" pitchFamily="34" charset="0"/>
              <a:buChar char="•"/>
            </a:pPr>
            <a:r>
              <a:rPr lang="en-IN" sz="2400" dirty="0">
                <a:solidFill>
                  <a:prstClr val="black"/>
                </a:solidFill>
                <a:latin typeface="Calibri"/>
              </a:rPr>
              <a:t>KDE represents the data using a continuous probability density curve in one or more dimensions.</a:t>
            </a:r>
          </a:p>
          <a:p>
            <a:pPr marL="293637" indent="-293637" defTabSz="939637">
              <a:buFont typeface="Arial" panose="020B0604020202020204" pitchFamily="34" charset="0"/>
              <a:buChar char="•"/>
            </a:pPr>
            <a:endParaRPr lang="en-IN" sz="3288" dirty="0">
              <a:solidFill>
                <a:prstClr val="black"/>
              </a:solidFill>
              <a:latin typeface="Calibri"/>
            </a:endParaRPr>
          </a:p>
        </p:txBody>
      </p:sp>
      <p:pic>
        <p:nvPicPr>
          <p:cNvPr id="1026" name="Picture 2">
            <a:extLst>
              <a:ext uri="{FF2B5EF4-FFF2-40B4-BE49-F238E27FC236}">
                <a16:creationId xmlns:a16="http://schemas.microsoft.com/office/drawing/2014/main" id="{9280C193-572D-1953-FDA7-2368ABAA8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8284" y="3823330"/>
            <a:ext cx="3237716" cy="23235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78A5D0-7811-8B0E-8C88-0138EF8BB7A9}"/>
              </a:ext>
            </a:extLst>
          </p:cNvPr>
          <p:cNvSpPr txBox="1"/>
          <p:nvPr/>
        </p:nvSpPr>
        <p:spPr>
          <a:xfrm>
            <a:off x="2314265" y="6454702"/>
            <a:ext cx="8105218" cy="387418"/>
          </a:xfrm>
          <a:prstGeom prst="rect">
            <a:avLst/>
          </a:prstGeom>
          <a:noFill/>
        </p:spPr>
        <p:txBody>
          <a:bodyPr wrap="square">
            <a:spAutoFit/>
          </a:bodyPr>
          <a:lstStyle/>
          <a:p>
            <a:pPr defTabSz="939637"/>
            <a:r>
              <a:rPr lang="en-IN" sz="1850" dirty="0" err="1">
                <a:solidFill>
                  <a:prstClr val="black"/>
                </a:solidFill>
                <a:latin typeface="Calibri"/>
                <a:hlinkClick r:id="rId3"/>
              </a:rPr>
              <a:t>seaborn.kdeplot</a:t>
            </a:r>
            <a:r>
              <a:rPr lang="en-IN" sz="1850" dirty="0">
                <a:solidFill>
                  <a:prstClr val="black"/>
                </a:solidFill>
                <a:latin typeface="Calibri"/>
                <a:hlinkClick r:id="rId3"/>
              </a:rPr>
              <a:t> — seaborn 0.12.2 documentation (pydata.org)</a:t>
            </a:r>
            <a:endParaRPr lang="en-IN" sz="1850" dirty="0">
              <a:solidFill>
                <a:prstClr val="black"/>
              </a:solidFill>
              <a:latin typeface="Calibri"/>
            </a:endParaRPr>
          </a:p>
        </p:txBody>
      </p:sp>
      <p:pic>
        <p:nvPicPr>
          <p:cNvPr id="3" name="Picture 2">
            <a:extLst>
              <a:ext uri="{FF2B5EF4-FFF2-40B4-BE49-F238E27FC236}">
                <a16:creationId xmlns:a16="http://schemas.microsoft.com/office/drawing/2014/main" id="{53071CDA-E184-5499-82A4-77EDD2DA163F}"/>
              </a:ext>
            </a:extLst>
          </p:cNvPr>
          <p:cNvPicPr>
            <a:picLocks noChangeAspect="1"/>
          </p:cNvPicPr>
          <p:nvPr/>
        </p:nvPicPr>
        <p:blipFill>
          <a:blip r:embed="rId4"/>
          <a:stretch>
            <a:fillRect/>
          </a:stretch>
        </p:blipFill>
        <p:spPr>
          <a:xfrm>
            <a:off x="7041577" y="1056652"/>
            <a:ext cx="4917688" cy="2458844"/>
          </a:xfrm>
          <a:prstGeom prst="rect">
            <a:avLst/>
          </a:prstGeom>
        </p:spPr>
      </p:pic>
      <p:sp>
        <p:nvSpPr>
          <p:cNvPr id="7" name="TextBox 6">
            <a:extLst>
              <a:ext uri="{FF2B5EF4-FFF2-40B4-BE49-F238E27FC236}">
                <a16:creationId xmlns:a16="http://schemas.microsoft.com/office/drawing/2014/main" id="{F1E49960-164E-A3E8-5158-8F2A31AE0237}"/>
              </a:ext>
            </a:extLst>
          </p:cNvPr>
          <p:cNvSpPr txBox="1"/>
          <p:nvPr/>
        </p:nvSpPr>
        <p:spPr>
          <a:xfrm>
            <a:off x="7041577" y="3423663"/>
            <a:ext cx="5150423" cy="1200329"/>
          </a:xfrm>
          <a:prstGeom prst="rect">
            <a:avLst/>
          </a:prstGeom>
          <a:noFill/>
        </p:spPr>
        <p:txBody>
          <a:bodyPr wrap="square">
            <a:spAutoFit/>
          </a:bodyPr>
          <a:lstStyle/>
          <a:p>
            <a:r>
              <a:rPr lang="en-US" dirty="0"/>
              <a:t>Comparison of the histogram (left) and kernel density estimate (right) constructed using the same data. The six individual kernels are the red dashed curves, the kernel density estimate the blue curves. </a:t>
            </a:r>
            <a:endParaRPr lang="en-IN" dirty="0"/>
          </a:p>
        </p:txBody>
      </p:sp>
    </p:spTree>
    <p:extLst>
      <p:ext uri="{BB962C8B-B14F-4D97-AF65-F5344CB8AC3E}">
        <p14:creationId xmlns:p14="http://schemas.microsoft.com/office/powerpoint/2010/main" val="395546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56C40D-9B28-489D-A47D-01D1C25FA902}"/>
              </a:ext>
            </a:extLst>
          </p:cNvPr>
          <p:cNvSpPr>
            <a:spLocks noGrp="1"/>
          </p:cNvSpPr>
          <p:nvPr>
            <p:ph idx="1"/>
          </p:nvPr>
        </p:nvSpPr>
        <p:spPr>
          <a:xfrm>
            <a:off x="496390" y="1018974"/>
            <a:ext cx="10297625" cy="649914"/>
          </a:xfrm>
        </p:spPr>
        <p:txBody>
          <a:bodyPr/>
          <a:lstStyle/>
          <a:p>
            <a:r>
              <a:rPr lang="en-US" sz="4110" dirty="0"/>
              <a:t>KDE Plot (Kernel Density Estimate)</a:t>
            </a:r>
            <a:endParaRPr lang="en-IN" sz="4110" dirty="0"/>
          </a:p>
        </p:txBody>
      </p:sp>
      <p:sp>
        <p:nvSpPr>
          <p:cNvPr id="4" name="TextBox 3">
            <a:extLst>
              <a:ext uri="{FF2B5EF4-FFF2-40B4-BE49-F238E27FC236}">
                <a16:creationId xmlns:a16="http://schemas.microsoft.com/office/drawing/2014/main" id="{436C4D41-4ABF-8A6F-4EDC-F032A9D90E29}"/>
              </a:ext>
            </a:extLst>
          </p:cNvPr>
          <p:cNvSpPr txBox="1"/>
          <p:nvPr/>
        </p:nvSpPr>
        <p:spPr>
          <a:xfrm>
            <a:off x="223616" y="1715036"/>
            <a:ext cx="11968385" cy="4774136"/>
          </a:xfrm>
          <a:prstGeom prst="rect">
            <a:avLst/>
          </a:prstGeom>
          <a:noFill/>
        </p:spPr>
        <p:txBody>
          <a:bodyPr wrap="square">
            <a:spAutoFit/>
          </a:bodyPr>
          <a:lstStyle/>
          <a:p>
            <a:pPr marL="293637" indent="-293637" defTabSz="939637">
              <a:buFont typeface="Arial" panose="020B0604020202020204" pitchFamily="34" charset="0"/>
              <a:buChar char="•"/>
            </a:pPr>
            <a:r>
              <a:rPr lang="en-US" sz="3288" dirty="0">
                <a:solidFill>
                  <a:srgbClr val="202122"/>
                </a:solidFill>
                <a:latin typeface="Arial" panose="020B0604020202020204" pitchFamily="34" charset="0"/>
              </a:rPr>
              <a:t>Let (</a:t>
            </a:r>
            <a:r>
              <a:rPr lang="en-US" sz="3288" i="1" dirty="0">
                <a:solidFill>
                  <a:srgbClr val="202122"/>
                </a:solidFill>
                <a:latin typeface="Arial" panose="020B0604020202020204" pitchFamily="34" charset="0"/>
              </a:rPr>
              <a:t>x</a:t>
            </a:r>
            <a:r>
              <a:rPr lang="en-US" sz="3288" baseline="-25000" dirty="0">
                <a:solidFill>
                  <a:srgbClr val="202122"/>
                </a:solidFill>
                <a:latin typeface="Arial" panose="020B0604020202020204" pitchFamily="34" charset="0"/>
              </a:rPr>
              <a:t>1</a:t>
            </a:r>
            <a:r>
              <a:rPr lang="en-US" sz="3288" dirty="0">
                <a:solidFill>
                  <a:srgbClr val="202122"/>
                </a:solidFill>
                <a:latin typeface="Arial" panose="020B0604020202020204" pitchFamily="34" charset="0"/>
              </a:rPr>
              <a:t>, </a:t>
            </a:r>
            <a:r>
              <a:rPr lang="en-US" sz="3288" i="1" dirty="0">
                <a:solidFill>
                  <a:srgbClr val="202122"/>
                </a:solidFill>
                <a:latin typeface="Arial" panose="020B0604020202020204" pitchFamily="34" charset="0"/>
              </a:rPr>
              <a:t>x</a:t>
            </a:r>
            <a:r>
              <a:rPr lang="en-US" sz="3288" baseline="-25000" dirty="0">
                <a:solidFill>
                  <a:srgbClr val="202122"/>
                </a:solidFill>
                <a:latin typeface="Arial" panose="020B0604020202020204" pitchFamily="34" charset="0"/>
              </a:rPr>
              <a:t>2</a:t>
            </a:r>
            <a:r>
              <a:rPr lang="en-US" sz="3288" dirty="0">
                <a:solidFill>
                  <a:srgbClr val="202122"/>
                </a:solidFill>
                <a:latin typeface="Arial" panose="020B0604020202020204" pitchFamily="34" charset="0"/>
              </a:rPr>
              <a:t>, ..., </a:t>
            </a:r>
            <a:r>
              <a:rPr lang="en-US" sz="3288" i="1" dirty="0" err="1">
                <a:solidFill>
                  <a:srgbClr val="202122"/>
                </a:solidFill>
                <a:latin typeface="Arial" panose="020B0604020202020204" pitchFamily="34" charset="0"/>
              </a:rPr>
              <a:t>x</a:t>
            </a:r>
            <a:r>
              <a:rPr lang="en-US" sz="3288" i="1" baseline="-25000" dirty="0" err="1">
                <a:solidFill>
                  <a:srgbClr val="202122"/>
                </a:solidFill>
                <a:latin typeface="Arial" panose="020B0604020202020204" pitchFamily="34" charset="0"/>
              </a:rPr>
              <a:t>n</a:t>
            </a:r>
            <a:r>
              <a:rPr lang="en-US" sz="3288" dirty="0">
                <a:solidFill>
                  <a:srgbClr val="202122"/>
                </a:solidFill>
                <a:latin typeface="Arial" panose="020B0604020202020204" pitchFamily="34" charset="0"/>
              </a:rPr>
              <a:t>) be </a:t>
            </a:r>
            <a:r>
              <a:rPr lang="en-US" sz="3288" dirty="0">
                <a:solidFill>
                  <a:srgbClr val="3366CC"/>
                </a:solidFill>
                <a:latin typeface="Arial" panose="020B0604020202020204" pitchFamily="34" charset="0"/>
                <a:hlinkClick r:id="rId2" tooltip="Independent and identically distributed random variables"/>
              </a:rPr>
              <a:t>independent and identically distributed</a:t>
            </a:r>
            <a:r>
              <a:rPr lang="en-US" sz="3288" dirty="0">
                <a:solidFill>
                  <a:srgbClr val="202122"/>
                </a:solidFill>
                <a:latin typeface="Arial" panose="020B0604020202020204" pitchFamily="34" charset="0"/>
              </a:rPr>
              <a:t> samples drawn from some univariate distribution with an unknown </a:t>
            </a:r>
            <a:r>
              <a:rPr lang="en-US" sz="3288" dirty="0">
                <a:solidFill>
                  <a:srgbClr val="3366CC"/>
                </a:solidFill>
                <a:latin typeface="Arial" panose="020B0604020202020204" pitchFamily="34" charset="0"/>
                <a:hlinkClick r:id="rId3" tooltip="Probability density function"/>
              </a:rPr>
              <a:t>density</a:t>
            </a:r>
            <a:r>
              <a:rPr lang="en-US" sz="3288" dirty="0">
                <a:solidFill>
                  <a:srgbClr val="202122"/>
                </a:solidFill>
                <a:latin typeface="Arial" panose="020B0604020202020204" pitchFamily="34" charset="0"/>
              </a:rPr>
              <a:t> </a:t>
            </a:r>
            <a:r>
              <a:rPr lang="en-US" sz="3288" i="1" dirty="0">
                <a:solidFill>
                  <a:srgbClr val="202122"/>
                </a:solidFill>
                <a:latin typeface="Arial" panose="020B0604020202020204" pitchFamily="34" charset="0"/>
              </a:rPr>
              <a:t>ƒ</a:t>
            </a:r>
            <a:r>
              <a:rPr lang="en-US" sz="3288" dirty="0">
                <a:solidFill>
                  <a:srgbClr val="202122"/>
                </a:solidFill>
                <a:latin typeface="Arial" panose="020B0604020202020204" pitchFamily="34" charset="0"/>
              </a:rPr>
              <a:t> at any given point </a:t>
            </a:r>
            <a:r>
              <a:rPr lang="en-US" sz="3288" i="1" dirty="0">
                <a:solidFill>
                  <a:srgbClr val="202122"/>
                </a:solidFill>
                <a:latin typeface="Arial" panose="020B0604020202020204" pitchFamily="34" charset="0"/>
              </a:rPr>
              <a:t>x</a:t>
            </a:r>
            <a:r>
              <a:rPr lang="en-US" sz="3288" dirty="0">
                <a:solidFill>
                  <a:srgbClr val="202122"/>
                </a:solidFill>
                <a:latin typeface="Arial" panose="020B0604020202020204" pitchFamily="34" charset="0"/>
              </a:rPr>
              <a:t>. We are interested in estimating the shape of this function </a:t>
            </a:r>
            <a:r>
              <a:rPr lang="en-US" sz="3288" i="1" dirty="0">
                <a:solidFill>
                  <a:srgbClr val="202122"/>
                </a:solidFill>
                <a:latin typeface="Arial" panose="020B0604020202020204" pitchFamily="34" charset="0"/>
              </a:rPr>
              <a:t>ƒ</a:t>
            </a:r>
            <a:r>
              <a:rPr lang="en-US" sz="3288" dirty="0">
                <a:solidFill>
                  <a:srgbClr val="202122"/>
                </a:solidFill>
                <a:latin typeface="Arial" panose="020B0604020202020204" pitchFamily="34" charset="0"/>
              </a:rPr>
              <a:t>. Its </a:t>
            </a:r>
            <a:r>
              <a:rPr lang="en-US" sz="3288" i="1" dirty="0">
                <a:solidFill>
                  <a:srgbClr val="202122"/>
                </a:solidFill>
                <a:latin typeface="Arial" panose="020B0604020202020204" pitchFamily="34" charset="0"/>
              </a:rPr>
              <a:t>kernel density estimator</a:t>
            </a:r>
            <a:r>
              <a:rPr lang="en-US" sz="3288" dirty="0">
                <a:solidFill>
                  <a:srgbClr val="202122"/>
                </a:solidFill>
                <a:latin typeface="Arial" panose="020B0604020202020204" pitchFamily="34" charset="0"/>
              </a:rPr>
              <a:t> is</a:t>
            </a:r>
            <a:endParaRPr lang="en-IN" sz="3288" dirty="0">
              <a:solidFill>
                <a:srgbClr val="202122"/>
              </a:solidFill>
              <a:latin typeface="Arial" panose="020B0604020202020204" pitchFamily="34" charset="0"/>
            </a:endParaRPr>
          </a:p>
          <a:p>
            <a:pPr defTabSz="939637"/>
            <a:r>
              <a:rPr lang="en-IN" sz="3288" dirty="0">
                <a:solidFill>
                  <a:srgbClr val="202122"/>
                </a:solidFill>
                <a:latin typeface="Arial" panose="020B0604020202020204" pitchFamily="34" charset="0"/>
              </a:rPr>
              <a:t>    </a:t>
            </a:r>
            <a:endParaRPr lang="en-IN" sz="3288" dirty="0">
              <a:solidFill>
                <a:prstClr val="black"/>
              </a:solidFill>
              <a:latin typeface="Calibri"/>
            </a:endParaRPr>
          </a:p>
          <a:p>
            <a:pPr defTabSz="939637"/>
            <a:endParaRPr lang="en-IN" sz="3288" dirty="0">
              <a:solidFill>
                <a:prstClr val="black"/>
              </a:solidFill>
              <a:latin typeface="Calibri"/>
            </a:endParaRPr>
          </a:p>
          <a:p>
            <a:pPr marL="293637" indent="-293637" defTabSz="939637">
              <a:buFont typeface="Arial" panose="020B0604020202020204" pitchFamily="34" charset="0"/>
              <a:buChar char="•"/>
            </a:pPr>
            <a:r>
              <a:rPr lang="en-US" sz="3288" dirty="0">
                <a:solidFill>
                  <a:srgbClr val="202122"/>
                </a:solidFill>
                <a:latin typeface="Arial" panose="020B0604020202020204" pitchFamily="34" charset="0"/>
              </a:rPr>
              <a:t>where </a:t>
            </a:r>
            <a:r>
              <a:rPr lang="en-US" sz="3288" i="1" dirty="0">
                <a:solidFill>
                  <a:srgbClr val="202122"/>
                </a:solidFill>
                <a:latin typeface="Arial" panose="020B0604020202020204" pitchFamily="34" charset="0"/>
              </a:rPr>
              <a:t>K</a:t>
            </a:r>
            <a:r>
              <a:rPr lang="en-US" sz="3288" dirty="0">
                <a:solidFill>
                  <a:srgbClr val="202122"/>
                </a:solidFill>
                <a:latin typeface="Arial" panose="020B0604020202020204" pitchFamily="34" charset="0"/>
              </a:rPr>
              <a:t> is the </a:t>
            </a:r>
            <a:r>
              <a:rPr lang="en-US" sz="3288" dirty="0">
                <a:solidFill>
                  <a:srgbClr val="3366CC"/>
                </a:solidFill>
                <a:latin typeface="Arial" panose="020B0604020202020204" pitchFamily="34" charset="0"/>
                <a:hlinkClick r:id="rId4" tooltip="Kernel (statistics)"/>
              </a:rPr>
              <a:t>kernel</a:t>
            </a:r>
            <a:r>
              <a:rPr lang="en-US" sz="3288" dirty="0">
                <a:solidFill>
                  <a:srgbClr val="202122"/>
                </a:solidFill>
                <a:latin typeface="Arial" panose="020B0604020202020204" pitchFamily="34" charset="0"/>
              </a:rPr>
              <a:t> — a non-negative function — and </a:t>
            </a:r>
            <a:r>
              <a:rPr lang="en-US" sz="3288" i="1" dirty="0">
                <a:solidFill>
                  <a:srgbClr val="202122"/>
                </a:solidFill>
                <a:latin typeface="Arial" panose="020B0604020202020204" pitchFamily="34" charset="0"/>
              </a:rPr>
              <a:t>h</a:t>
            </a:r>
            <a:r>
              <a:rPr lang="en-US" sz="3288" dirty="0">
                <a:solidFill>
                  <a:srgbClr val="202122"/>
                </a:solidFill>
                <a:latin typeface="Arial" panose="020B0604020202020204" pitchFamily="34" charset="0"/>
              </a:rPr>
              <a:t> &gt; 0 is a </a:t>
            </a:r>
            <a:r>
              <a:rPr lang="en-US" sz="3288" dirty="0">
                <a:solidFill>
                  <a:srgbClr val="3366CC"/>
                </a:solidFill>
                <a:latin typeface="Arial" panose="020B0604020202020204" pitchFamily="34" charset="0"/>
                <a:hlinkClick r:id="rId5" tooltip="Smoothing"/>
              </a:rPr>
              <a:t>smoothing</a:t>
            </a:r>
            <a:r>
              <a:rPr lang="en-US" sz="3288" dirty="0">
                <a:solidFill>
                  <a:srgbClr val="202122"/>
                </a:solidFill>
                <a:latin typeface="Arial" panose="020B0604020202020204" pitchFamily="34" charset="0"/>
              </a:rPr>
              <a:t> parameter called the </a:t>
            </a:r>
            <a:r>
              <a:rPr lang="en-US" sz="3288" i="1" dirty="0">
                <a:solidFill>
                  <a:srgbClr val="202122"/>
                </a:solidFill>
                <a:latin typeface="Arial" panose="020B0604020202020204" pitchFamily="34" charset="0"/>
              </a:rPr>
              <a:t>bandwidth</a:t>
            </a:r>
            <a:r>
              <a:rPr lang="en-US" sz="3288" dirty="0">
                <a:solidFill>
                  <a:srgbClr val="202122"/>
                </a:solidFill>
                <a:latin typeface="Arial" panose="020B0604020202020204" pitchFamily="34" charset="0"/>
              </a:rPr>
              <a:t>.</a:t>
            </a:r>
            <a:endParaRPr lang="en-IN" sz="3288" dirty="0">
              <a:solidFill>
                <a:prstClr val="black"/>
              </a:solidFill>
              <a:latin typeface="Calibri"/>
            </a:endParaRPr>
          </a:p>
        </p:txBody>
      </p:sp>
      <p:pic>
        <p:nvPicPr>
          <p:cNvPr id="3" name="Picture 2">
            <a:extLst>
              <a:ext uri="{FF2B5EF4-FFF2-40B4-BE49-F238E27FC236}">
                <a16:creationId xmlns:a16="http://schemas.microsoft.com/office/drawing/2014/main" id="{1D75D166-F276-C679-D038-3EC7C5B01BEA}"/>
              </a:ext>
            </a:extLst>
          </p:cNvPr>
          <p:cNvPicPr>
            <a:picLocks noChangeAspect="1"/>
          </p:cNvPicPr>
          <p:nvPr/>
        </p:nvPicPr>
        <p:blipFill>
          <a:blip r:embed="rId6"/>
          <a:stretch>
            <a:fillRect/>
          </a:stretch>
        </p:blipFill>
        <p:spPr>
          <a:xfrm>
            <a:off x="2650789" y="4288682"/>
            <a:ext cx="7690333" cy="1052160"/>
          </a:xfrm>
          <a:prstGeom prst="rect">
            <a:avLst/>
          </a:prstGeom>
        </p:spPr>
      </p:pic>
    </p:spTree>
    <p:extLst>
      <p:ext uri="{BB962C8B-B14F-4D97-AF65-F5344CB8AC3E}">
        <p14:creationId xmlns:p14="http://schemas.microsoft.com/office/powerpoint/2010/main" val="2476397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9C704E-EB6C-93D0-3126-93AE86C10E10}"/>
              </a:ext>
            </a:extLst>
          </p:cNvPr>
          <p:cNvSpPr>
            <a:spLocks noGrp="1"/>
          </p:cNvSpPr>
          <p:nvPr>
            <p:ph idx="1"/>
          </p:nvPr>
        </p:nvSpPr>
        <p:spPr>
          <a:xfrm>
            <a:off x="413658" y="103"/>
            <a:ext cx="11364684" cy="714878"/>
          </a:xfrm>
        </p:spPr>
        <p:txBody>
          <a:bodyPr/>
          <a:lstStyle/>
          <a:p>
            <a:r>
              <a:rPr lang="en-US" sz="4521" dirty="0">
                <a:solidFill>
                  <a:schemeClr val="bg1"/>
                </a:solidFill>
              </a:rPr>
              <a:t>Violin Plot</a:t>
            </a:r>
            <a:endParaRPr lang="en-IN" sz="4521" dirty="0">
              <a:solidFill>
                <a:schemeClr val="bg1"/>
              </a:solidFill>
            </a:endParaRPr>
          </a:p>
        </p:txBody>
      </p:sp>
      <p:sp>
        <p:nvSpPr>
          <p:cNvPr id="4" name="TextBox 3">
            <a:extLst>
              <a:ext uri="{FF2B5EF4-FFF2-40B4-BE49-F238E27FC236}">
                <a16:creationId xmlns:a16="http://schemas.microsoft.com/office/drawing/2014/main" id="{1C618342-F891-87A5-ECBF-E9133D2C9802}"/>
              </a:ext>
            </a:extLst>
          </p:cNvPr>
          <p:cNvSpPr txBox="1"/>
          <p:nvPr/>
        </p:nvSpPr>
        <p:spPr>
          <a:xfrm>
            <a:off x="225840" y="946363"/>
            <a:ext cx="11508852" cy="5099357"/>
          </a:xfrm>
          <a:prstGeom prst="rect">
            <a:avLst/>
          </a:prstGeom>
          <a:noFill/>
        </p:spPr>
        <p:txBody>
          <a:bodyPr wrap="square">
            <a:spAutoFit/>
          </a:bodyPr>
          <a:lstStyle/>
          <a:p>
            <a:pPr marL="352364" indent="-352364" defTabSz="939637">
              <a:buFont typeface="Arial" panose="020B0604020202020204" pitchFamily="34" charset="0"/>
              <a:buChar char="•"/>
            </a:pPr>
            <a:r>
              <a:rPr lang="en-US" sz="2877" dirty="0">
                <a:solidFill>
                  <a:prstClr val="black"/>
                </a:solidFill>
                <a:latin typeface="Arial" panose="020B0604020202020204" pitchFamily="34" charset="0"/>
                <a:cs typeface="Arial" panose="020B0604020202020204" pitchFamily="34" charset="0"/>
              </a:rPr>
              <a:t>Draw a combination of boxplot and kernel density estimate.</a:t>
            </a:r>
          </a:p>
          <a:p>
            <a:pPr marL="352364" indent="-352364" defTabSz="939637">
              <a:buFont typeface="Arial" panose="020B0604020202020204" pitchFamily="34" charset="0"/>
              <a:buChar char="•"/>
            </a:pPr>
            <a:endParaRPr lang="en-US" sz="2877" dirty="0">
              <a:solidFill>
                <a:prstClr val="black"/>
              </a:solidFill>
              <a:latin typeface="Arial" panose="020B0604020202020204" pitchFamily="34" charset="0"/>
              <a:cs typeface="Arial" panose="020B0604020202020204" pitchFamily="34" charset="0"/>
            </a:endParaRPr>
          </a:p>
          <a:p>
            <a:pPr marL="352364" indent="-352364" defTabSz="939637">
              <a:buFont typeface="Arial" panose="020B0604020202020204" pitchFamily="34" charset="0"/>
              <a:buChar char="•"/>
            </a:pPr>
            <a:r>
              <a:rPr lang="en-US" sz="2877" dirty="0">
                <a:solidFill>
                  <a:srgbClr val="FF0000"/>
                </a:solidFill>
                <a:latin typeface="Arial" panose="020B0604020202020204" pitchFamily="34" charset="0"/>
                <a:cs typeface="Arial" panose="020B0604020202020204" pitchFamily="34" charset="0"/>
              </a:rPr>
              <a:t>A violin plot plays a similar role as a box and whisker plot. It shows the distribution of quantitative data across several levels of one (or more) </a:t>
            </a:r>
            <a:r>
              <a:rPr lang="en-US" sz="2877" dirty="0">
                <a:solidFill>
                  <a:prstClr val="black"/>
                </a:solidFill>
                <a:latin typeface="Arial" panose="020B0604020202020204" pitchFamily="34" charset="0"/>
                <a:cs typeface="Arial" panose="020B0604020202020204" pitchFamily="34" charset="0"/>
              </a:rPr>
              <a:t>categorical variables such that those distributions can be compared. </a:t>
            </a:r>
          </a:p>
          <a:p>
            <a:pPr marL="352364" indent="-352364" defTabSz="939637">
              <a:buFont typeface="Arial" panose="020B0604020202020204" pitchFamily="34" charset="0"/>
              <a:buChar char="•"/>
            </a:pPr>
            <a:r>
              <a:rPr lang="en-US" sz="2877" dirty="0">
                <a:solidFill>
                  <a:srgbClr val="7030A0"/>
                </a:solidFill>
                <a:latin typeface="Arial" panose="020B0604020202020204" pitchFamily="34" charset="0"/>
                <a:cs typeface="Arial" panose="020B0604020202020204" pitchFamily="34" charset="0"/>
              </a:rPr>
              <a:t>Unlike a box plot, in which all of the plot components correspond to actual datapoints, the violin plot features a kernel density estimation of the underlying distribution.</a:t>
            </a:r>
          </a:p>
          <a:p>
            <a:pPr marL="352364" indent="-352364" defTabSz="939637">
              <a:buFont typeface="Arial" panose="020B0604020202020204" pitchFamily="34" charset="0"/>
              <a:buChar char="•"/>
            </a:pPr>
            <a:r>
              <a:rPr lang="en-US" sz="2877" dirty="0">
                <a:solidFill>
                  <a:prstClr val="black"/>
                </a:solidFill>
                <a:latin typeface="Arial" panose="020B0604020202020204" pitchFamily="34" charset="0"/>
                <a:cs typeface="Arial" panose="020B0604020202020204" pitchFamily="34" charset="0"/>
              </a:rPr>
              <a:t>This can be an effective and attractive way to show multiple distributions of data at once</a:t>
            </a:r>
            <a:endParaRPr lang="en-IN" sz="2877"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8296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9C704E-EB6C-93D0-3126-93AE86C10E10}"/>
              </a:ext>
            </a:extLst>
          </p:cNvPr>
          <p:cNvSpPr>
            <a:spLocks noGrp="1"/>
          </p:cNvSpPr>
          <p:nvPr>
            <p:ph idx="1"/>
          </p:nvPr>
        </p:nvSpPr>
        <p:spPr>
          <a:xfrm>
            <a:off x="413658" y="103"/>
            <a:ext cx="11364684" cy="714878"/>
          </a:xfrm>
        </p:spPr>
        <p:txBody>
          <a:bodyPr/>
          <a:lstStyle/>
          <a:p>
            <a:r>
              <a:rPr lang="en-US" sz="4521" dirty="0">
                <a:solidFill>
                  <a:schemeClr val="bg1"/>
                </a:solidFill>
              </a:rPr>
              <a:t>Violin Plot</a:t>
            </a:r>
            <a:endParaRPr lang="en-IN" sz="4521" dirty="0">
              <a:solidFill>
                <a:schemeClr val="bg1"/>
              </a:solidFill>
            </a:endParaRPr>
          </a:p>
        </p:txBody>
      </p:sp>
      <p:sp>
        <p:nvSpPr>
          <p:cNvPr id="4" name="TextBox 3">
            <a:extLst>
              <a:ext uri="{FF2B5EF4-FFF2-40B4-BE49-F238E27FC236}">
                <a16:creationId xmlns:a16="http://schemas.microsoft.com/office/drawing/2014/main" id="{1C618342-F891-87A5-ECBF-E9133D2C9802}"/>
              </a:ext>
            </a:extLst>
          </p:cNvPr>
          <p:cNvSpPr txBox="1"/>
          <p:nvPr/>
        </p:nvSpPr>
        <p:spPr>
          <a:xfrm>
            <a:off x="225840" y="946363"/>
            <a:ext cx="11508852" cy="1004783"/>
          </a:xfrm>
          <a:prstGeom prst="rect">
            <a:avLst/>
          </a:prstGeom>
          <a:noFill/>
        </p:spPr>
        <p:txBody>
          <a:bodyPr wrap="square">
            <a:spAutoFit/>
          </a:bodyPr>
          <a:lstStyle/>
          <a:p>
            <a:pPr marL="352364" indent="-352364" defTabSz="939637">
              <a:buFont typeface="Arial" panose="020B0604020202020204" pitchFamily="34" charset="0"/>
              <a:buChar char="•"/>
            </a:pPr>
            <a:r>
              <a:rPr lang="en-US" sz="2877" dirty="0">
                <a:solidFill>
                  <a:prstClr val="black"/>
                </a:solidFill>
                <a:latin typeface="Arial" panose="020B0604020202020204" pitchFamily="34" charset="0"/>
                <a:cs typeface="Arial" panose="020B0604020202020204" pitchFamily="34" charset="0"/>
              </a:rPr>
              <a:t>Draw a combination of boxplot and kernel density estimate.</a:t>
            </a:r>
          </a:p>
          <a:p>
            <a:pPr marL="352364" indent="-352364" defTabSz="939637">
              <a:buFont typeface="Arial" panose="020B0604020202020204" pitchFamily="34" charset="0"/>
              <a:buChar char="•"/>
            </a:pPr>
            <a:endParaRPr lang="en-US" sz="2877" dirty="0">
              <a:solidFill>
                <a:prstClr val="black"/>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7E6426B-9E98-BEC8-C1D8-300486661FA0}"/>
              </a:ext>
            </a:extLst>
          </p:cNvPr>
          <p:cNvSpPr txBox="1"/>
          <p:nvPr/>
        </p:nvSpPr>
        <p:spPr>
          <a:xfrm>
            <a:off x="1006484" y="5884396"/>
            <a:ext cx="8448857" cy="387418"/>
          </a:xfrm>
          <a:prstGeom prst="rect">
            <a:avLst/>
          </a:prstGeom>
          <a:noFill/>
        </p:spPr>
        <p:txBody>
          <a:bodyPr wrap="square">
            <a:spAutoFit/>
          </a:bodyPr>
          <a:lstStyle/>
          <a:p>
            <a:pPr defTabSz="939637"/>
            <a:r>
              <a:rPr lang="en-IN" sz="1850" dirty="0" err="1">
                <a:solidFill>
                  <a:prstClr val="black"/>
                </a:solidFill>
                <a:latin typeface="Calibri"/>
                <a:hlinkClick r:id="rId2"/>
              </a:rPr>
              <a:t>seaborn.violinplot</a:t>
            </a:r>
            <a:r>
              <a:rPr lang="en-IN" sz="1850" dirty="0">
                <a:solidFill>
                  <a:prstClr val="black"/>
                </a:solidFill>
                <a:latin typeface="Calibri"/>
                <a:hlinkClick r:id="rId2"/>
              </a:rPr>
              <a:t> — seaborn 0.12.2 documentation (pydata.org)</a:t>
            </a:r>
            <a:endParaRPr lang="en-IN" sz="1850" dirty="0">
              <a:solidFill>
                <a:prstClr val="black"/>
              </a:solidFill>
              <a:latin typeface="Calibri"/>
            </a:endParaRPr>
          </a:p>
        </p:txBody>
      </p:sp>
      <p:pic>
        <p:nvPicPr>
          <p:cNvPr id="6" name="Picture 5">
            <a:extLst>
              <a:ext uri="{FF2B5EF4-FFF2-40B4-BE49-F238E27FC236}">
                <a16:creationId xmlns:a16="http://schemas.microsoft.com/office/drawing/2014/main" id="{5235FEA3-20C6-461C-41AD-9EABEA00706C}"/>
              </a:ext>
            </a:extLst>
          </p:cNvPr>
          <p:cNvPicPr>
            <a:picLocks noChangeAspect="1"/>
          </p:cNvPicPr>
          <p:nvPr/>
        </p:nvPicPr>
        <p:blipFill>
          <a:blip r:embed="rId3"/>
          <a:stretch>
            <a:fillRect/>
          </a:stretch>
        </p:blipFill>
        <p:spPr>
          <a:xfrm>
            <a:off x="193066" y="1434488"/>
            <a:ext cx="4053701" cy="3437611"/>
          </a:xfrm>
          <a:prstGeom prst="rect">
            <a:avLst/>
          </a:prstGeom>
        </p:spPr>
      </p:pic>
      <p:pic>
        <p:nvPicPr>
          <p:cNvPr id="3" name="Picture 2">
            <a:extLst>
              <a:ext uri="{FF2B5EF4-FFF2-40B4-BE49-F238E27FC236}">
                <a16:creationId xmlns:a16="http://schemas.microsoft.com/office/drawing/2014/main" id="{37B24F81-ED02-4CC4-72D0-5C0B2C2D9833}"/>
              </a:ext>
            </a:extLst>
          </p:cNvPr>
          <p:cNvPicPr>
            <a:picLocks noChangeAspect="1"/>
          </p:cNvPicPr>
          <p:nvPr/>
        </p:nvPicPr>
        <p:blipFill>
          <a:blip r:embed="rId4"/>
          <a:stretch>
            <a:fillRect/>
          </a:stretch>
        </p:blipFill>
        <p:spPr>
          <a:xfrm>
            <a:off x="4163521" y="1564223"/>
            <a:ext cx="3781716" cy="3625998"/>
          </a:xfrm>
          <a:prstGeom prst="rect">
            <a:avLst/>
          </a:prstGeom>
        </p:spPr>
      </p:pic>
      <p:pic>
        <p:nvPicPr>
          <p:cNvPr id="7" name="Picture 6">
            <a:extLst>
              <a:ext uri="{FF2B5EF4-FFF2-40B4-BE49-F238E27FC236}">
                <a16:creationId xmlns:a16="http://schemas.microsoft.com/office/drawing/2014/main" id="{A80461E7-2E7F-7704-C277-1F18141466B0}"/>
              </a:ext>
            </a:extLst>
          </p:cNvPr>
          <p:cNvPicPr>
            <a:picLocks noChangeAspect="1"/>
          </p:cNvPicPr>
          <p:nvPr/>
        </p:nvPicPr>
        <p:blipFill>
          <a:blip r:embed="rId5"/>
          <a:stretch>
            <a:fillRect/>
          </a:stretch>
        </p:blipFill>
        <p:spPr>
          <a:xfrm>
            <a:off x="8286287" y="1523835"/>
            <a:ext cx="3492055" cy="3348264"/>
          </a:xfrm>
          <a:prstGeom prst="rect">
            <a:avLst/>
          </a:prstGeom>
        </p:spPr>
      </p:pic>
    </p:spTree>
    <p:extLst>
      <p:ext uri="{BB962C8B-B14F-4D97-AF65-F5344CB8AC3E}">
        <p14:creationId xmlns:p14="http://schemas.microsoft.com/office/powerpoint/2010/main" val="1536786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E49EFA-943B-76A6-36D6-A0D0E6C03644}"/>
              </a:ext>
            </a:extLst>
          </p:cNvPr>
          <p:cNvSpPr>
            <a:spLocks noGrp="1"/>
          </p:cNvSpPr>
          <p:nvPr>
            <p:ph idx="1"/>
          </p:nvPr>
        </p:nvSpPr>
        <p:spPr>
          <a:xfrm>
            <a:off x="496389" y="1018902"/>
            <a:ext cx="11364684" cy="346249"/>
          </a:xfrm>
        </p:spPr>
        <p:txBody>
          <a:bodyPr/>
          <a:lstStyle/>
          <a:p>
            <a:endParaRPr lang="en-IN"/>
          </a:p>
        </p:txBody>
      </p:sp>
      <p:pic>
        <p:nvPicPr>
          <p:cNvPr id="3" name="Picture 2">
            <a:extLst>
              <a:ext uri="{FF2B5EF4-FFF2-40B4-BE49-F238E27FC236}">
                <a16:creationId xmlns:a16="http://schemas.microsoft.com/office/drawing/2014/main" id="{DD699431-0D5D-E213-2A67-57CA12BDA9A0}"/>
              </a:ext>
            </a:extLst>
          </p:cNvPr>
          <p:cNvPicPr>
            <a:picLocks noChangeAspect="1"/>
          </p:cNvPicPr>
          <p:nvPr/>
        </p:nvPicPr>
        <p:blipFill>
          <a:blip r:embed="rId2"/>
          <a:stretch>
            <a:fillRect/>
          </a:stretch>
        </p:blipFill>
        <p:spPr>
          <a:xfrm>
            <a:off x="6096001" y="889848"/>
            <a:ext cx="4237325" cy="5889424"/>
          </a:xfrm>
          <a:prstGeom prst="rect">
            <a:avLst/>
          </a:prstGeom>
        </p:spPr>
      </p:pic>
      <p:sp>
        <p:nvSpPr>
          <p:cNvPr id="4" name="Content Placeholder 1">
            <a:extLst>
              <a:ext uri="{FF2B5EF4-FFF2-40B4-BE49-F238E27FC236}">
                <a16:creationId xmlns:a16="http://schemas.microsoft.com/office/drawing/2014/main" id="{F6724BEE-0D77-83D5-0993-7DF3B01B932B}"/>
              </a:ext>
            </a:extLst>
          </p:cNvPr>
          <p:cNvSpPr txBox="1">
            <a:spLocks/>
          </p:cNvSpPr>
          <p:nvPr/>
        </p:nvSpPr>
        <p:spPr>
          <a:xfrm>
            <a:off x="413658" y="103"/>
            <a:ext cx="11364684" cy="714878"/>
          </a:xfrm>
          <a:prstGeom prst="rect">
            <a:avLst/>
          </a:prstGeom>
        </p:spPr>
        <p:txBody>
          <a:bodyPr wrap="square" lIns="0" tIns="0" rIns="0" bIns="0">
            <a:spAutoFit/>
          </a:bodyPr>
          <a:lstStyle>
            <a:lvl1pPr marL="0">
              <a:defRPr sz="2250" b="0" i="0">
                <a:solidFill>
                  <a:schemeClr val="folHlink"/>
                </a:solidFill>
                <a:latin typeface="Arial" panose="020B0604020202020204" pitchFamily="34" charset="0"/>
                <a:ea typeface="+mn-ea"/>
                <a:cs typeface="Arial" panose="020B0604020202020204" pitchFamily="34" charset="0"/>
              </a:defRPr>
            </a:lvl1pPr>
            <a:lvl2pPr marL="457200">
              <a:defRPr>
                <a:latin typeface="Arial" panose="020B0604020202020204" pitchFamily="34" charset="0"/>
                <a:ea typeface="+mn-ea"/>
                <a:cs typeface="Arial" panose="020B0604020202020204" pitchFamily="34" charset="0"/>
              </a:defRPr>
            </a:lvl2pPr>
            <a:lvl3pPr marL="914400">
              <a:defRPr>
                <a:latin typeface="Arial" panose="020B0604020202020204" pitchFamily="34" charset="0"/>
                <a:ea typeface="+mn-ea"/>
                <a:cs typeface="Arial" panose="020B0604020202020204" pitchFamily="34" charset="0"/>
              </a:defRPr>
            </a:lvl3pPr>
            <a:lvl4pPr marL="1371600">
              <a:defRPr>
                <a:latin typeface="Arial" panose="020B0604020202020204" pitchFamily="34" charset="0"/>
                <a:ea typeface="+mn-ea"/>
                <a:cs typeface="Arial" panose="020B0604020202020204" pitchFamily="34" charset="0"/>
              </a:defRPr>
            </a:lvl4pPr>
            <a:lvl5pPr marL="1828800">
              <a:defRPr>
                <a:latin typeface="Arial" panose="020B0604020202020204" pitchFamily="34" charset="0"/>
                <a:ea typeface="+mn-ea"/>
                <a:cs typeface="Arial" panose="020B0604020202020204" pitchFamily="34" charset="0"/>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39637"/>
            <a:r>
              <a:rPr lang="en-US" sz="4521" kern="0" dirty="0">
                <a:solidFill>
                  <a:prstClr val="white"/>
                </a:solidFill>
              </a:rPr>
              <a:t>Box plot and Violin Plot</a:t>
            </a:r>
            <a:endParaRPr lang="en-IN" sz="4521" kern="0" dirty="0">
              <a:solidFill>
                <a:prstClr val="white"/>
              </a:solidFill>
            </a:endParaRPr>
          </a:p>
        </p:txBody>
      </p:sp>
      <p:pic>
        <p:nvPicPr>
          <p:cNvPr id="6" name="Picture 5">
            <a:extLst>
              <a:ext uri="{FF2B5EF4-FFF2-40B4-BE49-F238E27FC236}">
                <a16:creationId xmlns:a16="http://schemas.microsoft.com/office/drawing/2014/main" id="{EB67D18F-FDE1-2947-4B36-5A6D4020B33B}"/>
              </a:ext>
            </a:extLst>
          </p:cNvPr>
          <p:cNvPicPr>
            <a:picLocks noChangeAspect="1"/>
          </p:cNvPicPr>
          <p:nvPr/>
        </p:nvPicPr>
        <p:blipFill>
          <a:blip r:embed="rId3"/>
          <a:stretch>
            <a:fillRect/>
          </a:stretch>
        </p:blipFill>
        <p:spPr>
          <a:xfrm>
            <a:off x="534797" y="889849"/>
            <a:ext cx="4668869" cy="5078303"/>
          </a:xfrm>
          <a:prstGeom prst="rect">
            <a:avLst/>
          </a:prstGeom>
        </p:spPr>
      </p:pic>
    </p:spTree>
    <p:extLst>
      <p:ext uri="{BB962C8B-B14F-4D97-AF65-F5344CB8AC3E}">
        <p14:creationId xmlns:p14="http://schemas.microsoft.com/office/powerpoint/2010/main" val="81980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E84C40-1B71-B09B-8554-C42BA8AB2D49}"/>
              </a:ext>
            </a:extLst>
          </p:cNvPr>
          <p:cNvSpPr>
            <a:spLocks noGrp="1"/>
          </p:cNvSpPr>
          <p:nvPr>
            <p:ph idx="1"/>
          </p:nvPr>
        </p:nvSpPr>
        <p:spPr/>
        <p:txBody>
          <a:bodyPr/>
          <a:lstStyle/>
          <a:p>
            <a:r>
              <a:rPr lang="en-US" dirty="0"/>
              <a:t>Machine learning (ML) is a field of inquiry devoted to understanding and building methods that "learn" – that is, mathematical methods that leverage data to improve performance on some set of tasks. It is seen as a part of artificial intelligence.</a:t>
            </a:r>
          </a:p>
          <a:p>
            <a:endParaRPr lang="en-US" dirty="0"/>
          </a:p>
          <a:p>
            <a:r>
              <a:rPr lang="en-US" dirty="0"/>
              <a:t>"A computer program is said to learn from experience E with respect to some class of tasks T and performance measure P if its performance at tasks in T, as measured by P, improves with experience E.“- Tom Mitchel</a:t>
            </a:r>
            <a:endParaRPr lang="en-IN" dirty="0"/>
          </a:p>
        </p:txBody>
      </p:sp>
      <p:sp>
        <p:nvSpPr>
          <p:cNvPr id="3" name="TextBox 2">
            <a:extLst>
              <a:ext uri="{FF2B5EF4-FFF2-40B4-BE49-F238E27FC236}">
                <a16:creationId xmlns:a16="http://schemas.microsoft.com/office/drawing/2014/main" id="{3F3FC48F-D0D0-2DB3-A830-589F24308F72}"/>
              </a:ext>
            </a:extLst>
          </p:cNvPr>
          <p:cNvSpPr txBox="1"/>
          <p:nvPr/>
        </p:nvSpPr>
        <p:spPr>
          <a:xfrm>
            <a:off x="0" y="-106517"/>
            <a:ext cx="1285701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5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Machine Learning</a:t>
            </a:r>
          </a:p>
        </p:txBody>
      </p:sp>
    </p:spTree>
    <p:extLst>
      <p:ext uri="{BB962C8B-B14F-4D97-AF65-F5344CB8AC3E}">
        <p14:creationId xmlns:p14="http://schemas.microsoft.com/office/powerpoint/2010/main" val="295221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E84C40-1B71-B09B-8554-C42BA8AB2D49}"/>
              </a:ext>
            </a:extLst>
          </p:cNvPr>
          <p:cNvSpPr>
            <a:spLocks noGrp="1"/>
          </p:cNvSpPr>
          <p:nvPr>
            <p:ph idx="1"/>
          </p:nvPr>
        </p:nvSpPr>
        <p:spPr/>
        <p:txBody>
          <a:bodyPr/>
          <a:lstStyle/>
          <a:p>
            <a:endParaRPr lang="en-IN" dirty="0"/>
          </a:p>
        </p:txBody>
      </p:sp>
      <p:sp>
        <p:nvSpPr>
          <p:cNvPr id="3" name="TextBox 2">
            <a:extLst>
              <a:ext uri="{FF2B5EF4-FFF2-40B4-BE49-F238E27FC236}">
                <a16:creationId xmlns:a16="http://schemas.microsoft.com/office/drawing/2014/main" id="{3F3FC48F-D0D0-2DB3-A830-589F24308F72}"/>
              </a:ext>
            </a:extLst>
          </p:cNvPr>
          <p:cNvSpPr txBox="1"/>
          <p:nvPr/>
        </p:nvSpPr>
        <p:spPr>
          <a:xfrm>
            <a:off x="0" y="-106517"/>
            <a:ext cx="1285701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5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Unit 5: Machine Learning</a:t>
            </a:r>
          </a:p>
        </p:txBody>
      </p:sp>
      <p:pic>
        <p:nvPicPr>
          <p:cNvPr id="1026" name="Picture 2" descr="undefined">
            <a:extLst>
              <a:ext uri="{FF2B5EF4-FFF2-40B4-BE49-F238E27FC236}">
                <a16:creationId xmlns:a16="http://schemas.microsoft.com/office/drawing/2014/main" id="{400F18F2-D94F-175F-682C-2AF1CD06F6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114" y="1018903"/>
            <a:ext cx="3254829" cy="32548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4AA4AECC-9D37-19CB-0E35-04CD70564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2343" y="952864"/>
            <a:ext cx="5018088" cy="2959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775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A49ACB-5206-CBA9-D116-C2A806357E8B}"/>
              </a:ext>
            </a:extLst>
          </p:cNvPr>
          <p:cNvSpPr>
            <a:spLocks noGrp="1"/>
          </p:cNvSpPr>
          <p:nvPr>
            <p:ph idx="1"/>
          </p:nvPr>
        </p:nvSpPr>
        <p:spPr>
          <a:xfrm>
            <a:off x="457200" y="1018903"/>
            <a:ext cx="11403873" cy="5409606"/>
          </a:xfrm>
        </p:spPr>
        <p:txBody>
          <a:bodyPr>
            <a:normAutofit/>
          </a:bodyPr>
          <a:lstStyle/>
          <a:p>
            <a:r>
              <a:rPr lang="en-US" dirty="0"/>
              <a:t>Machine learning approaches are traditionally divided into three broad categories, which correspond to learning paradigms, depending on the nature of the "signal" or "feedback" available to the learning system:</a:t>
            </a:r>
          </a:p>
          <a:p>
            <a:endParaRPr lang="en-US" dirty="0"/>
          </a:p>
          <a:p>
            <a:r>
              <a:rPr lang="en-US" b="1" dirty="0">
                <a:solidFill>
                  <a:srgbClr val="FF0000"/>
                </a:solidFill>
                <a:highlight>
                  <a:srgbClr val="FFFF00"/>
                </a:highlight>
              </a:rPr>
              <a:t>Supervised learning</a:t>
            </a:r>
            <a:r>
              <a:rPr lang="en-US" dirty="0">
                <a:solidFill>
                  <a:srgbClr val="FF0000"/>
                </a:solidFill>
              </a:rPr>
              <a:t>: The computer is presented with example inputs and their desired outputs, given by a "teacher", and the goal is to learn a general rule that maps inputs to outputs.</a:t>
            </a:r>
          </a:p>
        </p:txBody>
      </p:sp>
    </p:spTree>
    <p:extLst>
      <p:ext uri="{BB962C8B-B14F-4D97-AF65-F5344CB8AC3E}">
        <p14:creationId xmlns:p14="http://schemas.microsoft.com/office/powerpoint/2010/main" val="2975108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A49ACB-5206-CBA9-D116-C2A806357E8B}"/>
              </a:ext>
            </a:extLst>
          </p:cNvPr>
          <p:cNvSpPr>
            <a:spLocks noGrp="1"/>
          </p:cNvSpPr>
          <p:nvPr>
            <p:ph idx="1"/>
          </p:nvPr>
        </p:nvSpPr>
        <p:spPr>
          <a:xfrm>
            <a:off x="457200" y="1018903"/>
            <a:ext cx="11403873" cy="5409606"/>
          </a:xfrm>
        </p:spPr>
        <p:txBody>
          <a:bodyPr>
            <a:normAutofit/>
          </a:bodyPr>
          <a:lstStyle/>
          <a:p>
            <a:r>
              <a:rPr lang="en-US" dirty="0"/>
              <a:t>Machine learning approaches are traditionally divided into three broad categories, which correspond to learning paradigms, depending on the nature of the "signal" or "feedback" available to the learning system:</a:t>
            </a:r>
          </a:p>
          <a:p>
            <a:endParaRPr lang="en-US" dirty="0"/>
          </a:p>
          <a:p>
            <a:r>
              <a:rPr lang="en-US" b="1" dirty="0">
                <a:solidFill>
                  <a:srgbClr val="FF0000"/>
                </a:solidFill>
                <a:highlight>
                  <a:srgbClr val="FFFF00"/>
                </a:highlight>
              </a:rPr>
              <a:t>Supervised learning</a:t>
            </a:r>
            <a:r>
              <a:rPr lang="en-US" dirty="0">
                <a:solidFill>
                  <a:srgbClr val="FF0000"/>
                </a:solidFill>
              </a:rPr>
              <a:t>: The computer is presented with example inputs and their desired outputs, given by a "teacher", and the goal is to learn a general rule that maps inputs to outputs.</a:t>
            </a:r>
          </a:p>
          <a:p>
            <a:r>
              <a:rPr lang="en-US" b="1" dirty="0">
                <a:solidFill>
                  <a:srgbClr val="7030A0"/>
                </a:solidFill>
                <a:highlight>
                  <a:srgbClr val="FFFF00"/>
                </a:highlight>
              </a:rPr>
              <a:t>Unsupervised learning</a:t>
            </a:r>
            <a:r>
              <a:rPr lang="en-US" dirty="0">
                <a:solidFill>
                  <a:srgbClr val="7030A0"/>
                </a:solidFill>
              </a:rPr>
              <a:t>: No labels are given to the learning algorithm, leaving it on its own to find structure in its input. Unsupervised learning can be a goal in itself (discovering hidden patterns in data) or a means towards an end (feature learning).</a:t>
            </a:r>
          </a:p>
        </p:txBody>
      </p:sp>
    </p:spTree>
    <p:extLst>
      <p:ext uri="{BB962C8B-B14F-4D97-AF65-F5344CB8AC3E}">
        <p14:creationId xmlns:p14="http://schemas.microsoft.com/office/powerpoint/2010/main" val="3161311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A49ACB-5206-CBA9-D116-C2A806357E8B}"/>
              </a:ext>
            </a:extLst>
          </p:cNvPr>
          <p:cNvSpPr>
            <a:spLocks noGrp="1"/>
          </p:cNvSpPr>
          <p:nvPr>
            <p:ph idx="1"/>
          </p:nvPr>
        </p:nvSpPr>
        <p:spPr>
          <a:xfrm>
            <a:off x="457200" y="1018903"/>
            <a:ext cx="11403873" cy="5409606"/>
          </a:xfrm>
        </p:spPr>
        <p:txBody>
          <a:bodyPr>
            <a:normAutofit fontScale="92500" lnSpcReduction="20000"/>
          </a:bodyPr>
          <a:lstStyle/>
          <a:p>
            <a:r>
              <a:rPr lang="en-US" dirty="0"/>
              <a:t>Machine learning approaches are traditionally divided into three broad categories, which correspond to learning paradigms, depending on the nature of the "signal" or "feedback" available to the learning system:</a:t>
            </a:r>
          </a:p>
          <a:p>
            <a:endParaRPr lang="en-US" dirty="0"/>
          </a:p>
          <a:p>
            <a:r>
              <a:rPr lang="en-US" b="1" dirty="0">
                <a:solidFill>
                  <a:srgbClr val="FF0000"/>
                </a:solidFill>
                <a:highlight>
                  <a:srgbClr val="FFFF00"/>
                </a:highlight>
              </a:rPr>
              <a:t>Supervised learning</a:t>
            </a:r>
            <a:r>
              <a:rPr lang="en-US" dirty="0">
                <a:solidFill>
                  <a:srgbClr val="FF0000"/>
                </a:solidFill>
              </a:rPr>
              <a:t>: The computer is presented with example inputs and their desired outputs, given by a "teacher", and the goal is to learn a general rule that maps inputs to outputs.</a:t>
            </a:r>
          </a:p>
          <a:p>
            <a:r>
              <a:rPr lang="en-US" b="1" dirty="0">
                <a:solidFill>
                  <a:srgbClr val="7030A0"/>
                </a:solidFill>
                <a:highlight>
                  <a:srgbClr val="FFFF00"/>
                </a:highlight>
              </a:rPr>
              <a:t>Unsupervised learning</a:t>
            </a:r>
            <a:r>
              <a:rPr lang="en-US" dirty="0">
                <a:solidFill>
                  <a:srgbClr val="7030A0"/>
                </a:solidFill>
              </a:rPr>
              <a:t>: No labels are given to the learning algorithm, leaving it on its own to find structure in its input. Unsupervised learning can be a goal in itself (discovering hidden patterns in data) or a means towards an end (feature learning).</a:t>
            </a:r>
          </a:p>
          <a:p>
            <a:r>
              <a:rPr lang="en-US" b="1" dirty="0">
                <a:solidFill>
                  <a:schemeClr val="accent5">
                    <a:lumMod val="75000"/>
                  </a:schemeClr>
                </a:solidFill>
                <a:highlight>
                  <a:srgbClr val="FFFF00"/>
                </a:highlight>
              </a:rPr>
              <a:t>Reinforcement learning</a:t>
            </a:r>
            <a:r>
              <a:rPr lang="en-US" dirty="0">
                <a:solidFill>
                  <a:schemeClr val="accent5">
                    <a:lumMod val="75000"/>
                  </a:schemeClr>
                </a:solidFill>
              </a:rPr>
              <a:t>: A computer program interacts with a dynamic environment in which it must perform a certain goal (such as driving a vehicle or playing a game against an opponent). As it navigates its problem space, the program is provided feedback that's analogous to rewards, which it tries to maximize.</a:t>
            </a:r>
            <a:endParaRPr lang="en-IN" dirty="0">
              <a:solidFill>
                <a:schemeClr val="accent5">
                  <a:lumMod val="75000"/>
                </a:schemeClr>
              </a:solidFill>
            </a:endParaRPr>
          </a:p>
        </p:txBody>
      </p:sp>
    </p:spTree>
    <p:extLst>
      <p:ext uri="{BB962C8B-B14F-4D97-AF65-F5344CB8AC3E}">
        <p14:creationId xmlns:p14="http://schemas.microsoft.com/office/powerpoint/2010/main" val="599744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23057C-D4BB-58EF-43F5-A85B5DD2B7DC}"/>
              </a:ext>
            </a:extLst>
          </p:cNvPr>
          <p:cNvSpPr>
            <a:spLocks noGrp="1"/>
          </p:cNvSpPr>
          <p:nvPr>
            <p:ph idx="1"/>
          </p:nvPr>
        </p:nvSpPr>
        <p:spPr/>
        <p:txBody>
          <a:bodyPr/>
          <a:lstStyle/>
          <a:p>
            <a:r>
              <a:rPr lang="en-IN" dirty="0"/>
              <a:t>Examples of Supervised Learning algorithms : </a:t>
            </a:r>
          </a:p>
          <a:p>
            <a:pPr>
              <a:buFont typeface="Wingdings" panose="05000000000000000000" pitchFamily="2" charset="2"/>
              <a:buChar char="ü"/>
            </a:pPr>
            <a:r>
              <a:rPr lang="en-IN" dirty="0"/>
              <a:t>Support-vector machines</a:t>
            </a:r>
          </a:p>
          <a:p>
            <a:pPr>
              <a:buFont typeface="Wingdings" panose="05000000000000000000" pitchFamily="2" charset="2"/>
              <a:buChar char="ü"/>
            </a:pPr>
            <a:r>
              <a:rPr lang="en-IN" dirty="0"/>
              <a:t>Linear regression</a:t>
            </a:r>
          </a:p>
          <a:p>
            <a:pPr>
              <a:buFont typeface="Wingdings" panose="05000000000000000000" pitchFamily="2" charset="2"/>
              <a:buChar char="ü"/>
            </a:pPr>
            <a:r>
              <a:rPr lang="en-IN" dirty="0"/>
              <a:t>Logistic regression</a:t>
            </a:r>
          </a:p>
          <a:p>
            <a:pPr>
              <a:buFont typeface="Wingdings" panose="05000000000000000000" pitchFamily="2" charset="2"/>
              <a:buChar char="ü"/>
            </a:pPr>
            <a:r>
              <a:rPr lang="en-IN" dirty="0"/>
              <a:t>Naive Bayes</a:t>
            </a:r>
          </a:p>
          <a:p>
            <a:pPr>
              <a:buFont typeface="Wingdings" panose="05000000000000000000" pitchFamily="2" charset="2"/>
              <a:buChar char="ü"/>
            </a:pPr>
            <a:r>
              <a:rPr lang="en-IN" dirty="0"/>
              <a:t>Linear discriminant analysis</a:t>
            </a:r>
          </a:p>
          <a:p>
            <a:pPr>
              <a:buFont typeface="Wingdings" panose="05000000000000000000" pitchFamily="2" charset="2"/>
              <a:buChar char="ü"/>
            </a:pPr>
            <a:r>
              <a:rPr lang="en-IN" dirty="0"/>
              <a:t>Decision trees</a:t>
            </a:r>
          </a:p>
          <a:p>
            <a:pPr>
              <a:buFont typeface="Wingdings" panose="05000000000000000000" pitchFamily="2" charset="2"/>
              <a:buChar char="ü"/>
            </a:pPr>
            <a:r>
              <a:rPr lang="en-IN" dirty="0"/>
              <a:t>K-nearest </a:t>
            </a:r>
            <a:r>
              <a:rPr lang="en-IN" dirty="0" err="1"/>
              <a:t>neighbor</a:t>
            </a:r>
            <a:r>
              <a:rPr lang="en-IN" dirty="0"/>
              <a:t> algorithm</a:t>
            </a:r>
          </a:p>
          <a:p>
            <a:pPr>
              <a:buFont typeface="Wingdings" panose="05000000000000000000" pitchFamily="2" charset="2"/>
              <a:buChar char="ü"/>
            </a:pPr>
            <a:r>
              <a:rPr lang="en-IN" dirty="0"/>
              <a:t>Neural networks (Multilayer perceptron)</a:t>
            </a:r>
          </a:p>
        </p:txBody>
      </p:sp>
    </p:spTree>
    <p:extLst>
      <p:ext uri="{BB962C8B-B14F-4D97-AF65-F5344CB8AC3E}">
        <p14:creationId xmlns:p14="http://schemas.microsoft.com/office/powerpoint/2010/main" val="3902907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23057C-D4BB-58EF-43F5-A85B5DD2B7DC}"/>
              </a:ext>
            </a:extLst>
          </p:cNvPr>
          <p:cNvSpPr>
            <a:spLocks noGrp="1"/>
          </p:cNvSpPr>
          <p:nvPr>
            <p:ph idx="1"/>
          </p:nvPr>
        </p:nvSpPr>
        <p:spPr/>
        <p:txBody>
          <a:bodyPr/>
          <a:lstStyle/>
          <a:p>
            <a:r>
              <a:rPr lang="en-IN" dirty="0"/>
              <a:t>Examples of Supervised Learning algorithms : </a:t>
            </a:r>
          </a:p>
          <a:p>
            <a:pPr>
              <a:buFont typeface="Wingdings" panose="05000000000000000000" pitchFamily="2" charset="2"/>
              <a:buChar char="ü"/>
            </a:pPr>
            <a:r>
              <a:rPr lang="en-IN" dirty="0"/>
              <a:t>Support-vector machines</a:t>
            </a:r>
          </a:p>
          <a:p>
            <a:pPr>
              <a:buFont typeface="Wingdings" panose="05000000000000000000" pitchFamily="2" charset="2"/>
              <a:buChar char="ü"/>
            </a:pPr>
            <a:r>
              <a:rPr lang="en-IN" dirty="0"/>
              <a:t>Linear regression</a:t>
            </a:r>
          </a:p>
          <a:p>
            <a:pPr>
              <a:buFont typeface="Wingdings" panose="05000000000000000000" pitchFamily="2" charset="2"/>
              <a:buChar char="ü"/>
            </a:pPr>
            <a:r>
              <a:rPr lang="en-IN" dirty="0"/>
              <a:t>Logistic regression</a:t>
            </a:r>
          </a:p>
          <a:p>
            <a:pPr>
              <a:buFont typeface="Wingdings" panose="05000000000000000000" pitchFamily="2" charset="2"/>
              <a:buChar char="ü"/>
            </a:pPr>
            <a:r>
              <a:rPr lang="en-IN" dirty="0"/>
              <a:t>Naive Bayes</a:t>
            </a:r>
          </a:p>
          <a:p>
            <a:pPr>
              <a:buFont typeface="Wingdings" panose="05000000000000000000" pitchFamily="2" charset="2"/>
              <a:buChar char="ü"/>
            </a:pPr>
            <a:r>
              <a:rPr lang="en-IN" dirty="0"/>
              <a:t>Linear discriminant analysis</a:t>
            </a:r>
          </a:p>
          <a:p>
            <a:pPr>
              <a:buFont typeface="Wingdings" panose="05000000000000000000" pitchFamily="2" charset="2"/>
              <a:buChar char="ü"/>
            </a:pPr>
            <a:r>
              <a:rPr lang="en-IN" dirty="0"/>
              <a:t>Decision trees</a:t>
            </a:r>
          </a:p>
          <a:p>
            <a:pPr>
              <a:buFont typeface="Wingdings" panose="05000000000000000000" pitchFamily="2" charset="2"/>
              <a:buChar char="ü"/>
            </a:pPr>
            <a:r>
              <a:rPr lang="en-IN" dirty="0"/>
              <a:t>K-nearest </a:t>
            </a:r>
            <a:r>
              <a:rPr lang="en-IN" dirty="0" err="1"/>
              <a:t>neighbor</a:t>
            </a:r>
            <a:r>
              <a:rPr lang="en-IN" dirty="0"/>
              <a:t> algorithm</a:t>
            </a:r>
          </a:p>
          <a:p>
            <a:pPr>
              <a:buFont typeface="Wingdings" panose="05000000000000000000" pitchFamily="2" charset="2"/>
              <a:buChar char="ü"/>
            </a:pPr>
            <a:r>
              <a:rPr lang="en-IN" dirty="0"/>
              <a:t>Neural networks (Multilayer perceptron)</a:t>
            </a:r>
          </a:p>
        </p:txBody>
      </p:sp>
    </p:spTree>
    <p:extLst>
      <p:ext uri="{BB962C8B-B14F-4D97-AF65-F5344CB8AC3E}">
        <p14:creationId xmlns:p14="http://schemas.microsoft.com/office/powerpoint/2010/main" val="2035531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C79CF7-E9E5-9E73-7249-43029F0D7F7D}"/>
              </a:ext>
            </a:extLst>
          </p:cNvPr>
          <p:cNvSpPr>
            <a:spLocks noGrp="1"/>
          </p:cNvSpPr>
          <p:nvPr>
            <p:ph idx="1"/>
          </p:nvPr>
        </p:nvSpPr>
        <p:spPr/>
        <p:txBody>
          <a:bodyPr/>
          <a:lstStyle/>
          <a:p>
            <a:r>
              <a:rPr lang="en-US" dirty="0"/>
              <a:t>Some of the most common algorithms used in unsupervised learning include: </a:t>
            </a:r>
          </a:p>
          <a:p>
            <a:r>
              <a:rPr lang="en-US" dirty="0"/>
              <a:t>(1) Clustering- hierarchical clustering, k-means clustering</a:t>
            </a:r>
          </a:p>
          <a:p>
            <a:r>
              <a:rPr lang="en-US" dirty="0"/>
              <a:t>(2) Principal component analysis, Singular value decomposition</a:t>
            </a:r>
            <a:endParaRPr lang="en-IN" dirty="0"/>
          </a:p>
        </p:txBody>
      </p:sp>
    </p:spTree>
    <p:extLst>
      <p:ext uri="{BB962C8B-B14F-4D97-AF65-F5344CB8AC3E}">
        <p14:creationId xmlns:p14="http://schemas.microsoft.com/office/powerpoint/2010/main" val="2060634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CF64D8-AC0E-B7DF-468F-5DBA41059CB6}"/>
              </a:ext>
            </a:extLst>
          </p:cNvPr>
          <p:cNvSpPr>
            <a:spLocks noGrp="1"/>
          </p:cNvSpPr>
          <p:nvPr>
            <p:ph idx="1"/>
          </p:nvPr>
        </p:nvSpPr>
        <p:spPr/>
        <p:txBody>
          <a:bodyPr/>
          <a:lstStyle/>
          <a:p>
            <a:r>
              <a:rPr lang="en-IN" dirty="0">
                <a:hlinkClick r:id="rId2"/>
              </a:rPr>
              <a:t>NPTEL-Intro-to-ML/2a-linear-regression-18May.pptx at master · </a:t>
            </a:r>
            <a:r>
              <a:rPr lang="en-IN" dirty="0" err="1">
                <a:hlinkClick r:id="rId2"/>
              </a:rPr>
              <a:t>raviudal</a:t>
            </a:r>
            <a:r>
              <a:rPr lang="en-IN" dirty="0">
                <a:hlinkClick r:id="rId2"/>
              </a:rPr>
              <a:t>/NPTEL-Intro-to-ML (github.com)</a:t>
            </a:r>
            <a:endParaRPr lang="en-IN" dirty="0"/>
          </a:p>
          <a:p>
            <a:r>
              <a:rPr lang="en-IN" dirty="0"/>
              <a:t>Andrew Ng in Coursera- software: MATLAB</a:t>
            </a:r>
          </a:p>
          <a:p>
            <a:r>
              <a:rPr lang="en-IN" dirty="0"/>
              <a:t>Prof </a:t>
            </a:r>
            <a:r>
              <a:rPr lang="en-IN" dirty="0" err="1"/>
              <a:t>Sudeshna</a:t>
            </a:r>
            <a:r>
              <a:rPr lang="en-IN" dirty="0"/>
              <a:t> Sarkar from IIT </a:t>
            </a:r>
            <a:r>
              <a:rPr lang="en-IN" dirty="0" err="1"/>
              <a:t>Kgp</a:t>
            </a:r>
            <a:r>
              <a:rPr lang="en-IN" dirty="0"/>
              <a:t>- NPTEL Intro to ML (uses Python)- if you do not like heavy mathematics</a:t>
            </a:r>
          </a:p>
          <a:p>
            <a:r>
              <a:rPr lang="en-IN" dirty="0"/>
              <a:t>If you like mathematics Prof </a:t>
            </a:r>
            <a:r>
              <a:rPr lang="en-IN" dirty="0" err="1"/>
              <a:t>Balaraman</a:t>
            </a:r>
            <a:r>
              <a:rPr lang="en-IN" dirty="0"/>
              <a:t> Ravindran from IIT M NPTEL course</a:t>
            </a:r>
          </a:p>
        </p:txBody>
      </p:sp>
    </p:spTree>
    <p:extLst>
      <p:ext uri="{BB962C8B-B14F-4D97-AF65-F5344CB8AC3E}">
        <p14:creationId xmlns:p14="http://schemas.microsoft.com/office/powerpoint/2010/main" val="533848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86C401-A725-439A-379A-D76234AB808A}"/>
              </a:ext>
            </a:extLst>
          </p:cNvPr>
          <p:cNvSpPr>
            <a:spLocks noGrp="1"/>
          </p:cNvSpPr>
          <p:nvPr>
            <p:ph idx="1"/>
          </p:nvPr>
        </p:nvSpPr>
        <p:spPr/>
        <p:txBody>
          <a:bodyPr/>
          <a:lstStyle/>
          <a:p>
            <a:pPr marL="0" indent="0">
              <a:buNone/>
            </a:pPr>
            <a:r>
              <a:rPr lang="en-US" dirty="0"/>
              <a:t>Supervised learning (SL) is </a:t>
            </a:r>
          </a:p>
          <a:p>
            <a:r>
              <a:rPr lang="en-US" dirty="0">
                <a:highlight>
                  <a:srgbClr val="FFFF00"/>
                </a:highlight>
              </a:rPr>
              <a:t>A machine learning paradigm for problems where the available data consists of labeled example</a:t>
            </a:r>
            <a:r>
              <a:rPr lang="en-US" dirty="0"/>
              <a:t>s</a:t>
            </a:r>
          </a:p>
          <a:p>
            <a:r>
              <a:rPr lang="en-US" dirty="0"/>
              <a:t>Each data point contains features (covariates) and an associated label. </a:t>
            </a:r>
          </a:p>
          <a:p>
            <a:r>
              <a:rPr lang="en-US" dirty="0"/>
              <a:t>The goal of supervised learning algorithms is learning a function that maps feature vectors (inputs) to labels (output), based on example input-output pairs.</a:t>
            </a:r>
          </a:p>
          <a:p>
            <a:r>
              <a:rPr lang="en-US" dirty="0">
                <a:solidFill>
                  <a:srgbClr val="FF0000"/>
                </a:solidFill>
              </a:rPr>
              <a:t>A supervised learning algorithm analyzes the training data and produces an inferred function, which can be used for mapping new examples. </a:t>
            </a:r>
            <a:endParaRPr lang="en-IN" dirty="0">
              <a:solidFill>
                <a:srgbClr val="FF0000"/>
              </a:solidFill>
            </a:endParaRPr>
          </a:p>
        </p:txBody>
      </p:sp>
      <p:sp>
        <p:nvSpPr>
          <p:cNvPr id="3" name="TextBox 2">
            <a:extLst>
              <a:ext uri="{FF2B5EF4-FFF2-40B4-BE49-F238E27FC236}">
                <a16:creationId xmlns:a16="http://schemas.microsoft.com/office/drawing/2014/main" id="{0B43051A-3229-99C1-CABB-CB2239044224}"/>
              </a:ext>
            </a:extLst>
          </p:cNvPr>
          <p:cNvSpPr txBox="1"/>
          <p:nvPr/>
        </p:nvSpPr>
        <p:spPr>
          <a:xfrm>
            <a:off x="1277816" y="0"/>
            <a:ext cx="5922498"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1764187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A8B45-10A2-D276-44EE-E511A757817E}"/>
              </a:ext>
            </a:extLst>
          </p:cNvPr>
          <p:cNvSpPr>
            <a:spLocks noGrp="1"/>
          </p:cNvSpPr>
          <p:nvPr>
            <p:ph idx="1"/>
          </p:nvPr>
        </p:nvSpPr>
        <p:spPr>
          <a:xfrm>
            <a:off x="398236" y="811085"/>
            <a:ext cx="5225538" cy="4673692"/>
          </a:xfrm>
        </p:spPr>
        <p:txBody>
          <a:bodyPr/>
          <a:lstStyle/>
          <a:p>
            <a:r>
              <a:rPr lang="en-US" b="1" dirty="0">
                <a:solidFill>
                  <a:srgbClr val="FF0000"/>
                </a:solidFill>
              </a:rPr>
              <a:t>Determine the type of training examples. </a:t>
            </a:r>
          </a:p>
          <a:p>
            <a:pPr marL="0" indent="0">
              <a:buNone/>
            </a:pPr>
            <a:r>
              <a:rPr lang="en-US" dirty="0">
                <a:solidFill>
                  <a:srgbClr val="00B050"/>
                </a:solidFill>
              </a:rPr>
              <a:t>Before doing anything else, the user should decide what kind of data is to be used as a training set. </a:t>
            </a:r>
          </a:p>
          <a:p>
            <a:pPr marL="0" indent="0">
              <a:buNone/>
            </a:pPr>
            <a:r>
              <a:rPr lang="en-US" dirty="0"/>
              <a:t>In the case of handwriting analysis, for example, this might be a single handwritten character, an entire handwritten word, an entire sentence of handwriting or perhaps a full paragraph of handwriting.</a:t>
            </a:r>
            <a:endParaRPr lang="en-IN" dirty="0"/>
          </a:p>
        </p:txBody>
      </p:sp>
      <p:sp>
        <p:nvSpPr>
          <p:cNvPr id="3" name="TextBox 2">
            <a:extLst>
              <a:ext uri="{FF2B5EF4-FFF2-40B4-BE49-F238E27FC236}">
                <a16:creationId xmlns:a16="http://schemas.microsoft.com/office/drawing/2014/main" id="{7CD929C4-7D60-D3D3-6E05-28D25490A818}"/>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Steps To Follow</a:t>
            </a:r>
            <a:endParaRPr lang="en-IN" sz="4000" dirty="0">
              <a:solidFill>
                <a:schemeClr val="bg1"/>
              </a:solidFill>
              <a:latin typeface="Arial Rounded MT Bold" panose="020F0704030504030204" pitchFamily="34" charset="0"/>
            </a:endParaRPr>
          </a:p>
        </p:txBody>
      </p:sp>
      <p:pic>
        <p:nvPicPr>
          <p:cNvPr id="6" name="Picture 5">
            <a:extLst>
              <a:ext uri="{FF2B5EF4-FFF2-40B4-BE49-F238E27FC236}">
                <a16:creationId xmlns:a16="http://schemas.microsoft.com/office/drawing/2014/main" id="{7E7EE7FD-254C-7EF4-B1B2-777AFFA6801B}"/>
              </a:ext>
            </a:extLst>
          </p:cNvPr>
          <p:cNvPicPr>
            <a:picLocks noChangeAspect="1"/>
          </p:cNvPicPr>
          <p:nvPr/>
        </p:nvPicPr>
        <p:blipFill>
          <a:blip r:embed="rId2"/>
          <a:stretch>
            <a:fillRect/>
          </a:stretch>
        </p:blipFill>
        <p:spPr>
          <a:xfrm>
            <a:off x="5840123" y="1018903"/>
            <a:ext cx="6243917" cy="3665639"/>
          </a:xfrm>
          <a:prstGeom prst="rect">
            <a:avLst/>
          </a:prstGeom>
        </p:spPr>
      </p:pic>
      <p:sp>
        <p:nvSpPr>
          <p:cNvPr id="8" name="TextBox 7">
            <a:extLst>
              <a:ext uri="{FF2B5EF4-FFF2-40B4-BE49-F238E27FC236}">
                <a16:creationId xmlns:a16="http://schemas.microsoft.com/office/drawing/2014/main" id="{F99C24AD-82F8-349B-4438-66333D982EF8}"/>
              </a:ext>
            </a:extLst>
          </p:cNvPr>
          <p:cNvSpPr txBox="1"/>
          <p:nvPr/>
        </p:nvSpPr>
        <p:spPr>
          <a:xfrm>
            <a:off x="6568227" y="4810893"/>
            <a:ext cx="6098344" cy="369332"/>
          </a:xfrm>
          <a:prstGeom prst="rect">
            <a:avLst/>
          </a:prstGeom>
          <a:noFill/>
        </p:spPr>
        <p:txBody>
          <a:bodyPr wrap="square">
            <a:spAutoFit/>
          </a:bodyPr>
          <a:lstStyle/>
          <a:p>
            <a:r>
              <a:rPr lang="en-US" dirty="0"/>
              <a:t>Sample images from MNIST test dataset</a:t>
            </a:r>
            <a:endParaRPr lang="en-IN" dirty="0"/>
          </a:p>
        </p:txBody>
      </p:sp>
    </p:spTree>
    <p:extLst>
      <p:ext uri="{BB962C8B-B14F-4D97-AF65-F5344CB8AC3E}">
        <p14:creationId xmlns:p14="http://schemas.microsoft.com/office/powerpoint/2010/main" val="319975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A8B45-10A2-D276-44EE-E511A757817E}"/>
              </a:ext>
            </a:extLst>
          </p:cNvPr>
          <p:cNvSpPr>
            <a:spLocks noGrp="1"/>
          </p:cNvSpPr>
          <p:nvPr>
            <p:ph idx="1"/>
          </p:nvPr>
        </p:nvSpPr>
        <p:spPr/>
        <p:txBody>
          <a:bodyPr/>
          <a:lstStyle/>
          <a:p>
            <a:r>
              <a:rPr lang="en-US" b="1" dirty="0">
                <a:solidFill>
                  <a:srgbClr val="FF0000"/>
                </a:solidFill>
              </a:rPr>
              <a:t>Determine the type of training examples. </a:t>
            </a:r>
          </a:p>
          <a:p>
            <a:r>
              <a:rPr lang="en-US" b="1" dirty="0">
                <a:solidFill>
                  <a:srgbClr val="FF0000"/>
                </a:solidFill>
              </a:rPr>
              <a:t>Gather a training set. </a:t>
            </a:r>
          </a:p>
          <a:p>
            <a:pPr marL="0" indent="0">
              <a:buNone/>
            </a:pPr>
            <a:r>
              <a:rPr lang="en-US" dirty="0">
                <a:solidFill>
                  <a:srgbClr val="FF0000"/>
                </a:solidFill>
              </a:rPr>
              <a:t>The training set needs to be representative of the real-world use of the function. </a:t>
            </a:r>
          </a:p>
          <a:p>
            <a:pPr marL="0" indent="0">
              <a:buNone/>
            </a:pPr>
            <a:r>
              <a:rPr lang="en-US" dirty="0"/>
              <a:t>Thus, a set of input objects is gathered and corresponding outputs are also gathered, either from human experts or from measurements</a:t>
            </a:r>
            <a:r>
              <a:rPr lang="en-US" b="1" dirty="0">
                <a:solidFill>
                  <a:srgbClr val="FF0000"/>
                </a:solidFill>
              </a:rPr>
              <a:t>.</a:t>
            </a:r>
          </a:p>
        </p:txBody>
      </p:sp>
      <p:sp>
        <p:nvSpPr>
          <p:cNvPr id="3" name="TextBox 2">
            <a:extLst>
              <a:ext uri="{FF2B5EF4-FFF2-40B4-BE49-F238E27FC236}">
                <a16:creationId xmlns:a16="http://schemas.microsoft.com/office/drawing/2014/main" id="{7CD929C4-7D60-D3D3-6E05-28D25490A818}"/>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Steps To Follow</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297618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A8B45-10A2-D276-44EE-E511A757817E}"/>
              </a:ext>
            </a:extLst>
          </p:cNvPr>
          <p:cNvSpPr>
            <a:spLocks noGrp="1"/>
          </p:cNvSpPr>
          <p:nvPr>
            <p:ph idx="1"/>
          </p:nvPr>
        </p:nvSpPr>
        <p:spPr/>
        <p:txBody>
          <a:bodyPr/>
          <a:lstStyle/>
          <a:p>
            <a:r>
              <a:rPr lang="en-US" b="1" dirty="0">
                <a:solidFill>
                  <a:srgbClr val="FF0000"/>
                </a:solidFill>
              </a:rPr>
              <a:t>Determine the type of training examples. </a:t>
            </a:r>
          </a:p>
          <a:p>
            <a:r>
              <a:rPr lang="en-US" b="1" dirty="0">
                <a:solidFill>
                  <a:srgbClr val="FF0000"/>
                </a:solidFill>
              </a:rPr>
              <a:t>Gather a training set. </a:t>
            </a:r>
          </a:p>
          <a:p>
            <a:r>
              <a:rPr lang="en-US" b="1" dirty="0">
                <a:solidFill>
                  <a:srgbClr val="FF0000"/>
                </a:solidFill>
              </a:rPr>
              <a:t>Determine the accuracy of the input feature representation of the learned function. </a:t>
            </a:r>
          </a:p>
          <a:p>
            <a:pPr marL="0" indent="0">
              <a:buNone/>
            </a:pPr>
            <a:r>
              <a:rPr lang="en-US" dirty="0">
                <a:solidFill>
                  <a:schemeClr val="accent4">
                    <a:lumMod val="75000"/>
                  </a:schemeClr>
                </a:solidFill>
              </a:rPr>
              <a:t>The accuracy of the learned function depends strongly on how the input object is represented.</a:t>
            </a:r>
          </a:p>
        </p:txBody>
      </p:sp>
      <p:sp>
        <p:nvSpPr>
          <p:cNvPr id="3" name="TextBox 2">
            <a:extLst>
              <a:ext uri="{FF2B5EF4-FFF2-40B4-BE49-F238E27FC236}">
                <a16:creationId xmlns:a16="http://schemas.microsoft.com/office/drawing/2014/main" id="{7CD929C4-7D60-D3D3-6E05-28D25490A818}"/>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Steps To Follow</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2699787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A8B45-10A2-D276-44EE-E511A757817E}"/>
              </a:ext>
            </a:extLst>
          </p:cNvPr>
          <p:cNvSpPr>
            <a:spLocks noGrp="1"/>
          </p:cNvSpPr>
          <p:nvPr>
            <p:ph idx="1"/>
          </p:nvPr>
        </p:nvSpPr>
        <p:spPr/>
        <p:txBody>
          <a:bodyPr/>
          <a:lstStyle/>
          <a:p>
            <a:r>
              <a:rPr lang="en-US" b="1" dirty="0">
                <a:solidFill>
                  <a:srgbClr val="FF0000"/>
                </a:solidFill>
              </a:rPr>
              <a:t>Determine the type of training examples. </a:t>
            </a:r>
          </a:p>
          <a:p>
            <a:r>
              <a:rPr lang="en-US" b="1" dirty="0">
                <a:solidFill>
                  <a:srgbClr val="FF0000"/>
                </a:solidFill>
              </a:rPr>
              <a:t>Gather a training set. </a:t>
            </a:r>
          </a:p>
          <a:p>
            <a:r>
              <a:rPr lang="en-US" b="1" dirty="0">
                <a:solidFill>
                  <a:srgbClr val="FF0000"/>
                </a:solidFill>
              </a:rPr>
              <a:t>Determine the accuracy of the input feature representation of the learned function. </a:t>
            </a:r>
          </a:p>
          <a:p>
            <a:r>
              <a:rPr lang="en-US" b="1" i="0" dirty="0">
                <a:solidFill>
                  <a:srgbClr val="FF0000"/>
                </a:solidFill>
                <a:effectLst/>
                <a:latin typeface="Arial" panose="020B0604020202020204" pitchFamily="34" charset="0"/>
              </a:rPr>
              <a:t>Determine the structure of the learned function and corresponding learning algorithm.</a:t>
            </a:r>
          </a:p>
          <a:p>
            <a:r>
              <a:rPr lang="en-US" b="1" dirty="0">
                <a:solidFill>
                  <a:srgbClr val="FF0000"/>
                </a:solidFill>
              </a:rPr>
              <a:t>Complete the design and evaluate the accuracy of the learned function</a:t>
            </a:r>
          </a:p>
        </p:txBody>
      </p:sp>
      <p:sp>
        <p:nvSpPr>
          <p:cNvPr id="3" name="TextBox 2">
            <a:extLst>
              <a:ext uri="{FF2B5EF4-FFF2-40B4-BE49-F238E27FC236}">
                <a16:creationId xmlns:a16="http://schemas.microsoft.com/office/drawing/2014/main" id="{7CD929C4-7D60-D3D3-6E05-28D25490A818}"/>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Steps To Follow</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4194782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ighBias">
            <a:extLst>
              <a:ext uri="{FF2B5EF4-FFF2-40B4-BE49-F238E27FC236}">
                <a16:creationId xmlns:a16="http://schemas.microsoft.com/office/drawing/2014/main" id="{071F2E85-9F26-D2BC-9CB6-4809B8E920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0550" y="1609162"/>
            <a:ext cx="3981450" cy="28956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4621BDE0-D646-B2AB-BA17-0F70025D8350}"/>
              </a:ext>
            </a:extLst>
          </p:cNvPr>
          <p:cNvSpPr>
            <a:spLocks noGrp="1"/>
          </p:cNvSpPr>
          <p:nvPr>
            <p:ph idx="1"/>
          </p:nvPr>
        </p:nvSpPr>
        <p:spPr>
          <a:xfrm>
            <a:off x="382410" y="720116"/>
            <a:ext cx="7816338" cy="4673692"/>
          </a:xfrm>
        </p:spPr>
        <p:txBody>
          <a:bodyPr/>
          <a:lstStyle/>
          <a:p>
            <a:r>
              <a:rPr lang="en-US" sz="2400" dirty="0"/>
              <a:t>The </a:t>
            </a:r>
            <a:r>
              <a:rPr lang="en-US" sz="2400" dirty="0">
                <a:highlight>
                  <a:srgbClr val="00FFFF"/>
                </a:highlight>
              </a:rPr>
              <a:t>bias is known as the difference between the prediction of the values by the Machine Learning model and the correct value</a:t>
            </a:r>
            <a:r>
              <a:rPr lang="en-US" sz="2400" dirty="0"/>
              <a:t>.</a:t>
            </a:r>
          </a:p>
          <a:p>
            <a:r>
              <a:rPr lang="en-US" sz="2400" dirty="0"/>
              <a:t> Being high in biasing gives a large error in training as well as testing data. It recommended that an algorithm should always be low-biased to avoid the problem of underfitting. </a:t>
            </a:r>
          </a:p>
          <a:p>
            <a:r>
              <a:rPr lang="en-US" sz="2400" dirty="0">
                <a:highlight>
                  <a:srgbClr val="00FF00"/>
                </a:highlight>
              </a:rPr>
              <a:t>By high bias, the data predicted is in a straight line format, thus not fitting accurately in the data in the data set. </a:t>
            </a:r>
          </a:p>
          <a:p>
            <a:r>
              <a:rPr lang="en-US" sz="2400" dirty="0"/>
              <a:t>Such fitting is known as the </a:t>
            </a:r>
            <a:r>
              <a:rPr lang="en-US" sz="2400" dirty="0">
                <a:highlight>
                  <a:srgbClr val="00FF00"/>
                </a:highlight>
              </a:rPr>
              <a:t>Underfitting of Data</a:t>
            </a:r>
            <a:r>
              <a:rPr lang="en-US" sz="2400" dirty="0"/>
              <a:t>. This happens when the hypothesis is too simple or linear in nature.</a:t>
            </a:r>
          </a:p>
          <a:p>
            <a:r>
              <a:rPr lang="en-US" sz="2400" dirty="0"/>
              <a:t>In such a problem, a hypothesis looks like -</a:t>
            </a:r>
            <a:endParaRPr lang="en-IN" sz="2400" dirty="0"/>
          </a:p>
        </p:txBody>
      </p:sp>
      <p:sp>
        <p:nvSpPr>
          <p:cNvPr id="3" name="TextBox 2">
            <a:extLst>
              <a:ext uri="{FF2B5EF4-FFF2-40B4-BE49-F238E27FC236}">
                <a16:creationId xmlns:a16="http://schemas.microsoft.com/office/drawing/2014/main" id="{84641E98-3EFC-E70B-F877-C1683604790C}"/>
              </a:ext>
            </a:extLst>
          </p:cNvPr>
          <p:cNvSpPr txBox="1"/>
          <p:nvPr/>
        </p:nvSpPr>
        <p:spPr>
          <a:xfrm>
            <a:off x="4492071" y="0"/>
            <a:ext cx="5400076"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Bias</a:t>
            </a:r>
            <a:endParaRPr lang="en-IN" sz="4000" dirty="0">
              <a:solidFill>
                <a:schemeClr val="bg1"/>
              </a:solidFill>
              <a:latin typeface="Arial Rounded MT Bold" panose="020F0704030504030204" pitchFamily="34" charset="0"/>
            </a:endParaRPr>
          </a:p>
        </p:txBody>
      </p:sp>
      <p:pic>
        <p:nvPicPr>
          <p:cNvPr id="4" name="Picture 3">
            <a:extLst>
              <a:ext uri="{FF2B5EF4-FFF2-40B4-BE49-F238E27FC236}">
                <a16:creationId xmlns:a16="http://schemas.microsoft.com/office/drawing/2014/main" id="{6EEB9D1E-572D-CFD2-4BDD-1FE651DB2540}"/>
              </a:ext>
            </a:extLst>
          </p:cNvPr>
          <p:cNvPicPr>
            <a:picLocks noChangeAspect="1"/>
          </p:cNvPicPr>
          <p:nvPr/>
        </p:nvPicPr>
        <p:blipFill>
          <a:blip r:embed="rId3"/>
          <a:stretch>
            <a:fillRect/>
          </a:stretch>
        </p:blipFill>
        <p:spPr>
          <a:xfrm>
            <a:off x="6695538" y="5528721"/>
            <a:ext cx="3954814" cy="327747"/>
          </a:xfrm>
          <a:prstGeom prst="rect">
            <a:avLst/>
          </a:prstGeom>
        </p:spPr>
      </p:pic>
      <p:sp>
        <p:nvSpPr>
          <p:cNvPr id="6" name="TextBox 5">
            <a:extLst>
              <a:ext uri="{FF2B5EF4-FFF2-40B4-BE49-F238E27FC236}">
                <a16:creationId xmlns:a16="http://schemas.microsoft.com/office/drawing/2014/main" id="{DE896E73-268A-167D-3FE4-5C4848A2DDC0}"/>
              </a:ext>
            </a:extLst>
          </p:cNvPr>
          <p:cNvSpPr txBox="1"/>
          <p:nvPr/>
        </p:nvSpPr>
        <p:spPr>
          <a:xfrm>
            <a:off x="2286000" y="6511095"/>
            <a:ext cx="6096000" cy="369332"/>
          </a:xfrm>
          <a:prstGeom prst="rect">
            <a:avLst/>
          </a:prstGeom>
          <a:noFill/>
        </p:spPr>
        <p:txBody>
          <a:bodyPr wrap="square">
            <a:spAutoFit/>
          </a:bodyPr>
          <a:lstStyle/>
          <a:p>
            <a:r>
              <a:rPr lang="en-US" dirty="0">
                <a:hlinkClick r:id="rId4"/>
              </a:rPr>
              <a:t>Bias-Variance Trade Off - Machine Learning - </a:t>
            </a:r>
            <a:r>
              <a:rPr lang="en-US" dirty="0" err="1">
                <a:hlinkClick r:id="rId4"/>
              </a:rPr>
              <a:t>GeeksforGeeks</a:t>
            </a:r>
            <a:endParaRPr lang="en-IN" dirty="0"/>
          </a:p>
        </p:txBody>
      </p:sp>
    </p:spTree>
    <p:extLst>
      <p:ext uri="{BB962C8B-B14F-4D97-AF65-F5344CB8AC3E}">
        <p14:creationId xmlns:p14="http://schemas.microsoft.com/office/powerpoint/2010/main" val="2660414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66BDE5-1E2D-A6CB-7175-ADFC15AF6470}"/>
              </a:ext>
            </a:extLst>
          </p:cNvPr>
          <p:cNvSpPr>
            <a:spLocks noGrp="1"/>
          </p:cNvSpPr>
          <p:nvPr>
            <p:ph idx="1"/>
          </p:nvPr>
        </p:nvSpPr>
        <p:spPr>
          <a:xfrm>
            <a:off x="-1" y="707886"/>
            <a:ext cx="9892148" cy="4673692"/>
          </a:xfrm>
        </p:spPr>
        <p:txBody>
          <a:bodyPr/>
          <a:lstStyle/>
          <a:p>
            <a:r>
              <a:rPr lang="en-US" sz="2400" dirty="0"/>
              <a:t>The </a:t>
            </a:r>
            <a:r>
              <a:rPr lang="en-US" sz="2400" dirty="0">
                <a:highlight>
                  <a:srgbClr val="FFFF00"/>
                </a:highlight>
              </a:rPr>
              <a:t>variability of model prediction for a given data point which tells us the spread of our data is called the variance </a:t>
            </a:r>
            <a:r>
              <a:rPr lang="en-US" sz="2400" dirty="0"/>
              <a:t>of the model. </a:t>
            </a:r>
          </a:p>
          <a:p>
            <a:r>
              <a:rPr lang="en-US" sz="2400" dirty="0"/>
              <a:t>The </a:t>
            </a:r>
            <a:r>
              <a:rPr lang="en-US" sz="2400" dirty="0">
                <a:highlight>
                  <a:srgbClr val="FFFF00"/>
                </a:highlight>
              </a:rPr>
              <a:t>model with high variance has a very complex fit to the training data and thus is not able to fit accurately on the data which it hasn’t seen before</a:t>
            </a:r>
            <a:r>
              <a:rPr lang="en-US" sz="2400" dirty="0"/>
              <a:t>. As a result, such models perform very well on training data but have high error rates on test data.</a:t>
            </a:r>
          </a:p>
          <a:p>
            <a:r>
              <a:rPr lang="en-US" sz="2400" dirty="0"/>
              <a:t> </a:t>
            </a:r>
            <a:r>
              <a:rPr lang="en-US" sz="2400" dirty="0">
                <a:highlight>
                  <a:srgbClr val="00FFFF"/>
                </a:highlight>
              </a:rPr>
              <a:t>When a model is high on variance, it is then said to as Overfitting of Data. Overfitting is fitting the training set accurately via complex curve and high order hypothesis but is not the solution as the error with unseen data is high.</a:t>
            </a:r>
            <a:r>
              <a:rPr lang="en-US" sz="2400" dirty="0"/>
              <a:t> </a:t>
            </a:r>
          </a:p>
          <a:p>
            <a:r>
              <a:rPr lang="en-US" sz="2400" dirty="0"/>
              <a:t>While training a data model variance should be kept low. The high variance data looks as shown in the image</a:t>
            </a:r>
          </a:p>
          <a:p>
            <a:r>
              <a:rPr lang="en-US" sz="2400" dirty="0"/>
              <a:t>In such a problem, a hypothesis looks like follows </a:t>
            </a:r>
            <a:endParaRPr lang="en-IN" sz="2400" dirty="0"/>
          </a:p>
        </p:txBody>
      </p:sp>
      <p:sp>
        <p:nvSpPr>
          <p:cNvPr id="3" name="TextBox 2">
            <a:extLst>
              <a:ext uri="{FF2B5EF4-FFF2-40B4-BE49-F238E27FC236}">
                <a16:creationId xmlns:a16="http://schemas.microsoft.com/office/drawing/2014/main" id="{28BA5E8F-7099-449D-0037-B1C1EDB03D06}"/>
              </a:ext>
            </a:extLst>
          </p:cNvPr>
          <p:cNvSpPr txBox="1"/>
          <p:nvPr/>
        </p:nvSpPr>
        <p:spPr>
          <a:xfrm>
            <a:off x="4492071" y="0"/>
            <a:ext cx="5400076"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Variance</a:t>
            </a:r>
            <a:endParaRPr lang="en-IN" sz="4000" dirty="0">
              <a:solidFill>
                <a:schemeClr val="bg1"/>
              </a:solidFill>
              <a:latin typeface="Arial Rounded MT Bold" panose="020F0704030504030204" pitchFamily="34" charset="0"/>
            </a:endParaRPr>
          </a:p>
        </p:txBody>
      </p:sp>
      <p:pic>
        <p:nvPicPr>
          <p:cNvPr id="4" name="Picture 3">
            <a:extLst>
              <a:ext uri="{FF2B5EF4-FFF2-40B4-BE49-F238E27FC236}">
                <a16:creationId xmlns:a16="http://schemas.microsoft.com/office/drawing/2014/main" id="{80DCA9ED-FD61-878F-51DB-DAE5AB7E7045}"/>
              </a:ext>
            </a:extLst>
          </p:cNvPr>
          <p:cNvPicPr>
            <a:picLocks noChangeAspect="1"/>
          </p:cNvPicPr>
          <p:nvPr/>
        </p:nvPicPr>
        <p:blipFill>
          <a:blip r:embed="rId2"/>
          <a:stretch>
            <a:fillRect/>
          </a:stretch>
        </p:blipFill>
        <p:spPr>
          <a:xfrm>
            <a:off x="9273416" y="3564744"/>
            <a:ext cx="2447419" cy="1896750"/>
          </a:xfrm>
          <a:prstGeom prst="rect">
            <a:avLst/>
          </a:prstGeom>
        </p:spPr>
      </p:pic>
      <p:pic>
        <p:nvPicPr>
          <p:cNvPr id="5" name="Picture 4">
            <a:extLst>
              <a:ext uri="{FF2B5EF4-FFF2-40B4-BE49-F238E27FC236}">
                <a16:creationId xmlns:a16="http://schemas.microsoft.com/office/drawing/2014/main" id="{B7D8652E-531B-7612-AC85-5BC3F266EADA}"/>
              </a:ext>
            </a:extLst>
          </p:cNvPr>
          <p:cNvPicPr>
            <a:picLocks noChangeAspect="1"/>
          </p:cNvPicPr>
          <p:nvPr/>
        </p:nvPicPr>
        <p:blipFill>
          <a:blip r:embed="rId3"/>
          <a:stretch>
            <a:fillRect/>
          </a:stretch>
        </p:blipFill>
        <p:spPr>
          <a:xfrm>
            <a:off x="5527963" y="5541409"/>
            <a:ext cx="4825182" cy="306075"/>
          </a:xfrm>
          <a:prstGeom prst="rect">
            <a:avLst/>
          </a:prstGeom>
        </p:spPr>
      </p:pic>
    </p:spTree>
    <p:extLst>
      <p:ext uri="{BB962C8B-B14F-4D97-AF65-F5344CB8AC3E}">
        <p14:creationId xmlns:p14="http://schemas.microsoft.com/office/powerpoint/2010/main" val="243078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8639E8-49BB-A0F2-38A1-396472749006}"/>
              </a:ext>
            </a:extLst>
          </p:cNvPr>
          <p:cNvSpPr>
            <a:spLocks noGrp="1"/>
          </p:cNvSpPr>
          <p:nvPr>
            <p:ph idx="1"/>
          </p:nvPr>
        </p:nvSpPr>
        <p:spPr>
          <a:xfrm>
            <a:off x="0" y="751866"/>
            <a:ext cx="12192000" cy="4940729"/>
          </a:xfrm>
        </p:spPr>
        <p:txBody>
          <a:bodyPr/>
          <a:lstStyle/>
          <a:p>
            <a:r>
              <a:rPr lang="en-US" sz="2400" dirty="0">
                <a:highlight>
                  <a:srgbClr val="00FFFF"/>
                </a:highlight>
              </a:rPr>
              <a:t>If the algorithm is too simple (hypothesis with linear equation) then it may be on high bias and low variance condition and thus is error-prone. </a:t>
            </a:r>
          </a:p>
          <a:p>
            <a:r>
              <a:rPr lang="en-US" sz="2400" dirty="0">
                <a:highlight>
                  <a:srgbClr val="00FFFF"/>
                </a:highlight>
              </a:rPr>
              <a:t>If algorithms fit too complex (hypothesis with high degree equation) then it may be on high variance and low bias.</a:t>
            </a:r>
          </a:p>
          <a:p>
            <a:r>
              <a:rPr lang="en-US" sz="2400" dirty="0"/>
              <a:t> In the latter condition, the new entries will not perform well. </a:t>
            </a:r>
          </a:p>
          <a:p>
            <a:r>
              <a:rPr lang="en-US" sz="2400" dirty="0"/>
              <a:t>Well, there is something between both of these conditions, known as a </a:t>
            </a:r>
            <a:r>
              <a:rPr lang="en-US" sz="2400" dirty="0">
                <a:highlight>
                  <a:srgbClr val="00FF00"/>
                </a:highlight>
              </a:rPr>
              <a:t>Trade-off or Bias Variance Trade-off</a:t>
            </a:r>
            <a:r>
              <a:rPr lang="en-US" sz="2400" dirty="0"/>
              <a:t>. An algorithm can’t be more complex and less complex at the same time. For the graph, the perfect tradeoff will be like this.</a:t>
            </a:r>
            <a:endParaRPr lang="en-IN" sz="2400" dirty="0"/>
          </a:p>
        </p:txBody>
      </p:sp>
      <p:sp>
        <p:nvSpPr>
          <p:cNvPr id="4" name="TextBox 3">
            <a:extLst>
              <a:ext uri="{FF2B5EF4-FFF2-40B4-BE49-F238E27FC236}">
                <a16:creationId xmlns:a16="http://schemas.microsoft.com/office/drawing/2014/main" id="{53652BDB-0416-5A4B-08F5-F2387902695C}"/>
              </a:ext>
            </a:extLst>
          </p:cNvPr>
          <p:cNvSpPr txBox="1"/>
          <p:nvPr/>
        </p:nvSpPr>
        <p:spPr>
          <a:xfrm>
            <a:off x="3616037" y="105535"/>
            <a:ext cx="6096000"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Bias Variance Tradeoff</a:t>
            </a:r>
            <a:endParaRPr lang="en-IN" sz="3600" dirty="0">
              <a:solidFill>
                <a:schemeClr val="bg1"/>
              </a:solidFill>
            </a:endParaRPr>
          </a:p>
        </p:txBody>
      </p:sp>
      <p:pic>
        <p:nvPicPr>
          <p:cNvPr id="5" name="Picture 4">
            <a:extLst>
              <a:ext uri="{FF2B5EF4-FFF2-40B4-BE49-F238E27FC236}">
                <a16:creationId xmlns:a16="http://schemas.microsoft.com/office/drawing/2014/main" id="{21800CF8-CC18-094F-4F9E-6B1983C0F8F6}"/>
              </a:ext>
            </a:extLst>
          </p:cNvPr>
          <p:cNvPicPr>
            <a:picLocks noChangeAspect="1"/>
          </p:cNvPicPr>
          <p:nvPr/>
        </p:nvPicPr>
        <p:blipFill>
          <a:blip r:embed="rId2"/>
          <a:stretch>
            <a:fillRect/>
          </a:stretch>
        </p:blipFill>
        <p:spPr>
          <a:xfrm>
            <a:off x="5259964" y="3818765"/>
            <a:ext cx="3971925" cy="2933700"/>
          </a:xfrm>
          <a:prstGeom prst="rect">
            <a:avLst/>
          </a:prstGeom>
        </p:spPr>
      </p:pic>
    </p:spTree>
    <p:extLst>
      <p:ext uri="{BB962C8B-B14F-4D97-AF65-F5344CB8AC3E}">
        <p14:creationId xmlns:p14="http://schemas.microsoft.com/office/powerpoint/2010/main" val="324662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AB781A6-5D14-4BFE-840D-9E746810F512}"/>
                  </a:ext>
                </a:extLst>
              </p:cNvPr>
              <p:cNvSpPr>
                <a:spLocks noGrp="1"/>
              </p:cNvSpPr>
              <p:nvPr>
                <p:ph idx="1"/>
              </p:nvPr>
            </p:nvSpPr>
            <p:spPr>
              <a:xfrm>
                <a:off x="0" y="1018902"/>
                <a:ext cx="6597138" cy="4673692"/>
              </a:xfrm>
            </p:spPr>
            <p:txBody>
              <a:bodyPr/>
              <a:lstStyle/>
              <a:p>
                <a:r>
                  <a:rPr lang="en-US" sz="2000" dirty="0"/>
                  <a:t>We try to optimize the value of the total error for the model by using the Bias-Variance Tradeoff.</a:t>
                </a:r>
              </a:p>
              <a:p>
                <a:endParaRPr lang="en-US" sz="2000" dirty="0"/>
              </a:p>
              <a:p>
                <a14:m>
                  <m:oMath xmlns:m="http://schemas.openxmlformats.org/officeDocument/2006/math">
                    <m:r>
                      <a:rPr lang="en-IN" sz="2000" b="0" i="1" smtClean="0">
                        <a:latin typeface="Cambria Math" panose="02040503050406030204" pitchFamily="18" charset="0"/>
                      </a:rPr>
                      <m:t>𝑇𝑜𝑡𝑎𝑙</m:t>
                    </m:r>
                    <m:r>
                      <a:rPr lang="en-IN" sz="2000" b="0" i="1" smtClean="0">
                        <a:latin typeface="Cambria Math" panose="02040503050406030204" pitchFamily="18" charset="0"/>
                      </a:rPr>
                      <m:t> </m:t>
                    </m:r>
                    <m:r>
                      <a:rPr lang="en-IN" sz="2000" b="0" i="1" smtClean="0">
                        <a:latin typeface="Cambria Math" panose="02040503050406030204" pitchFamily="18" charset="0"/>
                      </a:rPr>
                      <m:t>𝐸𝑟𝑟𝑜𝑟</m:t>
                    </m:r>
                    <m:r>
                      <a:rPr lang="en-IN" sz="2000" b="0" i="1" smtClean="0">
                        <a:latin typeface="Cambria Math" panose="02040503050406030204" pitchFamily="18" charset="0"/>
                      </a:rPr>
                      <m:t>=</m:t>
                    </m:r>
                    <m:r>
                      <a:rPr lang="en-IN" sz="2000" b="0" i="1" smtClean="0">
                        <a:latin typeface="Cambria Math" panose="02040503050406030204" pitchFamily="18" charset="0"/>
                      </a:rPr>
                      <m:t>𝐼𝑟𝑟𝑒𝑑𝑢𝑐𝑖𝑏𝑙𝑒</m:t>
                    </m:r>
                    <m:r>
                      <a:rPr lang="en-IN" sz="2000" b="0" i="1" smtClean="0">
                        <a:latin typeface="Cambria Math" panose="02040503050406030204" pitchFamily="18" charset="0"/>
                      </a:rPr>
                      <m:t> </m:t>
                    </m:r>
                    <m:r>
                      <a:rPr lang="en-IN" sz="2000" b="0" i="1" smtClean="0">
                        <a:latin typeface="Cambria Math" panose="02040503050406030204" pitchFamily="18" charset="0"/>
                      </a:rPr>
                      <m:t>𝐸𝑟𝑟𝑜𝑟</m:t>
                    </m:r>
                    <m:r>
                      <a:rPr lang="en-IN" sz="2000" b="0" i="1" smtClean="0">
                        <a:latin typeface="Cambria Math" panose="02040503050406030204" pitchFamily="18" charset="0"/>
                      </a:rPr>
                      <m:t>+</m:t>
                    </m:r>
                    <m:r>
                      <a:rPr lang="en-IN" sz="2000" b="0" i="1" smtClean="0">
                        <a:latin typeface="Cambria Math" panose="02040503050406030204" pitchFamily="18" charset="0"/>
                      </a:rPr>
                      <m:t>𝑉𝑎𝑟𝑖𝑎𝑛𝑐𝑒</m:t>
                    </m:r>
                    <m:r>
                      <a:rPr lang="en-IN" sz="2000" b="0" i="1" smtClean="0">
                        <a:latin typeface="Cambria Math" panose="02040503050406030204" pitchFamily="18" charset="0"/>
                      </a:rPr>
                      <m:t>+ </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𝐵𝑖𝑎𝑠</m:t>
                        </m:r>
                      </m:e>
                      <m:sup>
                        <m:r>
                          <a:rPr lang="en-IN" sz="2000" b="0" i="1" smtClean="0">
                            <a:latin typeface="Cambria Math" panose="02040503050406030204" pitchFamily="18" charset="0"/>
                          </a:rPr>
                          <m:t>2</m:t>
                        </m:r>
                      </m:sup>
                    </m:sSup>
                  </m:oMath>
                </a14:m>
                <a:endParaRPr lang="en-US" sz="2000" dirty="0"/>
              </a:p>
              <a:p>
                <a:r>
                  <a:rPr lang="en-US" sz="2000" dirty="0"/>
                  <a:t>The best fit will be given by the hypothesis on the tradeoff point. The error to complexity graph to show trade-off is given as – </a:t>
                </a:r>
                <a:endParaRPr lang="en-IN" sz="2000" dirty="0"/>
              </a:p>
            </p:txBody>
          </p:sp>
        </mc:Choice>
        <mc:Fallback xmlns="">
          <p:sp>
            <p:nvSpPr>
              <p:cNvPr id="2" name="Content Placeholder 1">
                <a:extLst>
                  <a:ext uri="{FF2B5EF4-FFF2-40B4-BE49-F238E27FC236}">
                    <a16:creationId xmlns:a16="http://schemas.microsoft.com/office/drawing/2014/main" id="{CAB781A6-5D14-4BFE-840D-9E746810F512}"/>
                  </a:ext>
                </a:extLst>
              </p:cNvPr>
              <p:cNvSpPr>
                <a:spLocks noGrp="1" noRot="1" noChangeAspect="1" noMove="1" noResize="1" noEditPoints="1" noAdjustHandles="1" noChangeArrowheads="1" noChangeShapeType="1" noTextEdit="1"/>
              </p:cNvSpPr>
              <p:nvPr>
                <p:ph idx="1"/>
              </p:nvPr>
            </p:nvSpPr>
            <p:spPr>
              <a:xfrm>
                <a:off x="0" y="1018902"/>
                <a:ext cx="6597138" cy="4673692"/>
              </a:xfrm>
              <a:blipFill>
                <a:blip r:embed="rId2"/>
                <a:stretch>
                  <a:fillRect l="-832" t="-1173"/>
                </a:stretch>
              </a:blipFill>
            </p:spPr>
            <p:txBody>
              <a:bodyPr/>
              <a:lstStyle/>
              <a:p>
                <a:r>
                  <a:rPr lang="en-IN">
                    <a:noFill/>
                  </a:rPr>
                  <a:t> </a:t>
                </a:r>
              </a:p>
            </p:txBody>
          </p:sp>
        </mc:Fallback>
      </mc:AlternateContent>
      <p:pic>
        <p:nvPicPr>
          <p:cNvPr id="2050" name="Picture 2" descr="Region for the Least Value of Total Error">
            <a:extLst>
              <a:ext uri="{FF2B5EF4-FFF2-40B4-BE49-F238E27FC236}">
                <a16:creationId xmlns:a16="http://schemas.microsoft.com/office/drawing/2014/main" id="{6A9A3447-4F94-4E2D-B5EE-DDE86D656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695" y="834580"/>
            <a:ext cx="5691032" cy="41190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60D0833-74C3-6AED-C8FD-6C2486E23EA7}"/>
              </a:ext>
            </a:extLst>
          </p:cNvPr>
          <p:cNvSpPr txBox="1"/>
          <p:nvPr/>
        </p:nvSpPr>
        <p:spPr>
          <a:xfrm>
            <a:off x="3616037" y="105535"/>
            <a:ext cx="6096000"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Bias Variance Tradeoff</a:t>
            </a:r>
            <a:endParaRPr lang="en-IN" sz="3600" dirty="0">
              <a:solidFill>
                <a:schemeClr val="bg1"/>
              </a:solidFill>
            </a:endParaRPr>
          </a:p>
        </p:txBody>
      </p:sp>
      <p:sp>
        <p:nvSpPr>
          <p:cNvPr id="5" name="TextBox 4">
            <a:extLst>
              <a:ext uri="{FF2B5EF4-FFF2-40B4-BE49-F238E27FC236}">
                <a16:creationId xmlns:a16="http://schemas.microsoft.com/office/drawing/2014/main" id="{D51DC521-8AB0-7612-CFE2-8EB2C0E579F7}"/>
              </a:ext>
            </a:extLst>
          </p:cNvPr>
          <p:cNvSpPr txBox="1"/>
          <p:nvPr/>
        </p:nvSpPr>
        <p:spPr>
          <a:xfrm>
            <a:off x="7190509" y="5259837"/>
            <a:ext cx="6123708" cy="369332"/>
          </a:xfrm>
          <a:prstGeom prst="rect">
            <a:avLst/>
          </a:prstGeom>
          <a:noFill/>
        </p:spPr>
        <p:txBody>
          <a:bodyPr wrap="square">
            <a:spAutoFit/>
          </a:bodyPr>
          <a:lstStyle/>
          <a:p>
            <a:r>
              <a:rPr lang="en-US" dirty="0"/>
              <a:t>Region for the Least Value of Total Error</a:t>
            </a:r>
            <a:endParaRPr lang="en-IN" dirty="0"/>
          </a:p>
        </p:txBody>
      </p:sp>
      <p:cxnSp>
        <p:nvCxnSpPr>
          <p:cNvPr id="7" name="Straight Arrow Connector 6">
            <a:extLst>
              <a:ext uri="{FF2B5EF4-FFF2-40B4-BE49-F238E27FC236}">
                <a16:creationId xmlns:a16="http://schemas.microsoft.com/office/drawing/2014/main" id="{FAE7A593-5C4E-B796-46BA-48133C51FA99}"/>
              </a:ext>
            </a:extLst>
          </p:cNvPr>
          <p:cNvCxnSpPr>
            <a:cxnSpLocks/>
          </p:cNvCxnSpPr>
          <p:nvPr/>
        </p:nvCxnSpPr>
        <p:spPr>
          <a:xfrm flipV="1">
            <a:off x="8382000" y="4391891"/>
            <a:ext cx="595851" cy="8679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74E4E03-BAA6-0761-3176-3DD10D506FE1}"/>
              </a:ext>
            </a:extLst>
          </p:cNvPr>
          <p:cNvSpPr txBox="1"/>
          <p:nvPr/>
        </p:nvSpPr>
        <p:spPr>
          <a:xfrm>
            <a:off x="3435930" y="5612253"/>
            <a:ext cx="6276107" cy="646331"/>
          </a:xfrm>
          <a:prstGeom prst="rect">
            <a:avLst/>
          </a:prstGeom>
          <a:noFill/>
          <a:ln>
            <a:solidFill>
              <a:srgbClr val="FF0000"/>
            </a:solidFill>
          </a:ln>
        </p:spPr>
        <p:txBody>
          <a:bodyPr wrap="square">
            <a:spAutoFit/>
          </a:bodyPr>
          <a:lstStyle/>
          <a:p>
            <a:r>
              <a:rPr lang="en-US" dirty="0"/>
              <a:t>This is referred to as the best point chosen for the training of the algorithm which gives low error in training as well as testing data.</a:t>
            </a:r>
            <a:endParaRPr lang="en-IN" dirty="0"/>
          </a:p>
        </p:txBody>
      </p:sp>
      <p:grpSp>
        <p:nvGrpSpPr>
          <p:cNvPr id="9" name="Group 8">
            <a:extLst>
              <a:ext uri="{FF2B5EF4-FFF2-40B4-BE49-F238E27FC236}">
                <a16:creationId xmlns:a16="http://schemas.microsoft.com/office/drawing/2014/main" id="{75041531-E649-1A2A-C160-4AB149A63B52}"/>
              </a:ext>
            </a:extLst>
          </p:cNvPr>
          <p:cNvGrpSpPr/>
          <p:nvPr/>
        </p:nvGrpSpPr>
        <p:grpSpPr>
          <a:xfrm>
            <a:off x="7522189" y="2133415"/>
            <a:ext cx="4085640" cy="2079360"/>
            <a:chOff x="7522189" y="2133415"/>
            <a:chExt cx="4085640" cy="207936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9957E4E-5825-EF07-E5E6-97AAA58E949C}"/>
                    </a:ext>
                  </a:extLst>
                </p14:cNvPr>
                <p14:cNvContentPartPr/>
                <p14:nvPr/>
              </p14:nvContentPartPr>
              <p14:xfrm>
                <a:off x="7522909" y="2133415"/>
                <a:ext cx="360" cy="360"/>
              </p14:xfrm>
            </p:contentPart>
          </mc:Choice>
          <mc:Fallback xmlns="">
            <p:pic>
              <p:nvPicPr>
                <p:cNvPr id="4" name="Ink 3">
                  <a:extLst>
                    <a:ext uri="{FF2B5EF4-FFF2-40B4-BE49-F238E27FC236}">
                      <a16:creationId xmlns:a16="http://schemas.microsoft.com/office/drawing/2014/main" id="{99957E4E-5825-EF07-E5E6-97AAA58E949C}"/>
                    </a:ext>
                  </a:extLst>
                </p:cNvPr>
                <p:cNvPicPr/>
                <p:nvPr/>
              </p:nvPicPr>
              <p:blipFill>
                <a:blip r:embed="rId5"/>
                <a:stretch>
                  <a:fillRect/>
                </a:stretch>
              </p:blipFill>
              <p:spPr>
                <a:xfrm>
                  <a:off x="7514269" y="21247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23F16EF4-2EE3-A2B2-ADA3-AF3795ECE35E}"/>
                    </a:ext>
                  </a:extLst>
                </p14:cNvPr>
                <p14:cNvContentPartPr/>
                <p14:nvPr/>
              </p14:nvContentPartPr>
              <p14:xfrm>
                <a:off x="7522909" y="2133415"/>
                <a:ext cx="360" cy="360"/>
              </p14:xfrm>
            </p:contentPart>
          </mc:Choice>
          <mc:Fallback xmlns="">
            <p:pic>
              <p:nvPicPr>
                <p:cNvPr id="6" name="Ink 5">
                  <a:extLst>
                    <a:ext uri="{FF2B5EF4-FFF2-40B4-BE49-F238E27FC236}">
                      <a16:creationId xmlns:a16="http://schemas.microsoft.com/office/drawing/2014/main" id="{23F16EF4-2EE3-A2B2-ADA3-AF3795ECE35E}"/>
                    </a:ext>
                  </a:extLst>
                </p:cNvPr>
                <p:cNvPicPr/>
                <p:nvPr/>
              </p:nvPicPr>
              <p:blipFill>
                <a:blip r:embed="rId5"/>
                <a:stretch>
                  <a:fillRect/>
                </a:stretch>
              </p:blipFill>
              <p:spPr>
                <a:xfrm>
                  <a:off x="7514269" y="21247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60647987-8F20-8116-3DFB-1DCBB629941B}"/>
                    </a:ext>
                  </a:extLst>
                </p14:cNvPr>
                <p14:cNvContentPartPr/>
                <p14:nvPr/>
              </p14:nvContentPartPr>
              <p14:xfrm>
                <a:off x="7522189" y="2133415"/>
                <a:ext cx="4085640" cy="2079360"/>
              </p14:xfrm>
            </p:contentPart>
          </mc:Choice>
          <mc:Fallback xmlns="">
            <p:pic>
              <p:nvPicPr>
                <p:cNvPr id="8" name="Ink 7">
                  <a:extLst>
                    <a:ext uri="{FF2B5EF4-FFF2-40B4-BE49-F238E27FC236}">
                      <a16:creationId xmlns:a16="http://schemas.microsoft.com/office/drawing/2014/main" id="{60647987-8F20-8116-3DFB-1DCBB629941B}"/>
                    </a:ext>
                  </a:extLst>
                </p:cNvPr>
                <p:cNvPicPr/>
                <p:nvPr/>
              </p:nvPicPr>
              <p:blipFill>
                <a:blip r:embed="rId8"/>
                <a:stretch>
                  <a:fillRect/>
                </a:stretch>
              </p:blipFill>
              <p:spPr>
                <a:xfrm>
                  <a:off x="7513549" y="2124775"/>
                  <a:ext cx="4103280" cy="2097000"/>
                </a:xfrm>
                <a:prstGeom prst="rect">
                  <a:avLst/>
                </a:prstGeom>
              </p:spPr>
            </p:pic>
          </mc:Fallback>
        </mc:AlternateContent>
      </p:grpSp>
    </p:spTree>
    <p:extLst>
      <p:ext uri="{BB962C8B-B14F-4D97-AF65-F5344CB8AC3E}">
        <p14:creationId xmlns:p14="http://schemas.microsoft.com/office/powerpoint/2010/main" val="2287390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A8B45-10A2-D276-44EE-E511A757817E}"/>
              </a:ext>
            </a:extLst>
          </p:cNvPr>
          <p:cNvSpPr>
            <a:spLocks noGrp="1"/>
          </p:cNvSpPr>
          <p:nvPr>
            <p:ph idx="1"/>
          </p:nvPr>
        </p:nvSpPr>
        <p:spPr>
          <a:xfrm>
            <a:off x="413658" y="707885"/>
            <a:ext cx="11364684" cy="5868759"/>
          </a:xfrm>
        </p:spPr>
        <p:txBody>
          <a:bodyPr/>
          <a:lstStyle/>
          <a:p>
            <a:r>
              <a:rPr lang="en-US" b="1" dirty="0">
                <a:solidFill>
                  <a:srgbClr val="FF0000"/>
                </a:solidFill>
              </a:rPr>
              <a:t>Issue 1: Bias Variance Tradeoff</a:t>
            </a:r>
          </a:p>
          <a:p>
            <a:pPr marL="0" indent="0">
              <a:buNone/>
            </a:pPr>
            <a:r>
              <a:rPr lang="en-US" sz="2000" dirty="0">
                <a:solidFill>
                  <a:srgbClr val="7030A0"/>
                </a:solidFill>
              </a:rPr>
              <a:t>The </a:t>
            </a:r>
            <a:r>
              <a:rPr lang="en-US" sz="2000" b="1" dirty="0">
                <a:solidFill>
                  <a:srgbClr val="7030A0"/>
                </a:solidFill>
              </a:rPr>
              <a:t>bias error </a:t>
            </a:r>
            <a:r>
              <a:rPr lang="en-US" sz="2000" dirty="0">
                <a:solidFill>
                  <a:srgbClr val="7030A0"/>
                </a:solidFill>
              </a:rPr>
              <a:t>is an </a:t>
            </a:r>
            <a:r>
              <a:rPr lang="en-US" sz="2000" dirty="0">
                <a:solidFill>
                  <a:srgbClr val="7030A0"/>
                </a:solidFill>
                <a:highlight>
                  <a:srgbClr val="FFFF00"/>
                </a:highlight>
              </a:rPr>
              <a:t>error from erroneous assumptions in the learning algorithm. High bias can cause an algorithm to miss the relevant relations between features and target outputs (underfitting).</a:t>
            </a:r>
          </a:p>
          <a:p>
            <a:pPr marL="0" indent="0">
              <a:buNone/>
            </a:pPr>
            <a:r>
              <a:rPr lang="en-US" sz="2000" dirty="0">
                <a:solidFill>
                  <a:srgbClr val="00B050"/>
                </a:solidFill>
              </a:rPr>
              <a:t>The variance is an </a:t>
            </a:r>
            <a:r>
              <a:rPr lang="en-US" sz="2000" dirty="0">
                <a:solidFill>
                  <a:srgbClr val="00B050"/>
                </a:solidFill>
                <a:highlight>
                  <a:srgbClr val="FFFF00"/>
                </a:highlight>
              </a:rPr>
              <a:t>error from sensitivity to small fluctuations in the training set. High variance may result from an algorithm modeling the random noise in the training data (overfitting</a:t>
            </a:r>
            <a:r>
              <a:rPr lang="en-US" sz="2000" dirty="0">
                <a:solidFill>
                  <a:srgbClr val="00B050"/>
                </a:solidFill>
              </a:rPr>
              <a:t>).</a:t>
            </a:r>
          </a:p>
          <a:p>
            <a:pPr marL="0" indent="0">
              <a:buNone/>
            </a:pPr>
            <a:endParaRPr lang="en-US" dirty="0">
              <a:solidFill>
                <a:srgbClr val="00B050"/>
              </a:solidFill>
            </a:endParaRPr>
          </a:p>
        </p:txBody>
      </p:sp>
      <p:sp>
        <p:nvSpPr>
          <p:cNvPr id="3" name="TextBox 2">
            <a:extLst>
              <a:ext uri="{FF2B5EF4-FFF2-40B4-BE49-F238E27FC236}">
                <a16:creationId xmlns:a16="http://schemas.microsoft.com/office/drawing/2014/main" id="{7CD929C4-7D60-D3D3-6E05-28D25490A818}"/>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Major Issues</a:t>
            </a:r>
            <a:endParaRPr lang="en-IN" sz="4000" dirty="0">
              <a:solidFill>
                <a:schemeClr val="bg1"/>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F814313D-D5FF-F9E8-FDE8-239159AAF348}"/>
              </a:ext>
            </a:extLst>
          </p:cNvPr>
          <p:cNvSpPr txBox="1"/>
          <p:nvPr/>
        </p:nvSpPr>
        <p:spPr>
          <a:xfrm>
            <a:off x="1345810" y="3281287"/>
            <a:ext cx="9876372" cy="1938992"/>
          </a:xfrm>
          <a:prstGeom prst="rect">
            <a:avLst/>
          </a:prstGeom>
          <a:noFill/>
          <a:ln>
            <a:solidFill>
              <a:srgbClr val="FF0000"/>
            </a:solidFill>
          </a:ln>
        </p:spPr>
        <p:txBody>
          <a:bodyPr wrap="square">
            <a:spAutoFit/>
          </a:bodyPr>
          <a:lstStyle/>
          <a:p>
            <a:pPr algn="just"/>
            <a:r>
              <a:rPr lang="en-US" sz="2000" dirty="0">
                <a:latin typeface="Arial" panose="020B0604020202020204" pitchFamily="34" charset="0"/>
                <a:cs typeface="Arial" panose="020B0604020202020204" pitchFamily="34" charset="0"/>
              </a:rPr>
              <a:t>As we increase the number of tunable parameters in a model, it becomes more flexible, and can better fit a training data set. It is said to have lower error, or bias. </a:t>
            </a:r>
          </a:p>
          <a:p>
            <a:pPr algn="just"/>
            <a:endParaRPr lang="en-US"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However, for more flexible models, there will tend to be greater variance to the model fit each time we take a set of samples to create a new training data set. It is said that there is greater variance in the model's estimated parameters.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8626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012A35-6B8F-9015-A062-22D9F8A77F26}"/>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F95B7138-E9A8-B934-B1E2-B82C2884B693}"/>
              </a:ext>
            </a:extLst>
          </p:cNvPr>
          <p:cNvPicPr>
            <a:picLocks noChangeAspect="1"/>
          </p:cNvPicPr>
          <p:nvPr/>
        </p:nvPicPr>
        <p:blipFill>
          <a:blip r:embed="rId2"/>
          <a:stretch>
            <a:fillRect/>
          </a:stretch>
        </p:blipFill>
        <p:spPr>
          <a:xfrm>
            <a:off x="330927" y="2079604"/>
            <a:ext cx="5745791" cy="3433170"/>
          </a:xfrm>
          <a:prstGeom prst="rect">
            <a:avLst/>
          </a:prstGeom>
        </p:spPr>
      </p:pic>
      <p:pic>
        <p:nvPicPr>
          <p:cNvPr id="10" name="Picture 9">
            <a:extLst>
              <a:ext uri="{FF2B5EF4-FFF2-40B4-BE49-F238E27FC236}">
                <a16:creationId xmlns:a16="http://schemas.microsoft.com/office/drawing/2014/main" id="{E42C47BD-77C3-1EF1-77F3-9655A02B06DC}"/>
              </a:ext>
            </a:extLst>
          </p:cNvPr>
          <p:cNvPicPr>
            <a:picLocks noChangeAspect="1"/>
          </p:cNvPicPr>
          <p:nvPr/>
        </p:nvPicPr>
        <p:blipFill>
          <a:blip r:embed="rId3"/>
          <a:stretch>
            <a:fillRect/>
          </a:stretch>
        </p:blipFill>
        <p:spPr>
          <a:xfrm>
            <a:off x="6096000" y="2079604"/>
            <a:ext cx="6145496" cy="3433170"/>
          </a:xfrm>
          <a:prstGeom prst="rect">
            <a:avLst/>
          </a:prstGeom>
        </p:spPr>
      </p:pic>
    </p:spTree>
    <p:extLst>
      <p:ext uri="{BB962C8B-B14F-4D97-AF65-F5344CB8AC3E}">
        <p14:creationId xmlns:p14="http://schemas.microsoft.com/office/powerpoint/2010/main" val="3067647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F5E5D1-9B7D-4E7F-CB17-0D911A56A7EA}"/>
              </a:ext>
            </a:extLst>
          </p:cNvPr>
          <p:cNvSpPr>
            <a:spLocks noGrp="1"/>
          </p:cNvSpPr>
          <p:nvPr>
            <p:ph idx="1"/>
          </p:nvPr>
        </p:nvSpPr>
        <p:spPr/>
        <p:txBody>
          <a:bodyPr/>
          <a:lstStyle/>
          <a:p>
            <a:r>
              <a:rPr lang="en-US" dirty="0"/>
              <a:t>Generally, there is a tradeoff between bias and variance.</a:t>
            </a:r>
          </a:p>
          <a:p>
            <a:r>
              <a:rPr lang="en-US" dirty="0"/>
              <a:t> </a:t>
            </a:r>
            <a:r>
              <a:rPr lang="en-US" dirty="0">
                <a:solidFill>
                  <a:srgbClr val="00B050"/>
                </a:solidFill>
              </a:rPr>
              <a:t>A learning algorithm with low bias must be "flexible" so that it can fit the data well. But if the learning algorithm is too flexible, it will fit each training data set differently, and hence have high variance.</a:t>
            </a:r>
          </a:p>
          <a:p>
            <a:r>
              <a:rPr lang="en-US" dirty="0"/>
              <a:t> A key aspect of many supervised learning methods is that they are able to adjust this tradeoff between bias and variance (either automatically or by providing a bias/variance parameter that the user can adjust).</a:t>
            </a:r>
            <a:endParaRPr lang="en-IN" dirty="0"/>
          </a:p>
        </p:txBody>
      </p:sp>
      <p:sp>
        <p:nvSpPr>
          <p:cNvPr id="3" name="TextBox 2">
            <a:extLst>
              <a:ext uri="{FF2B5EF4-FFF2-40B4-BE49-F238E27FC236}">
                <a16:creationId xmlns:a16="http://schemas.microsoft.com/office/drawing/2014/main" id="{BFC2C78A-C15D-44B3-23EA-D269FB0C5562}"/>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Major Issues</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4236904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F5E5D1-9B7D-4E7F-CB17-0D911A56A7EA}"/>
              </a:ext>
            </a:extLst>
          </p:cNvPr>
          <p:cNvSpPr>
            <a:spLocks noGrp="1"/>
          </p:cNvSpPr>
          <p:nvPr>
            <p:ph idx="1"/>
          </p:nvPr>
        </p:nvSpPr>
        <p:spPr/>
        <p:txBody>
          <a:bodyPr/>
          <a:lstStyle/>
          <a:p>
            <a:r>
              <a:rPr lang="en-US" b="1" dirty="0">
                <a:solidFill>
                  <a:srgbClr val="FF0000"/>
                </a:solidFill>
              </a:rPr>
              <a:t>Issue 2: Function complexity and amount of training data</a:t>
            </a:r>
          </a:p>
          <a:p>
            <a:r>
              <a:rPr lang="en-US" dirty="0">
                <a:highlight>
                  <a:srgbClr val="FFFF00"/>
                </a:highlight>
              </a:rPr>
              <a:t>The amount of training data available relative to the complexity of the "true" function</a:t>
            </a:r>
            <a:r>
              <a:rPr lang="en-US" dirty="0"/>
              <a:t>.</a:t>
            </a:r>
          </a:p>
          <a:p>
            <a:endParaRPr lang="en-US" dirty="0"/>
          </a:p>
          <a:p>
            <a:r>
              <a:rPr lang="en-US" dirty="0"/>
              <a:t> If the </a:t>
            </a:r>
            <a:r>
              <a:rPr lang="en-US" dirty="0">
                <a:highlight>
                  <a:srgbClr val="00FF00"/>
                </a:highlight>
              </a:rPr>
              <a:t>true function is simple, then an "inflexible" learning algorithm with high bias and low variance will be able to learn it from a small amount of data</a:t>
            </a:r>
            <a:r>
              <a:rPr lang="en-US" dirty="0"/>
              <a:t>.</a:t>
            </a:r>
          </a:p>
          <a:p>
            <a:endParaRPr lang="en-US" dirty="0"/>
          </a:p>
          <a:p>
            <a:r>
              <a:rPr lang="en-US" dirty="0">
                <a:highlight>
                  <a:srgbClr val="00FFFF"/>
                </a:highlight>
              </a:rPr>
              <a:t>if the true function is highly complex, then the function will only be able to learn with a large amount of training data paired with a "flexible" learning algorithm</a:t>
            </a:r>
            <a:r>
              <a:rPr lang="en-US" dirty="0"/>
              <a:t> with low bias and high variance.</a:t>
            </a:r>
            <a:endParaRPr lang="en-IN" dirty="0"/>
          </a:p>
        </p:txBody>
      </p:sp>
      <p:sp>
        <p:nvSpPr>
          <p:cNvPr id="3" name="TextBox 2">
            <a:extLst>
              <a:ext uri="{FF2B5EF4-FFF2-40B4-BE49-F238E27FC236}">
                <a16:creationId xmlns:a16="http://schemas.microsoft.com/office/drawing/2014/main" id="{BFC2C78A-C15D-44B3-23EA-D269FB0C5562}"/>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Major Issues</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3978857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6E0459-1EF8-9973-818C-00B9940DE72A}"/>
              </a:ext>
            </a:extLst>
          </p:cNvPr>
          <p:cNvSpPr>
            <a:spLocks noGrp="1"/>
          </p:cNvSpPr>
          <p:nvPr>
            <p:ph idx="1"/>
          </p:nvPr>
        </p:nvSpPr>
        <p:spPr/>
        <p:txBody>
          <a:bodyPr/>
          <a:lstStyle/>
          <a:p>
            <a:r>
              <a:rPr lang="en-US" b="1" dirty="0">
                <a:solidFill>
                  <a:srgbClr val="FF0000"/>
                </a:solidFill>
              </a:rPr>
              <a:t>Issue 3: Dimensionality of the input space</a:t>
            </a:r>
          </a:p>
          <a:p>
            <a:pPr>
              <a:buFont typeface="Wingdings" panose="05000000000000000000" pitchFamily="2" charset="2"/>
              <a:buChar char="§"/>
            </a:pPr>
            <a:r>
              <a:rPr lang="en-US" dirty="0">
                <a:highlight>
                  <a:srgbClr val="FFFF00"/>
                </a:highlight>
              </a:rPr>
              <a:t>If the input feature vectors have large dimensions, learning the function can be difficult even if the true function only depends on a small number of those features.</a:t>
            </a:r>
          </a:p>
          <a:p>
            <a:pPr>
              <a:buFont typeface="Wingdings" panose="05000000000000000000" pitchFamily="2" charset="2"/>
              <a:buChar char="§"/>
            </a:pPr>
            <a:r>
              <a:rPr lang="en-US" dirty="0"/>
              <a:t>The </a:t>
            </a:r>
            <a:r>
              <a:rPr lang="en-US" dirty="0">
                <a:highlight>
                  <a:srgbClr val="00FFFF"/>
                </a:highlight>
              </a:rPr>
              <a:t>many "extra" dimensions can confuse the learning algorithm and cause it to have high variance.</a:t>
            </a:r>
          </a:p>
          <a:p>
            <a:pPr>
              <a:buFont typeface="Wingdings" panose="05000000000000000000" pitchFamily="2" charset="2"/>
              <a:buChar char="§"/>
            </a:pPr>
            <a:r>
              <a:rPr lang="en-US" dirty="0"/>
              <a:t>Engineer can manually remove irrelevant features from the input data, it will likely improve the accuracy of the learned function. In addition, there are many algorithms for feature selection</a:t>
            </a:r>
            <a:endParaRPr lang="en-IN" dirty="0"/>
          </a:p>
        </p:txBody>
      </p:sp>
      <p:sp>
        <p:nvSpPr>
          <p:cNvPr id="3" name="TextBox 2">
            <a:extLst>
              <a:ext uri="{FF2B5EF4-FFF2-40B4-BE49-F238E27FC236}">
                <a16:creationId xmlns:a16="http://schemas.microsoft.com/office/drawing/2014/main" id="{BAB180C3-5D03-763F-BFB6-B54294797536}"/>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Major Issues</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3805504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6E0459-1EF8-9973-818C-00B9940DE72A}"/>
              </a:ext>
            </a:extLst>
          </p:cNvPr>
          <p:cNvSpPr>
            <a:spLocks noGrp="1"/>
          </p:cNvSpPr>
          <p:nvPr>
            <p:ph idx="1"/>
          </p:nvPr>
        </p:nvSpPr>
        <p:spPr/>
        <p:txBody>
          <a:bodyPr/>
          <a:lstStyle/>
          <a:p>
            <a:r>
              <a:rPr lang="en-US" b="1" dirty="0">
                <a:solidFill>
                  <a:srgbClr val="FF0000"/>
                </a:solidFill>
              </a:rPr>
              <a:t>Issue 4: The degree of noise in the desired output values</a:t>
            </a:r>
          </a:p>
          <a:p>
            <a:pPr>
              <a:lnSpc>
                <a:spcPct val="150000"/>
              </a:lnSpc>
              <a:buFont typeface="Wingdings" panose="05000000000000000000" pitchFamily="2" charset="2"/>
              <a:buChar char="§"/>
            </a:pPr>
            <a:r>
              <a:rPr lang="en-US" dirty="0"/>
              <a:t>If the desired output values are often incorrect (because of human error or sensor errors), then the learning algorithm should not attempt to find a function that exactly matches the training examples. Attempting to fit the data too carefully leads to overfitting. </a:t>
            </a:r>
            <a:endParaRPr lang="en-IN" dirty="0"/>
          </a:p>
        </p:txBody>
      </p:sp>
      <p:sp>
        <p:nvSpPr>
          <p:cNvPr id="3" name="TextBox 2">
            <a:extLst>
              <a:ext uri="{FF2B5EF4-FFF2-40B4-BE49-F238E27FC236}">
                <a16:creationId xmlns:a16="http://schemas.microsoft.com/office/drawing/2014/main" id="{BAB180C3-5D03-763F-BFB6-B54294797536}"/>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Major Issues</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710087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6E0459-1EF8-9973-818C-00B9940DE72A}"/>
              </a:ext>
            </a:extLst>
          </p:cNvPr>
          <p:cNvSpPr>
            <a:spLocks noGrp="1"/>
          </p:cNvSpPr>
          <p:nvPr>
            <p:ph idx="1"/>
          </p:nvPr>
        </p:nvSpPr>
        <p:spPr/>
        <p:txBody>
          <a:bodyPr/>
          <a:lstStyle/>
          <a:p>
            <a:pPr marL="0" indent="0">
              <a:buNone/>
            </a:pPr>
            <a:r>
              <a:rPr lang="en-IN" dirty="0"/>
              <a:t>The most widely used learning algorithms are:</a:t>
            </a:r>
          </a:p>
          <a:p>
            <a:r>
              <a:rPr lang="en-IN" dirty="0"/>
              <a:t>Linear regression</a:t>
            </a:r>
          </a:p>
          <a:p>
            <a:r>
              <a:rPr lang="en-IN" dirty="0"/>
              <a:t>Logistic regression</a:t>
            </a:r>
          </a:p>
          <a:p>
            <a:r>
              <a:rPr lang="en-IN" dirty="0"/>
              <a:t>Naive Bayes</a:t>
            </a:r>
          </a:p>
          <a:p>
            <a:r>
              <a:rPr lang="en-IN" dirty="0"/>
              <a:t>Linear discriminant analysis</a:t>
            </a:r>
          </a:p>
          <a:p>
            <a:r>
              <a:rPr lang="en-IN" dirty="0"/>
              <a:t>Decision trees</a:t>
            </a:r>
          </a:p>
          <a:p>
            <a:r>
              <a:rPr lang="en-IN" dirty="0"/>
              <a:t>K-nearest </a:t>
            </a:r>
            <a:r>
              <a:rPr lang="en-IN" dirty="0" err="1"/>
              <a:t>neighbor</a:t>
            </a:r>
            <a:r>
              <a:rPr lang="en-IN" dirty="0"/>
              <a:t> algorithm</a:t>
            </a:r>
          </a:p>
          <a:p>
            <a:r>
              <a:rPr lang="en-IN" dirty="0"/>
              <a:t>Neural networks (Multilayer perceptron)</a:t>
            </a:r>
          </a:p>
          <a:p>
            <a:r>
              <a:rPr lang="en-IN" dirty="0"/>
              <a:t>Support-vector machines</a:t>
            </a:r>
          </a:p>
          <a:p>
            <a:endParaRPr lang="en-IN" dirty="0"/>
          </a:p>
        </p:txBody>
      </p:sp>
      <p:sp>
        <p:nvSpPr>
          <p:cNvPr id="3" name="TextBox 2">
            <a:extLst>
              <a:ext uri="{FF2B5EF4-FFF2-40B4-BE49-F238E27FC236}">
                <a16:creationId xmlns:a16="http://schemas.microsoft.com/office/drawing/2014/main" id="{BAB180C3-5D03-763F-BFB6-B54294797536}"/>
              </a:ext>
            </a:extLst>
          </p:cNvPr>
          <p:cNvSpPr txBox="1"/>
          <p:nvPr/>
        </p:nvSpPr>
        <p:spPr>
          <a:xfrm>
            <a:off x="1277815" y="0"/>
            <a:ext cx="10082911"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Supervised Learning : Algorithms</a:t>
            </a:r>
            <a:endParaRPr lang="en-IN" sz="4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901204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C134A7-EE08-7CCE-F865-892BFBFA1663}"/>
              </a:ext>
            </a:extLst>
          </p:cNvPr>
          <p:cNvPicPr>
            <a:picLocks noChangeAspect="1"/>
          </p:cNvPicPr>
          <p:nvPr/>
        </p:nvPicPr>
        <p:blipFill rotWithShape="1">
          <a:blip r:embed="rId2"/>
          <a:srcRect t="29606"/>
          <a:stretch/>
        </p:blipFill>
        <p:spPr>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4" name="TextBox 3">
            <a:extLst>
              <a:ext uri="{FF2B5EF4-FFF2-40B4-BE49-F238E27FC236}">
                <a16:creationId xmlns:a16="http://schemas.microsoft.com/office/drawing/2014/main" id="{AA312E05-6F55-0FBD-A4B2-DF41E0C3A2E7}"/>
              </a:ext>
            </a:extLst>
          </p:cNvPr>
          <p:cNvSpPr txBox="1"/>
          <p:nvPr/>
        </p:nvSpPr>
        <p:spPr>
          <a:xfrm>
            <a:off x="5162843" y="2489982"/>
            <a:ext cx="184731" cy="369332"/>
          </a:xfrm>
          <a:prstGeom prst="rect">
            <a:avLst/>
          </a:prstGeom>
          <a:noFill/>
        </p:spPr>
        <p:txBody>
          <a:bodyPr wrap="none" rtlCol="0">
            <a:spAutoFit/>
          </a:bodyPr>
          <a:lstStyle/>
          <a:p>
            <a:endParaRPr lang="en-IN"/>
          </a:p>
        </p:txBody>
      </p:sp>
      <p:sp>
        <p:nvSpPr>
          <p:cNvPr id="5" name="Title 4">
            <a:extLst>
              <a:ext uri="{FF2B5EF4-FFF2-40B4-BE49-F238E27FC236}">
                <a16:creationId xmlns:a16="http://schemas.microsoft.com/office/drawing/2014/main" id="{FF9A5106-E47E-9446-76B8-774A71D8F3C8}"/>
              </a:ext>
            </a:extLst>
          </p:cNvPr>
          <p:cNvSpPr>
            <a:spLocks noGrp="1"/>
          </p:cNvSpPr>
          <p:nvPr>
            <p:ph type="ctrTitle"/>
          </p:nvPr>
        </p:nvSpPr>
        <p:spPr>
          <a:xfrm>
            <a:off x="0" y="1973791"/>
            <a:ext cx="8933796" cy="2437232"/>
          </a:xfrm>
        </p:spPr>
        <p:txBody>
          <a:bodyPr/>
          <a:lstStyle/>
          <a:p>
            <a:pPr algn="l"/>
            <a:r>
              <a:rPr lang="en-US" b="1" dirty="0">
                <a:solidFill>
                  <a:srgbClr val="FF0000"/>
                </a:solidFill>
              </a:rPr>
              <a:t>Linear</a:t>
            </a:r>
            <a:br>
              <a:rPr lang="en-US" b="1" dirty="0">
                <a:solidFill>
                  <a:srgbClr val="FF0000"/>
                </a:solidFill>
              </a:rPr>
            </a:br>
            <a:r>
              <a:rPr lang="en-US" b="1" dirty="0">
                <a:solidFill>
                  <a:srgbClr val="FF0000"/>
                </a:solidFill>
              </a:rPr>
              <a:t>regression</a:t>
            </a:r>
            <a:endParaRPr lang="en-IN" b="1" dirty="0">
              <a:solidFill>
                <a:srgbClr val="FF0000"/>
              </a:solidFill>
            </a:endParaRPr>
          </a:p>
        </p:txBody>
      </p:sp>
      <p:sp>
        <p:nvSpPr>
          <p:cNvPr id="6" name="Subtitle 5">
            <a:extLst>
              <a:ext uri="{FF2B5EF4-FFF2-40B4-BE49-F238E27FC236}">
                <a16:creationId xmlns:a16="http://schemas.microsoft.com/office/drawing/2014/main" id="{CC79C52A-AF47-DF99-6AC3-C2D0006AC6D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17080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B073D-44D7-EBA4-5524-77832C730972}"/>
              </a:ext>
            </a:extLst>
          </p:cNvPr>
          <p:cNvSpPr>
            <a:spLocks noGrp="1"/>
          </p:cNvSpPr>
          <p:nvPr>
            <p:ph type="title"/>
          </p:nvPr>
        </p:nvSpPr>
        <p:spPr>
          <a:xfrm>
            <a:off x="1066800" y="642594"/>
            <a:ext cx="10058400" cy="715151"/>
          </a:xfrm>
        </p:spPr>
        <p:txBody>
          <a:bodyPr/>
          <a:lstStyle/>
          <a:p>
            <a:r>
              <a:rPr lang="en-IN" dirty="0"/>
              <a:t>Simple Linear Regression (SLR)</a:t>
            </a:r>
          </a:p>
        </p:txBody>
      </p:sp>
      <p:sp>
        <p:nvSpPr>
          <p:cNvPr id="3" name="Content Placeholder 2">
            <a:extLst>
              <a:ext uri="{FF2B5EF4-FFF2-40B4-BE49-F238E27FC236}">
                <a16:creationId xmlns:a16="http://schemas.microsoft.com/office/drawing/2014/main" id="{60B3B3BF-E946-7480-0192-E751E5E81C93}"/>
              </a:ext>
            </a:extLst>
          </p:cNvPr>
          <p:cNvSpPr>
            <a:spLocks noGrp="1"/>
          </p:cNvSpPr>
          <p:nvPr>
            <p:ph idx="1"/>
          </p:nvPr>
        </p:nvSpPr>
        <p:spPr>
          <a:xfrm>
            <a:off x="511592" y="1867593"/>
            <a:ext cx="11168816" cy="3849624"/>
          </a:xfrm>
        </p:spPr>
        <p:txBody>
          <a:bodyPr>
            <a:normAutofit/>
          </a:bodyPr>
          <a:lstStyle/>
          <a:p>
            <a:r>
              <a:rPr lang="en-IN" sz="2400" dirty="0">
                <a:highlight>
                  <a:srgbClr val="FF00FF"/>
                </a:highlight>
              </a:rPr>
              <a:t>For a given dataset of n statistical units</a:t>
            </a:r>
          </a:p>
          <a:p>
            <a:endParaRPr lang="en-IN" sz="2400" dirty="0">
              <a:highlight>
                <a:srgbClr val="FF00FF"/>
              </a:highlight>
            </a:endParaRPr>
          </a:p>
          <a:p>
            <a:pPr marL="0" indent="0">
              <a:buNone/>
            </a:pPr>
            <a:r>
              <a:rPr lang="en-US" sz="2400" dirty="0">
                <a:highlight>
                  <a:srgbClr val="FF00FF"/>
                </a:highlight>
              </a:rPr>
              <a:t>a linear regression model assumes that the relationship between the dependent variable y and the vector of regressors x is linear.</a:t>
            </a:r>
          </a:p>
          <a:p>
            <a:pPr marL="0" indent="0">
              <a:buNone/>
            </a:pPr>
            <a:r>
              <a:rPr lang="en-US" sz="2400" dirty="0">
                <a:highlight>
                  <a:srgbClr val="FF00FF"/>
                </a:highlight>
              </a:rPr>
              <a:t>So the model is </a:t>
            </a:r>
            <a:endParaRPr lang="en-IN" sz="2400" dirty="0">
              <a:highlight>
                <a:srgbClr val="FF00FF"/>
              </a:highlight>
            </a:endParaRPr>
          </a:p>
          <a:p>
            <a:endParaRPr lang="en-IN" sz="3200" dirty="0"/>
          </a:p>
          <a:p>
            <a:r>
              <a:rPr lang="en-US" sz="2400" b="0" i="0" dirty="0">
                <a:solidFill>
                  <a:srgbClr val="202122"/>
                </a:solidFill>
                <a:effectLst/>
                <a:latin typeface="Arial" panose="020B0604020202020204" pitchFamily="34" charset="0"/>
              </a:rPr>
              <a:t>where </a:t>
            </a:r>
            <a:r>
              <a:rPr lang="en-US" sz="2400" b="0" i="0" baseline="30000" dirty="0">
                <a:solidFill>
                  <a:srgbClr val="202122"/>
                </a:solidFill>
                <a:effectLst/>
                <a:latin typeface="Arial" panose="020B0604020202020204" pitchFamily="34" charset="0"/>
              </a:rPr>
              <a:t>T</a:t>
            </a:r>
            <a:r>
              <a:rPr lang="en-US" sz="2400" b="0" i="0" dirty="0">
                <a:solidFill>
                  <a:srgbClr val="202122"/>
                </a:solidFill>
                <a:effectLst/>
                <a:latin typeface="Arial" panose="020B0604020202020204" pitchFamily="34" charset="0"/>
              </a:rPr>
              <a:t> denotes the </a:t>
            </a:r>
            <a:r>
              <a:rPr lang="en-US" sz="2400" b="0" i="0" u="none" strike="noStrike" dirty="0">
                <a:effectLst/>
                <a:latin typeface="Arial" panose="020B0604020202020204" pitchFamily="34" charset="0"/>
              </a:rPr>
              <a:t>transpose</a:t>
            </a:r>
            <a:endParaRPr lang="en-IN" sz="2400" dirty="0"/>
          </a:p>
          <a:p>
            <a:endParaRPr lang="en-IN" sz="3200" dirty="0"/>
          </a:p>
        </p:txBody>
      </p:sp>
      <p:pic>
        <p:nvPicPr>
          <p:cNvPr id="4" name="Picture 3">
            <a:extLst>
              <a:ext uri="{FF2B5EF4-FFF2-40B4-BE49-F238E27FC236}">
                <a16:creationId xmlns:a16="http://schemas.microsoft.com/office/drawing/2014/main" id="{965FCFAB-5811-6553-747B-7D96FD9D7C5D}"/>
              </a:ext>
            </a:extLst>
          </p:cNvPr>
          <p:cNvPicPr>
            <a:picLocks noChangeAspect="1"/>
          </p:cNvPicPr>
          <p:nvPr/>
        </p:nvPicPr>
        <p:blipFill>
          <a:blip r:embed="rId2"/>
          <a:stretch>
            <a:fillRect/>
          </a:stretch>
        </p:blipFill>
        <p:spPr>
          <a:xfrm>
            <a:off x="3671141" y="2382982"/>
            <a:ext cx="2846989" cy="444211"/>
          </a:xfrm>
          <a:prstGeom prst="rect">
            <a:avLst/>
          </a:prstGeom>
        </p:spPr>
      </p:pic>
      <p:pic>
        <p:nvPicPr>
          <p:cNvPr id="5" name="Picture 4">
            <a:extLst>
              <a:ext uri="{FF2B5EF4-FFF2-40B4-BE49-F238E27FC236}">
                <a16:creationId xmlns:a16="http://schemas.microsoft.com/office/drawing/2014/main" id="{FAC72D87-A8B3-495A-A4D6-CB07D4D3B63D}"/>
              </a:ext>
            </a:extLst>
          </p:cNvPr>
          <p:cNvPicPr>
            <a:picLocks noChangeAspect="1"/>
          </p:cNvPicPr>
          <p:nvPr/>
        </p:nvPicPr>
        <p:blipFill>
          <a:blip r:embed="rId3"/>
          <a:stretch>
            <a:fillRect/>
          </a:stretch>
        </p:blipFill>
        <p:spPr>
          <a:xfrm>
            <a:off x="1884218" y="4192784"/>
            <a:ext cx="8864906" cy="444211"/>
          </a:xfrm>
          <a:prstGeom prst="rect">
            <a:avLst/>
          </a:prstGeom>
        </p:spPr>
      </p:pic>
    </p:spTree>
    <p:extLst>
      <p:ext uri="{BB962C8B-B14F-4D97-AF65-F5344CB8AC3E}">
        <p14:creationId xmlns:p14="http://schemas.microsoft.com/office/powerpoint/2010/main" val="4238200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D33F-BC88-E935-A200-B0EF77750420}"/>
              </a:ext>
            </a:extLst>
          </p:cNvPr>
          <p:cNvSpPr>
            <a:spLocks noGrp="1"/>
          </p:cNvSpPr>
          <p:nvPr>
            <p:ph type="title"/>
          </p:nvPr>
        </p:nvSpPr>
        <p:spPr>
          <a:xfrm>
            <a:off x="1066800" y="525413"/>
            <a:ext cx="10058400" cy="1020012"/>
          </a:xfrm>
        </p:spPr>
        <p:txBody>
          <a:bodyPr/>
          <a:lstStyle/>
          <a:p>
            <a:r>
              <a:rPr lang="en-IN" dirty="0"/>
              <a:t>Linear Regression(LR)</a:t>
            </a:r>
          </a:p>
        </p:txBody>
      </p:sp>
      <p:sp>
        <p:nvSpPr>
          <p:cNvPr id="3" name="Content Placeholder 2">
            <a:extLst>
              <a:ext uri="{FF2B5EF4-FFF2-40B4-BE49-F238E27FC236}">
                <a16:creationId xmlns:a16="http://schemas.microsoft.com/office/drawing/2014/main" id="{90E41CAD-FD07-FF7B-B6C6-928EDDE7C358}"/>
              </a:ext>
            </a:extLst>
          </p:cNvPr>
          <p:cNvSpPr>
            <a:spLocks noGrp="1"/>
          </p:cNvSpPr>
          <p:nvPr>
            <p:ph idx="1"/>
          </p:nvPr>
        </p:nvSpPr>
        <p:spPr>
          <a:xfrm>
            <a:off x="928255" y="2014194"/>
            <a:ext cx="10058400" cy="3849624"/>
          </a:xfrm>
        </p:spPr>
        <p:txBody>
          <a:bodyPr/>
          <a:lstStyle/>
          <a:p>
            <a:r>
              <a:rPr lang="en-US" sz="2400" dirty="0">
                <a:highlight>
                  <a:srgbClr val="00FF00"/>
                </a:highlight>
              </a:rPr>
              <a:t>Often these n equations are stacked together and written in matrix notation as                               where </a:t>
            </a:r>
          </a:p>
          <a:p>
            <a:endParaRPr lang="en-IN" dirty="0"/>
          </a:p>
        </p:txBody>
      </p:sp>
      <p:pic>
        <p:nvPicPr>
          <p:cNvPr id="4" name="Picture 3">
            <a:extLst>
              <a:ext uri="{FF2B5EF4-FFF2-40B4-BE49-F238E27FC236}">
                <a16:creationId xmlns:a16="http://schemas.microsoft.com/office/drawing/2014/main" id="{5C9102E4-159A-A4E9-E144-20163504A907}"/>
              </a:ext>
            </a:extLst>
          </p:cNvPr>
          <p:cNvPicPr>
            <a:picLocks noChangeAspect="1"/>
          </p:cNvPicPr>
          <p:nvPr/>
        </p:nvPicPr>
        <p:blipFill>
          <a:blip r:embed="rId2"/>
          <a:stretch>
            <a:fillRect/>
          </a:stretch>
        </p:blipFill>
        <p:spPr>
          <a:xfrm>
            <a:off x="1205345" y="1569983"/>
            <a:ext cx="8864906" cy="444211"/>
          </a:xfrm>
          <a:prstGeom prst="rect">
            <a:avLst/>
          </a:prstGeom>
        </p:spPr>
      </p:pic>
      <p:pic>
        <p:nvPicPr>
          <p:cNvPr id="5" name="Picture 4">
            <a:extLst>
              <a:ext uri="{FF2B5EF4-FFF2-40B4-BE49-F238E27FC236}">
                <a16:creationId xmlns:a16="http://schemas.microsoft.com/office/drawing/2014/main" id="{84E159E3-54CF-47C8-729E-F07899675371}"/>
              </a:ext>
            </a:extLst>
          </p:cNvPr>
          <p:cNvPicPr>
            <a:picLocks noChangeAspect="1"/>
          </p:cNvPicPr>
          <p:nvPr/>
        </p:nvPicPr>
        <p:blipFill>
          <a:blip r:embed="rId3"/>
          <a:stretch>
            <a:fillRect/>
          </a:stretch>
        </p:blipFill>
        <p:spPr>
          <a:xfrm>
            <a:off x="2891270" y="2458405"/>
            <a:ext cx="2206258" cy="422475"/>
          </a:xfrm>
          <a:prstGeom prst="rect">
            <a:avLst/>
          </a:prstGeom>
        </p:spPr>
      </p:pic>
      <p:pic>
        <p:nvPicPr>
          <p:cNvPr id="6" name="Picture 5">
            <a:extLst>
              <a:ext uri="{FF2B5EF4-FFF2-40B4-BE49-F238E27FC236}">
                <a16:creationId xmlns:a16="http://schemas.microsoft.com/office/drawing/2014/main" id="{2C880676-3C24-4CA0-215A-69F443C7C9C3}"/>
              </a:ext>
            </a:extLst>
          </p:cNvPr>
          <p:cNvPicPr>
            <a:picLocks noChangeAspect="1"/>
          </p:cNvPicPr>
          <p:nvPr/>
        </p:nvPicPr>
        <p:blipFill>
          <a:blip r:embed="rId4"/>
          <a:stretch>
            <a:fillRect/>
          </a:stretch>
        </p:blipFill>
        <p:spPr>
          <a:xfrm>
            <a:off x="789709" y="2924857"/>
            <a:ext cx="2101561" cy="2123005"/>
          </a:xfrm>
          <a:prstGeom prst="rect">
            <a:avLst/>
          </a:prstGeom>
        </p:spPr>
      </p:pic>
      <p:pic>
        <p:nvPicPr>
          <p:cNvPr id="7" name="Picture 6">
            <a:extLst>
              <a:ext uri="{FF2B5EF4-FFF2-40B4-BE49-F238E27FC236}">
                <a16:creationId xmlns:a16="http://schemas.microsoft.com/office/drawing/2014/main" id="{E6D2B1C4-F89C-1F96-C689-F0C9CF537919}"/>
              </a:ext>
            </a:extLst>
          </p:cNvPr>
          <p:cNvPicPr>
            <a:picLocks noChangeAspect="1"/>
          </p:cNvPicPr>
          <p:nvPr/>
        </p:nvPicPr>
        <p:blipFill>
          <a:blip r:embed="rId5"/>
          <a:stretch>
            <a:fillRect/>
          </a:stretch>
        </p:blipFill>
        <p:spPr>
          <a:xfrm>
            <a:off x="2785084" y="3135262"/>
            <a:ext cx="4624887" cy="1843000"/>
          </a:xfrm>
          <a:prstGeom prst="rect">
            <a:avLst/>
          </a:prstGeom>
        </p:spPr>
      </p:pic>
      <p:pic>
        <p:nvPicPr>
          <p:cNvPr id="8" name="Picture 7">
            <a:extLst>
              <a:ext uri="{FF2B5EF4-FFF2-40B4-BE49-F238E27FC236}">
                <a16:creationId xmlns:a16="http://schemas.microsoft.com/office/drawing/2014/main" id="{FEDB6A46-D041-583A-4BD0-8C0BD378371B}"/>
              </a:ext>
            </a:extLst>
          </p:cNvPr>
          <p:cNvPicPr>
            <a:picLocks noChangeAspect="1"/>
          </p:cNvPicPr>
          <p:nvPr/>
        </p:nvPicPr>
        <p:blipFill>
          <a:blip r:embed="rId6"/>
          <a:stretch>
            <a:fillRect/>
          </a:stretch>
        </p:blipFill>
        <p:spPr>
          <a:xfrm>
            <a:off x="7542774" y="2880880"/>
            <a:ext cx="3086391" cy="2097382"/>
          </a:xfrm>
          <a:prstGeom prst="rect">
            <a:avLst/>
          </a:prstGeom>
        </p:spPr>
      </p:pic>
    </p:spTree>
    <p:extLst>
      <p:ext uri="{BB962C8B-B14F-4D97-AF65-F5344CB8AC3E}">
        <p14:creationId xmlns:p14="http://schemas.microsoft.com/office/powerpoint/2010/main" val="1993228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A46A-4170-C22D-E821-7349C4F12499}"/>
              </a:ext>
            </a:extLst>
          </p:cNvPr>
          <p:cNvSpPr>
            <a:spLocks noGrp="1"/>
          </p:cNvSpPr>
          <p:nvPr>
            <p:ph type="title"/>
          </p:nvPr>
        </p:nvSpPr>
        <p:spPr/>
        <p:txBody>
          <a:bodyPr/>
          <a:lstStyle/>
          <a:p>
            <a:r>
              <a:rPr lang="en-IN" dirty="0"/>
              <a:t>Notation and terminology for LR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9D714B-28D3-D05A-D71E-43A3FE96B5F1}"/>
                  </a:ext>
                </a:extLst>
              </p:cNvPr>
              <p:cNvSpPr>
                <a:spLocks noGrp="1"/>
              </p:cNvSpPr>
              <p:nvPr>
                <p:ph idx="1"/>
              </p:nvPr>
            </p:nvSpPr>
            <p:spPr>
              <a:xfrm>
                <a:off x="713509" y="1729048"/>
                <a:ext cx="11090564" cy="4671752"/>
              </a:xfrm>
            </p:spPr>
            <p:txBody>
              <a:bodyPr>
                <a:normAutofit/>
              </a:bodyPr>
              <a:lstStyle/>
              <a:p>
                <a14:m>
                  <m:oMath xmlns:m="http://schemas.openxmlformats.org/officeDocument/2006/math">
                    <m:r>
                      <a:rPr lang="en-IN" sz="2400" b="1" i="1" smtClean="0">
                        <a:highlight>
                          <a:srgbClr val="00FFFF"/>
                        </a:highlight>
                        <a:latin typeface="Cambria Math" panose="02040503050406030204" pitchFamily="18" charset="0"/>
                      </a:rPr>
                      <m:t>𝒚</m:t>
                    </m:r>
                  </m:oMath>
                </a14:m>
                <a:r>
                  <a:rPr lang="en-IN" sz="2400" dirty="0">
                    <a:highlight>
                      <a:srgbClr val="00FFFF"/>
                    </a:highlight>
                  </a:rPr>
                  <a:t> is a vector of observed values </a:t>
                </a:r>
              </a:p>
              <a:p>
                <a:endParaRPr lang="en-IN" sz="2400" dirty="0">
                  <a:highlight>
                    <a:srgbClr val="00FFFF"/>
                  </a:highlight>
                </a:endParaRPr>
              </a:p>
              <a:p>
                <a:pPr marL="0" indent="0">
                  <a:buNone/>
                </a:pPr>
                <a:r>
                  <a:rPr lang="en-IN" sz="2400" dirty="0">
                    <a:highlight>
                      <a:srgbClr val="00FFFF"/>
                    </a:highlight>
                  </a:rPr>
                  <a:t>of the variable called the response variable, measured variable, predicted variable, or dependent variable.</a:t>
                </a:r>
              </a:p>
              <a:p>
                <a14:m>
                  <m:oMath xmlns:m="http://schemas.openxmlformats.org/officeDocument/2006/math">
                    <m:r>
                      <a:rPr lang="en-IN" sz="2400" b="1" i="1" smtClean="0">
                        <a:highlight>
                          <a:srgbClr val="00FF00"/>
                        </a:highlight>
                        <a:latin typeface="Cambria Math" panose="02040503050406030204" pitchFamily="18" charset="0"/>
                      </a:rPr>
                      <m:t>𝑿</m:t>
                    </m:r>
                  </m:oMath>
                </a14:m>
                <a:r>
                  <a:rPr lang="en-US" sz="2400" dirty="0">
                    <a:highlight>
                      <a:srgbClr val="00FF00"/>
                    </a:highlight>
                  </a:rPr>
                  <a:t> may be seen as a matrix of row-vectors, called independent variables or predictor variables</a:t>
                </a:r>
              </a:p>
              <a:p>
                <a14:m>
                  <m:oMath xmlns:m="http://schemas.openxmlformats.org/officeDocument/2006/math">
                    <m:r>
                      <a:rPr lang="en-IN" sz="2400" b="1" i="1" smtClean="0">
                        <a:highlight>
                          <a:srgbClr val="00FF00"/>
                        </a:highlight>
                        <a:latin typeface="Cambria Math" panose="02040503050406030204" pitchFamily="18" charset="0"/>
                        <a:ea typeface="Cambria Math" panose="02040503050406030204" pitchFamily="18" charset="0"/>
                      </a:rPr>
                      <m:t>𝜷</m:t>
                    </m:r>
                  </m:oMath>
                </a14:m>
                <a:r>
                  <a:rPr lang="en-IN" sz="2400" b="1" dirty="0">
                    <a:highlight>
                      <a:srgbClr val="00FF00"/>
                    </a:highlight>
                  </a:rPr>
                  <a:t> </a:t>
                </a:r>
                <a:r>
                  <a:rPr lang="en-IN" sz="2400" dirty="0">
                    <a:highlight>
                      <a:srgbClr val="00FF00"/>
                    </a:highlight>
                  </a:rPr>
                  <a:t>is a parameter vector, known as regression slope in SLR</a:t>
                </a:r>
              </a:p>
              <a:p>
                <a14:m>
                  <m:oMath xmlns:m="http://schemas.openxmlformats.org/officeDocument/2006/math">
                    <m:r>
                      <a:rPr lang="en-IN" sz="2400" i="1" smtClean="0">
                        <a:highlight>
                          <a:srgbClr val="00FF00"/>
                        </a:highlight>
                        <a:latin typeface="Cambria Math" panose="02040503050406030204" pitchFamily="18" charset="0"/>
                        <a:ea typeface="Cambria Math" panose="02040503050406030204" pitchFamily="18" charset="0"/>
                      </a:rPr>
                      <m:t>𝜀</m:t>
                    </m:r>
                  </m:oMath>
                </a14:m>
                <a:r>
                  <a:rPr lang="en-IN" sz="2400" dirty="0">
                    <a:highlight>
                      <a:srgbClr val="00FF00"/>
                    </a:highlight>
                  </a:rPr>
                  <a:t> is a vector </a:t>
                </a:r>
                <a:r>
                  <a:rPr lang="en-US" sz="2400" dirty="0">
                    <a:highlight>
                      <a:srgbClr val="00FF00"/>
                    </a:highlight>
                  </a:rPr>
                  <a:t>called the error term, disturbance term, or sometimes noise</a:t>
                </a:r>
                <a:endParaRPr lang="en-IN" sz="2400" dirty="0">
                  <a:highlight>
                    <a:srgbClr val="00FF00"/>
                  </a:highlight>
                </a:endParaRPr>
              </a:p>
            </p:txBody>
          </p:sp>
        </mc:Choice>
        <mc:Fallback xmlns="">
          <p:sp>
            <p:nvSpPr>
              <p:cNvPr id="3" name="Content Placeholder 2">
                <a:extLst>
                  <a:ext uri="{FF2B5EF4-FFF2-40B4-BE49-F238E27FC236}">
                    <a16:creationId xmlns:a16="http://schemas.microsoft.com/office/drawing/2014/main" id="{B89D714B-28D3-D05A-D71E-43A3FE96B5F1}"/>
                  </a:ext>
                </a:extLst>
              </p:cNvPr>
              <p:cNvSpPr>
                <a:spLocks noGrp="1" noRot="1" noChangeAspect="1" noMove="1" noResize="1" noEditPoints="1" noAdjustHandles="1" noChangeArrowheads="1" noChangeShapeType="1" noTextEdit="1"/>
              </p:cNvSpPr>
              <p:nvPr>
                <p:ph idx="1"/>
              </p:nvPr>
            </p:nvSpPr>
            <p:spPr>
              <a:xfrm>
                <a:off x="713509" y="1729048"/>
                <a:ext cx="11090564" cy="4671752"/>
              </a:xfrm>
              <a:blipFill>
                <a:blip r:embed="rId2"/>
                <a:stretch>
                  <a:fillRect l="-825" t="-653"/>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594830E0-01FA-6138-8E37-C51705F573B4}"/>
              </a:ext>
            </a:extLst>
          </p:cNvPr>
          <p:cNvPicPr>
            <a:picLocks noChangeAspect="1"/>
          </p:cNvPicPr>
          <p:nvPr/>
        </p:nvPicPr>
        <p:blipFill>
          <a:blip r:embed="rId3"/>
          <a:stretch>
            <a:fillRect/>
          </a:stretch>
        </p:blipFill>
        <p:spPr>
          <a:xfrm>
            <a:off x="4585164" y="2272146"/>
            <a:ext cx="2635652" cy="462395"/>
          </a:xfrm>
          <a:prstGeom prst="rect">
            <a:avLst/>
          </a:prstGeom>
        </p:spPr>
      </p:pic>
    </p:spTree>
    <p:extLst>
      <p:ext uri="{BB962C8B-B14F-4D97-AF65-F5344CB8AC3E}">
        <p14:creationId xmlns:p14="http://schemas.microsoft.com/office/powerpoint/2010/main" val="1655098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6BB5-F8CE-5408-18B3-F4B540E4BD83}"/>
              </a:ext>
            </a:extLst>
          </p:cNvPr>
          <p:cNvSpPr>
            <a:spLocks noGrp="1"/>
          </p:cNvSpPr>
          <p:nvPr>
            <p:ph type="title"/>
          </p:nvPr>
        </p:nvSpPr>
        <p:spPr/>
        <p:txBody>
          <a:bodyPr/>
          <a:lstStyle/>
          <a:p>
            <a:r>
              <a:rPr lang="en-IN" dirty="0"/>
              <a:t>Assumptions of LR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33CC45-A680-616B-60D1-1D4A48777095}"/>
                  </a:ext>
                </a:extLst>
              </p:cNvPr>
              <p:cNvSpPr>
                <a:spLocks noGrp="1"/>
              </p:cNvSpPr>
              <p:nvPr>
                <p:ph idx="1"/>
              </p:nvPr>
            </p:nvSpPr>
            <p:spPr/>
            <p:txBody>
              <a:bodyPr>
                <a:normAutofit/>
              </a:bodyPr>
              <a:lstStyle/>
              <a:p>
                <a:r>
                  <a:rPr lang="en-US" sz="2400" b="1" dirty="0"/>
                  <a:t>Weak exogeneity</a:t>
                </a:r>
                <a:r>
                  <a:rPr lang="en-US" sz="2400" dirty="0"/>
                  <a:t>: This essentially means that the predictor variables </a:t>
                </a:r>
                <a:r>
                  <a:rPr lang="en-US" sz="2400" b="1" i="1" dirty="0">
                    <a:highlight>
                      <a:srgbClr val="FFFF00"/>
                    </a:highlight>
                  </a:rPr>
                  <a:t>x</a:t>
                </a:r>
                <a:r>
                  <a:rPr lang="en-US" sz="2400" dirty="0">
                    <a:highlight>
                      <a:srgbClr val="FFFF00"/>
                    </a:highlight>
                  </a:rPr>
                  <a:t> can be treated as fixed values</a:t>
                </a:r>
                <a:r>
                  <a:rPr lang="en-US" sz="2400" dirty="0"/>
                  <a:t>. </a:t>
                </a:r>
              </a:p>
              <a:p>
                <a:pPr marL="0" indent="0">
                  <a:buNone/>
                </a:pPr>
                <a:r>
                  <a:rPr lang="en-US" sz="2400" dirty="0"/>
                  <a:t>  </a:t>
                </a:r>
                <a:r>
                  <a:rPr lang="en-US" sz="2400" dirty="0">
                    <a:highlight>
                      <a:srgbClr val="00FFFF"/>
                    </a:highlight>
                  </a:rPr>
                  <a:t>For example, the predictor variables are assumed to be error-free—that is, not contaminated with measurement errors</a:t>
                </a:r>
              </a:p>
              <a:p>
                <a:r>
                  <a:rPr lang="en-US" sz="2400" b="1" dirty="0">
                    <a:highlight>
                      <a:srgbClr val="00FFFF"/>
                    </a:highlight>
                  </a:rPr>
                  <a:t>Linearity</a:t>
                </a:r>
                <a:r>
                  <a:rPr lang="en-US" sz="2400" dirty="0">
                    <a:highlight>
                      <a:srgbClr val="00FFFF"/>
                    </a:highlight>
                  </a:rPr>
                  <a:t>: This means that the mean of the response v</a:t>
                </a:r>
                <a:r>
                  <a:rPr lang="en-US" sz="2400" dirty="0"/>
                  <a:t>ariable </a:t>
                </a:r>
                <a14:m>
                  <m:oMath xmlns:m="http://schemas.openxmlformats.org/officeDocument/2006/math">
                    <m:sSub>
                      <m:sSubPr>
                        <m:ctrlPr>
                          <a:rPr lang="en-US" sz="2400" i="1" smtClean="0">
                            <a:highlight>
                              <a:srgbClr val="FFFF00"/>
                            </a:highlight>
                            <a:latin typeface="Cambria Math" panose="02040503050406030204" pitchFamily="18" charset="0"/>
                          </a:rPr>
                        </m:ctrlPr>
                      </m:sSubPr>
                      <m:e>
                        <m:r>
                          <a:rPr lang="en-IN" sz="2400" b="0" i="1" smtClean="0">
                            <a:highlight>
                              <a:srgbClr val="FFFF00"/>
                            </a:highlight>
                            <a:latin typeface="Cambria Math" panose="02040503050406030204" pitchFamily="18" charset="0"/>
                          </a:rPr>
                          <m:t>𝑦</m:t>
                        </m:r>
                      </m:e>
                      <m:sub>
                        <m:r>
                          <a:rPr lang="en-IN" sz="2400" b="0" i="1" smtClean="0">
                            <a:highlight>
                              <a:srgbClr val="FFFF00"/>
                            </a:highlight>
                            <a:latin typeface="Cambria Math" panose="02040503050406030204" pitchFamily="18" charset="0"/>
                          </a:rPr>
                          <m:t>𝑚𝑒𝑎𝑛</m:t>
                        </m:r>
                      </m:sub>
                    </m:sSub>
                  </m:oMath>
                </a14:m>
                <a:r>
                  <a:rPr lang="en-US" sz="2400" dirty="0">
                    <a:highlight>
                      <a:srgbClr val="FFFF00"/>
                    </a:highlight>
                  </a:rPr>
                  <a:t> is a linear combination of the parameters (regression coefficients) </a:t>
                </a:r>
                <a14:m>
                  <m:oMath xmlns:m="http://schemas.openxmlformats.org/officeDocument/2006/math">
                    <m:r>
                      <a:rPr lang="en-IN" sz="2400" b="1" i="1">
                        <a:highlight>
                          <a:srgbClr val="FFFF00"/>
                        </a:highlight>
                        <a:latin typeface="Cambria Math" panose="02040503050406030204" pitchFamily="18" charset="0"/>
                        <a:ea typeface="Cambria Math" panose="02040503050406030204" pitchFamily="18" charset="0"/>
                      </a:rPr>
                      <m:t>𝜷</m:t>
                    </m:r>
                  </m:oMath>
                </a14:m>
                <a:r>
                  <a:rPr lang="en-US" sz="2400" dirty="0">
                    <a:highlight>
                      <a:srgbClr val="FFFF00"/>
                    </a:highlight>
                  </a:rPr>
                  <a:t> and the predictor variables </a:t>
                </a:r>
                <a14:m>
                  <m:oMath xmlns:m="http://schemas.openxmlformats.org/officeDocument/2006/math">
                    <m:r>
                      <a:rPr lang="en-IN" sz="2400" b="1" i="1">
                        <a:highlight>
                          <a:srgbClr val="FFFF00"/>
                        </a:highlight>
                        <a:latin typeface="Cambria Math" panose="02040503050406030204" pitchFamily="18" charset="0"/>
                      </a:rPr>
                      <m:t>𝑿</m:t>
                    </m:r>
                  </m:oMath>
                </a14:m>
                <a:r>
                  <a:rPr lang="en-US" sz="2400" dirty="0">
                    <a:highlight>
                      <a:srgbClr val="FFFF00"/>
                    </a:highlight>
                  </a:rPr>
                  <a:t>.</a:t>
                </a:r>
              </a:p>
              <a:p>
                <a:endParaRPr lang="en-IN" sz="2400" dirty="0"/>
              </a:p>
            </p:txBody>
          </p:sp>
        </mc:Choice>
        <mc:Fallback xmlns="">
          <p:sp>
            <p:nvSpPr>
              <p:cNvPr id="3" name="Content Placeholder 2">
                <a:extLst>
                  <a:ext uri="{FF2B5EF4-FFF2-40B4-BE49-F238E27FC236}">
                    <a16:creationId xmlns:a16="http://schemas.microsoft.com/office/drawing/2014/main" id="{7933CC45-A680-616B-60D1-1D4A48777095}"/>
                  </a:ext>
                </a:extLst>
              </p:cNvPr>
              <p:cNvSpPr>
                <a:spLocks noGrp="1" noRot="1" noChangeAspect="1" noMove="1" noResize="1" noEditPoints="1" noAdjustHandles="1" noChangeArrowheads="1" noChangeShapeType="1" noTextEdit="1"/>
              </p:cNvSpPr>
              <p:nvPr>
                <p:ph idx="1"/>
              </p:nvPr>
            </p:nvSpPr>
            <p:spPr>
              <a:blipFill>
                <a:blip r:embed="rId2"/>
                <a:stretch>
                  <a:fillRect l="-909" t="-791" r="-1333"/>
                </a:stretch>
              </a:blipFill>
            </p:spPr>
            <p:txBody>
              <a:bodyPr/>
              <a:lstStyle/>
              <a:p>
                <a:r>
                  <a:rPr lang="en-IN">
                    <a:noFill/>
                  </a:rPr>
                  <a:t> </a:t>
                </a:r>
              </a:p>
            </p:txBody>
          </p:sp>
        </mc:Fallback>
      </mc:AlternateContent>
    </p:spTree>
    <p:extLst>
      <p:ext uri="{BB962C8B-B14F-4D97-AF65-F5344CB8AC3E}">
        <p14:creationId xmlns:p14="http://schemas.microsoft.com/office/powerpoint/2010/main" val="3814565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3E86-25E0-E726-F46E-DEDE4ADD915D}"/>
              </a:ext>
            </a:extLst>
          </p:cNvPr>
          <p:cNvSpPr>
            <a:spLocks noGrp="1"/>
          </p:cNvSpPr>
          <p:nvPr>
            <p:ph type="title"/>
          </p:nvPr>
        </p:nvSpPr>
        <p:spPr/>
        <p:txBody>
          <a:bodyPr/>
          <a:lstStyle/>
          <a:p>
            <a:r>
              <a:rPr lang="en-IN" dirty="0"/>
              <a:t>Assumptions of LR</a:t>
            </a:r>
          </a:p>
        </p:txBody>
      </p:sp>
      <p:sp>
        <p:nvSpPr>
          <p:cNvPr id="3" name="Content Placeholder 2">
            <a:extLst>
              <a:ext uri="{FF2B5EF4-FFF2-40B4-BE49-F238E27FC236}">
                <a16:creationId xmlns:a16="http://schemas.microsoft.com/office/drawing/2014/main" id="{4AA70425-9571-5816-2F76-C497D0965E5F}"/>
              </a:ext>
            </a:extLst>
          </p:cNvPr>
          <p:cNvSpPr>
            <a:spLocks noGrp="1"/>
          </p:cNvSpPr>
          <p:nvPr>
            <p:ph idx="1"/>
          </p:nvPr>
        </p:nvSpPr>
        <p:spPr>
          <a:xfrm>
            <a:off x="512617" y="1759527"/>
            <a:ext cx="11194473" cy="4193217"/>
          </a:xfrm>
        </p:spPr>
        <p:txBody>
          <a:bodyPr>
            <a:normAutofit/>
          </a:bodyPr>
          <a:lstStyle/>
          <a:p>
            <a:r>
              <a:rPr lang="en-US" sz="2400" b="1" dirty="0">
                <a:highlight>
                  <a:srgbClr val="FFFF00"/>
                </a:highlight>
              </a:rPr>
              <a:t>Constant variance (a.k.a. homoscedasticity): </a:t>
            </a:r>
            <a:r>
              <a:rPr lang="en-US" sz="2400" dirty="0">
                <a:highlight>
                  <a:srgbClr val="FFFF00"/>
                </a:highlight>
              </a:rPr>
              <a:t>This means that the variance of the errors does not depend on the values of the predictor variables. </a:t>
            </a:r>
          </a:p>
          <a:p>
            <a:r>
              <a:rPr lang="en-US" sz="2400" dirty="0">
                <a:highlight>
                  <a:srgbClr val="FFFF00"/>
                </a:highlight>
              </a:rPr>
              <a:t>Thus the variability of the responses for given fixed values of the predictors is the same regardless of how large or small the responses are.</a:t>
            </a:r>
          </a:p>
          <a:p>
            <a:r>
              <a:rPr lang="en-US" sz="2400" b="1" dirty="0">
                <a:highlight>
                  <a:srgbClr val="00FF00"/>
                </a:highlight>
              </a:rPr>
              <a:t>Independence of errors</a:t>
            </a:r>
            <a:r>
              <a:rPr lang="en-US" sz="2400" dirty="0">
                <a:highlight>
                  <a:srgbClr val="00FF00"/>
                </a:highlight>
              </a:rPr>
              <a:t>: This assumes that the errors of the response variables are uncorrelated with each other. </a:t>
            </a:r>
            <a:endParaRPr lang="en-IN" sz="2400" dirty="0">
              <a:highlight>
                <a:srgbClr val="00FF00"/>
              </a:highlight>
            </a:endParaRPr>
          </a:p>
        </p:txBody>
      </p:sp>
    </p:spTree>
    <p:extLst>
      <p:ext uri="{BB962C8B-B14F-4D97-AF65-F5344CB8AC3E}">
        <p14:creationId xmlns:p14="http://schemas.microsoft.com/office/powerpoint/2010/main" val="25143928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824E-0FEB-3C91-A38B-9F1697BD7F14}"/>
              </a:ext>
            </a:extLst>
          </p:cNvPr>
          <p:cNvSpPr>
            <a:spLocks noGrp="1"/>
          </p:cNvSpPr>
          <p:nvPr>
            <p:ph type="title"/>
          </p:nvPr>
        </p:nvSpPr>
        <p:spPr/>
        <p:txBody>
          <a:bodyPr/>
          <a:lstStyle/>
          <a:p>
            <a:r>
              <a:rPr lang="en-IN" b="1" dirty="0">
                <a:solidFill>
                  <a:srgbClr val="FF0000"/>
                </a:solidFill>
              </a:rPr>
              <a:t>Score of linear regression</a:t>
            </a:r>
            <a:br>
              <a:rPr lang="en-IN" dirty="0"/>
            </a:br>
            <a:r>
              <a:rPr lang="en-IN" dirty="0"/>
              <a:t> (</a:t>
            </a:r>
            <a:r>
              <a:rPr lang="en-US" dirty="0"/>
              <a:t>score(X, y, </a:t>
            </a:r>
            <a:r>
              <a:rPr lang="en-US" dirty="0" err="1"/>
              <a:t>sample_weight</a:t>
            </a:r>
            <a:r>
              <a:rPr lang="en-US" dirty="0"/>
              <a:t>=None)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CD71EB-4522-5F5D-CBDF-7E917D1B4510}"/>
                  </a:ext>
                </a:extLst>
              </p:cNvPr>
              <p:cNvSpPr>
                <a:spLocks noGrp="1"/>
              </p:cNvSpPr>
              <p:nvPr>
                <p:ph idx="1"/>
              </p:nvPr>
            </p:nvSpPr>
            <p:spPr>
              <a:xfrm>
                <a:off x="665019" y="2103120"/>
                <a:ext cx="10931236" cy="3849624"/>
              </a:xfrm>
            </p:spPr>
            <p:txBody>
              <a:bodyPr>
                <a:normAutofit/>
              </a:bodyPr>
              <a:lstStyle/>
              <a:p>
                <a:r>
                  <a:rPr lang="en-US" sz="2800" dirty="0">
                    <a:latin typeface="Arial" panose="020B0604020202020204" pitchFamily="34" charset="0"/>
                    <a:cs typeface="Arial" panose="020B0604020202020204" pitchFamily="34" charset="0"/>
                  </a:rPr>
                  <a:t>Returns the coefficient of determination of the prediction</a:t>
                </a:r>
              </a:p>
              <a:p>
                <a14:m>
                  <m:oMath xmlns:m="http://schemas.openxmlformats.org/officeDocument/2006/math">
                    <m:sSup>
                      <m:sSupPr>
                        <m:ctrlPr>
                          <a:rPr lang="en-IN" sz="2800" i="1" smtClean="0">
                            <a:latin typeface="Cambria Math" panose="02040503050406030204" pitchFamily="18" charset="0"/>
                          </a:rPr>
                        </m:ctrlPr>
                      </m:sSupPr>
                      <m:e>
                        <m:r>
                          <a:rPr lang="en-IN" sz="2800" b="0" i="1" smtClean="0">
                            <a:latin typeface="Cambria Math" panose="02040503050406030204" pitchFamily="18" charset="0"/>
                          </a:rPr>
                          <m:t>𝑅</m:t>
                        </m:r>
                      </m:e>
                      <m:sup>
                        <m:r>
                          <a:rPr lang="en-IN" sz="2800" b="0" i="1" smtClean="0">
                            <a:latin typeface="Cambria Math" panose="02040503050406030204" pitchFamily="18" charset="0"/>
                          </a:rPr>
                          <m:t>2</m:t>
                        </m:r>
                      </m:sup>
                    </m:sSup>
                    <m:r>
                      <a:rPr lang="en-IN" sz="2800" b="0" i="1" smtClean="0">
                        <a:latin typeface="Cambria Math" panose="02040503050406030204" pitchFamily="18" charset="0"/>
                      </a:rPr>
                      <m:t>=1−</m:t>
                    </m:r>
                    <m:f>
                      <m:fPr>
                        <m:ctrlPr>
                          <a:rPr lang="en-IN" sz="2800" b="0" i="1" smtClean="0">
                            <a:latin typeface="Cambria Math" panose="02040503050406030204" pitchFamily="18" charset="0"/>
                          </a:rPr>
                        </m:ctrlPr>
                      </m:fPr>
                      <m:num>
                        <m:nary>
                          <m:naryPr>
                            <m:chr m:val="∑"/>
                            <m:subHide m:val="on"/>
                            <m:supHide m:val="on"/>
                            <m:ctrlPr>
                              <a:rPr lang="en-IN" sz="2800" b="0" i="1" smtClean="0">
                                <a:latin typeface="Cambria Math" panose="02040503050406030204" pitchFamily="18" charset="0"/>
                              </a:rPr>
                            </m:ctrlPr>
                          </m:naryPr>
                          <m:sub/>
                          <m:sup/>
                          <m:e>
                            <m:sSup>
                              <m:sSupPr>
                                <m:ctrlPr>
                                  <a:rPr lang="en-IN" sz="2800" b="0" i="1" smtClean="0">
                                    <a:latin typeface="Cambria Math" panose="02040503050406030204" pitchFamily="18" charset="0"/>
                                  </a:rPr>
                                </m:ctrlPr>
                              </m:sSupPr>
                              <m:e>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𝑦</m:t>
                                    </m:r>
                                  </m:e>
                                  <m:sub>
                                    <m:r>
                                      <a:rPr lang="en-IN" sz="2800" b="0" i="1" smtClean="0">
                                        <a:latin typeface="Cambria Math" panose="02040503050406030204" pitchFamily="18" charset="0"/>
                                      </a:rPr>
                                      <m:t>𝑡𝑟𝑢𝑒</m:t>
                                    </m:r>
                                  </m:sub>
                                </m:sSub>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𝑦</m:t>
                                    </m:r>
                                  </m:e>
                                  <m:sub>
                                    <m:r>
                                      <a:rPr lang="en-IN" sz="2800" b="0" i="1" smtClean="0">
                                        <a:latin typeface="Cambria Math" panose="02040503050406030204" pitchFamily="18" charset="0"/>
                                      </a:rPr>
                                      <m:t>𝑝𝑟𝑒𝑑</m:t>
                                    </m:r>
                                  </m:sub>
                                </m:sSub>
                                <m:r>
                                  <a:rPr lang="en-IN" sz="2800" b="0" i="1" smtClean="0">
                                    <a:latin typeface="Cambria Math" panose="02040503050406030204" pitchFamily="18" charset="0"/>
                                  </a:rPr>
                                  <m:t>)</m:t>
                                </m:r>
                              </m:e>
                              <m:sup>
                                <m:r>
                                  <a:rPr lang="en-IN" sz="2800" b="0" i="1" smtClean="0">
                                    <a:latin typeface="Cambria Math" panose="02040503050406030204" pitchFamily="18" charset="0"/>
                                  </a:rPr>
                                  <m:t>2</m:t>
                                </m:r>
                              </m:sup>
                            </m:sSup>
                          </m:e>
                        </m:nary>
                      </m:num>
                      <m:den>
                        <m:nary>
                          <m:naryPr>
                            <m:chr m:val="∑"/>
                            <m:subHide m:val="on"/>
                            <m:supHide m:val="on"/>
                            <m:ctrlPr>
                              <a:rPr lang="en-IN" sz="2800" b="0" i="1" smtClean="0">
                                <a:latin typeface="Cambria Math" panose="02040503050406030204" pitchFamily="18" charset="0"/>
                              </a:rPr>
                            </m:ctrlPr>
                          </m:naryPr>
                          <m:sub/>
                          <m:sup/>
                          <m:e>
                            <m:sSup>
                              <m:sSupPr>
                                <m:ctrlPr>
                                  <a:rPr lang="en-IN" sz="2800" b="0" i="1" smtClean="0">
                                    <a:latin typeface="Cambria Math" panose="02040503050406030204" pitchFamily="18" charset="0"/>
                                  </a:rPr>
                                </m:ctrlPr>
                              </m:sSupPr>
                              <m:e>
                                <m:r>
                                  <a:rPr lang="en-IN" sz="2800" i="1">
                                    <a:latin typeface="Cambria Math" panose="02040503050406030204" pitchFamily="18" charset="0"/>
                                  </a:rPr>
                                  <m:t>(</m:t>
                                </m:r>
                                <m:sSub>
                                  <m:sSubPr>
                                    <m:ctrlPr>
                                      <a:rPr lang="en-IN" sz="2800" i="1">
                                        <a:latin typeface="Cambria Math" panose="02040503050406030204" pitchFamily="18" charset="0"/>
                                      </a:rPr>
                                    </m:ctrlPr>
                                  </m:sSubPr>
                                  <m:e>
                                    <m:r>
                                      <a:rPr lang="en-IN" sz="2800" i="1">
                                        <a:latin typeface="Cambria Math" panose="02040503050406030204" pitchFamily="18" charset="0"/>
                                      </a:rPr>
                                      <m:t>𝑦</m:t>
                                    </m:r>
                                  </m:e>
                                  <m:sub>
                                    <m:r>
                                      <a:rPr lang="en-IN" sz="2800" i="1">
                                        <a:latin typeface="Cambria Math" panose="02040503050406030204" pitchFamily="18" charset="0"/>
                                      </a:rPr>
                                      <m:t>𝑡𝑟𝑢𝑒</m:t>
                                    </m:r>
                                  </m:sub>
                                </m:sSub>
                                <m:r>
                                  <a:rPr lang="en-IN" sz="2800" i="1">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1</m:t>
                                    </m:r>
                                  </m:num>
                                  <m:den>
                                    <m:r>
                                      <a:rPr lang="en-IN" sz="2800" i="1">
                                        <a:latin typeface="Cambria Math" panose="02040503050406030204" pitchFamily="18" charset="0"/>
                                      </a:rPr>
                                      <m:t>𝑛</m:t>
                                    </m:r>
                                  </m:den>
                                </m:f>
                                <m:r>
                                  <a:rPr lang="en-IN" sz="2800" i="1" smtClean="0">
                                    <a:latin typeface="Cambria Math" panose="02040503050406030204" pitchFamily="18" charset="0"/>
                                    <a:ea typeface="Cambria Math" panose="02040503050406030204" pitchFamily="18" charset="0"/>
                                  </a:rPr>
                                  <m:t>×</m:t>
                                </m:r>
                                <m:sSub>
                                  <m:sSubPr>
                                    <m:ctrlPr>
                                      <a:rPr lang="en-IN" sz="2800" i="1">
                                        <a:latin typeface="Cambria Math" panose="02040503050406030204" pitchFamily="18" charset="0"/>
                                      </a:rPr>
                                    </m:ctrlPr>
                                  </m:sSubPr>
                                  <m:e>
                                    <m:r>
                                      <a:rPr lang="en-IN" sz="2800" i="1">
                                        <a:latin typeface="Cambria Math" panose="02040503050406030204" pitchFamily="18" charset="0"/>
                                      </a:rPr>
                                      <m:t>𝑦</m:t>
                                    </m:r>
                                  </m:e>
                                  <m:sub>
                                    <m:r>
                                      <a:rPr lang="en-IN" sz="2800" i="1">
                                        <a:latin typeface="Cambria Math" panose="02040503050406030204" pitchFamily="18" charset="0"/>
                                      </a:rPr>
                                      <m:t>𝑡𝑟𝑢𝑒</m:t>
                                    </m:r>
                                  </m:sub>
                                </m:sSub>
                                <m:r>
                                  <a:rPr lang="en-IN" sz="2800" i="1">
                                    <a:latin typeface="Cambria Math" panose="02040503050406030204" pitchFamily="18" charset="0"/>
                                  </a:rPr>
                                  <m:t>)</m:t>
                                </m:r>
                              </m:e>
                              <m:sup>
                                <m:r>
                                  <a:rPr lang="en-IN" sz="2800" b="0" i="1" smtClean="0">
                                    <a:latin typeface="Cambria Math" panose="02040503050406030204" pitchFamily="18" charset="0"/>
                                  </a:rPr>
                                  <m:t>2</m:t>
                                </m:r>
                              </m:sup>
                            </m:sSup>
                          </m:e>
                        </m:nary>
                      </m:den>
                    </m:f>
                  </m:oMath>
                </a14:m>
                <a:endParaRPr lang="en-IN" sz="2800" dirty="0"/>
              </a:p>
              <a:p>
                <a:r>
                  <a:rPr lang="en-US" sz="2800" dirty="0"/>
                  <a:t> The best possible score is 1.0 and it can be negative (because the model can be arbitrarily worse)</a:t>
                </a:r>
              </a:p>
              <a:p>
                <a:r>
                  <a:rPr lang="en-US" sz="2800" dirty="0"/>
                  <a:t>A constant model that always predicts the expected value of y, disregarding the input features, would get a </a:t>
                </a:r>
                <a14:m>
                  <m:oMath xmlns:m="http://schemas.openxmlformats.org/officeDocument/2006/math">
                    <m:sSup>
                      <m:sSupPr>
                        <m:ctrlPr>
                          <a:rPr lang="en-US" sz="2800" i="1" smtClean="0">
                            <a:latin typeface="Cambria Math" panose="02040503050406030204" pitchFamily="18" charset="0"/>
                          </a:rPr>
                        </m:ctrlPr>
                      </m:sSupPr>
                      <m:e>
                        <m:r>
                          <a:rPr lang="en-IN" sz="2800" b="0" i="1" smtClean="0">
                            <a:latin typeface="Cambria Math" panose="02040503050406030204" pitchFamily="18" charset="0"/>
                          </a:rPr>
                          <m:t>𝑅</m:t>
                        </m:r>
                      </m:e>
                      <m:sup>
                        <m:r>
                          <a:rPr lang="en-IN" sz="2800" b="0" i="1" smtClean="0">
                            <a:latin typeface="Cambria Math" panose="02040503050406030204" pitchFamily="18" charset="0"/>
                          </a:rPr>
                          <m:t>2</m:t>
                        </m:r>
                      </m:sup>
                    </m:sSup>
                  </m:oMath>
                </a14:m>
                <a:r>
                  <a:rPr lang="en-US" sz="2800" dirty="0"/>
                  <a:t>score of 0.0</a:t>
                </a:r>
                <a:endParaRPr lang="en-IN" sz="2800" dirty="0"/>
              </a:p>
            </p:txBody>
          </p:sp>
        </mc:Choice>
        <mc:Fallback xmlns="">
          <p:sp>
            <p:nvSpPr>
              <p:cNvPr id="3" name="Content Placeholder 2">
                <a:extLst>
                  <a:ext uri="{FF2B5EF4-FFF2-40B4-BE49-F238E27FC236}">
                    <a16:creationId xmlns:a16="http://schemas.microsoft.com/office/drawing/2014/main" id="{60CD71EB-4522-5F5D-CBDF-7E917D1B4510}"/>
                  </a:ext>
                </a:extLst>
              </p:cNvPr>
              <p:cNvSpPr>
                <a:spLocks noGrp="1" noRot="1" noChangeAspect="1" noMove="1" noResize="1" noEditPoints="1" noAdjustHandles="1" noChangeArrowheads="1" noChangeShapeType="1" noTextEdit="1"/>
              </p:cNvSpPr>
              <p:nvPr>
                <p:ph idx="1"/>
              </p:nvPr>
            </p:nvSpPr>
            <p:spPr>
              <a:xfrm>
                <a:off x="665019" y="2103120"/>
                <a:ext cx="10931236" cy="3849624"/>
              </a:xfrm>
              <a:blipFill>
                <a:blip r:embed="rId2"/>
                <a:stretch>
                  <a:fillRect l="-1004" t="-1424" b="-316"/>
                </a:stretch>
              </a:blipFill>
            </p:spPr>
            <p:txBody>
              <a:bodyPr/>
              <a:lstStyle/>
              <a:p>
                <a:r>
                  <a:rPr lang="en-IN">
                    <a:noFill/>
                  </a:rPr>
                  <a:t> </a:t>
                </a:r>
              </a:p>
            </p:txBody>
          </p:sp>
        </mc:Fallback>
      </mc:AlternateContent>
    </p:spTree>
    <p:extLst>
      <p:ext uri="{BB962C8B-B14F-4D97-AF65-F5344CB8AC3E}">
        <p14:creationId xmlns:p14="http://schemas.microsoft.com/office/powerpoint/2010/main" val="1170908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0DF4-E77B-0171-981E-18F16BDEA9CD}"/>
              </a:ext>
            </a:extLst>
          </p:cNvPr>
          <p:cNvSpPr>
            <a:spLocks noGrp="1"/>
          </p:cNvSpPr>
          <p:nvPr>
            <p:ph type="title"/>
          </p:nvPr>
        </p:nvSpPr>
        <p:spPr/>
        <p:txBody>
          <a:bodyPr/>
          <a:lstStyle/>
          <a:p>
            <a:r>
              <a:rPr lang="en-IN" dirty="0">
                <a:solidFill>
                  <a:srgbClr val="FF0000"/>
                </a:solidFill>
              </a:rPr>
              <a:t>Confusion Matrix</a:t>
            </a:r>
          </a:p>
        </p:txBody>
      </p:sp>
      <p:sp>
        <p:nvSpPr>
          <p:cNvPr id="3" name="Content Placeholder 2">
            <a:extLst>
              <a:ext uri="{FF2B5EF4-FFF2-40B4-BE49-F238E27FC236}">
                <a16:creationId xmlns:a16="http://schemas.microsoft.com/office/drawing/2014/main" id="{F65833B1-4373-F2A2-314A-53AAE32218D9}"/>
              </a:ext>
            </a:extLst>
          </p:cNvPr>
          <p:cNvSpPr>
            <a:spLocks noGrp="1"/>
          </p:cNvSpPr>
          <p:nvPr>
            <p:ph idx="1"/>
          </p:nvPr>
        </p:nvSpPr>
        <p:spPr>
          <a:xfrm>
            <a:off x="748145" y="1579418"/>
            <a:ext cx="10931237" cy="4373326"/>
          </a:xfrm>
        </p:spPr>
        <p:txBody>
          <a:bodyPr>
            <a:normAutofit/>
          </a:bodyPr>
          <a:lstStyle/>
          <a:p>
            <a:pPr>
              <a:lnSpc>
                <a:spcPct val="150000"/>
              </a:lnSpc>
            </a:pPr>
            <a:r>
              <a:rPr lang="en-US" sz="2000" dirty="0">
                <a:solidFill>
                  <a:srgbClr val="0070C0"/>
                </a:solidFill>
                <a:latin typeface="Arial" panose="020B0604020202020204" pitchFamily="34" charset="0"/>
                <a:cs typeface="Arial" panose="020B0604020202020204" pitchFamily="34" charset="0"/>
              </a:rPr>
              <a:t>A confusion matrix is a matrix that summarizes the performance of a machine learning model on a set of test data.</a:t>
            </a:r>
          </a:p>
          <a:p>
            <a:pPr>
              <a:lnSpc>
                <a:spcPct val="150000"/>
              </a:lnSpc>
            </a:pPr>
            <a:r>
              <a:rPr lang="en-US" sz="2000" dirty="0">
                <a:solidFill>
                  <a:srgbClr val="FF0000"/>
                </a:solidFill>
                <a:latin typeface="Arial" panose="020B0604020202020204" pitchFamily="34" charset="0"/>
                <a:cs typeface="Arial" panose="020B0604020202020204" pitchFamily="34" charset="0"/>
              </a:rPr>
              <a:t>Used to measure the performance of classification models, which aim to predict a categorical label for each input instance</a:t>
            </a:r>
          </a:p>
          <a:p>
            <a:pPr>
              <a:lnSpc>
                <a:spcPct val="150000"/>
              </a:lnSpc>
            </a:pPr>
            <a:r>
              <a:rPr lang="en-US" sz="2000" dirty="0">
                <a:highlight>
                  <a:srgbClr val="FFFF00"/>
                </a:highlight>
                <a:latin typeface="Arial" panose="020B0604020202020204" pitchFamily="34" charset="0"/>
                <a:cs typeface="Arial" panose="020B0604020202020204" pitchFamily="34" charset="0"/>
              </a:rPr>
              <a:t>The matrix displays the number of true positives (TP), true negatives (TN), false positives (FP), and false negatives (FN) produced by the model on the test data</a:t>
            </a:r>
          </a:p>
          <a:p>
            <a:pPr>
              <a:lnSpc>
                <a:spcPct val="150000"/>
              </a:lnSpc>
            </a:pPr>
            <a:r>
              <a:rPr lang="en-US" sz="2000" dirty="0">
                <a:highlight>
                  <a:srgbClr val="00FF00"/>
                </a:highlight>
              </a:rPr>
              <a:t>For binary classification, the matrix will be of a 2X2 table, For multi-class classification, the matrix shape will be equal to the number of classes </a:t>
            </a:r>
            <a:r>
              <a:rPr lang="en-US" sz="2000" dirty="0" err="1">
                <a:highlight>
                  <a:srgbClr val="00FF00"/>
                </a:highlight>
              </a:rPr>
              <a:t>i.e</a:t>
            </a:r>
            <a:r>
              <a:rPr lang="en-US" sz="2000" dirty="0">
                <a:highlight>
                  <a:srgbClr val="00FF00"/>
                </a:highlight>
              </a:rPr>
              <a:t> for n classes it will be </a:t>
            </a:r>
            <a:r>
              <a:rPr lang="en-US" sz="2000" dirty="0" err="1">
                <a:highlight>
                  <a:srgbClr val="00FF00"/>
                </a:highlight>
              </a:rPr>
              <a:t>nXn</a:t>
            </a:r>
            <a:endParaRPr lang="en-US" sz="2000" dirty="0">
              <a:highlight>
                <a:srgbClr val="00FF00"/>
              </a:highlight>
            </a:endParaRPr>
          </a:p>
          <a:p>
            <a:endParaRPr lang="en-IN" sz="2000" dirty="0"/>
          </a:p>
        </p:txBody>
      </p:sp>
    </p:spTree>
    <p:extLst>
      <p:ext uri="{BB962C8B-B14F-4D97-AF65-F5344CB8AC3E}">
        <p14:creationId xmlns:p14="http://schemas.microsoft.com/office/powerpoint/2010/main" val="2917709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0C22B-16A7-5386-F108-8344FDAA7F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F0F149-D945-A155-C82E-80522FD2443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4CD28C3-712C-EBEA-988F-9BE43850EAE5}"/>
              </a:ext>
            </a:extLst>
          </p:cNvPr>
          <p:cNvPicPr>
            <a:picLocks noChangeAspect="1"/>
          </p:cNvPicPr>
          <p:nvPr/>
        </p:nvPicPr>
        <p:blipFill>
          <a:blip r:embed="rId2"/>
          <a:stretch>
            <a:fillRect/>
          </a:stretch>
        </p:blipFill>
        <p:spPr>
          <a:xfrm>
            <a:off x="1464482" y="1127404"/>
            <a:ext cx="9255100" cy="4599247"/>
          </a:xfrm>
          <a:prstGeom prst="rect">
            <a:avLst/>
          </a:prstGeom>
        </p:spPr>
      </p:pic>
    </p:spTree>
    <p:extLst>
      <p:ext uri="{BB962C8B-B14F-4D97-AF65-F5344CB8AC3E}">
        <p14:creationId xmlns:p14="http://schemas.microsoft.com/office/powerpoint/2010/main" val="1881433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116FE-1B6A-6873-7A37-92CB214AAE18}"/>
              </a:ext>
            </a:extLst>
          </p:cNvPr>
          <p:cNvSpPr>
            <a:spLocks noGrp="1"/>
          </p:cNvSpPr>
          <p:nvPr>
            <p:ph idx="1"/>
          </p:nvPr>
        </p:nvSpPr>
        <p:spPr>
          <a:xfrm>
            <a:off x="588818" y="967047"/>
            <a:ext cx="6795655" cy="5377482"/>
          </a:xfrm>
        </p:spPr>
        <p:txBody>
          <a:bodyPr>
            <a:normAutofit/>
          </a:bodyPr>
          <a:lstStyle/>
          <a:p>
            <a:pPr>
              <a:lnSpc>
                <a:spcPct val="150000"/>
              </a:lnSpc>
            </a:pPr>
            <a:r>
              <a:rPr lang="en-US" sz="2000" dirty="0">
                <a:solidFill>
                  <a:srgbClr val="FF0000"/>
                </a:solidFill>
                <a:latin typeface="Arial" panose="020B0604020202020204" pitchFamily="34" charset="0"/>
                <a:cs typeface="Arial" panose="020B0604020202020204" pitchFamily="34" charset="0"/>
              </a:rPr>
              <a:t>A 2X2 Confusion matrix is shown below for the image recognition having a Dog image or Not Dog image</a:t>
            </a:r>
          </a:p>
          <a:p>
            <a:pPr>
              <a:lnSpc>
                <a:spcPct val="150000"/>
              </a:lnSpc>
            </a:pPr>
            <a:r>
              <a:rPr lang="en-US" sz="2000" b="1" dirty="0">
                <a:solidFill>
                  <a:srgbClr val="FF0000"/>
                </a:solidFill>
                <a:latin typeface="Arial" panose="020B0604020202020204" pitchFamily="34" charset="0"/>
                <a:cs typeface="Arial" panose="020B0604020202020204" pitchFamily="34" charset="0"/>
              </a:rPr>
              <a:t>True Positive (TP): </a:t>
            </a:r>
            <a:r>
              <a:rPr lang="en-US" sz="2000" dirty="0">
                <a:latin typeface="Arial" panose="020B0604020202020204" pitchFamily="34" charset="0"/>
                <a:cs typeface="Arial" panose="020B0604020202020204" pitchFamily="34" charset="0"/>
              </a:rPr>
              <a:t>It is the total counts having both predicted and actual values are Dog.</a:t>
            </a:r>
          </a:p>
          <a:p>
            <a:pPr>
              <a:lnSpc>
                <a:spcPct val="150000"/>
              </a:lnSpc>
            </a:pPr>
            <a:r>
              <a:rPr lang="en-US" sz="2000" b="1" dirty="0">
                <a:solidFill>
                  <a:srgbClr val="FF0000"/>
                </a:solidFill>
                <a:latin typeface="Arial" panose="020B0604020202020204" pitchFamily="34" charset="0"/>
                <a:cs typeface="Arial" panose="020B0604020202020204" pitchFamily="34" charset="0"/>
              </a:rPr>
              <a:t>True Negative (TN): </a:t>
            </a:r>
            <a:r>
              <a:rPr lang="en-US" sz="2000" dirty="0">
                <a:latin typeface="Arial" panose="020B0604020202020204" pitchFamily="34" charset="0"/>
                <a:cs typeface="Arial" panose="020B0604020202020204" pitchFamily="34" charset="0"/>
              </a:rPr>
              <a:t>It is the total counts having both predicted and actual values are Not Dog.</a:t>
            </a:r>
          </a:p>
          <a:p>
            <a:pPr>
              <a:lnSpc>
                <a:spcPct val="150000"/>
              </a:lnSpc>
            </a:pPr>
            <a:r>
              <a:rPr lang="en-US" sz="2000" b="1" dirty="0">
                <a:highlight>
                  <a:srgbClr val="00FF00"/>
                </a:highlight>
                <a:latin typeface="Arial" panose="020B0604020202020204" pitchFamily="34" charset="0"/>
                <a:cs typeface="Arial" panose="020B0604020202020204" pitchFamily="34" charset="0"/>
              </a:rPr>
              <a:t>False Positive (FP): </a:t>
            </a:r>
            <a:r>
              <a:rPr lang="en-US" sz="2000" dirty="0">
                <a:highlight>
                  <a:srgbClr val="FFFF00"/>
                </a:highlight>
                <a:latin typeface="Arial" panose="020B0604020202020204" pitchFamily="34" charset="0"/>
                <a:cs typeface="Arial" panose="020B0604020202020204" pitchFamily="34" charset="0"/>
              </a:rPr>
              <a:t>It is the total counts having prediction is Dog while actually Not Dog</a:t>
            </a:r>
            <a:r>
              <a:rPr lang="en-US" sz="2000" dirty="0">
                <a:latin typeface="Arial" panose="020B0604020202020204" pitchFamily="34" charset="0"/>
                <a:cs typeface="Arial" panose="020B0604020202020204" pitchFamily="34" charset="0"/>
              </a:rPr>
              <a:t>.</a:t>
            </a:r>
          </a:p>
          <a:p>
            <a:pPr>
              <a:lnSpc>
                <a:spcPct val="150000"/>
              </a:lnSpc>
            </a:pPr>
            <a:r>
              <a:rPr lang="en-US" sz="2000" dirty="0">
                <a:highlight>
                  <a:srgbClr val="00FF00"/>
                </a:highlight>
                <a:latin typeface="Arial" panose="020B0604020202020204" pitchFamily="34" charset="0"/>
                <a:cs typeface="Arial" panose="020B0604020202020204" pitchFamily="34" charset="0"/>
              </a:rPr>
              <a:t>False Negative (FN): </a:t>
            </a:r>
            <a:r>
              <a:rPr lang="en-US" sz="2000" dirty="0">
                <a:highlight>
                  <a:srgbClr val="FFFF00"/>
                </a:highlight>
                <a:latin typeface="Arial" panose="020B0604020202020204" pitchFamily="34" charset="0"/>
                <a:cs typeface="Arial" panose="020B0604020202020204" pitchFamily="34" charset="0"/>
              </a:rPr>
              <a:t>It is the total counts having prediction is Not Dog while actually, it is Dog</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9294D5B-4974-E103-B879-93290C4E427C}"/>
              </a:ext>
            </a:extLst>
          </p:cNvPr>
          <p:cNvPicPr>
            <a:picLocks noChangeAspect="1"/>
          </p:cNvPicPr>
          <p:nvPr/>
        </p:nvPicPr>
        <p:blipFill>
          <a:blip r:embed="rId2"/>
          <a:stretch>
            <a:fillRect/>
          </a:stretch>
        </p:blipFill>
        <p:spPr>
          <a:xfrm>
            <a:off x="6829247" y="1822938"/>
            <a:ext cx="4773935" cy="3665699"/>
          </a:xfrm>
          <a:prstGeom prst="rect">
            <a:avLst/>
          </a:prstGeom>
        </p:spPr>
      </p:pic>
    </p:spTree>
    <p:extLst>
      <p:ext uri="{BB962C8B-B14F-4D97-AF65-F5344CB8AC3E}">
        <p14:creationId xmlns:p14="http://schemas.microsoft.com/office/powerpoint/2010/main" val="3681678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5BB9-D927-0AB7-3849-74AB5CA60F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703E97-2C72-2104-9536-B0DD7A8CF62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BEC0AA4-58E5-82C6-C38A-055523C534CF}"/>
              </a:ext>
            </a:extLst>
          </p:cNvPr>
          <p:cNvPicPr>
            <a:picLocks noChangeAspect="1"/>
          </p:cNvPicPr>
          <p:nvPr/>
        </p:nvPicPr>
        <p:blipFill>
          <a:blip r:embed="rId2"/>
          <a:stretch>
            <a:fillRect/>
          </a:stretch>
        </p:blipFill>
        <p:spPr>
          <a:xfrm>
            <a:off x="3976169" y="1703426"/>
            <a:ext cx="7911031" cy="3955515"/>
          </a:xfrm>
          <a:prstGeom prst="rect">
            <a:avLst/>
          </a:prstGeom>
        </p:spPr>
      </p:pic>
      <p:sp>
        <p:nvSpPr>
          <p:cNvPr id="5" name="Rectangle 4">
            <a:extLst>
              <a:ext uri="{FF2B5EF4-FFF2-40B4-BE49-F238E27FC236}">
                <a16:creationId xmlns:a16="http://schemas.microsoft.com/office/drawing/2014/main" id="{D147F862-71BA-BBF6-DD53-5E0E924BECE5}"/>
              </a:ext>
            </a:extLst>
          </p:cNvPr>
          <p:cNvSpPr/>
          <p:nvPr/>
        </p:nvSpPr>
        <p:spPr>
          <a:xfrm>
            <a:off x="4164037" y="4843807"/>
            <a:ext cx="7484012" cy="698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955333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DC74C2-6410-7F89-40B9-98B7670A01DE}"/>
              </a:ext>
            </a:extLst>
          </p:cNvPr>
          <p:cNvSpPr>
            <a:spLocks noGrp="1"/>
          </p:cNvSpPr>
          <p:nvPr>
            <p:ph idx="1"/>
          </p:nvPr>
        </p:nvSpPr>
        <p:spPr>
          <a:xfrm>
            <a:off x="637310" y="2491047"/>
            <a:ext cx="10058400" cy="3849624"/>
          </a:xfrm>
        </p:spPr>
        <p:txBody>
          <a:bodyPr>
            <a:normAutofit/>
          </a:bodyPr>
          <a:lstStyle/>
          <a:p>
            <a:r>
              <a:rPr lang="en-US" sz="2000" dirty="0">
                <a:highlight>
                  <a:srgbClr val="00FF00"/>
                </a:highlight>
                <a:latin typeface="Arial" panose="020B0604020202020204" pitchFamily="34" charset="0"/>
                <a:cs typeface="Arial" panose="020B0604020202020204" pitchFamily="34" charset="0"/>
              </a:rPr>
              <a:t>Actual Dog Counts = 6 </a:t>
            </a:r>
          </a:p>
          <a:p>
            <a:r>
              <a:rPr lang="en-US" sz="2000" dirty="0">
                <a:highlight>
                  <a:srgbClr val="00FF00"/>
                </a:highlight>
                <a:latin typeface="Arial" panose="020B0604020202020204" pitchFamily="34" charset="0"/>
                <a:cs typeface="Arial" panose="020B0604020202020204" pitchFamily="34" charset="0"/>
              </a:rPr>
              <a:t>Actual Not Dog Counts = 4</a:t>
            </a:r>
          </a:p>
          <a:p>
            <a:r>
              <a:rPr lang="en-US" sz="2000" dirty="0">
                <a:highlight>
                  <a:srgbClr val="00FFFF"/>
                </a:highlight>
                <a:latin typeface="Arial" panose="020B0604020202020204" pitchFamily="34" charset="0"/>
                <a:cs typeface="Arial" panose="020B0604020202020204" pitchFamily="34" charset="0"/>
              </a:rPr>
              <a:t>True Positive Counts = 5</a:t>
            </a:r>
          </a:p>
          <a:p>
            <a:r>
              <a:rPr lang="en-US" sz="2000" dirty="0">
                <a:highlight>
                  <a:srgbClr val="00FFFF"/>
                </a:highlight>
                <a:latin typeface="Arial" panose="020B0604020202020204" pitchFamily="34" charset="0"/>
                <a:cs typeface="Arial" panose="020B0604020202020204" pitchFamily="34" charset="0"/>
              </a:rPr>
              <a:t>False Positive Counts = 1</a:t>
            </a:r>
          </a:p>
          <a:p>
            <a:r>
              <a:rPr lang="en-US" sz="2000" dirty="0">
                <a:highlight>
                  <a:srgbClr val="FFFF00"/>
                </a:highlight>
                <a:latin typeface="Arial" panose="020B0604020202020204" pitchFamily="34" charset="0"/>
                <a:cs typeface="Arial" panose="020B0604020202020204" pitchFamily="34" charset="0"/>
              </a:rPr>
              <a:t>True Negative Counts = 3</a:t>
            </a:r>
          </a:p>
          <a:p>
            <a:r>
              <a:rPr lang="en-US" sz="2000" dirty="0">
                <a:highlight>
                  <a:srgbClr val="FFFF00"/>
                </a:highlight>
                <a:latin typeface="Arial" panose="020B0604020202020204" pitchFamily="34" charset="0"/>
                <a:cs typeface="Arial" panose="020B0604020202020204" pitchFamily="34" charset="0"/>
              </a:rPr>
              <a:t>False Negative Counts = 1</a:t>
            </a:r>
            <a:endParaRPr lang="en-IN" sz="2000" dirty="0">
              <a:highlight>
                <a:srgbClr val="FFFF00"/>
              </a:highligh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63189C1-2A9C-B657-3F77-7FDC91D3E47C}"/>
              </a:ext>
            </a:extLst>
          </p:cNvPr>
          <p:cNvPicPr>
            <a:picLocks noChangeAspect="1"/>
          </p:cNvPicPr>
          <p:nvPr/>
        </p:nvPicPr>
        <p:blipFill>
          <a:blip r:embed="rId2"/>
          <a:stretch>
            <a:fillRect/>
          </a:stretch>
        </p:blipFill>
        <p:spPr>
          <a:xfrm>
            <a:off x="3976169" y="1703426"/>
            <a:ext cx="7911031" cy="3955515"/>
          </a:xfrm>
          <a:prstGeom prst="rect">
            <a:avLst/>
          </a:prstGeom>
        </p:spPr>
      </p:pic>
    </p:spTree>
    <p:extLst>
      <p:ext uri="{BB962C8B-B14F-4D97-AF65-F5344CB8AC3E}">
        <p14:creationId xmlns:p14="http://schemas.microsoft.com/office/powerpoint/2010/main" val="3836906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FB49-BB9A-5C3C-26DD-66F39DED83F9}"/>
              </a:ext>
            </a:extLst>
          </p:cNvPr>
          <p:cNvSpPr>
            <a:spLocks noGrp="1"/>
          </p:cNvSpPr>
          <p:nvPr>
            <p:ph type="title"/>
          </p:nvPr>
        </p:nvSpPr>
        <p:spPr/>
        <p:txBody>
          <a:bodyPr/>
          <a:lstStyle/>
          <a:p>
            <a:r>
              <a:rPr lang="en-IN" dirty="0"/>
              <a:t>Python Implementation</a:t>
            </a:r>
          </a:p>
        </p:txBody>
      </p:sp>
      <p:sp>
        <p:nvSpPr>
          <p:cNvPr id="3" name="Content Placeholder 2">
            <a:extLst>
              <a:ext uri="{FF2B5EF4-FFF2-40B4-BE49-F238E27FC236}">
                <a16:creationId xmlns:a16="http://schemas.microsoft.com/office/drawing/2014/main" id="{67F906D0-AD80-2726-A037-AD82EB9A4B3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DEFF754-4E39-6DD5-696A-26B294931D17}"/>
              </a:ext>
            </a:extLst>
          </p:cNvPr>
          <p:cNvPicPr>
            <a:picLocks noChangeAspect="1"/>
          </p:cNvPicPr>
          <p:nvPr/>
        </p:nvPicPr>
        <p:blipFill>
          <a:blip r:embed="rId2"/>
          <a:stretch>
            <a:fillRect/>
          </a:stretch>
        </p:blipFill>
        <p:spPr>
          <a:xfrm>
            <a:off x="571889" y="1793012"/>
            <a:ext cx="5564769" cy="4198418"/>
          </a:xfrm>
          <a:prstGeom prst="rect">
            <a:avLst/>
          </a:prstGeom>
        </p:spPr>
      </p:pic>
      <p:pic>
        <p:nvPicPr>
          <p:cNvPr id="1026" name="Picture 2">
            <a:extLst>
              <a:ext uri="{FF2B5EF4-FFF2-40B4-BE49-F238E27FC236}">
                <a16:creationId xmlns:a16="http://schemas.microsoft.com/office/drawing/2014/main" id="{3D5A3DCD-40B9-EE9A-658D-F9FFEDDA3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405" y="1793012"/>
            <a:ext cx="5133975"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424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9AEB98-7E24-555D-0AF3-ABF473E51EC3}"/>
              </a:ext>
            </a:extLst>
          </p:cNvPr>
          <p:cNvSpPr>
            <a:spLocks noGrp="1"/>
          </p:cNvSpPr>
          <p:nvPr>
            <p:ph idx="1"/>
          </p:nvPr>
        </p:nvSpPr>
        <p:spPr>
          <a:xfrm>
            <a:off x="1066800" y="651164"/>
            <a:ext cx="10058400" cy="5301580"/>
          </a:xfrm>
        </p:spPr>
        <p:txBody>
          <a:bodyPr>
            <a:normAutofit/>
          </a:bodyPr>
          <a:lstStyle/>
          <a:p>
            <a:pPr marL="0" indent="0">
              <a:buNone/>
            </a:pPr>
            <a:r>
              <a:rPr lang="en-IN" dirty="0"/>
              <a:t>import </a:t>
            </a:r>
            <a:r>
              <a:rPr lang="en-IN" dirty="0" err="1"/>
              <a:t>numpy</a:t>
            </a:r>
            <a:r>
              <a:rPr lang="en-IN" dirty="0"/>
              <a:t> as np</a:t>
            </a:r>
          </a:p>
          <a:p>
            <a:pPr marL="0" indent="0">
              <a:buNone/>
            </a:pPr>
            <a:r>
              <a:rPr lang="en-IN" dirty="0"/>
              <a:t>from </a:t>
            </a:r>
            <a:r>
              <a:rPr lang="en-IN" dirty="0" err="1"/>
              <a:t>sklearn.metrics</a:t>
            </a:r>
            <a:r>
              <a:rPr lang="en-IN" dirty="0"/>
              <a:t> import </a:t>
            </a:r>
            <a:r>
              <a:rPr lang="en-IN" dirty="0" err="1"/>
              <a:t>confusion_matrix</a:t>
            </a:r>
            <a:endParaRPr lang="en-IN" dirty="0"/>
          </a:p>
          <a:p>
            <a:pPr marL="0" indent="0">
              <a:buNone/>
            </a:pPr>
            <a:r>
              <a:rPr lang="en-IN" dirty="0"/>
              <a:t>import seaborn as </a:t>
            </a:r>
            <a:r>
              <a:rPr lang="en-IN" dirty="0" err="1"/>
              <a:t>sns</a:t>
            </a:r>
            <a:endParaRPr lang="en-IN" dirty="0"/>
          </a:p>
          <a:p>
            <a:pPr marL="0" indent="0">
              <a:buNone/>
            </a:pPr>
            <a:r>
              <a:rPr lang="en-IN" dirty="0"/>
              <a:t>import </a:t>
            </a:r>
            <a:r>
              <a:rPr lang="en-IN" dirty="0" err="1"/>
              <a:t>matplotlib.pyplot</a:t>
            </a:r>
            <a:r>
              <a:rPr lang="en-IN" dirty="0"/>
              <a:t> as </a:t>
            </a:r>
            <a:r>
              <a:rPr lang="en-IN" dirty="0" err="1"/>
              <a:t>plt</a:t>
            </a:r>
            <a:endParaRPr lang="en-IN" dirty="0"/>
          </a:p>
          <a:p>
            <a:pPr marL="0" indent="0">
              <a:buNone/>
            </a:pPr>
            <a:r>
              <a:rPr lang="en-IN" dirty="0"/>
              <a:t>actual = </a:t>
            </a:r>
            <a:r>
              <a:rPr lang="en-IN" dirty="0" err="1"/>
              <a:t>np.array</a:t>
            </a:r>
            <a:r>
              <a:rPr lang="en-IN" dirty="0"/>
              <a:t>(['</a:t>
            </a:r>
            <a:r>
              <a:rPr lang="en-IN" dirty="0" err="1"/>
              <a:t>Dog','Dog','Dog','Not</a:t>
            </a:r>
            <a:r>
              <a:rPr lang="en-IN" dirty="0"/>
              <a:t> </a:t>
            </a:r>
            <a:r>
              <a:rPr lang="en-IN" dirty="0" err="1"/>
              <a:t>Dog','Dog','Not</a:t>
            </a:r>
            <a:r>
              <a:rPr lang="en-IN" dirty="0"/>
              <a:t> </a:t>
            </a:r>
            <a:r>
              <a:rPr lang="en-IN" dirty="0" err="1"/>
              <a:t>Dog','Dog','Dog','Not</a:t>
            </a:r>
            <a:r>
              <a:rPr lang="en-IN" dirty="0"/>
              <a:t> </a:t>
            </a:r>
            <a:r>
              <a:rPr lang="en-IN" dirty="0" err="1"/>
              <a:t>Dog','Not</a:t>
            </a:r>
            <a:r>
              <a:rPr lang="en-IN" dirty="0"/>
              <a:t> Dog'])</a:t>
            </a:r>
          </a:p>
          <a:p>
            <a:pPr marL="0" indent="0">
              <a:buNone/>
            </a:pPr>
            <a:r>
              <a:rPr lang="en-IN" dirty="0"/>
              <a:t>predicted = </a:t>
            </a:r>
            <a:r>
              <a:rPr lang="en-IN" dirty="0" err="1"/>
              <a:t>np.array</a:t>
            </a:r>
            <a:r>
              <a:rPr lang="en-IN" dirty="0"/>
              <a:t>(['</a:t>
            </a:r>
            <a:r>
              <a:rPr lang="en-IN" dirty="0" err="1"/>
              <a:t>Dog','Not</a:t>
            </a:r>
            <a:r>
              <a:rPr lang="en-IN" dirty="0"/>
              <a:t> </a:t>
            </a:r>
            <a:r>
              <a:rPr lang="en-IN" dirty="0" err="1"/>
              <a:t>Dog','Dog','Not</a:t>
            </a:r>
            <a:r>
              <a:rPr lang="en-IN" dirty="0"/>
              <a:t> </a:t>
            </a:r>
            <a:r>
              <a:rPr lang="en-IN" dirty="0" err="1"/>
              <a:t>Dog','Dog','Dog','Dog','Dog','Not</a:t>
            </a:r>
            <a:r>
              <a:rPr lang="en-IN" dirty="0"/>
              <a:t> </a:t>
            </a:r>
            <a:r>
              <a:rPr lang="en-IN" dirty="0" err="1"/>
              <a:t>Dog','Not</a:t>
            </a:r>
            <a:r>
              <a:rPr lang="en-IN" dirty="0"/>
              <a:t> Dog’])</a:t>
            </a:r>
          </a:p>
          <a:p>
            <a:pPr marL="0" indent="0">
              <a:buNone/>
            </a:pPr>
            <a:r>
              <a:rPr lang="en-IN" dirty="0"/>
              <a:t>cm = </a:t>
            </a:r>
            <a:r>
              <a:rPr lang="en-IN" dirty="0" err="1"/>
              <a:t>confusion_matrix</a:t>
            </a:r>
            <a:r>
              <a:rPr lang="en-IN" dirty="0"/>
              <a:t>(</a:t>
            </a:r>
            <a:r>
              <a:rPr lang="en-IN" dirty="0" err="1"/>
              <a:t>actual,predicted</a:t>
            </a:r>
            <a:r>
              <a:rPr lang="en-IN" dirty="0"/>
              <a:t>)</a:t>
            </a:r>
          </a:p>
          <a:p>
            <a:pPr marL="0" indent="0">
              <a:buNone/>
            </a:pPr>
            <a:r>
              <a:rPr lang="en-IN" dirty="0" err="1"/>
              <a:t>sns.heatmap</a:t>
            </a:r>
            <a:r>
              <a:rPr lang="en-IN" dirty="0"/>
              <a:t>(cm, </a:t>
            </a:r>
            <a:r>
              <a:rPr lang="en-IN" dirty="0" err="1"/>
              <a:t>annot</a:t>
            </a:r>
            <a:r>
              <a:rPr lang="en-IN" dirty="0"/>
              <a:t>=True, </a:t>
            </a:r>
            <a:r>
              <a:rPr lang="en-IN" dirty="0" err="1"/>
              <a:t>fmt</a:t>
            </a:r>
            <a:r>
              <a:rPr lang="en-IN" dirty="0"/>
              <a:t>='g', </a:t>
            </a:r>
            <a:r>
              <a:rPr lang="en-IN" dirty="0" err="1"/>
              <a:t>xticklabels</a:t>
            </a:r>
            <a:r>
              <a:rPr lang="en-IN" dirty="0"/>
              <a:t>=['</a:t>
            </a:r>
            <a:r>
              <a:rPr lang="en-IN" dirty="0" err="1"/>
              <a:t>Dog','Not</a:t>
            </a:r>
            <a:r>
              <a:rPr lang="en-IN" dirty="0"/>
              <a:t> Dog'],</a:t>
            </a:r>
            <a:r>
              <a:rPr lang="en-IN" dirty="0" err="1"/>
              <a:t>yticklabels</a:t>
            </a:r>
            <a:r>
              <a:rPr lang="en-IN" dirty="0"/>
              <a:t>=['</a:t>
            </a:r>
            <a:r>
              <a:rPr lang="en-IN" dirty="0" err="1"/>
              <a:t>Dog','Not</a:t>
            </a:r>
            <a:r>
              <a:rPr lang="en-IN" dirty="0"/>
              <a:t> Dog'])</a:t>
            </a:r>
          </a:p>
          <a:p>
            <a:pPr marL="0" indent="0">
              <a:buNone/>
            </a:pPr>
            <a:r>
              <a:rPr lang="en-IN" dirty="0" err="1"/>
              <a:t>plt.ylabel</a:t>
            </a:r>
            <a:r>
              <a:rPr lang="en-IN" dirty="0"/>
              <a:t>('Prediction',</a:t>
            </a:r>
            <a:r>
              <a:rPr lang="en-IN" dirty="0" err="1"/>
              <a:t>fontsize</a:t>
            </a:r>
            <a:r>
              <a:rPr lang="en-IN" dirty="0"/>
              <a:t>=13)</a:t>
            </a:r>
          </a:p>
          <a:p>
            <a:pPr marL="0" indent="0">
              <a:buNone/>
            </a:pPr>
            <a:r>
              <a:rPr lang="en-IN" dirty="0" err="1"/>
              <a:t>plt.xlabel</a:t>
            </a:r>
            <a:r>
              <a:rPr lang="en-IN" dirty="0"/>
              <a:t>('Actual',</a:t>
            </a:r>
            <a:r>
              <a:rPr lang="en-IN" dirty="0" err="1"/>
              <a:t>fontsize</a:t>
            </a:r>
            <a:r>
              <a:rPr lang="en-IN" dirty="0"/>
              <a:t>=13)</a:t>
            </a:r>
          </a:p>
          <a:p>
            <a:pPr marL="0" indent="0">
              <a:buNone/>
            </a:pPr>
            <a:r>
              <a:rPr lang="en-IN" dirty="0" err="1"/>
              <a:t>plt.title</a:t>
            </a:r>
            <a:r>
              <a:rPr lang="en-IN" dirty="0"/>
              <a:t>('Confusion Matrix',</a:t>
            </a:r>
            <a:r>
              <a:rPr lang="en-IN" dirty="0" err="1"/>
              <a:t>fontsize</a:t>
            </a:r>
            <a:r>
              <a:rPr lang="en-IN" dirty="0"/>
              <a:t>=17)</a:t>
            </a:r>
          </a:p>
          <a:p>
            <a:pPr marL="0" indent="0">
              <a:buNone/>
            </a:pPr>
            <a:r>
              <a:rPr lang="en-IN" dirty="0" err="1"/>
              <a:t>plt.show</a:t>
            </a:r>
            <a:r>
              <a:rPr lang="en-IN" dirty="0"/>
              <a:t>()</a:t>
            </a:r>
          </a:p>
          <a:p>
            <a:pPr marL="0" indent="0">
              <a:buNone/>
            </a:pPr>
            <a:r>
              <a:rPr lang="en-IN" sz="3200" dirty="0"/>
              <a:t>[[‘</a:t>
            </a:r>
            <a:r>
              <a:rPr lang="en-IN" sz="3200" dirty="0" err="1"/>
              <a:t>Batman’,’by’,’Nolan</a:t>
            </a:r>
            <a:r>
              <a:rPr lang="en-IN" sz="3200" dirty="0"/>
              <a:t>’],[‘</a:t>
            </a:r>
            <a:r>
              <a:rPr lang="en-IN" sz="3200" dirty="0" err="1"/>
              <a:t>joker’,’by’,’Joakim</a:t>
            </a:r>
            <a:r>
              <a:rPr lang="en-IN" sz="3200" dirty="0"/>
              <a:t>’]</a:t>
            </a:r>
          </a:p>
          <a:p>
            <a:endParaRPr lang="en-IN" dirty="0"/>
          </a:p>
          <a:p>
            <a:endParaRPr lang="en-IN" dirty="0"/>
          </a:p>
        </p:txBody>
      </p:sp>
    </p:spTree>
    <p:extLst>
      <p:ext uri="{BB962C8B-B14F-4D97-AF65-F5344CB8AC3E}">
        <p14:creationId xmlns:p14="http://schemas.microsoft.com/office/powerpoint/2010/main" val="3810461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C99A6-5627-7CDE-B10B-D0C13A040E72}"/>
              </a:ext>
            </a:extLst>
          </p:cNvPr>
          <p:cNvSpPr>
            <a:spLocks noGrp="1"/>
          </p:cNvSpPr>
          <p:nvPr>
            <p:ph type="title"/>
          </p:nvPr>
        </p:nvSpPr>
        <p:spPr/>
        <p:txBody>
          <a:bodyPr/>
          <a:lstStyle/>
          <a:p>
            <a:r>
              <a:rPr lang="en-IN" dirty="0"/>
              <a:t>Few Statistical Parameters</a:t>
            </a:r>
          </a:p>
        </p:txBody>
      </p:sp>
      <p:sp>
        <p:nvSpPr>
          <p:cNvPr id="3" name="Content Placeholder 2">
            <a:extLst>
              <a:ext uri="{FF2B5EF4-FFF2-40B4-BE49-F238E27FC236}">
                <a16:creationId xmlns:a16="http://schemas.microsoft.com/office/drawing/2014/main" id="{7C9BEBFE-6AD1-89D2-0999-0E6D3B52A2BB}"/>
              </a:ext>
            </a:extLst>
          </p:cNvPr>
          <p:cNvSpPr>
            <a:spLocks noGrp="1"/>
          </p:cNvSpPr>
          <p:nvPr>
            <p:ph idx="1"/>
          </p:nvPr>
        </p:nvSpPr>
        <p:spPr/>
        <p:txBody>
          <a:bodyPr>
            <a:normAutofit/>
          </a:bodyPr>
          <a:lstStyle/>
          <a:p>
            <a:r>
              <a:rPr lang="en-IN" sz="2000" b="1" dirty="0">
                <a:highlight>
                  <a:srgbClr val="00FFFF"/>
                </a:highlight>
                <a:latin typeface="Arial" panose="020B0604020202020204" pitchFamily="34" charset="0"/>
                <a:cs typeface="Arial" panose="020B0604020202020204" pitchFamily="34" charset="0"/>
              </a:rPr>
              <a:t>Accuracy</a:t>
            </a:r>
            <a:r>
              <a:rPr lang="en-IN" sz="2000" dirty="0">
                <a:highlight>
                  <a:srgbClr val="00FFFF"/>
                </a:highlight>
                <a:latin typeface="Arial" panose="020B0604020202020204" pitchFamily="34" charset="0"/>
                <a:cs typeface="Arial" panose="020B0604020202020204" pitchFamily="34" charset="0"/>
              </a:rPr>
              <a:t> : </a:t>
            </a:r>
            <a:r>
              <a:rPr lang="en-US" sz="2000" dirty="0">
                <a:highlight>
                  <a:srgbClr val="00FFFF"/>
                </a:highlight>
                <a:latin typeface="Arial" panose="020B0604020202020204" pitchFamily="34" charset="0"/>
                <a:cs typeface="Arial" panose="020B0604020202020204" pitchFamily="34" charset="0"/>
              </a:rPr>
              <a:t>Accuracy is used to measure the performance of the model. It is the ratio of Total correct instances to the total instances</a:t>
            </a:r>
          </a:p>
          <a:p>
            <a:endParaRPr lang="en-US" sz="2000" dirty="0">
              <a:highlight>
                <a:srgbClr val="00FFFF"/>
              </a:highlight>
              <a:latin typeface="Arial" panose="020B0604020202020204" pitchFamily="34" charset="0"/>
              <a:cs typeface="Arial" panose="020B0604020202020204" pitchFamily="34" charset="0"/>
            </a:endParaRPr>
          </a:p>
          <a:p>
            <a:endParaRPr lang="en-US" sz="2000" dirty="0">
              <a:highlight>
                <a:srgbClr val="00FFFF"/>
              </a:highlight>
              <a:latin typeface="Arial" panose="020B0604020202020204" pitchFamily="34" charset="0"/>
              <a:cs typeface="Arial" panose="020B0604020202020204" pitchFamily="34" charset="0"/>
            </a:endParaRPr>
          </a:p>
          <a:p>
            <a:pPr marL="0" indent="0">
              <a:buNone/>
            </a:pPr>
            <a:r>
              <a:rPr lang="en-US" sz="2000" dirty="0">
                <a:highlight>
                  <a:srgbClr val="00FFFF"/>
                </a:highlight>
                <a:latin typeface="Arial" panose="020B0604020202020204" pitchFamily="34" charset="0"/>
                <a:cs typeface="Arial" panose="020B0604020202020204" pitchFamily="34" charset="0"/>
              </a:rPr>
              <a:t>   For the dog image case:  Accuracy = (5+3)/(5+3+1+1) = 8/10 = 0.8</a:t>
            </a:r>
          </a:p>
          <a:p>
            <a:r>
              <a:rPr lang="en-US" sz="2000" b="1" dirty="0">
                <a:highlight>
                  <a:srgbClr val="00FFFF"/>
                </a:highlight>
                <a:latin typeface="Arial" panose="020B0604020202020204" pitchFamily="34" charset="0"/>
                <a:cs typeface="Arial" panose="020B0604020202020204" pitchFamily="34" charset="0"/>
              </a:rPr>
              <a:t>Precision</a:t>
            </a:r>
            <a:r>
              <a:rPr lang="en-US" sz="2000" dirty="0">
                <a:highlight>
                  <a:srgbClr val="00FFFF"/>
                </a:highlight>
                <a:latin typeface="Arial" panose="020B0604020202020204" pitchFamily="34" charset="0"/>
                <a:cs typeface="Arial" panose="020B0604020202020204" pitchFamily="34" charset="0"/>
              </a:rPr>
              <a:t>: Precision or Positive Predictive Value (PPV) is a measure of how accurate a model’s positive predictions are. </a:t>
            </a:r>
            <a:r>
              <a:rPr lang="en-US" sz="2000" dirty="0">
                <a:highlight>
                  <a:srgbClr val="FFFF00"/>
                </a:highlight>
                <a:latin typeface="Arial" panose="020B0604020202020204" pitchFamily="34" charset="0"/>
                <a:cs typeface="Arial" panose="020B0604020202020204" pitchFamily="34" charset="0"/>
              </a:rPr>
              <a:t>It is defined as the ratio of true positive predictions to the total number of positive predictions made by the model</a:t>
            </a:r>
          </a:p>
          <a:p>
            <a:r>
              <a:rPr lang="en-US" sz="2000" dirty="0">
                <a:highlight>
                  <a:srgbClr val="FFFF00"/>
                </a:highlight>
                <a:latin typeface="Arial" panose="020B0604020202020204" pitchFamily="34" charset="0"/>
                <a:cs typeface="Arial" panose="020B0604020202020204" pitchFamily="34" charset="0"/>
              </a:rPr>
              <a:t>For the above case Precision = 5/(5+1) =5/6 = 0.8333</a:t>
            </a:r>
          </a:p>
          <a:p>
            <a:endParaRPr lang="en-US" sz="2000" dirty="0">
              <a:highlight>
                <a:srgbClr val="FFFF00"/>
              </a:highlight>
              <a:latin typeface="Arial" panose="020B0604020202020204" pitchFamily="34" charset="0"/>
              <a:cs typeface="Arial" panose="020B0604020202020204" pitchFamily="34" charset="0"/>
            </a:endParaRPr>
          </a:p>
          <a:p>
            <a:endParaRPr lang="en-US" sz="2000" dirty="0">
              <a:highlight>
                <a:srgbClr val="FFFF00"/>
              </a:highlight>
              <a:latin typeface="Arial" panose="020B0604020202020204" pitchFamily="34" charset="0"/>
              <a:cs typeface="Arial" panose="020B0604020202020204" pitchFamily="34" charset="0"/>
            </a:endParaRPr>
          </a:p>
          <a:p>
            <a:endParaRPr lang="en-IN" sz="2000" dirty="0">
              <a:highlight>
                <a:srgbClr val="FFFF00"/>
              </a:highligh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85B5A41-1F06-6BB2-0B02-118F554C3C77}"/>
              </a:ext>
            </a:extLst>
          </p:cNvPr>
          <p:cNvPicPr>
            <a:picLocks noChangeAspect="1"/>
          </p:cNvPicPr>
          <p:nvPr/>
        </p:nvPicPr>
        <p:blipFill>
          <a:blip r:embed="rId2"/>
          <a:stretch>
            <a:fillRect/>
          </a:stretch>
        </p:blipFill>
        <p:spPr>
          <a:xfrm>
            <a:off x="4076639" y="3061856"/>
            <a:ext cx="5391408" cy="650392"/>
          </a:xfrm>
          <a:prstGeom prst="rect">
            <a:avLst/>
          </a:prstGeom>
        </p:spPr>
      </p:pic>
      <p:pic>
        <p:nvPicPr>
          <p:cNvPr id="6" name="Picture 5">
            <a:extLst>
              <a:ext uri="{FF2B5EF4-FFF2-40B4-BE49-F238E27FC236}">
                <a16:creationId xmlns:a16="http://schemas.microsoft.com/office/drawing/2014/main" id="{9F3C448B-C503-EDEB-C6D8-9E8AAF662F33}"/>
              </a:ext>
            </a:extLst>
          </p:cNvPr>
          <p:cNvPicPr>
            <a:picLocks noChangeAspect="1"/>
          </p:cNvPicPr>
          <p:nvPr/>
        </p:nvPicPr>
        <p:blipFill>
          <a:blip r:embed="rId3"/>
          <a:stretch>
            <a:fillRect/>
          </a:stretch>
        </p:blipFill>
        <p:spPr>
          <a:xfrm>
            <a:off x="7560227" y="5198346"/>
            <a:ext cx="3815640" cy="754398"/>
          </a:xfrm>
          <a:prstGeom prst="rect">
            <a:avLst/>
          </a:prstGeom>
        </p:spPr>
      </p:pic>
    </p:spTree>
    <p:extLst>
      <p:ext uri="{BB962C8B-B14F-4D97-AF65-F5344CB8AC3E}">
        <p14:creationId xmlns:p14="http://schemas.microsoft.com/office/powerpoint/2010/main" val="518151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29D2-9A80-9C17-91C7-BC09EFD4EBA1}"/>
              </a:ext>
            </a:extLst>
          </p:cNvPr>
          <p:cNvSpPr>
            <a:spLocks noGrp="1"/>
          </p:cNvSpPr>
          <p:nvPr>
            <p:ph type="title"/>
          </p:nvPr>
        </p:nvSpPr>
        <p:spPr/>
        <p:txBody>
          <a:bodyPr/>
          <a:lstStyle/>
          <a:p>
            <a:r>
              <a:rPr lang="en-IN" dirty="0"/>
              <a:t>Few Statistical Parameters</a:t>
            </a:r>
          </a:p>
        </p:txBody>
      </p:sp>
      <p:sp>
        <p:nvSpPr>
          <p:cNvPr id="3" name="Content Placeholder 2">
            <a:extLst>
              <a:ext uri="{FF2B5EF4-FFF2-40B4-BE49-F238E27FC236}">
                <a16:creationId xmlns:a16="http://schemas.microsoft.com/office/drawing/2014/main" id="{1E6CAAA0-CA90-7F20-972D-DDD482A4543F}"/>
              </a:ext>
            </a:extLst>
          </p:cNvPr>
          <p:cNvSpPr>
            <a:spLocks noGrp="1"/>
          </p:cNvSpPr>
          <p:nvPr>
            <p:ph idx="1"/>
          </p:nvPr>
        </p:nvSpPr>
        <p:spPr/>
        <p:txBody>
          <a:bodyPr>
            <a:normAutofit/>
          </a:bodyPr>
          <a:lstStyle/>
          <a:p>
            <a:r>
              <a:rPr lang="en-US" sz="2000" b="1" dirty="0">
                <a:highlight>
                  <a:srgbClr val="00FFFF"/>
                </a:highlight>
                <a:latin typeface="Arial" panose="020B0604020202020204" pitchFamily="34" charset="0"/>
                <a:cs typeface="Arial" panose="020B0604020202020204" pitchFamily="34" charset="0"/>
              </a:rPr>
              <a:t>Recall</a:t>
            </a:r>
            <a:r>
              <a:rPr lang="en-US" sz="2000" dirty="0">
                <a:highlight>
                  <a:srgbClr val="00FFFF"/>
                </a:highlight>
                <a:latin typeface="Arial" panose="020B0604020202020204" pitchFamily="34" charset="0"/>
                <a:cs typeface="Arial" panose="020B0604020202020204" pitchFamily="34" charset="0"/>
              </a:rPr>
              <a:t>: Recall measures the effectiveness of a classification model in identifying all relevant instances from a dataset.</a:t>
            </a:r>
          </a:p>
          <a:p>
            <a:r>
              <a:rPr lang="en-US" sz="2000" dirty="0">
                <a:highlight>
                  <a:srgbClr val="00FFFF"/>
                </a:highlight>
                <a:latin typeface="Arial" panose="020B0604020202020204" pitchFamily="34" charset="0"/>
                <a:cs typeface="Arial" panose="020B0604020202020204" pitchFamily="34" charset="0"/>
              </a:rPr>
              <a:t> It is the ratio of the number of true positive (TP) instances to the sum of true positive and false negative (FN) instances.</a:t>
            </a:r>
          </a:p>
          <a:p>
            <a:pPr marL="0" indent="0">
              <a:buNone/>
            </a:pPr>
            <a:endParaRPr lang="en-US" sz="2000" dirty="0">
              <a:highlight>
                <a:srgbClr val="00FFFF"/>
              </a:highlight>
              <a:latin typeface="Arial" panose="020B0604020202020204" pitchFamily="34" charset="0"/>
              <a:cs typeface="Arial" panose="020B0604020202020204" pitchFamily="34" charset="0"/>
            </a:endParaRPr>
          </a:p>
          <a:p>
            <a:r>
              <a:rPr lang="en-US" sz="2000" dirty="0">
                <a:highlight>
                  <a:srgbClr val="00FFFF"/>
                </a:highlight>
                <a:latin typeface="Arial" panose="020B0604020202020204" pitchFamily="34" charset="0"/>
                <a:cs typeface="Arial" panose="020B0604020202020204" pitchFamily="34" charset="0"/>
              </a:rPr>
              <a:t> For the above case: Recall = 5/(5+1) =5/6 = 0.8333</a:t>
            </a:r>
            <a:endParaRPr lang="en-IN" sz="2000" dirty="0">
              <a:highlight>
                <a:srgbClr val="00FFFF"/>
              </a:highligh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2712CB4-0874-8CB4-E1F6-FF6440564F5B}"/>
              </a:ext>
            </a:extLst>
          </p:cNvPr>
          <p:cNvPicPr>
            <a:picLocks noChangeAspect="1"/>
          </p:cNvPicPr>
          <p:nvPr/>
        </p:nvPicPr>
        <p:blipFill>
          <a:blip r:embed="rId2"/>
          <a:stretch>
            <a:fillRect/>
          </a:stretch>
        </p:blipFill>
        <p:spPr>
          <a:xfrm>
            <a:off x="5153158" y="3594977"/>
            <a:ext cx="2369860" cy="432955"/>
          </a:xfrm>
          <a:prstGeom prst="rect">
            <a:avLst/>
          </a:prstGeom>
        </p:spPr>
      </p:pic>
    </p:spTree>
    <p:extLst>
      <p:ext uri="{BB962C8B-B14F-4D97-AF65-F5344CB8AC3E}">
        <p14:creationId xmlns:p14="http://schemas.microsoft.com/office/powerpoint/2010/main" val="1421441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FE4FA-BB29-16CD-BBC5-CBCD2326F3B6}"/>
              </a:ext>
            </a:extLst>
          </p:cNvPr>
          <p:cNvSpPr>
            <a:spLocks noGrp="1"/>
          </p:cNvSpPr>
          <p:nvPr>
            <p:ph type="title"/>
          </p:nvPr>
        </p:nvSpPr>
        <p:spPr/>
        <p:txBody>
          <a:bodyPr/>
          <a:lstStyle/>
          <a:p>
            <a:r>
              <a:rPr lang="en-IN" dirty="0"/>
              <a:t>Few Statistical Parameters</a:t>
            </a:r>
          </a:p>
        </p:txBody>
      </p:sp>
      <p:sp>
        <p:nvSpPr>
          <p:cNvPr id="3" name="Content Placeholder 2">
            <a:extLst>
              <a:ext uri="{FF2B5EF4-FFF2-40B4-BE49-F238E27FC236}">
                <a16:creationId xmlns:a16="http://schemas.microsoft.com/office/drawing/2014/main" id="{A2CB9670-A908-A4C3-9DD4-2DE1913A2535}"/>
              </a:ext>
            </a:extLst>
          </p:cNvPr>
          <p:cNvSpPr>
            <a:spLocks noGrp="1"/>
          </p:cNvSpPr>
          <p:nvPr>
            <p:ph idx="1"/>
          </p:nvPr>
        </p:nvSpPr>
        <p:spPr/>
        <p:txBody>
          <a:bodyPr>
            <a:normAutofit/>
          </a:bodyPr>
          <a:lstStyle/>
          <a:p>
            <a:r>
              <a:rPr lang="en-US" sz="2000" dirty="0">
                <a:highlight>
                  <a:srgbClr val="00FF00"/>
                </a:highlight>
                <a:latin typeface="Arial" panose="020B0604020202020204" pitchFamily="34" charset="0"/>
                <a:cs typeface="Arial" panose="020B0604020202020204" pitchFamily="34" charset="0"/>
              </a:rPr>
              <a:t>F1-Score: F1-score is used to evaluate the overall performance of a classification model. It is the harmonic mean of precision and recall</a:t>
            </a:r>
          </a:p>
          <a:p>
            <a:endParaRPr lang="en-US" sz="2000" dirty="0">
              <a:highlight>
                <a:srgbClr val="00FF00"/>
              </a:highlight>
              <a:latin typeface="Arial" panose="020B0604020202020204" pitchFamily="34" charset="0"/>
              <a:cs typeface="Arial" panose="020B0604020202020204" pitchFamily="34" charset="0"/>
            </a:endParaRPr>
          </a:p>
          <a:p>
            <a:endParaRPr lang="en-US" sz="2000" dirty="0">
              <a:highlight>
                <a:srgbClr val="00FF00"/>
              </a:highlight>
              <a:latin typeface="Arial" panose="020B0604020202020204" pitchFamily="34" charset="0"/>
              <a:cs typeface="Arial" panose="020B0604020202020204" pitchFamily="34" charset="0"/>
            </a:endParaRPr>
          </a:p>
          <a:p>
            <a:r>
              <a:rPr lang="en-US" sz="2000" dirty="0">
                <a:highlight>
                  <a:srgbClr val="00FF00"/>
                </a:highlight>
                <a:latin typeface="Arial" panose="020B0604020202020204" pitchFamily="34" charset="0"/>
                <a:cs typeface="Arial" panose="020B0604020202020204" pitchFamily="34" charset="0"/>
              </a:rPr>
              <a:t>For the above case</a:t>
            </a:r>
          </a:p>
          <a:p>
            <a:r>
              <a:rPr lang="en-US" sz="2000" dirty="0">
                <a:highlight>
                  <a:srgbClr val="00FF00"/>
                </a:highlight>
                <a:latin typeface="Arial" panose="020B0604020202020204" pitchFamily="34" charset="0"/>
                <a:cs typeface="Arial" panose="020B0604020202020204" pitchFamily="34" charset="0"/>
              </a:rPr>
              <a:t>F1-Score: = (2* 0.8333* 0.8333)/( 0.8333+ 0.8333)  = 0.8333</a:t>
            </a:r>
          </a:p>
          <a:p>
            <a:endParaRPr lang="en-IN" sz="2000" dirty="0">
              <a:highlight>
                <a:srgbClr val="00FF00"/>
              </a:highligh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D46326F-EAE6-708A-9032-57EFC8EF8C9C}"/>
              </a:ext>
            </a:extLst>
          </p:cNvPr>
          <p:cNvPicPr>
            <a:picLocks noChangeAspect="1"/>
          </p:cNvPicPr>
          <p:nvPr/>
        </p:nvPicPr>
        <p:blipFill>
          <a:blip r:embed="rId2"/>
          <a:stretch>
            <a:fillRect/>
          </a:stretch>
        </p:blipFill>
        <p:spPr>
          <a:xfrm>
            <a:off x="3182902" y="3103418"/>
            <a:ext cx="3722723" cy="416069"/>
          </a:xfrm>
          <a:prstGeom prst="rect">
            <a:avLst/>
          </a:prstGeom>
        </p:spPr>
      </p:pic>
    </p:spTree>
    <p:extLst>
      <p:ext uri="{BB962C8B-B14F-4D97-AF65-F5344CB8AC3E}">
        <p14:creationId xmlns:p14="http://schemas.microsoft.com/office/powerpoint/2010/main" val="13814844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AE791-4155-F324-070B-CC35AA88E9B8}"/>
              </a:ext>
            </a:extLst>
          </p:cNvPr>
          <p:cNvSpPr>
            <a:spLocks noGrp="1"/>
          </p:cNvSpPr>
          <p:nvPr>
            <p:ph type="title"/>
          </p:nvPr>
        </p:nvSpPr>
        <p:spPr/>
        <p:txBody>
          <a:bodyPr/>
          <a:lstStyle/>
          <a:p>
            <a:r>
              <a:rPr lang="en-IN" b="1" dirty="0"/>
              <a:t>Ridge Regression</a:t>
            </a:r>
          </a:p>
        </p:txBody>
      </p:sp>
      <p:sp>
        <p:nvSpPr>
          <p:cNvPr id="3" name="Content Placeholder 2">
            <a:extLst>
              <a:ext uri="{FF2B5EF4-FFF2-40B4-BE49-F238E27FC236}">
                <a16:creationId xmlns:a16="http://schemas.microsoft.com/office/drawing/2014/main" id="{A31B86C0-CF2F-B385-2C01-A0E94ED310C4}"/>
              </a:ext>
            </a:extLst>
          </p:cNvPr>
          <p:cNvSpPr>
            <a:spLocks noGrp="1"/>
          </p:cNvSpPr>
          <p:nvPr>
            <p:ph idx="1"/>
          </p:nvPr>
        </p:nvSpPr>
        <p:spPr/>
        <p:txBody>
          <a:bodyPr>
            <a:normAutofit fontScale="92500"/>
          </a:bodyPr>
          <a:lstStyle/>
          <a:p>
            <a:r>
              <a:rPr lang="en-US" sz="2400" b="1" dirty="0">
                <a:solidFill>
                  <a:srgbClr val="FF0000"/>
                </a:solidFill>
              </a:rPr>
              <a:t>Ridge regression (or Tikhonov regularization) </a:t>
            </a:r>
            <a:r>
              <a:rPr lang="en-US" sz="2400" dirty="0"/>
              <a:t>is a method of estimating the </a:t>
            </a:r>
            <a:r>
              <a:rPr lang="en-US" sz="2400" dirty="0">
                <a:highlight>
                  <a:srgbClr val="FFFF00"/>
                </a:highlight>
              </a:rPr>
              <a:t>coefficients of multiple-regression models in scenarios where the independent variables are highly correlated</a:t>
            </a:r>
            <a:r>
              <a:rPr lang="en-US" sz="2400" dirty="0"/>
              <a:t>.</a:t>
            </a:r>
          </a:p>
          <a:p>
            <a:r>
              <a:rPr lang="en-US" sz="2400" dirty="0"/>
              <a:t>In statistics, </a:t>
            </a:r>
            <a:r>
              <a:rPr lang="en-US" sz="2400" dirty="0">
                <a:highlight>
                  <a:srgbClr val="00FFFF"/>
                </a:highlight>
              </a:rPr>
              <a:t>ordinary least squares (OLS) </a:t>
            </a:r>
            <a:r>
              <a:rPr lang="en-US" sz="2400" dirty="0"/>
              <a:t>is a type of linear least squares method for choosing the unknown parameters in a linear regression model by the principle of least squares: </a:t>
            </a:r>
            <a:r>
              <a:rPr lang="en-US" sz="2400" dirty="0">
                <a:highlight>
                  <a:srgbClr val="00FFFF"/>
                </a:highlight>
              </a:rPr>
              <a:t>minimizing the sum of the squares of the differences between the observed dependent variable (values of the variable being observed) in the input dataset and the output of the (linear) function of the independent variable</a:t>
            </a:r>
            <a:r>
              <a:rPr lang="en-US" sz="2400" dirty="0"/>
              <a:t>.</a:t>
            </a:r>
            <a:endParaRPr lang="en-IN" sz="2400" dirty="0"/>
          </a:p>
        </p:txBody>
      </p:sp>
    </p:spTree>
    <p:extLst>
      <p:ext uri="{BB962C8B-B14F-4D97-AF65-F5344CB8AC3E}">
        <p14:creationId xmlns:p14="http://schemas.microsoft.com/office/powerpoint/2010/main" val="38796651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99958-64EE-BE8B-85BA-ED1B5A7F2348}"/>
              </a:ext>
            </a:extLst>
          </p:cNvPr>
          <p:cNvSpPr>
            <a:spLocks noGrp="1"/>
          </p:cNvSpPr>
          <p:nvPr>
            <p:ph type="title"/>
          </p:nvPr>
        </p:nvSpPr>
        <p:spPr/>
        <p:txBody>
          <a:bodyPr/>
          <a:lstStyle/>
          <a:p>
            <a:r>
              <a:rPr lang="en-IN" dirty="0"/>
              <a:t>Ridge Regression- Why?</a:t>
            </a:r>
          </a:p>
        </p:txBody>
      </p:sp>
      <p:sp>
        <p:nvSpPr>
          <p:cNvPr id="3" name="Content Placeholder 2">
            <a:extLst>
              <a:ext uri="{FF2B5EF4-FFF2-40B4-BE49-F238E27FC236}">
                <a16:creationId xmlns:a16="http://schemas.microsoft.com/office/drawing/2014/main" id="{3D38A7A8-F1DC-5A2B-DAFA-3CA1DD55B1AF}"/>
              </a:ext>
            </a:extLst>
          </p:cNvPr>
          <p:cNvSpPr>
            <a:spLocks noGrp="1"/>
          </p:cNvSpPr>
          <p:nvPr>
            <p:ph idx="1"/>
          </p:nvPr>
        </p:nvSpPr>
        <p:spPr>
          <a:xfrm>
            <a:off x="1066799" y="1620982"/>
            <a:ext cx="10584873" cy="4331762"/>
          </a:xfrm>
        </p:spPr>
        <p:txBody>
          <a:bodyPr>
            <a:normAutofit/>
          </a:bodyPr>
          <a:lstStyle/>
          <a:p>
            <a:pPr algn="just"/>
            <a:r>
              <a:rPr lang="en-US" sz="2400" b="0" i="0" dirty="0">
                <a:solidFill>
                  <a:srgbClr val="212529"/>
                </a:solidFill>
                <a:effectLst/>
                <a:latin typeface="-apple-system"/>
              </a:rPr>
              <a:t>The </a:t>
            </a:r>
            <a:r>
              <a:rPr lang="en-US" sz="2400" b="0" i="0" dirty="0">
                <a:solidFill>
                  <a:srgbClr val="212529"/>
                </a:solidFill>
                <a:effectLst/>
                <a:highlight>
                  <a:srgbClr val="00FFFF"/>
                </a:highlight>
                <a:latin typeface="-apple-system"/>
              </a:rPr>
              <a:t>coefficient estimates for Ordinary Least Squares rely on the independence of the features. When features are correlated and the columns of the predictor matrix X  have an approximately linear dependence, the least-squares estimate becomes highly sensitive to random errors in the target y, producing a large variance. </a:t>
            </a:r>
          </a:p>
        </p:txBody>
      </p:sp>
      <p:sp>
        <p:nvSpPr>
          <p:cNvPr id="5" name="TextBox 4">
            <a:extLst>
              <a:ext uri="{FF2B5EF4-FFF2-40B4-BE49-F238E27FC236}">
                <a16:creationId xmlns:a16="http://schemas.microsoft.com/office/drawing/2014/main" id="{0FD2E971-6AC7-2949-9908-27AD9A0BBE33}"/>
              </a:ext>
            </a:extLst>
          </p:cNvPr>
          <p:cNvSpPr txBox="1"/>
          <p:nvPr/>
        </p:nvSpPr>
        <p:spPr>
          <a:xfrm>
            <a:off x="1399309" y="5583412"/>
            <a:ext cx="9725891" cy="369332"/>
          </a:xfrm>
          <a:prstGeom prst="rect">
            <a:avLst/>
          </a:prstGeom>
          <a:noFill/>
        </p:spPr>
        <p:txBody>
          <a:bodyPr wrap="square">
            <a:spAutoFit/>
          </a:bodyPr>
          <a:lstStyle/>
          <a:p>
            <a:r>
              <a:rPr lang="en-US" dirty="0">
                <a:hlinkClick r:id="rId2"/>
              </a:rPr>
              <a:t>Ridge Regression Explained, Step by Step (machinelearningcompass.com)</a:t>
            </a:r>
            <a:endParaRPr lang="en-IN" dirty="0"/>
          </a:p>
        </p:txBody>
      </p:sp>
    </p:spTree>
    <p:extLst>
      <p:ext uri="{BB962C8B-B14F-4D97-AF65-F5344CB8AC3E}">
        <p14:creationId xmlns:p14="http://schemas.microsoft.com/office/powerpoint/2010/main" val="349570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51CCA-B2FC-D21A-67C3-8B61A95C1324}"/>
              </a:ext>
            </a:extLst>
          </p:cNvPr>
          <p:cNvSpPr>
            <a:spLocks noGrp="1"/>
          </p:cNvSpPr>
          <p:nvPr>
            <p:ph type="title"/>
          </p:nvPr>
        </p:nvSpPr>
        <p:spPr>
          <a:xfrm>
            <a:off x="3893126" y="642594"/>
            <a:ext cx="7232073" cy="1371600"/>
          </a:xfrm>
        </p:spPr>
        <p:txBody>
          <a:bodyPr/>
          <a:lstStyle/>
          <a:p>
            <a:r>
              <a:rPr lang="en-IN" dirty="0"/>
              <a:t>Ridge regression Example</a:t>
            </a:r>
          </a:p>
        </p:txBody>
      </p:sp>
      <p:sp>
        <p:nvSpPr>
          <p:cNvPr id="3" name="Content Placeholder 2">
            <a:extLst>
              <a:ext uri="{FF2B5EF4-FFF2-40B4-BE49-F238E27FC236}">
                <a16:creationId xmlns:a16="http://schemas.microsoft.com/office/drawing/2014/main" id="{B69D058F-9F0F-DC27-9D38-D5EFA0CE7206}"/>
              </a:ext>
            </a:extLst>
          </p:cNvPr>
          <p:cNvSpPr>
            <a:spLocks noGrp="1"/>
          </p:cNvSpPr>
          <p:nvPr>
            <p:ph idx="1"/>
          </p:nvPr>
        </p:nvSpPr>
        <p:spPr>
          <a:xfrm>
            <a:off x="692727" y="642594"/>
            <a:ext cx="11249891" cy="5813624"/>
          </a:xfrm>
        </p:spPr>
        <p:txBody>
          <a:bodyPr>
            <a:normAutofit fontScale="40000" lnSpcReduction="20000"/>
          </a:bodyPr>
          <a:lstStyle/>
          <a:p>
            <a:pPr marL="0" indent="0">
              <a:buNone/>
            </a:pPr>
            <a:r>
              <a:rPr lang="en-IN" b="0" dirty="0">
                <a:solidFill>
                  <a:srgbClr val="008000"/>
                </a:solidFill>
                <a:effectLst/>
                <a:highlight>
                  <a:srgbClr val="F7F7F7"/>
                </a:highlight>
                <a:latin typeface="Courier New" panose="02070309020205020404" pitchFamily="49" charset="0"/>
              </a:rPr>
              <a:t># importing libraries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a:solidFill>
                  <a:srgbClr val="AF00DB"/>
                </a:solidFill>
                <a:effectLst/>
                <a:highlight>
                  <a:srgbClr val="F7F7F7"/>
                </a:highlight>
                <a:latin typeface="Courier New" panose="02070309020205020404" pitchFamily="49" charset="0"/>
              </a:rPr>
              <a:t>from</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sklearn.linear_model</a:t>
            </a:r>
            <a:r>
              <a:rPr lang="en-IN" b="0" dirty="0">
                <a:solidFill>
                  <a:srgbClr val="000000"/>
                </a:solidFill>
                <a:effectLst/>
                <a:highlight>
                  <a:srgbClr val="F7F7F7"/>
                </a:highlight>
                <a:latin typeface="Courier New" panose="02070309020205020404" pitchFamily="49" charset="0"/>
              </a:rPr>
              <a:t> </a:t>
            </a:r>
            <a:r>
              <a:rPr lang="en-IN" b="0" dirty="0">
                <a:solidFill>
                  <a:srgbClr val="AF00DB"/>
                </a:solidFill>
                <a:effectLst/>
                <a:highlight>
                  <a:srgbClr val="F7F7F7"/>
                </a:highlight>
                <a:latin typeface="Courier New" panose="02070309020205020404" pitchFamily="49" charset="0"/>
              </a:rPr>
              <a:t>import</a:t>
            </a:r>
            <a:r>
              <a:rPr lang="en-IN" b="0" dirty="0">
                <a:solidFill>
                  <a:srgbClr val="000000"/>
                </a:solidFill>
                <a:effectLst/>
                <a:highlight>
                  <a:srgbClr val="F7F7F7"/>
                </a:highlight>
                <a:latin typeface="Courier New" panose="02070309020205020404" pitchFamily="49" charset="0"/>
              </a:rPr>
              <a:t> Ridge </a:t>
            </a:r>
          </a:p>
          <a:p>
            <a:pPr marL="0" indent="0">
              <a:buNone/>
            </a:pPr>
            <a:r>
              <a:rPr lang="en-IN" b="0" dirty="0">
                <a:solidFill>
                  <a:srgbClr val="AF00DB"/>
                </a:solidFill>
                <a:effectLst/>
                <a:highlight>
                  <a:srgbClr val="F7F7F7"/>
                </a:highlight>
                <a:latin typeface="Courier New" panose="02070309020205020404" pitchFamily="49" charset="0"/>
              </a:rPr>
              <a:t>from</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sklearn.model_selection</a:t>
            </a:r>
            <a:r>
              <a:rPr lang="en-IN" b="0" dirty="0">
                <a:solidFill>
                  <a:srgbClr val="000000"/>
                </a:solidFill>
                <a:effectLst/>
                <a:highlight>
                  <a:srgbClr val="F7F7F7"/>
                </a:highlight>
                <a:latin typeface="Courier New" panose="02070309020205020404" pitchFamily="49" charset="0"/>
              </a:rPr>
              <a:t> </a:t>
            </a:r>
            <a:r>
              <a:rPr lang="en-IN" b="0" dirty="0">
                <a:solidFill>
                  <a:srgbClr val="AF00DB"/>
                </a:solidFill>
                <a:effectLst/>
                <a:highlight>
                  <a:srgbClr val="F7F7F7"/>
                </a:highlight>
                <a:latin typeface="Courier New" panose="02070309020205020404" pitchFamily="49" charset="0"/>
              </a:rPr>
              <a:t>import</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train_test_split</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a:solidFill>
                  <a:srgbClr val="AF00DB"/>
                </a:solidFill>
                <a:effectLst/>
                <a:highlight>
                  <a:srgbClr val="F7F7F7"/>
                </a:highlight>
                <a:latin typeface="Courier New" panose="02070309020205020404" pitchFamily="49" charset="0"/>
              </a:rPr>
              <a:t>from</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sklearn.datasets</a:t>
            </a:r>
            <a:r>
              <a:rPr lang="en-IN" b="0" dirty="0">
                <a:solidFill>
                  <a:srgbClr val="000000"/>
                </a:solidFill>
                <a:effectLst/>
                <a:highlight>
                  <a:srgbClr val="F7F7F7"/>
                </a:highlight>
                <a:latin typeface="Courier New" panose="02070309020205020404" pitchFamily="49" charset="0"/>
              </a:rPr>
              <a:t> </a:t>
            </a:r>
            <a:r>
              <a:rPr lang="en-IN" b="0" dirty="0">
                <a:solidFill>
                  <a:srgbClr val="AF00DB"/>
                </a:solidFill>
                <a:effectLst/>
                <a:highlight>
                  <a:srgbClr val="F7F7F7"/>
                </a:highlight>
                <a:latin typeface="Courier New" panose="02070309020205020404" pitchFamily="49" charset="0"/>
              </a:rPr>
              <a:t>import</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fetch_california_housing</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a:solidFill>
                  <a:srgbClr val="AF00DB"/>
                </a:solidFill>
                <a:effectLst/>
                <a:highlight>
                  <a:srgbClr val="F7F7F7"/>
                </a:highlight>
                <a:latin typeface="Courier New" panose="02070309020205020404" pitchFamily="49" charset="0"/>
              </a:rPr>
              <a:t>from</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sklearn.preprocessing</a:t>
            </a:r>
            <a:r>
              <a:rPr lang="en-IN" b="0" dirty="0">
                <a:solidFill>
                  <a:srgbClr val="000000"/>
                </a:solidFill>
                <a:effectLst/>
                <a:highlight>
                  <a:srgbClr val="F7F7F7"/>
                </a:highlight>
                <a:latin typeface="Courier New" panose="02070309020205020404" pitchFamily="49" charset="0"/>
              </a:rPr>
              <a:t> </a:t>
            </a:r>
            <a:r>
              <a:rPr lang="en-IN" b="0" dirty="0">
                <a:solidFill>
                  <a:srgbClr val="AF00DB"/>
                </a:solidFill>
                <a:effectLst/>
                <a:highlight>
                  <a:srgbClr val="F7F7F7"/>
                </a:highlight>
                <a:latin typeface="Courier New" panose="02070309020205020404" pitchFamily="49" charset="0"/>
              </a:rPr>
              <a:t>import</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StandardScaler</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loading </a:t>
            </a:r>
            <a:r>
              <a:rPr lang="en-IN" b="0" dirty="0" err="1">
                <a:solidFill>
                  <a:srgbClr val="008000"/>
                </a:solidFill>
                <a:effectLst/>
                <a:highlight>
                  <a:srgbClr val="F7F7F7"/>
                </a:highlight>
                <a:latin typeface="Courier New" panose="02070309020205020404" pitchFamily="49" charset="0"/>
              </a:rPr>
              <a:t>california</a:t>
            </a:r>
            <a:r>
              <a:rPr lang="en-IN" b="0" dirty="0">
                <a:solidFill>
                  <a:srgbClr val="008000"/>
                </a:solidFill>
                <a:effectLst/>
                <a:highlight>
                  <a:srgbClr val="F7F7F7"/>
                </a:highlight>
                <a:latin typeface="Courier New" panose="02070309020205020404" pitchFamily="49" charset="0"/>
              </a:rPr>
              <a:t> housing dataset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err="1">
                <a:solidFill>
                  <a:srgbClr val="000000"/>
                </a:solidFill>
                <a:effectLst/>
                <a:highlight>
                  <a:srgbClr val="F7F7F7"/>
                </a:highlight>
                <a:latin typeface="Courier New" panose="02070309020205020404" pitchFamily="49" charset="0"/>
              </a:rPr>
              <a:t>boston</a:t>
            </a:r>
            <a:r>
              <a:rPr lang="en-IN" b="0" dirty="0">
                <a:solidFill>
                  <a:srgbClr val="000000"/>
                </a:solidFill>
                <a:effectLst/>
                <a:highlight>
                  <a:srgbClr val="F7F7F7"/>
                </a:highlight>
                <a:latin typeface="Courier New" panose="02070309020205020404" pitchFamily="49" charset="0"/>
              </a:rPr>
              <a:t> = </a:t>
            </a:r>
            <a:r>
              <a:rPr lang="en-IN" b="0" dirty="0" err="1">
                <a:solidFill>
                  <a:srgbClr val="000000"/>
                </a:solidFill>
                <a:effectLst/>
                <a:highlight>
                  <a:srgbClr val="F7F7F7"/>
                </a:highlight>
                <a:latin typeface="Courier New" panose="02070309020205020404" pitchFamily="49" charset="0"/>
              </a:rPr>
              <a:t>fetch_california_housing</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a:solidFill>
                  <a:srgbClr val="000000"/>
                </a:solidFill>
                <a:effectLst/>
                <a:highlight>
                  <a:srgbClr val="F7F7F7"/>
                </a:highlight>
                <a:latin typeface="Courier New" panose="02070309020205020404" pitchFamily="49" charset="0"/>
              </a:rPr>
              <a:t>X = </a:t>
            </a:r>
            <a:r>
              <a:rPr lang="en-IN" b="0" dirty="0" err="1">
                <a:solidFill>
                  <a:srgbClr val="000000"/>
                </a:solidFill>
                <a:effectLst/>
                <a:highlight>
                  <a:srgbClr val="F7F7F7"/>
                </a:highlight>
                <a:latin typeface="Courier New" panose="02070309020205020404" pitchFamily="49" charset="0"/>
              </a:rPr>
              <a:t>boston.data</a:t>
            </a:r>
            <a:r>
              <a:rPr lang="en-IN" b="0" dirty="0">
                <a:solidFill>
                  <a:srgbClr val="000000"/>
                </a:solidFill>
                <a:effectLst/>
                <a:highlight>
                  <a:srgbClr val="F7F7F7"/>
                </a:highlight>
                <a:latin typeface="Courier New" panose="02070309020205020404" pitchFamily="49" charset="0"/>
              </a:rPr>
              <a:t>[:, :</a:t>
            </a:r>
            <a:r>
              <a:rPr lang="en-IN" b="0" dirty="0">
                <a:solidFill>
                  <a:srgbClr val="116644"/>
                </a:solidFill>
                <a:effectLst/>
                <a:highlight>
                  <a:srgbClr val="F7F7F7"/>
                </a:highlight>
                <a:latin typeface="Courier New" panose="02070309020205020404" pitchFamily="49" charset="0"/>
              </a:rPr>
              <a:t>13</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a:solidFill>
                  <a:srgbClr val="000000"/>
                </a:solidFill>
                <a:effectLst/>
                <a:highlight>
                  <a:srgbClr val="F7F7F7"/>
                </a:highlight>
                <a:latin typeface="Courier New" panose="02070309020205020404" pitchFamily="49" charset="0"/>
              </a:rPr>
              <a:t>y = </a:t>
            </a:r>
            <a:r>
              <a:rPr lang="en-IN" b="0" dirty="0" err="1">
                <a:solidFill>
                  <a:srgbClr val="000000"/>
                </a:solidFill>
                <a:effectLst/>
                <a:highlight>
                  <a:srgbClr val="F7F7F7"/>
                </a:highlight>
                <a:latin typeface="Courier New" panose="02070309020205020404" pitchFamily="49" charset="0"/>
              </a:rPr>
              <a:t>boston.target</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0000"/>
                </a:solidFill>
                <a:effectLst/>
                <a:highlight>
                  <a:srgbClr val="F7F7F7"/>
                </a:highlight>
                <a:latin typeface="Courier New" panose="02070309020205020404" pitchFamily="49" charset="0"/>
              </a:rPr>
              <a:t>print (</a:t>
            </a:r>
            <a:r>
              <a:rPr lang="en-IN" b="0" dirty="0">
                <a:solidFill>
                  <a:srgbClr val="A31515"/>
                </a:solidFill>
                <a:effectLst/>
                <a:highlight>
                  <a:srgbClr val="F7F7F7"/>
                </a:highlight>
                <a:latin typeface="Courier New" panose="02070309020205020404" pitchFamily="49" charset="0"/>
              </a:rPr>
              <a:t>"Boston dataset keys : \n"</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boston.keys</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0000"/>
                </a:solidFill>
                <a:effectLst/>
                <a:highlight>
                  <a:srgbClr val="F7F7F7"/>
                </a:highlight>
                <a:latin typeface="Courier New" panose="02070309020205020404" pitchFamily="49" charset="0"/>
              </a:rPr>
              <a:t>print (</a:t>
            </a:r>
            <a:r>
              <a:rPr lang="en-IN" b="0" dirty="0">
                <a:solidFill>
                  <a:srgbClr val="A31515"/>
                </a:solidFill>
                <a:effectLst/>
                <a:highlight>
                  <a:srgbClr val="F7F7F7"/>
                </a:highlight>
                <a:latin typeface="Courier New" panose="02070309020205020404" pitchFamily="49" charset="0"/>
              </a:rPr>
              <a:t>"\</a:t>
            </a:r>
            <a:r>
              <a:rPr lang="en-IN" b="0" dirty="0" err="1">
                <a:solidFill>
                  <a:srgbClr val="A31515"/>
                </a:solidFill>
                <a:effectLst/>
                <a:highlight>
                  <a:srgbClr val="F7F7F7"/>
                </a:highlight>
                <a:latin typeface="Courier New" panose="02070309020205020404" pitchFamily="49" charset="0"/>
              </a:rPr>
              <a:t>nBoston</a:t>
            </a:r>
            <a:r>
              <a:rPr lang="en-IN" b="0" dirty="0">
                <a:solidFill>
                  <a:srgbClr val="A31515"/>
                </a:solidFill>
                <a:effectLst/>
                <a:highlight>
                  <a:srgbClr val="F7F7F7"/>
                </a:highlight>
                <a:latin typeface="Courier New" panose="02070309020205020404" pitchFamily="49" charset="0"/>
              </a:rPr>
              <a:t> data : \n"</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boston.data</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scaling the inputs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a:solidFill>
                  <a:srgbClr val="000000"/>
                </a:solidFill>
                <a:effectLst/>
                <a:highlight>
                  <a:srgbClr val="F7F7F7"/>
                </a:highlight>
                <a:latin typeface="Courier New" panose="02070309020205020404" pitchFamily="49" charset="0"/>
              </a:rPr>
              <a:t>scaler = </a:t>
            </a:r>
            <a:r>
              <a:rPr lang="en-IN" b="0" dirty="0" err="1">
                <a:solidFill>
                  <a:srgbClr val="000000"/>
                </a:solidFill>
                <a:effectLst/>
                <a:highlight>
                  <a:srgbClr val="F7F7F7"/>
                </a:highlight>
                <a:latin typeface="Courier New" panose="02070309020205020404" pitchFamily="49" charset="0"/>
              </a:rPr>
              <a:t>StandardScaler</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err="1">
                <a:solidFill>
                  <a:srgbClr val="000000"/>
                </a:solidFill>
                <a:effectLst/>
                <a:highlight>
                  <a:srgbClr val="F7F7F7"/>
                </a:highlight>
                <a:latin typeface="Courier New" panose="02070309020205020404" pitchFamily="49" charset="0"/>
              </a:rPr>
              <a:t>scaled_X</a:t>
            </a:r>
            <a:r>
              <a:rPr lang="en-IN" b="0" dirty="0">
                <a:solidFill>
                  <a:srgbClr val="000000"/>
                </a:solidFill>
                <a:effectLst/>
                <a:highlight>
                  <a:srgbClr val="F7F7F7"/>
                </a:highlight>
                <a:latin typeface="Courier New" panose="02070309020205020404" pitchFamily="49" charset="0"/>
              </a:rPr>
              <a:t> = </a:t>
            </a:r>
            <a:r>
              <a:rPr lang="en-IN" b="0" dirty="0" err="1">
                <a:solidFill>
                  <a:srgbClr val="000000"/>
                </a:solidFill>
                <a:effectLst/>
                <a:highlight>
                  <a:srgbClr val="F7F7F7"/>
                </a:highlight>
                <a:latin typeface="Courier New" panose="02070309020205020404" pitchFamily="49" charset="0"/>
              </a:rPr>
              <a:t>scaler.fit_transform</a:t>
            </a:r>
            <a:r>
              <a:rPr lang="en-IN" b="0" dirty="0">
                <a:solidFill>
                  <a:srgbClr val="000000"/>
                </a:solidFill>
                <a:effectLst/>
                <a:highlight>
                  <a:srgbClr val="F7F7F7"/>
                </a:highlight>
                <a:latin typeface="Courier New" panose="02070309020205020404" pitchFamily="49" charset="0"/>
              </a:rPr>
              <a:t>(X)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Train Test split will be used for both models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err="1">
                <a:solidFill>
                  <a:srgbClr val="000000"/>
                </a:solidFill>
                <a:effectLst/>
                <a:highlight>
                  <a:srgbClr val="F7F7F7"/>
                </a:highlight>
                <a:latin typeface="Courier New" panose="02070309020205020404" pitchFamily="49" charset="0"/>
              </a:rPr>
              <a:t>X_train</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X_test</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y_train</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y_test</a:t>
            </a:r>
            <a:r>
              <a:rPr lang="en-IN" b="0" dirty="0">
                <a:solidFill>
                  <a:srgbClr val="000000"/>
                </a:solidFill>
                <a:effectLst/>
                <a:highlight>
                  <a:srgbClr val="F7F7F7"/>
                </a:highlight>
                <a:latin typeface="Courier New" panose="02070309020205020404" pitchFamily="49" charset="0"/>
              </a:rPr>
              <a:t> = </a:t>
            </a:r>
            <a:r>
              <a:rPr lang="en-IN" b="0" dirty="0" err="1">
                <a:solidFill>
                  <a:srgbClr val="000000"/>
                </a:solidFill>
                <a:effectLst/>
                <a:highlight>
                  <a:srgbClr val="F7F7F7"/>
                </a:highlight>
                <a:latin typeface="Courier New" panose="02070309020205020404" pitchFamily="49" charset="0"/>
              </a:rPr>
              <a:t>train_test_split</a:t>
            </a:r>
            <a:r>
              <a:rPr lang="en-IN" b="0" dirty="0">
                <a:solidFill>
                  <a:srgbClr val="000000"/>
                </a:solidFill>
                <a:effectLst/>
                <a:highlight>
                  <a:srgbClr val="F7F7F7"/>
                </a:highlight>
                <a:latin typeface="Courier New" panose="02070309020205020404" pitchFamily="49" charset="0"/>
              </a:rPr>
              <a:t>(</a:t>
            </a:r>
            <a:r>
              <a:rPr lang="en-IN" b="0" dirty="0" err="1">
                <a:solidFill>
                  <a:srgbClr val="000000"/>
                </a:solidFill>
                <a:effectLst/>
                <a:highlight>
                  <a:srgbClr val="F7F7F7"/>
                </a:highlight>
                <a:latin typeface="Courier New" panose="02070309020205020404" pitchFamily="49" charset="0"/>
              </a:rPr>
              <a:t>scaled_X</a:t>
            </a:r>
            <a:r>
              <a:rPr lang="en-IN" b="0" dirty="0">
                <a:solidFill>
                  <a:srgbClr val="000000"/>
                </a:solidFill>
                <a:effectLst/>
                <a:highlight>
                  <a:srgbClr val="F7F7F7"/>
                </a:highlight>
                <a:latin typeface="Courier New" panose="02070309020205020404" pitchFamily="49" charset="0"/>
              </a:rPr>
              <a:t>, y, </a:t>
            </a:r>
          </a:p>
          <a:p>
            <a:pPr marL="0" indent="0">
              <a:buNone/>
            </a:pP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test_size</a:t>
            </a:r>
            <a:r>
              <a:rPr lang="en-IN" b="0" dirty="0">
                <a:solidFill>
                  <a:srgbClr val="000000"/>
                </a:solidFill>
                <a:effectLst/>
                <a:highlight>
                  <a:srgbClr val="F7F7F7"/>
                </a:highlight>
                <a:latin typeface="Courier New" panose="02070309020205020404" pitchFamily="49" charset="0"/>
              </a:rPr>
              <a:t> = </a:t>
            </a:r>
            <a:r>
              <a:rPr lang="en-IN" b="0" dirty="0">
                <a:solidFill>
                  <a:srgbClr val="116644"/>
                </a:solidFill>
                <a:effectLst/>
                <a:highlight>
                  <a:srgbClr val="F7F7F7"/>
                </a:highlight>
                <a:latin typeface="Courier New" panose="02070309020205020404" pitchFamily="49" charset="0"/>
              </a:rPr>
              <a:t>0.3</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training model with 0.5 alpha value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a:solidFill>
                  <a:srgbClr val="000000"/>
                </a:solidFill>
                <a:effectLst/>
                <a:highlight>
                  <a:srgbClr val="F7F7F7"/>
                </a:highlight>
                <a:latin typeface="Courier New" panose="02070309020205020404" pitchFamily="49" charset="0"/>
              </a:rPr>
              <a:t>model = Ridge(alpha = </a:t>
            </a:r>
            <a:r>
              <a:rPr lang="en-IN" b="0" dirty="0">
                <a:solidFill>
                  <a:srgbClr val="116644"/>
                </a:solidFill>
                <a:effectLst/>
                <a:highlight>
                  <a:srgbClr val="F7F7F7"/>
                </a:highlight>
                <a:latin typeface="Courier New" panose="02070309020205020404" pitchFamily="49" charset="0"/>
              </a:rPr>
              <a:t>0.5</a:t>
            </a:r>
            <a:r>
              <a:rPr lang="en-IN" b="0" dirty="0">
                <a:solidFill>
                  <a:srgbClr val="000000"/>
                </a:solidFill>
                <a:effectLst/>
                <a:highlight>
                  <a:srgbClr val="F7F7F7"/>
                </a:highlight>
                <a:latin typeface="Courier New" panose="02070309020205020404" pitchFamily="49" charset="0"/>
              </a:rPr>
              <a:t>,tol = </a:t>
            </a:r>
            <a:r>
              <a:rPr lang="en-IN" b="0" dirty="0">
                <a:solidFill>
                  <a:srgbClr val="116644"/>
                </a:solidFill>
                <a:effectLst/>
                <a:highlight>
                  <a:srgbClr val="F7F7F7"/>
                </a:highlight>
                <a:latin typeface="Courier New" panose="02070309020205020404" pitchFamily="49" charset="0"/>
              </a:rPr>
              <a:t>0.001</a:t>
            </a:r>
            <a:r>
              <a:rPr lang="en-IN" b="0" dirty="0">
                <a:solidFill>
                  <a:srgbClr val="000000"/>
                </a:solidFill>
                <a:effectLst/>
                <a:highlight>
                  <a:srgbClr val="F7F7F7"/>
                </a:highlight>
                <a:latin typeface="Courier New" panose="02070309020205020404" pitchFamily="49" charset="0"/>
              </a:rPr>
              <a:t>, solver =</a:t>
            </a:r>
            <a:r>
              <a:rPr lang="en-IN" b="0" dirty="0">
                <a:solidFill>
                  <a:srgbClr val="A31515"/>
                </a:solidFill>
                <a:effectLst/>
                <a:highlight>
                  <a:srgbClr val="F7F7F7"/>
                </a:highlight>
                <a:latin typeface="Courier New" panose="02070309020205020404" pitchFamily="49" charset="0"/>
              </a:rPr>
              <a:t>'auto'</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random_state</a:t>
            </a:r>
            <a:r>
              <a:rPr lang="en-IN" b="0" dirty="0">
                <a:solidFill>
                  <a:srgbClr val="000000"/>
                </a:solidFill>
                <a:effectLst/>
                <a:highlight>
                  <a:srgbClr val="F7F7F7"/>
                </a:highlight>
                <a:latin typeface="Courier New" panose="02070309020205020404" pitchFamily="49" charset="0"/>
              </a:rPr>
              <a:t> = </a:t>
            </a:r>
            <a:r>
              <a:rPr lang="en-IN" b="0" dirty="0">
                <a:solidFill>
                  <a:srgbClr val="116644"/>
                </a:solidFill>
                <a:effectLst/>
                <a:highlight>
                  <a:srgbClr val="F7F7F7"/>
                </a:highlight>
                <a:latin typeface="Courier New" panose="02070309020205020404" pitchFamily="49" charset="0"/>
              </a:rPr>
              <a:t>42</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err="1">
                <a:solidFill>
                  <a:srgbClr val="000000"/>
                </a:solidFill>
                <a:effectLst/>
                <a:highlight>
                  <a:srgbClr val="F7F7F7"/>
                </a:highlight>
                <a:latin typeface="Courier New" panose="02070309020205020404" pitchFamily="49" charset="0"/>
              </a:rPr>
              <a:t>model.fit</a:t>
            </a:r>
            <a:r>
              <a:rPr lang="en-IN" b="0" dirty="0">
                <a:solidFill>
                  <a:srgbClr val="000000"/>
                </a:solidFill>
                <a:effectLst/>
                <a:highlight>
                  <a:srgbClr val="F7F7F7"/>
                </a:highlight>
                <a:latin typeface="Courier New" panose="02070309020205020404" pitchFamily="49" charset="0"/>
              </a:rPr>
              <a:t>(</a:t>
            </a:r>
            <a:r>
              <a:rPr lang="en-IN" b="0" dirty="0" err="1">
                <a:solidFill>
                  <a:srgbClr val="000000"/>
                </a:solidFill>
                <a:effectLst/>
                <a:highlight>
                  <a:srgbClr val="F7F7F7"/>
                </a:highlight>
                <a:latin typeface="Courier New" panose="02070309020205020404" pitchFamily="49" charset="0"/>
              </a:rPr>
              <a:t>X_train</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y_train</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predicting the </a:t>
            </a:r>
            <a:r>
              <a:rPr lang="en-IN" b="0" dirty="0" err="1">
                <a:solidFill>
                  <a:srgbClr val="008000"/>
                </a:solidFill>
                <a:effectLst/>
                <a:highlight>
                  <a:srgbClr val="F7F7F7"/>
                </a:highlight>
                <a:latin typeface="Courier New" panose="02070309020205020404" pitchFamily="49" charset="0"/>
              </a:rPr>
              <a:t>y_test</a:t>
            </a:r>
            <a:r>
              <a:rPr lang="en-IN" b="0" dirty="0">
                <a:solidFill>
                  <a:srgbClr val="008000"/>
                </a:solidFill>
                <a:effectLst/>
                <a:highlight>
                  <a:srgbClr val="F7F7F7"/>
                </a:highlight>
                <a:latin typeface="Courier New" panose="02070309020205020404" pitchFamily="49" charset="0"/>
              </a:rPr>
              <a:t>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err="1">
                <a:solidFill>
                  <a:srgbClr val="000000"/>
                </a:solidFill>
                <a:effectLst/>
                <a:highlight>
                  <a:srgbClr val="F7F7F7"/>
                </a:highlight>
                <a:latin typeface="Courier New" panose="02070309020205020404" pitchFamily="49" charset="0"/>
              </a:rPr>
              <a:t>y_pred</a:t>
            </a:r>
            <a:r>
              <a:rPr lang="en-IN" b="0" dirty="0">
                <a:solidFill>
                  <a:srgbClr val="000000"/>
                </a:solidFill>
                <a:effectLst/>
                <a:highlight>
                  <a:srgbClr val="F7F7F7"/>
                </a:highlight>
                <a:latin typeface="Courier New" panose="02070309020205020404" pitchFamily="49" charset="0"/>
              </a:rPr>
              <a:t> = </a:t>
            </a:r>
            <a:r>
              <a:rPr lang="en-IN" b="0" dirty="0" err="1">
                <a:solidFill>
                  <a:srgbClr val="000000"/>
                </a:solidFill>
                <a:effectLst/>
                <a:highlight>
                  <a:srgbClr val="F7F7F7"/>
                </a:highlight>
                <a:latin typeface="Courier New" panose="02070309020205020404" pitchFamily="49" charset="0"/>
              </a:rPr>
              <a:t>model.predict</a:t>
            </a:r>
            <a:r>
              <a:rPr lang="en-IN" b="0" dirty="0">
                <a:solidFill>
                  <a:srgbClr val="000000"/>
                </a:solidFill>
                <a:effectLst/>
                <a:highlight>
                  <a:srgbClr val="F7F7F7"/>
                </a:highlight>
                <a:latin typeface="Courier New" panose="02070309020205020404" pitchFamily="49" charset="0"/>
              </a:rPr>
              <a:t>(</a:t>
            </a:r>
            <a:r>
              <a:rPr lang="en-IN" b="0" dirty="0" err="1">
                <a:solidFill>
                  <a:srgbClr val="000000"/>
                </a:solidFill>
                <a:effectLst/>
                <a:highlight>
                  <a:srgbClr val="F7F7F7"/>
                </a:highlight>
                <a:latin typeface="Courier New" panose="02070309020205020404" pitchFamily="49" charset="0"/>
              </a:rPr>
              <a:t>X_test</a:t>
            </a:r>
            <a:r>
              <a:rPr lang="en-IN" b="0" dirty="0">
                <a:solidFill>
                  <a:srgbClr val="000000"/>
                </a:solidFill>
                <a:effectLst/>
                <a:highlight>
                  <a:srgbClr val="F7F7F7"/>
                </a:highlight>
                <a:latin typeface="Courier New" panose="02070309020205020404" pitchFamily="49" charset="0"/>
              </a:rPr>
              <a:t>) </a:t>
            </a:r>
          </a:p>
          <a:p>
            <a:pPr marL="0" indent="0">
              <a:buNone/>
            </a:pPr>
            <a:br>
              <a:rPr lang="en-IN" b="0" dirty="0">
                <a:solidFill>
                  <a:srgbClr val="000000"/>
                </a:solidFill>
                <a:effectLst/>
                <a:highlight>
                  <a:srgbClr val="F7F7F7"/>
                </a:highlight>
                <a:latin typeface="Courier New" panose="02070309020205020404" pitchFamily="49" charset="0"/>
              </a:rPr>
            </a:br>
            <a:r>
              <a:rPr lang="en-IN" b="0" dirty="0">
                <a:solidFill>
                  <a:srgbClr val="008000"/>
                </a:solidFill>
                <a:effectLst/>
                <a:highlight>
                  <a:srgbClr val="F7F7F7"/>
                </a:highlight>
                <a:latin typeface="Courier New" panose="02070309020205020404" pitchFamily="49" charset="0"/>
              </a:rPr>
              <a:t># finding score for our model </a:t>
            </a:r>
            <a:endParaRPr lang="en-IN" b="0" dirty="0">
              <a:solidFill>
                <a:srgbClr val="000000"/>
              </a:solidFill>
              <a:effectLst/>
              <a:highlight>
                <a:srgbClr val="F7F7F7"/>
              </a:highlight>
              <a:latin typeface="Courier New" panose="02070309020205020404" pitchFamily="49" charset="0"/>
            </a:endParaRPr>
          </a:p>
          <a:p>
            <a:pPr marL="0" indent="0">
              <a:buNone/>
            </a:pPr>
            <a:r>
              <a:rPr lang="en-IN" b="0" dirty="0">
                <a:solidFill>
                  <a:srgbClr val="000000"/>
                </a:solidFill>
                <a:effectLst/>
                <a:highlight>
                  <a:srgbClr val="F7F7F7"/>
                </a:highlight>
                <a:latin typeface="Courier New" panose="02070309020205020404" pitchFamily="49" charset="0"/>
              </a:rPr>
              <a:t>score = </a:t>
            </a:r>
            <a:r>
              <a:rPr lang="en-IN" b="0" dirty="0" err="1">
                <a:solidFill>
                  <a:srgbClr val="000000"/>
                </a:solidFill>
                <a:effectLst/>
                <a:highlight>
                  <a:srgbClr val="F7F7F7"/>
                </a:highlight>
                <a:latin typeface="Courier New" panose="02070309020205020404" pitchFamily="49" charset="0"/>
              </a:rPr>
              <a:t>model.score</a:t>
            </a:r>
            <a:r>
              <a:rPr lang="en-IN" b="0" dirty="0">
                <a:solidFill>
                  <a:srgbClr val="000000"/>
                </a:solidFill>
                <a:effectLst/>
                <a:highlight>
                  <a:srgbClr val="F7F7F7"/>
                </a:highlight>
                <a:latin typeface="Courier New" panose="02070309020205020404" pitchFamily="49" charset="0"/>
              </a:rPr>
              <a:t>(</a:t>
            </a:r>
            <a:r>
              <a:rPr lang="en-IN" b="0" dirty="0" err="1">
                <a:solidFill>
                  <a:srgbClr val="000000"/>
                </a:solidFill>
                <a:effectLst/>
                <a:highlight>
                  <a:srgbClr val="F7F7F7"/>
                </a:highlight>
                <a:latin typeface="Courier New" panose="02070309020205020404" pitchFamily="49" charset="0"/>
              </a:rPr>
              <a:t>X_test</a:t>
            </a:r>
            <a:r>
              <a:rPr lang="en-IN" b="0" dirty="0">
                <a:solidFill>
                  <a:srgbClr val="000000"/>
                </a:solidFill>
                <a:effectLst/>
                <a:highlight>
                  <a:srgbClr val="F7F7F7"/>
                </a:highlight>
                <a:latin typeface="Courier New" panose="02070309020205020404" pitchFamily="49" charset="0"/>
              </a:rPr>
              <a:t>, </a:t>
            </a:r>
            <a:r>
              <a:rPr lang="en-IN" b="0" dirty="0" err="1">
                <a:solidFill>
                  <a:srgbClr val="000000"/>
                </a:solidFill>
                <a:effectLst/>
                <a:highlight>
                  <a:srgbClr val="F7F7F7"/>
                </a:highlight>
                <a:latin typeface="Courier New" panose="02070309020205020404" pitchFamily="49" charset="0"/>
              </a:rPr>
              <a:t>y_test</a:t>
            </a:r>
            <a:r>
              <a:rPr lang="en-IN" b="0" dirty="0">
                <a:solidFill>
                  <a:srgbClr val="000000"/>
                </a:solidFill>
                <a:effectLst/>
                <a:highlight>
                  <a:srgbClr val="F7F7F7"/>
                </a:highlight>
                <a:latin typeface="Courier New" panose="02070309020205020404" pitchFamily="49" charset="0"/>
              </a:rPr>
              <a:t>) </a:t>
            </a:r>
          </a:p>
          <a:p>
            <a:pPr marL="0" indent="0">
              <a:buNone/>
            </a:pPr>
            <a:r>
              <a:rPr lang="en-IN" b="0" dirty="0">
                <a:solidFill>
                  <a:srgbClr val="795E26"/>
                </a:solidFill>
                <a:effectLst/>
                <a:highlight>
                  <a:srgbClr val="F7F7F7"/>
                </a:highlight>
                <a:latin typeface="Courier New" panose="02070309020205020404" pitchFamily="49" charset="0"/>
              </a:rPr>
              <a:t>print</a:t>
            </a:r>
            <a:r>
              <a:rPr lang="en-IN" b="0" dirty="0">
                <a:solidFill>
                  <a:srgbClr val="000000"/>
                </a:solidFill>
                <a:effectLst/>
                <a:highlight>
                  <a:srgbClr val="F7F7F7"/>
                </a:highlight>
                <a:latin typeface="Courier New" panose="02070309020205020404" pitchFamily="49" charset="0"/>
              </a:rPr>
              <a:t>(</a:t>
            </a:r>
            <a:r>
              <a:rPr lang="en-IN" b="0" dirty="0">
                <a:solidFill>
                  <a:srgbClr val="A31515"/>
                </a:solidFill>
                <a:effectLst/>
                <a:highlight>
                  <a:srgbClr val="F7F7F7"/>
                </a:highlight>
                <a:latin typeface="Courier New" panose="02070309020205020404" pitchFamily="49" charset="0"/>
              </a:rPr>
              <a:t>"\n\</a:t>
            </a:r>
            <a:r>
              <a:rPr lang="en-IN" b="0" dirty="0" err="1">
                <a:solidFill>
                  <a:srgbClr val="A31515"/>
                </a:solidFill>
                <a:effectLst/>
                <a:highlight>
                  <a:srgbClr val="F7F7F7"/>
                </a:highlight>
                <a:latin typeface="Courier New" panose="02070309020205020404" pitchFamily="49" charset="0"/>
              </a:rPr>
              <a:t>nModel</a:t>
            </a:r>
            <a:r>
              <a:rPr lang="en-IN" b="0" dirty="0">
                <a:solidFill>
                  <a:srgbClr val="A31515"/>
                </a:solidFill>
                <a:effectLst/>
                <a:highlight>
                  <a:srgbClr val="F7F7F7"/>
                </a:highlight>
                <a:latin typeface="Courier New" panose="02070309020205020404" pitchFamily="49" charset="0"/>
              </a:rPr>
              <a:t> score : "</a:t>
            </a:r>
            <a:r>
              <a:rPr lang="en-IN" b="0" dirty="0">
                <a:solidFill>
                  <a:srgbClr val="000000"/>
                </a:solidFill>
                <a:effectLst/>
                <a:highlight>
                  <a:srgbClr val="F7F7F7"/>
                </a:highlight>
                <a:latin typeface="Courier New" panose="02070309020205020404" pitchFamily="49" charset="0"/>
              </a:rPr>
              <a:t>, score) </a:t>
            </a:r>
          </a:p>
          <a:p>
            <a:pPr marL="0" indent="0">
              <a:buNone/>
            </a:pPr>
            <a:endParaRPr lang="en-IN" dirty="0"/>
          </a:p>
        </p:txBody>
      </p:sp>
      <p:sp>
        <p:nvSpPr>
          <p:cNvPr id="5" name="TextBox 4">
            <a:extLst>
              <a:ext uri="{FF2B5EF4-FFF2-40B4-BE49-F238E27FC236}">
                <a16:creationId xmlns:a16="http://schemas.microsoft.com/office/drawing/2014/main" id="{C3C46F78-188A-C7CA-44C5-6D0048A2DB65}"/>
              </a:ext>
            </a:extLst>
          </p:cNvPr>
          <p:cNvSpPr txBox="1"/>
          <p:nvPr/>
        </p:nvSpPr>
        <p:spPr>
          <a:xfrm>
            <a:off x="4627418" y="5738153"/>
            <a:ext cx="6096000" cy="369332"/>
          </a:xfrm>
          <a:prstGeom prst="rect">
            <a:avLst/>
          </a:prstGeom>
          <a:noFill/>
        </p:spPr>
        <p:txBody>
          <a:bodyPr wrap="square">
            <a:spAutoFit/>
          </a:bodyPr>
          <a:lstStyle/>
          <a:p>
            <a:r>
              <a:rPr lang="en-US" dirty="0">
                <a:hlinkClick r:id="rId2"/>
              </a:rPr>
              <a:t>ML | Ridge Regressor using </a:t>
            </a:r>
            <a:r>
              <a:rPr lang="en-US" dirty="0" err="1">
                <a:hlinkClick r:id="rId2"/>
              </a:rPr>
              <a:t>sklearn</a:t>
            </a:r>
            <a:r>
              <a:rPr lang="en-US" dirty="0">
                <a:hlinkClick r:id="rId2"/>
              </a:rPr>
              <a:t> - </a:t>
            </a:r>
            <a:r>
              <a:rPr lang="en-US" dirty="0" err="1">
                <a:hlinkClick r:id="rId2"/>
              </a:rPr>
              <a:t>GeeksforGeeks</a:t>
            </a:r>
            <a:endParaRPr lang="en-IN" dirty="0"/>
          </a:p>
        </p:txBody>
      </p:sp>
    </p:spTree>
    <p:extLst>
      <p:ext uri="{BB962C8B-B14F-4D97-AF65-F5344CB8AC3E}">
        <p14:creationId xmlns:p14="http://schemas.microsoft.com/office/powerpoint/2010/main" val="3223883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419E3D9-C5FB-41A9-B6D2-DFB210B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3" name="Rectangle 12">
            <a:extLst>
              <a:ext uri="{FF2B5EF4-FFF2-40B4-BE49-F238E27FC236}">
                <a16:creationId xmlns:a16="http://schemas.microsoft.com/office/drawing/2014/main" id="{367909BF-1DF7-4ACE-8F58-6CF719BB2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15" name="Rectangle 14">
            <a:extLst>
              <a:ext uri="{FF2B5EF4-FFF2-40B4-BE49-F238E27FC236}">
                <a16:creationId xmlns:a16="http://schemas.microsoft.com/office/drawing/2014/main" id="{89E8BEDB-0BBC-4F21-9CFB-8530D664C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7" name="Group 16">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18" name="Straight Connector 17">
              <a:extLst>
                <a:ext uri="{FF2B5EF4-FFF2-40B4-BE49-F238E27FC236}">
                  <a16:creationId xmlns:a16="http://schemas.microsoft.com/office/drawing/2014/main" id="{51D6D676-6F2F-4446-9935-2D8D038214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BAEA2B-9C25-4B43-8C9A-A9D0C3E9B1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1FC5F3A-7F1A-4EE8-A913-C8E96ACC3C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420551B3-B4DA-48EE-988C-4FAEAEB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7A9C548-0579-4864-92A3-093842E89D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pic>
        <p:nvPicPr>
          <p:cNvPr id="5" name="Picture 4" descr="Blurred financial stock market data and graph">
            <a:extLst>
              <a:ext uri="{FF2B5EF4-FFF2-40B4-BE49-F238E27FC236}">
                <a16:creationId xmlns:a16="http://schemas.microsoft.com/office/drawing/2014/main" id="{74010276-F8B9-EB3C-D6EF-C3F9A5BDD1EA}"/>
              </a:ext>
            </a:extLst>
          </p:cNvPr>
          <p:cNvPicPr>
            <a:picLocks noChangeAspect="1"/>
          </p:cNvPicPr>
          <p:nvPr/>
        </p:nvPicPr>
        <p:blipFill>
          <a:blip r:embed="rId2"/>
          <a:srcRect l="25904" r="7345" b="-1"/>
          <a:stretch/>
        </p:blipFill>
        <p:spPr>
          <a:xfrm>
            <a:off x="20" y="10"/>
            <a:ext cx="6756848" cy="6857990"/>
          </a:xfrm>
          <a:prstGeom prst="rect">
            <a:avLst/>
          </a:prstGeom>
        </p:spPr>
      </p:pic>
      <p:sp>
        <p:nvSpPr>
          <p:cNvPr id="26" name="Rectangle 25">
            <a:extLst>
              <a:ext uri="{FF2B5EF4-FFF2-40B4-BE49-F238E27FC236}">
                <a16:creationId xmlns:a16="http://schemas.microsoft.com/office/drawing/2014/main" id="{57525A5F-CDD4-4EB3-9187-2A0E9EA15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useBgFill="1">
        <p:nvSpPr>
          <p:cNvPr id="28" name="Rectangle 27">
            <a:extLst>
              <a:ext uri="{FF2B5EF4-FFF2-40B4-BE49-F238E27FC236}">
                <a16:creationId xmlns:a16="http://schemas.microsoft.com/office/drawing/2014/main" id="{08F5B423-DA6A-4E80-B3CA-549A442C8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ln w="6350" cap="sq" cmpd="sng" algn="ctr">
            <a:solidFill>
              <a:schemeClr val="tx1">
                <a:lumMod val="75000"/>
                <a:lumOff val="25000"/>
              </a:schemeClr>
            </a:solidFill>
            <a:prstDash val="solid"/>
            <a:miter lim="800000"/>
          </a:ln>
          <a:effectLst/>
        </p:spPr>
        <p:txBody>
          <a:bodyPr/>
          <a:lstStyle/>
          <a:p>
            <a:endParaRPr lang="en-IN"/>
          </a:p>
        </p:txBody>
      </p:sp>
      <p:sp>
        <p:nvSpPr>
          <p:cNvPr id="2" name="Title 1">
            <a:extLst>
              <a:ext uri="{FF2B5EF4-FFF2-40B4-BE49-F238E27FC236}">
                <a16:creationId xmlns:a16="http://schemas.microsoft.com/office/drawing/2014/main" id="{978F3DFB-D8EA-6E65-5EB0-12840D52BC52}"/>
              </a:ext>
            </a:extLst>
          </p:cNvPr>
          <p:cNvSpPr>
            <a:spLocks noGrp="1"/>
          </p:cNvSpPr>
          <p:nvPr>
            <p:ph type="title"/>
          </p:nvPr>
        </p:nvSpPr>
        <p:spPr>
          <a:xfrm>
            <a:off x="7957225" y="1559768"/>
            <a:ext cx="2978281" cy="3135379"/>
          </a:xfrm>
        </p:spPr>
        <p:txBody>
          <a:bodyPr vert="horz" lIns="91440" tIns="45720" rIns="91440" bIns="45720" rtlCol="0" anchor="ctr">
            <a:normAutofit/>
          </a:bodyPr>
          <a:lstStyle/>
          <a:p>
            <a:pPr algn="ctr">
              <a:lnSpc>
                <a:spcPct val="83000"/>
              </a:lnSpc>
            </a:pPr>
            <a:r>
              <a:rPr lang="en-US" sz="3700" cap="all" spc="-100" dirty="0"/>
              <a:t>Logistic Regression</a:t>
            </a:r>
          </a:p>
        </p:txBody>
      </p:sp>
      <p:sp>
        <p:nvSpPr>
          <p:cNvPr id="30" name="Rectangle 29">
            <a:extLst>
              <a:ext uri="{FF2B5EF4-FFF2-40B4-BE49-F238E27FC236}">
                <a16:creationId xmlns:a16="http://schemas.microsoft.com/office/drawing/2014/main" id="{738170B5-3ECC-493B-85FA-6905971AD1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32" name="Straight Connector 31">
            <a:extLst>
              <a:ext uri="{FF2B5EF4-FFF2-40B4-BE49-F238E27FC236}">
                <a16:creationId xmlns:a16="http://schemas.microsoft.com/office/drawing/2014/main" id="{F8DD37B8-B6EA-49DC-90EF-F4E3594540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00F7FF8-41E5-4585-AFDC-54EA8B2757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AE2A71D-F8BA-4E4F-88A8-1F5FD5DF13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9539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1183-1E42-C35D-F96E-13D2672291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D1066D-81E2-A644-D557-7D092BC8CE6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3BB89D1-BCEB-92B4-4644-C91F2317885F}"/>
              </a:ext>
            </a:extLst>
          </p:cNvPr>
          <p:cNvPicPr>
            <a:picLocks noChangeAspect="1"/>
          </p:cNvPicPr>
          <p:nvPr/>
        </p:nvPicPr>
        <p:blipFill>
          <a:blip r:embed="rId2"/>
          <a:stretch>
            <a:fillRect/>
          </a:stretch>
        </p:blipFill>
        <p:spPr>
          <a:xfrm>
            <a:off x="1743075" y="414337"/>
            <a:ext cx="8705850" cy="6029325"/>
          </a:xfrm>
          <a:prstGeom prst="rect">
            <a:avLst/>
          </a:prstGeom>
        </p:spPr>
      </p:pic>
    </p:spTree>
    <p:extLst>
      <p:ext uri="{BB962C8B-B14F-4D97-AF65-F5344CB8AC3E}">
        <p14:creationId xmlns:p14="http://schemas.microsoft.com/office/powerpoint/2010/main" val="15091672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IN"/>
          </a:p>
        </p:txBody>
      </p:sp>
      <p:sp>
        <p:nvSpPr>
          <p:cNvPr id="2" name="Title 1">
            <a:extLst>
              <a:ext uri="{FF2B5EF4-FFF2-40B4-BE49-F238E27FC236}">
                <a16:creationId xmlns:a16="http://schemas.microsoft.com/office/drawing/2014/main" id="{9D0694CD-2191-EB9D-CA27-6AF0F9EB43E5}"/>
              </a:ext>
            </a:extLst>
          </p:cNvPr>
          <p:cNvSpPr>
            <a:spLocks noGrp="1"/>
          </p:cNvSpPr>
          <p:nvPr>
            <p:ph type="title"/>
          </p:nvPr>
        </p:nvSpPr>
        <p:spPr>
          <a:xfrm>
            <a:off x="607476" y="346364"/>
            <a:ext cx="9792208" cy="873210"/>
          </a:xfrm>
        </p:spPr>
        <p:txBody>
          <a:bodyPr>
            <a:normAutofit/>
          </a:bodyPr>
          <a:lstStyle/>
          <a:p>
            <a:r>
              <a:rPr lang="en-IN" dirty="0"/>
              <a:t>Logistic function or logit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67115-86DC-B796-07E1-F965477D5E53}"/>
                  </a:ext>
                </a:extLst>
              </p:cNvPr>
              <p:cNvSpPr>
                <a:spLocks noGrp="1"/>
              </p:cNvSpPr>
              <p:nvPr>
                <p:ph idx="1"/>
              </p:nvPr>
            </p:nvSpPr>
            <p:spPr>
              <a:xfrm>
                <a:off x="845128" y="1339273"/>
                <a:ext cx="4877440" cy="4626438"/>
              </a:xfrm>
            </p:spPr>
            <p:txBody>
              <a:bodyPr>
                <a:normAutofit/>
              </a:bodyPr>
              <a:lstStyle/>
              <a:p>
                <a:r>
                  <a:rPr lang="en-IN" sz="2400" dirty="0"/>
                  <a:t>Standard logistic function </a:t>
                </a:r>
                <a14:m>
                  <m:oMath xmlns:m="http://schemas.openxmlformats.org/officeDocument/2006/math">
                    <m:r>
                      <a:rPr lang="en-IN" sz="2400" b="0" i="1" smtClean="0">
                        <a:latin typeface="Cambria Math" panose="02040503050406030204" pitchFamily="18" charset="0"/>
                      </a:rPr>
                      <m:t>𝑓</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𝑧</m:t>
                        </m:r>
                      </m:e>
                    </m:d>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1</m:t>
                        </m:r>
                      </m:num>
                      <m:den>
                        <m:r>
                          <a:rPr lang="en-IN" sz="2400" b="0" i="1" smtClean="0">
                            <a:latin typeface="Cambria Math" panose="02040503050406030204" pitchFamily="18" charset="0"/>
                          </a:rPr>
                          <m:t>1+</m:t>
                        </m:r>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𝑒</m:t>
                            </m:r>
                          </m:e>
                          <m:sup>
                            <m:r>
                              <a:rPr lang="en-IN" sz="2400" b="0" i="1" smtClean="0">
                                <a:latin typeface="Cambria Math" panose="02040503050406030204" pitchFamily="18" charset="0"/>
                              </a:rPr>
                              <m:t>−</m:t>
                            </m:r>
                            <m:r>
                              <a:rPr lang="en-IN" sz="2400" b="0" i="1" smtClean="0">
                                <a:latin typeface="Cambria Math" panose="02040503050406030204" pitchFamily="18" charset="0"/>
                              </a:rPr>
                              <m:t>𝑧</m:t>
                            </m:r>
                          </m:sup>
                        </m:sSup>
                      </m:den>
                    </m:f>
                  </m:oMath>
                </a14:m>
                <a:endParaRPr lang="en-IN" sz="2400" dirty="0"/>
              </a:p>
              <a:p>
                <a:r>
                  <a:rPr lang="en-IN" sz="2400" dirty="0"/>
                  <a:t>Logistic regression is a binary class classification method</a:t>
                </a:r>
              </a:p>
            </p:txBody>
          </p:sp>
        </mc:Choice>
        <mc:Fallback xmlns="">
          <p:sp>
            <p:nvSpPr>
              <p:cNvPr id="3" name="Content Placeholder 2">
                <a:extLst>
                  <a:ext uri="{FF2B5EF4-FFF2-40B4-BE49-F238E27FC236}">
                    <a16:creationId xmlns:a16="http://schemas.microsoft.com/office/drawing/2014/main" id="{6C167115-86DC-B796-07E1-F965477D5E53}"/>
                  </a:ext>
                </a:extLst>
              </p:cNvPr>
              <p:cNvSpPr>
                <a:spLocks noGrp="1" noRot="1" noChangeAspect="1" noMove="1" noResize="1" noEditPoints="1" noAdjustHandles="1" noChangeArrowheads="1" noChangeShapeType="1" noTextEdit="1"/>
              </p:cNvSpPr>
              <p:nvPr>
                <p:ph idx="1"/>
              </p:nvPr>
            </p:nvSpPr>
            <p:spPr>
              <a:xfrm>
                <a:off x="845128" y="1339273"/>
                <a:ext cx="4877440" cy="4626438"/>
              </a:xfrm>
              <a:blipFill>
                <a:blip r:embed="rId2"/>
                <a:stretch>
                  <a:fillRect l="-1750" t="-659"/>
                </a:stretch>
              </a:blipFill>
            </p:spPr>
            <p:txBody>
              <a:bodyPr/>
              <a:lstStyle/>
              <a:p>
                <a:r>
                  <a:rPr lang="en-IN">
                    <a:noFill/>
                  </a:rPr>
                  <a:t> </a:t>
                </a:r>
              </a:p>
            </p:txBody>
          </p:sp>
        </mc:Fallback>
      </mc:AlternateContent>
      <p:pic>
        <p:nvPicPr>
          <p:cNvPr id="1026" name="Picture 2" descr="undefined">
            <a:extLst>
              <a:ext uri="{FF2B5EF4-FFF2-40B4-BE49-F238E27FC236}">
                <a16:creationId xmlns:a16="http://schemas.microsoft.com/office/drawing/2014/main" id="{F1BCF2F6-FAD5-08B6-8E74-2E51E34D6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2567" y="2151040"/>
            <a:ext cx="6054436" cy="4041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823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8026-32BD-D74B-1549-1F1EF0D0A949}"/>
              </a:ext>
            </a:extLst>
          </p:cNvPr>
          <p:cNvSpPr>
            <a:spLocks noGrp="1"/>
          </p:cNvSpPr>
          <p:nvPr>
            <p:ph type="title"/>
          </p:nvPr>
        </p:nvSpPr>
        <p:spPr>
          <a:xfrm>
            <a:off x="1087582" y="290944"/>
            <a:ext cx="10058400" cy="961249"/>
          </a:xfrm>
        </p:spPr>
        <p:txBody>
          <a:bodyPr/>
          <a:lstStyle/>
          <a:p>
            <a:r>
              <a:rPr lang="en-US" dirty="0"/>
              <a:t>Assumptions of logistic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89BE41-4AA9-01F7-B8A9-1A14F625D7C1}"/>
                  </a:ext>
                </a:extLst>
              </p:cNvPr>
              <p:cNvSpPr>
                <a:spLocks noGrp="1"/>
              </p:cNvSpPr>
              <p:nvPr>
                <p:ph idx="1"/>
              </p:nvPr>
            </p:nvSpPr>
            <p:spPr>
              <a:xfrm>
                <a:off x="533400" y="1141356"/>
                <a:ext cx="11125200" cy="5065479"/>
              </a:xfrm>
            </p:spPr>
            <p:txBody>
              <a:bodyPr>
                <a:normAutofit lnSpcReduction="10000"/>
              </a:bodyPr>
              <a:lstStyle/>
              <a:p>
                <a:r>
                  <a:rPr lang="en-US" sz="2000" dirty="0">
                    <a:highlight>
                      <a:srgbClr val="FFFF00"/>
                    </a:highlight>
                  </a:rPr>
                  <a:t>Binary Outcome: </a:t>
                </a:r>
                <a:r>
                  <a:rPr lang="en-US" sz="2000" dirty="0"/>
                  <a:t>Logistic regression assumes that the outcome variable is binary, meaning it has only two possible outcomes like yes/no or success/failure.</a:t>
                </a:r>
              </a:p>
              <a:p>
                <a:r>
                  <a:rPr lang="en-US" sz="2000" dirty="0">
                    <a:highlight>
                      <a:srgbClr val="FFFF00"/>
                    </a:highlight>
                  </a:rPr>
                  <a:t>Independence of Observations</a:t>
                </a:r>
                <a:r>
                  <a:rPr lang="en-US" sz="2000" dirty="0"/>
                  <a:t>: </a:t>
                </a:r>
                <a:r>
                  <a:rPr lang="en-US" sz="2000" dirty="0">
                    <a:highlight>
                      <a:srgbClr val="00FFFF"/>
                    </a:highlight>
                  </a:rPr>
                  <a:t>Observations are independent of each other</a:t>
                </a:r>
                <a:r>
                  <a:rPr lang="en-US" sz="2000" dirty="0"/>
                  <a:t>. This means that the outcome of one observation does not influence the outcome of another observation.</a:t>
                </a:r>
              </a:p>
              <a:p>
                <a:r>
                  <a:rPr lang="en-US" sz="2000" dirty="0">
                    <a:highlight>
                      <a:srgbClr val="FFFF00"/>
                    </a:highlight>
                  </a:rPr>
                  <a:t>Linearity of Log Odds: </a:t>
                </a:r>
                <a:r>
                  <a:rPr lang="en-US" sz="2000" dirty="0"/>
                  <a:t>The </a:t>
                </a:r>
                <a:r>
                  <a:rPr lang="en-US" sz="2000" dirty="0">
                    <a:highlight>
                      <a:srgbClr val="00FFFF"/>
                    </a:highlight>
                  </a:rPr>
                  <a:t>relationship between the predictor variables and the log odds of the outcome is linear. While the relationship between predictors and the outcome itself does not need to be linear, the relationship between predictors and the </a:t>
                </a:r>
                <a:r>
                  <a:rPr lang="en-US" sz="2000" dirty="0">
                    <a:highlight>
                      <a:srgbClr val="00FF00"/>
                    </a:highlight>
                  </a:rPr>
                  <a:t>log odds </a:t>
                </a:r>
                <a:r>
                  <a:rPr lang="en-US" sz="2000" dirty="0">
                    <a:highlight>
                      <a:srgbClr val="00FFFF"/>
                    </a:highlight>
                  </a:rPr>
                  <a:t>of the outcome should be linear</a:t>
                </a:r>
                <a:r>
                  <a:rPr lang="en-US" sz="2000" dirty="0"/>
                  <a:t>.</a:t>
                </a:r>
              </a:p>
              <a:p>
                <a:r>
                  <a:rPr lang="en-US" sz="2000" dirty="0"/>
                  <a:t>Note : The odd is the ratio of something occurring to something not occurring. it is different from probability as the probability is the ratio of something occurring to everything that could possibly occur. so odd will be: </a:t>
                </a:r>
                <a14:m>
                  <m:oMath xmlns:m="http://schemas.openxmlformats.org/officeDocument/2006/math">
                    <m:f>
                      <m:fPr>
                        <m:ctrlPr>
                          <a:rPr lang="en-IN" sz="2800" b="0" i="1" smtClean="0">
                            <a:latin typeface="Cambria Math" panose="02040503050406030204" pitchFamily="18" charset="0"/>
                          </a:rPr>
                        </m:ctrlPr>
                      </m:fPr>
                      <m:num>
                        <m:r>
                          <a:rPr lang="en-IN" sz="2800" b="0" i="1" smtClean="0">
                            <a:latin typeface="Cambria Math" panose="02040503050406030204" pitchFamily="18" charset="0"/>
                          </a:rPr>
                          <m:t>𝑜𝑑𝑑𝑠</m:t>
                        </m:r>
                        <m:r>
                          <a:rPr lang="en-IN" sz="2800" b="0" i="1" smtClean="0">
                            <a:latin typeface="Cambria Math" panose="02040503050406030204" pitchFamily="18" charset="0"/>
                          </a:rPr>
                          <m:t> </m:t>
                        </m:r>
                        <m:r>
                          <a:rPr lang="en-IN" sz="2800" b="0" i="1" smtClean="0">
                            <a:latin typeface="Cambria Math" panose="02040503050406030204" pitchFamily="18" charset="0"/>
                          </a:rPr>
                          <m:t>𝑜𝑓</m:t>
                        </m:r>
                        <m:r>
                          <a:rPr lang="en-IN" sz="2800" b="0" i="1" smtClean="0">
                            <a:latin typeface="Cambria Math" panose="02040503050406030204" pitchFamily="18" charset="0"/>
                          </a:rPr>
                          <m:t> </m:t>
                        </m:r>
                        <m:r>
                          <a:rPr lang="en-IN" sz="2800" b="0" i="1" smtClean="0">
                            <a:latin typeface="Cambria Math" panose="02040503050406030204" pitchFamily="18" charset="0"/>
                          </a:rPr>
                          <m:t>𝑒𝑣𝑒𝑛𝑡</m:t>
                        </m:r>
                        <m:r>
                          <a:rPr lang="en-IN" sz="2800" b="0" i="1" smtClean="0">
                            <a:latin typeface="Cambria Math" panose="02040503050406030204" pitchFamily="18" charset="0"/>
                          </a:rPr>
                          <m:t> </m:t>
                        </m:r>
                        <m:r>
                          <a:rPr lang="en-IN" sz="2800" b="0" i="1" smtClean="0">
                            <a:latin typeface="Cambria Math" panose="02040503050406030204" pitchFamily="18" charset="0"/>
                          </a:rPr>
                          <m:t>𝑜𝑐𝑐𝑢𝑟𝑒𝑛𝑐𝑒</m:t>
                        </m:r>
                      </m:num>
                      <m:den>
                        <m:r>
                          <a:rPr lang="en-IN" sz="2800" b="0" i="1" smtClean="0">
                            <a:latin typeface="Cambria Math" panose="02040503050406030204" pitchFamily="18" charset="0"/>
                          </a:rPr>
                          <m:t>𝑜𝑑𝑑𝑠</m:t>
                        </m:r>
                        <m:r>
                          <a:rPr lang="en-IN" sz="2800" b="0" i="1" smtClean="0">
                            <a:latin typeface="Cambria Math" panose="02040503050406030204" pitchFamily="18" charset="0"/>
                          </a:rPr>
                          <m:t> </m:t>
                        </m:r>
                        <m:r>
                          <a:rPr lang="en-IN" sz="2800" b="0" i="1" smtClean="0">
                            <a:latin typeface="Cambria Math" panose="02040503050406030204" pitchFamily="18" charset="0"/>
                          </a:rPr>
                          <m:t>𝑜𝑓</m:t>
                        </m:r>
                        <m:r>
                          <a:rPr lang="en-IN" sz="2800" b="0" i="1" smtClean="0">
                            <a:latin typeface="Cambria Math" panose="02040503050406030204" pitchFamily="18" charset="0"/>
                          </a:rPr>
                          <m:t> </m:t>
                        </m:r>
                        <m:r>
                          <a:rPr lang="en-IN" sz="2800" b="0" i="1" smtClean="0">
                            <a:latin typeface="Cambria Math" panose="02040503050406030204" pitchFamily="18" charset="0"/>
                          </a:rPr>
                          <m:t>𝑒𝑣𝑒𝑛𝑡</m:t>
                        </m:r>
                        <m:r>
                          <a:rPr lang="en-IN" sz="2800" b="0" i="1" smtClean="0">
                            <a:latin typeface="Cambria Math" panose="02040503050406030204" pitchFamily="18" charset="0"/>
                          </a:rPr>
                          <m:t> </m:t>
                        </m:r>
                        <m:r>
                          <a:rPr lang="en-IN" sz="2800" b="0" i="1" smtClean="0">
                            <a:latin typeface="Cambria Math" panose="02040503050406030204" pitchFamily="18" charset="0"/>
                          </a:rPr>
                          <m:t>𝑛𝑜𝑡</m:t>
                        </m:r>
                        <m:r>
                          <a:rPr lang="en-IN" sz="2800" b="0" i="1" smtClean="0">
                            <a:latin typeface="Cambria Math" panose="02040503050406030204" pitchFamily="18" charset="0"/>
                          </a:rPr>
                          <m:t> </m:t>
                        </m:r>
                        <m:r>
                          <a:rPr lang="en-IN" sz="2800" b="0" i="1" smtClean="0">
                            <a:latin typeface="Cambria Math" panose="02040503050406030204" pitchFamily="18" charset="0"/>
                          </a:rPr>
                          <m:t>𝑜𝑐𝑐𝑢𝑟𝑖𝑛𝑔</m:t>
                        </m:r>
                      </m:den>
                    </m:f>
                    <m:r>
                      <a:rPr lang="en-IN" sz="2800" b="0" i="0" smtClean="0">
                        <a:latin typeface="Cambria Math" panose="02040503050406030204" pitchFamily="18" charset="0"/>
                      </a:rPr>
                      <m:t>=</m:t>
                    </m:r>
                    <m:f>
                      <m:fPr>
                        <m:ctrlPr>
                          <a:rPr lang="en-US" sz="2800" i="1" smtClean="0">
                            <a:latin typeface="Cambria Math" panose="02040503050406030204" pitchFamily="18" charset="0"/>
                          </a:rPr>
                        </m:ctrlPr>
                      </m:fPr>
                      <m:num>
                        <m:r>
                          <a:rPr lang="en-IN" sz="2800" b="0" i="1" smtClean="0">
                            <a:latin typeface="Cambria Math" panose="02040503050406030204" pitchFamily="18" charset="0"/>
                          </a:rPr>
                          <m:t>𝑝</m:t>
                        </m:r>
                        <m:r>
                          <a:rPr lang="en-IN" sz="2800" b="0" i="1" smtClean="0">
                            <a:latin typeface="Cambria Math" panose="02040503050406030204" pitchFamily="18" charset="0"/>
                          </a:rPr>
                          <m:t>(</m:t>
                        </m:r>
                        <m:r>
                          <a:rPr lang="en-IN" sz="2800" b="0" i="1" smtClean="0">
                            <a:latin typeface="Cambria Math" panose="02040503050406030204" pitchFamily="18" charset="0"/>
                          </a:rPr>
                          <m:t>𝑥</m:t>
                        </m:r>
                        <m:r>
                          <a:rPr lang="en-IN" sz="2800" b="0" i="1" smtClean="0">
                            <a:latin typeface="Cambria Math" panose="02040503050406030204" pitchFamily="18" charset="0"/>
                          </a:rPr>
                          <m:t>)</m:t>
                        </m:r>
                      </m:num>
                      <m:den>
                        <m:r>
                          <a:rPr lang="en-IN" sz="2800" b="0" i="1" smtClean="0">
                            <a:latin typeface="Cambria Math" panose="02040503050406030204" pitchFamily="18" charset="0"/>
                          </a:rPr>
                          <m:t>1−</m:t>
                        </m:r>
                        <m:r>
                          <a:rPr lang="en-IN" sz="2800" b="0" i="1" smtClean="0">
                            <a:latin typeface="Cambria Math" panose="02040503050406030204" pitchFamily="18" charset="0"/>
                          </a:rPr>
                          <m:t>𝑝</m:t>
                        </m:r>
                        <m:r>
                          <a:rPr lang="en-IN" sz="2800" b="0" i="1" smtClean="0">
                            <a:latin typeface="Cambria Math" panose="02040503050406030204" pitchFamily="18" charset="0"/>
                          </a:rPr>
                          <m:t>(</m:t>
                        </m:r>
                        <m:r>
                          <a:rPr lang="en-IN" sz="2800" b="0" i="1" smtClean="0">
                            <a:latin typeface="Cambria Math" panose="02040503050406030204" pitchFamily="18" charset="0"/>
                          </a:rPr>
                          <m:t>𝑥</m:t>
                        </m:r>
                        <m:r>
                          <a:rPr lang="en-IN" sz="2800" b="0" i="1" smtClean="0">
                            <a:latin typeface="Cambria Math" panose="02040503050406030204" pitchFamily="18" charset="0"/>
                          </a:rPr>
                          <m:t>)</m:t>
                        </m:r>
                      </m:den>
                    </m:f>
                  </m:oMath>
                </a14:m>
                <a:endParaRPr lang="en-US" sz="2800" dirty="0"/>
              </a:p>
              <a:p>
                <a:r>
                  <a:rPr lang="en-US" sz="2000" dirty="0"/>
                  <a:t>Hence log odd=</a:t>
                </a:r>
                <a14:m>
                  <m:oMath xmlns:m="http://schemas.openxmlformats.org/officeDocument/2006/math">
                    <m:func>
                      <m:funcPr>
                        <m:ctrlPr>
                          <a:rPr lang="en-US" sz="2000" i="1" smtClean="0">
                            <a:latin typeface="Cambria Math" panose="02040503050406030204" pitchFamily="18" charset="0"/>
                          </a:rPr>
                        </m:ctrlPr>
                      </m:funcPr>
                      <m:fName>
                        <m:r>
                          <m:rPr>
                            <m:sty m:val="p"/>
                          </m:rPr>
                          <a:rPr lang="en-US" sz="2000" i="0" smtClean="0">
                            <a:latin typeface="Cambria Math" panose="02040503050406030204" pitchFamily="18" charset="0"/>
                          </a:rPr>
                          <m:t>log</m:t>
                        </m:r>
                      </m:fName>
                      <m:e>
                        <m:f>
                          <m:fPr>
                            <m:ctrlPr>
                              <a:rPr lang="en-US" sz="2000" i="1">
                                <a:latin typeface="Cambria Math" panose="02040503050406030204" pitchFamily="18" charset="0"/>
                              </a:rPr>
                            </m:ctrlPr>
                          </m:fPr>
                          <m:num>
                            <m:r>
                              <a:rPr lang="en-IN" sz="2000" i="1">
                                <a:latin typeface="Cambria Math" panose="02040503050406030204" pitchFamily="18" charset="0"/>
                              </a:rPr>
                              <m:t>𝑝</m:t>
                            </m:r>
                            <m:r>
                              <a:rPr lang="en-IN" sz="2000" i="1">
                                <a:latin typeface="Cambria Math" panose="02040503050406030204" pitchFamily="18" charset="0"/>
                              </a:rPr>
                              <m:t>(</m:t>
                            </m:r>
                            <m:r>
                              <a:rPr lang="en-IN" sz="2000" i="1">
                                <a:latin typeface="Cambria Math" panose="02040503050406030204" pitchFamily="18" charset="0"/>
                              </a:rPr>
                              <m:t>𝑥</m:t>
                            </m:r>
                            <m:r>
                              <a:rPr lang="en-IN" sz="2000" i="1">
                                <a:latin typeface="Cambria Math" panose="02040503050406030204" pitchFamily="18" charset="0"/>
                              </a:rPr>
                              <m:t>)</m:t>
                            </m:r>
                          </m:num>
                          <m:den>
                            <m:r>
                              <a:rPr lang="en-IN" sz="2000" i="1">
                                <a:latin typeface="Cambria Math" panose="02040503050406030204" pitchFamily="18" charset="0"/>
                              </a:rPr>
                              <m:t>1−</m:t>
                            </m:r>
                            <m:r>
                              <a:rPr lang="en-IN" sz="2000" i="1">
                                <a:latin typeface="Cambria Math" panose="02040503050406030204" pitchFamily="18" charset="0"/>
                              </a:rPr>
                              <m:t>𝑝</m:t>
                            </m:r>
                            <m:r>
                              <a:rPr lang="en-IN" sz="2000" i="1">
                                <a:latin typeface="Cambria Math" panose="02040503050406030204" pitchFamily="18" charset="0"/>
                              </a:rPr>
                              <m:t>(</m:t>
                            </m:r>
                            <m:r>
                              <a:rPr lang="en-IN" sz="2000" i="1">
                                <a:latin typeface="Cambria Math" panose="02040503050406030204" pitchFamily="18" charset="0"/>
                              </a:rPr>
                              <m:t>𝑥</m:t>
                            </m:r>
                            <m:r>
                              <a:rPr lang="en-IN" sz="2000" i="1">
                                <a:latin typeface="Cambria Math" panose="02040503050406030204" pitchFamily="18" charset="0"/>
                              </a:rPr>
                              <m:t>)</m:t>
                            </m:r>
                          </m:den>
                        </m:f>
                      </m:e>
                    </m:func>
                  </m:oMath>
                </a14:m>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2D89BE41-4AA9-01F7-B8A9-1A14F625D7C1}"/>
                  </a:ext>
                </a:extLst>
              </p:cNvPr>
              <p:cNvSpPr>
                <a:spLocks noGrp="1" noRot="1" noChangeAspect="1" noMove="1" noResize="1" noEditPoints="1" noAdjustHandles="1" noChangeArrowheads="1" noChangeShapeType="1" noTextEdit="1"/>
              </p:cNvSpPr>
              <p:nvPr>
                <p:ph idx="1"/>
              </p:nvPr>
            </p:nvSpPr>
            <p:spPr>
              <a:xfrm>
                <a:off x="533400" y="1141356"/>
                <a:ext cx="11125200" cy="5065479"/>
              </a:xfrm>
              <a:blipFill>
                <a:blip r:embed="rId2"/>
                <a:stretch>
                  <a:fillRect l="-493" t="-481" r="-438"/>
                </a:stretch>
              </a:blipFill>
            </p:spPr>
            <p:txBody>
              <a:bodyPr/>
              <a:lstStyle/>
              <a:p>
                <a:r>
                  <a:rPr lang="en-IN">
                    <a:noFill/>
                  </a:rPr>
                  <a:t> </a:t>
                </a:r>
              </a:p>
            </p:txBody>
          </p:sp>
        </mc:Fallback>
      </mc:AlternateContent>
    </p:spTree>
    <p:extLst>
      <p:ext uri="{BB962C8B-B14F-4D97-AF65-F5344CB8AC3E}">
        <p14:creationId xmlns:p14="http://schemas.microsoft.com/office/powerpoint/2010/main" val="4000621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8026-32BD-D74B-1549-1F1EF0D0A949}"/>
              </a:ext>
            </a:extLst>
          </p:cNvPr>
          <p:cNvSpPr>
            <a:spLocks noGrp="1"/>
          </p:cNvSpPr>
          <p:nvPr>
            <p:ph type="title"/>
          </p:nvPr>
        </p:nvSpPr>
        <p:spPr>
          <a:xfrm>
            <a:off x="1087582" y="290944"/>
            <a:ext cx="10058400" cy="961249"/>
          </a:xfrm>
        </p:spPr>
        <p:txBody>
          <a:bodyPr/>
          <a:lstStyle/>
          <a:p>
            <a:r>
              <a:rPr lang="en-US" dirty="0"/>
              <a:t>Assumptions of logistic regression</a:t>
            </a:r>
            <a:endParaRPr lang="en-IN" dirty="0"/>
          </a:p>
        </p:txBody>
      </p:sp>
      <p:sp>
        <p:nvSpPr>
          <p:cNvPr id="3" name="Content Placeholder 2">
            <a:extLst>
              <a:ext uri="{FF2B5EF4-FFF2-40B4-BE49-F238E27FC236}">
                <a16:creationId xmlns:a16="http://schemas.microsoft.com/office/drawing/2014/main" id="{2D89BE41-4AA9-01F7-B8A9-1A14F625D7C1}"/>
              </a:ext>
            </a:extLst>
          </p:cNvPr>
          <p:cNvSpPr>
            <a:spLocks noGrp="1"/>
          </p:cNvSpPr>
          <p:nvPr>
            <p:ph idx="1"/>
          </p:nvPr>
        </p:nvSpPr>
        <p:spPr>
          <a:xfrm>
            <a:off x="554182" y="1648691"/>
            <a:ext cx="11125200" cy="4668981"/>
          </a:xfrm>
        </p:spPr>
        <p:txBody>
          <a:bodyPr>
            <a:normAutofit/>
          </a:bodyPr>
          <a:lstStyle/>
          <a:p>
            <a:r>
              <a:rPr lang="en-US" sz="2000" dirty="0">
                <a:highlight>
                  <a:srgbClr val="FFFF00"/>
                </a:highlight>
              </a:rPr>
              <a:t>Absence of Multicollinearity</a:t>
            </a:r>
            <a:r>
              <a:rPr lang="en-US" sz="2000" dirty="0"/>
              <a:t>: Logistic regression assumes that there is </a:t>
            </a:r>
            <a:r>
              <a:rPr lang="en-US" sz="2000" dirty="0">
                <a:highlight>
                  <a:srgbClr val="00FFFF"/>
                </a:highlight>
              </a:rPr>
              <a:t>no multicollinearity among the predictor variables. Multicollinearity occurs when predictor variables are highly correlated</a:t>
            </a:r>
            <a:r>
              <a:rPr lang="en-US" sz="2000" dirty="0"/>
              <a:t> with each other, which can lead to unstable estimates of the coefficients.</a:t>
            </a:r>
          </a:p>
          <a:p>
            <a:endParaRPr lang="en-US" sz="2000" dirty="0"/>
          </a:p>
          <a:p>
            <a:r>
              <a:rPr lang="en-US" sz="2000" dirty="0">
                <a:highlight>
                  <a:srgbClr val="FFFF00"/>
                </a:highlight>
              </a:rPr>
              <a:t>Large Sample Size</a:t>
            </a:r>
            <a:r>
              <a:rPr lang="en-US" sz="2000" dirty="0"/>
              <a:t>: Logistic regression </a:t>
            </a:r>
            <a:r>
              <a:rPr lang="en-US" sz="2000" dirty="0">
                <a:highlight>
                  <a:srgbClr val="00FFFF"/>
                </a:highlight>
              </a:rPr>
              <a:t>performs best with a large sample size. While there is no strict rule for the minimum sample size, having a sufficiently large sample size ensures stable parameter estimates </a:t>
            </a:r>
            <a:r>
              <a:rPr lang="en-US" sz="2000" dirty="0"/>
              <a:t>and reliable inference.</a:t>
            </a:r>
            <a:endParaRPr lang="en-IN" sz="2000" dirty="0"/>
          </a:p>
        </p:txBody>
      </p:sp>
    </p:spTree>
    <p:extLst>
      <p:ext uri="{BB962C8B-B14F-4D97-AF65-F5344CB8AC3E}">
        <p14:creationId xmlns:p14="http://schemas.microsoft.com/office/powerpoint/2010/main" val="2992769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6BCCE-F3F4-06AB-58C6-A1B1E8A81581}"/>
              </a:ext>
            </a:extLst>
          </p:cNvPr>
          <p:cNvSpPr>
            <a:spLocks noGrp="1"/>
          </p:cNvSpPr>
          <p:nvPr>
            <p:ph type="title"/>
          </p:nvPr>
        </p:nvSpPr>
        <p:spPr>
          <a:xfrm>
            <a:off x="1066800" y="212529"/>
            <a:ext cx="10058400" cy="1108938"/>
          </a:xfrm>
        </p:spPr>
        <p:txBody>
          <a:bodyPr/>
          <a:lstStyle/>
          <a:p>
            <a:r>
              <a:rPr lang="en-IN" dirty="0"/>
              <a:t>Working Principle of Logistic Regression</a:t>
            </a:r>
          </a:p>
        </p:txBody>
      </p:sp>
      <p:sp>
        <p:nvSpPr>
          <p:cNvPr id="3" name="Content Placeholder 2">
            <a:extLst>
              <a:ext uri="{FF2B5EF4-FFF2-40B4-BE49-F238E27FC236}">
                <a16:creationId xmlns:a16="http://schemas.microsoft.com/office/drawing/2014/main" id="{BE7273B6-BECA-950C-1BD9-2E16DB99DE56}"/>
              </a:ext>
            </a:extLst>
          </p:cNvPr>
          <p:cNvSpPr>
            <a:spLocks noGrp="1"/>
          </p:cNvSpPr>
          <p:nvPr>
            <p:ph idx="1"/>
          </p:nvPr>
        </p:nvSpPr>
        <p:spPr>
          <a:xfrm>
            <a:off x="526473" y="1321467"/>
            <a:ext cx="11139054" cy="4631277"/>
          </a:xfrm>
        </p:spPr>
        <p:txBody>
          <a:bodyPr>
            <a:normAutofit/>
          </a:bodyPr>
          <a:lstStyle/>
          <a:p>
            <a:r>
              <a:rPr lang="en-US" sz="2000" dirty="0"/>
              <a:t>Logistic Regression models the likelihood that an instance will belong to a particular class.</a:t>
            </a:r>
          </a:p>
          <a:p>
            <a:r>
              <a:rPr lang="en-US" sz="2000" dirty="0"/>
              <a:t> It uses a linear equation to combine the input information and the sigmoid function to restrict predictions between 0 and 1.</a:t>
            </a:r>
          </a:p>
          <a:p>
            <a:r>
              <a:rPr lang="en-US" sz="2000" dirty="0"/>
              <a:t>Different techniques are used to optimize the model’s coefficients to minimize the </a:t>
            </a:r>
            <a:r>
              <a:rPr lang="en-US" sz="2000" dirty="0">
                <a:highlight>
                  <a:srgbClr val="00FFFF"/>
                </a:highlight>
              </a:rPr>
              <a:t>log loss</a:t>
            </a:r>
            <a:r>
              <a:rPr lang="en-US" sz="2000" dirty="0"/>
              <a:t>.</a:t>
            </a:r>
          </a:p>
          <a:p>
            <a:r>
              <a:rPr lang="en-US" sz="2000" dirty="0"/>
              <a:t>These coefficients produce the resulting decision boundary, which divides instances into two classes.</a:t>
            </a:r>
          </a:p>
          <a:p>
            <a:endParaRPr lang="en-IN" sz="2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61E594-6B19-D3A6-CD10-FCF4A78CC4CD}"/>
                  </a:ext>
                </a:extLst>
              </p:cNvPr>
              <p:cNvSpPr txBox="1"/>
              <p:nvPr/>
            </p:nvSpPr>
            <p:spPr>
              <a:xfrm>
                <a:off x="782782" y="3761796"/>
                <a:ext cx="10626436" cy="2641044"/>
              </a:xfrm>
              <a:prstGeom prst="rect">
                <a:avLst/>
              </a:prstGeom>
              <a:solidFill>
                <a:srgbClr val="FFFF00"/>
              </a:solidFill>
              <a:ln>
                <a:solidFill>
                  <a:schemeClr val="tx1"/>
                </a:solidFill>
              </a:ln>
            </p:spPr>
            <p:txBody>
              <a:bodyPr wrap="square" rtlCol="0">
                <a:spAutoFit/>
              </a:bodyPr>
              <a:lstStyle/>
              <a:p>
                <a:r>
                  <a:rPr lang="en-IN" sz="2400" dirty="0"/>
                  <a:t>Log loss</a:t>
                </a:r>
                <a:r>
                  <a:rPr lang="en-IN" dirty="0"/>
                  <a:t>:</a:t>
                </a:r>
              </a:p>
              <a:p>
                <a:r>
                  <a:rPr lang="en-US" sz="2000" dirty="0"/>
                  <a:t>Log loss is the evaluation measure to check the performance of the classification model.</a:t>
                </a:r>
              </a:p>
              <a:p>
                <a:r>
                  <a:rPr lang="en-US" sz="2000" dirty="0"/>
                  <a:t> It measures the amount of divergence of predicted probability with the actual label. </a:t>
                </a:r>
              </a:p>
              <a:p>
                <a:r>
                  <a:rPr lang="en-US" sz="2000" dirty="0"/>
                  <a:t>So lesser the log loss value, more the perfectness of model. For a perfect model, log loss value = 0</a:t>
                </a:r>
              </a:p>
              <a:p>
                <a:r>
                  <a:rPr lang="en-US" sz="2000" dirty="0"/>
                  <a:t>For a single sample with true label </a:t>
                </a:r>
                <a14:m>
                  <m:oMath xmlns:m="http://schemas.openxmlformats.org/officeDocument/2006/math">
                    <m:r>
                      <a:rPr lang="en-IN" sz="2000" b="0" i="1" smtClean="0">
                        <a:latin typeface="Cambria Math" panose="02040503050406030204" pitchFamily="18" charset="0"/>
                      </a:rPr>
                      <m:t>𝑦</m:t>
                    </m:r>
                    <m:r>
                      <a:rPr lang="en-IN" sz="2000" b="0" i="1" smtClean="0">
                        <a:latin typeface="Cambria Math" panose="02040503050406030204" pitchFamily="18" charset="0"/>
                        <a:ea typeface="Cambria Math" panose="02040503050406030204" pitchFamily="18" charset="0"/>
                      </a:rPr>
                      <m:t>∈{0,1}</m:t>
                    </m:r>
                  </m:oMath>
                </a14:m>
                <a:r>
                  <a:rPr lang="en-US" sz="2000" dirty="0"/>
                  <a:t>and a probability estimate </a:t>
                </a:r>
                <a14:m>
                  <m:oMath xmlns:m="http://schemas.openxmlformats.org/officeDocument/2006/math">
                    <m:r>
                      <a:rPr lang="en-IN" sz="2000" b="0" i="1" smtClean="0">
                        <a:latin typeface="Cambria Math" panose="02040503050406030204" pitchFamily="18" charset="0"/>
                      </a:rPr>
                      <m:t>𝑝</m:t>
                    </m:r>
                    <m:r>
                      <a:rPr lang="en-IN" sz="2000" b="0" i="1" smtClean="0">
                        <a:latin typeface="Cambria Math" panose="02040503050406030204" pitchFamily="18" charset="0"/>
                      </a:rPr>
                      <m:t>=</m:t>
                    </m:r>
                    <m:r>
                      <m:rPr>
                        <m:sty m:val="p"/>
                      </m:rPr>
                      <a:rPr lang="en-IN" sz="2000" b="0" i="0" smtClean="0">
                        <a:latin typeface="Cambria Math" panose="02040503050406030204" pitchFamily="18" charset="0"/>
                      </a:rPr>
                      <m:t>Pr</m:t>
                    </m:r>
                    <m:r>
                      <a:rPr lang="en-IN" sz="2000" b="0" i="1" smtClean="0">
                        <a:latin typeface="Cambria Math" panose="02040503050406030204" pitchFamily="18" charset="0"/>
                      </a:rPr>
                      <m:t>⁡(</m:t>
                    </m:r>
                    <m:r>
                      <a:rPr lang="en-IN" sz="2000" b="0" i="1" smtClean="0">
                        <a:latin typeface="Cambria Math" panose="02040503050406030204" pitchFamily="18" charset="0"/>
                      </a:rPr>
                      <m:t>𝑦</m:t>
                    </m:r>
                    <m:r>
                      <a:rPr lang="en-IN" sz="2000" b="0" i="1" smtClean="0">
                        <a:latin typeface="Cambria Math" panose="02040503050406030204" pitchFamily="18" charset="0"/>
                      </a:rPr>
                      <m:t>=1)</m:t>
                    </m:r>
                  </m:oMath>
                </a14:m>
                <a:r>
                  <a:rPr lang="en-US" sz="2000" dirty="0"/>
                  <a:t>, the log loss is:</a:t>
                </a:r>
                <a:endParaRPr lang="en-IN" sz="2000" dirty="0"/>
              </a:p>
              <a:p>
                <a:r>
                  <a:rPr lang="en-IN" sz="2000" dirty="0"/>
                  <a:t>  </a:t>
                </a:r>
                <a14:m>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𝐿</m:t>
                        </m:r>
                      </m:e>
                      <m:sub>
                        <m:r>
                          <a:rPr lang="en-IN" sz="2000" b="0" i="1" smtClean="0">
                            <a:latin typeface="Cambria Math" panose="02040503050406030204" pitchFamily="18" charset="0"/>
                          </a:rPr>
                          <m:t>𝑙𝑜𝑔</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r>
                          <a:rPr lang="en-IN" sz="2000" b="0" i="1" smtClean="0">
                            <a:latin typeface="Cambria Math" panose="02040503050406030204" pitchFamily="18" charset="0"/>
                          </a:rPr>
                          <m:t>,</m:t>
                        </m:r>
                        <m:r>
                          <a:rPr lang="en-IN" sz="2000" b="0" i="1" smtClean="0">
                            <a:latin typeface="Cambria Math" panose="02040503050406030204" pitchFamily="18" charset="0"/>
                          </a:rPr>
                          <m:t>𝑝</m:t>
                        </m:r>
                      </m:e>
                    </m:d>
                    <m:r>
                      <a:rPr lang="en-IN" sz="2000" b="0" i="1" smtClean="0">
                        <a:latin typeface="Cambria Math" panose="02040503050406030204" pitchFamily="18" charset="0"/>
                      </a:rPr>
                      <m:t>=−(</m:t>
                    </m:r>
                    <m:r>
                      <a:rPr lang="en-IN" sz="2000" b="0" i="1" smtClean="0">
                        <a:latin typeface="Cambria Math" panose="02040503050406030204" pitchFamily="18" charset="0"/>
                      </a:rPr>
                      <m:t>𝑦𝑙𝑜𝑔</m:t>
                    </m:r>
                    <m:r>
                      <a:rPr lang="en-IN" sz="2000" b="0" i="1" smtClean="0">
                        <a:latin typeface="Cambria Math" panose="02040503050406030204" pitchFamily="18" charset="0"/>
                      </a:rPr>
                      <m:t> (</m:t>
                    </m:r>
                    <m:r>
                      <a:rPr lang="en-IN" sz="2000" b="0" i="1" smtClean="0">
                        <a:latin typeface="Cambria Math" panose="02040503050406030204" pitchFamily="18" charset="0"/>
                      </a:rPr>
                      <m:t>𝑝</m:t>
                    </m:r>
                    <m:r>
                      <a:rPr lang="en-IN" sz="2000" b="0" i="1" smtClean="0">
                        <a:latin typeface="Cambria Math" panose="02040503050406030204" pitchFamily="18" charset="0"/>
                      </a:rPr>
                      <m:t>)+</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1−</m:t>
                        </m:r>
                        <m:r>
                          <a:rPr lang="en-IN" sz="2000" b="0" i="1" smtClean="0">
                            <a:latin typeface="Cambria Math" panose="02040503050406030204" pitchFamily="18" charset="0"/>
                          </a:rPr>
                          <m:t>𝑦</m:t>
                        </m:r>
                      </m:e>
                    </m:d>
                    <m:r>
                      <m:rPr>
                        <m:sty m:val="p"/>
                      </m:rPr>
                      <a:rPr lang="en-IN" sz="2000" b="0" i="0" smtClean="0">
                        <a:latin typeface="Cambria Math" panose="02040503050406030204" pitchFamily="18" charset="0"/>
                      </a:rPr>
                      <m:t>log</m:t>
                    </m:r>
                    <m:r>
                      <a:rPr lang="en-IN" sz="2000" b="0" i="1" smtClean="0">
                        <a:latin typeface="Cambria Math" panose="02040503050406030204" pitchFamily="18" charset="0"/>
                      </a:rPr>
                      <m:t>⁡(1−</m:t>
                    </m:r>
                    <m:r>
                      <a:rPr lang="en-IN" sz="2000" b="0" i="1" smtClean="0">
                        <a:latin typeface="Cambria Math" panose="02040503050406030204" pitchFamily="18" charset="0"/>
                      </a:rPr>
                      <m:t>𝑝</m:t>
                    </m:r>
                    <m:r>
                      <a:rPr lang="en-IN" sz="2000" b="0" i="1" smtClean="0">
                        <a:latin typeface="Cambria Math" panose="02040503050406030204" pitchFamily="18" charset="0"/>
                      </a:rPr>
                      <m:t>)</m:t>
                    </m:r>
                  </m:oMath>
                </a14:m>
                <a:r>
                  <a:rPr lang="en-IN" sz="2000" dirty="0"/>
                  <a:t> </a:t>
                </a:r>
              </a:p>
            </p:txBody>
          </p:sp>
        </mc:Choice>
        <mc:Fallback xmlns="">
          <p:sp>
            <p:nvSpPr>
              <p:cNvPr id="4" name="TextBox 3">
                <a:extLst>
                  <a:ext uri="{FF2B5EF4-FFF2-40B4-BE49-F238E27FC236}">
                    <a16:creationId xmlns:a16="http://schemas.microsoft.com/office/drawing/2014/main" id="{BA61E594-6B19-D3A6-CD10-FCF4A78CC4CD}"/>
                  </a:ext>
                </a:extLst>
              </p:cNvPr>
              <p:cNvSpPr txBox="1">
                <a:spLocks noRot="1" noChangeAspect="1" noMove="1" noResize="1" noEditPoints="1" noAdjustHandles="1" noChangeArrowheads="1" noChangeShapeType="1" noTextEdit="1"/>
              </p:cNvSpPr>
              <p:nvPr/>
            </p:nvSpPr>
            <p:spPr>
              <a:xfrm>
                <a:off x="782782" y="3761796"/>
                <a:ext cx="10626436" cy="2641044"/>
              </a:xfrm>
              <a:prstGeom prst="rect">
                <a:avLst/>
              </a:prstGeom>
              <a:blipFill>
                <a:blip r:embed="rId2"/>
                <a:stretch>
                  <a:fillRect l="-802" t="-1379" b="-690"/>
                </a:stretch>
              </a:blipFill>
              <a:ln>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3844964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A4C6-B942-D94D-3ADC-2F10ADEB6E69}"/>
              </a:ext>
            </a:extLst>
          </p:cNvPr>
          <p:cNvSpPr>
            <a:spLocks noGrp="1"/>
          </p:cNvSpPr>
          <p:nvPr>
            <p:ph type="title"/>
          </p:nvPr>
        </p:nvSpPr>
        <p:spPr/>
        <p:txBody>
          <a:bodyPr/>
          <a:lstStyle/>
          <a:p>
            <a:r>
              <a:rPr lang="en-IN" dirty="0"/>
              <a:t>Sensitivity and Specificity</a:t>
            </a:r>
          </a:p>
        </p:txBody>
      </p:sp>
      <p:sp>
        <p:nvSpPr>
          <p:cNvPr id="3" name="Content Placeholder 2">
            <a:extLst>
              <a:ext uri="{FF2B5EF4-FFF2-40B4-BE49-F238E27FC236}">
                <a16:creationId xmlns:a16="http://schemas.microsoft.com/office/drawing/2014/main" id="{AC849FFC-855E-9C5E-4166-A7F9064658A4}"/>
              </a:ext>
            </a:extLst>
          </p:cNvPr>
          <p:cNvSpPr>
            <a:spLocks noGrp="1"/>
          </p:cNvSpPr>
          <p:nvPr>
            <p:ph idx="1"/>
          </p:nvPr>
        </p:nvSpPr>
        <p:spPr>
          <a:xfrm>
            <a:off x="526473" y="1784466"/>
            <a:ext cx="7021829" cy="3849624"/>
          </a:xfrm>
        </p:spPr>
        <p:txBody>
          <a:bodyPr>
            <a:normAutofit/>
          </a:bodyPr>
          <a:lstStyle/>
          <a:p>
            <a:r>
              <a:rPr lang="en-US" sz="2400" b="1" dirty="0">
                <a:latin typeface="Arial" panose="020B0604020202020204" pitchFamily="34" charset="0"/>
                <a:cs typeface="Arial" panose="020B0604020202020204" pitchFamily="34" charset="0"/>
              </a:rPr>
              <a:t>Sensitivity (true positive rate (TPR)) </a:t>
            </a:r>
            <a:r>
              <a:rPr lang="en-US" sz="2400" dirty="0">
                <a:latin typeface="Arial" panose="020B0604020202020204" pitchFamily="34" charset="0"/>
                <a:cs typeface="Arial" panose="020B0604020202020204" pitchFamily="34" charset="0"/>
              </a:rPr>
              <a:t>is the probability of a positive test result, conditioned on the individual truly being positive. TPR=TP/P</a:t>
            </a:r>
          </a:p>
          <a:p>
            <a:r>
              <a:rPr lang="en-US" sz="2400" b="1" dirty="0">
                <a:latin typeface="Arial" panose="020B0604020202020204" pitchFamily="34" charset="0"/>
                <a:cs typeface="Arial" panose="020B0604020202020204" pitchFamily="34" charset="0"/>
              </a:rPr>
              <a:t>Specificity (true negative rate) </a:t>
            </a:r>
            <a:r>
              <a:rPr lang="en-US" sz="2400" dirty="0">
                <a:latin typeface="Arial" panose="020B0604020202020204" pitchFamily="34" charset="0"/>
                <a:cs typeface="Arial" panose="020B0604020202020204" pitchFamily="34" charset="0"/>
              </a:rPr>
              <a:t>is the probability of a negative test result, conditioned on the individual truly being negative.</a:t>
            </a:r>
          </a:p>
          <a:p>
            <a:r>
              <a:rPr lang="en-IN" sz="2400" b="1" dirty="0">
                <a:latin typeface="Arial" panose="020B0604020202020204" pitchFamily="34" charset="0"/>
                <a:cs typeface="Arial" panose="020B0604020202020204" pitchFamily="34" charset="0"/>
              </a:rPr>
              <a:t>False Positive Rate </a:t>
            </a:r>
            <a:r>
              <a:rPr lang="en-IN" sz="2400" dirty="0">
                <a:latin typeface="Arial" panose="020B0604020202020204" pitchFamily="34" charset="0"/>
                <a:cs typeface="Arial" panose="020B0604020202020204" pitchFamily="34" charset="0"/>
              </a:rPr>
              <a:t>FPR=FP/ (FP+TN), also </a:t>
            </a:r>
          </a:p>
          <a:p>
            <a:pPr marL="0" indent="0">
              <a:buNone/>
            </a:pPr>
            <a:r>
              <a:rPr lang="en-IN" sz="2400" b="1" dirty="0">
                <a:latin typeface="Arial" panose="020B0604020202020204" pitchFamily="34" charset="0"/>
                <a:cs typeface="Arial" panose="020B0604020202020204" pitchFamily="34" charset="0"/>
              </a:rPr>
              <a:t>     FPR=1- Specificity</a:t>
            </a:r>
          </a:p>
        </p:txBody>
      </p:sp>
      <p:pic>
        <p:nvPicPr>
          <p:cNvPr id="5" name="Graphic 4">
            <a:extLst>
              <a:ext uri="{FF2B5EF4-FFF2-40B4-BE49-F238E27FC236}">
                <a16:creationId xmlns:a16="http://schemas.microsoft.com/office/drawing/2014/main" id="{8B5EE5D6-745C-1822-59AE-B07F71124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48303" y="1"/>
            <a:ext cx="3771900" cy="6858000"/>
          </a:xfrm>
          <a:prstGeom prst="rect">
            <a:avLst/>
          </a:prstGeom>
        </p:spPr>
      </p:pic>
    </p:spTree>
    <p:extLst>
      <p:ext uri="{BB962C8B-B14F-4D97-AF65-F5344CB8AC3E}">
        <p14:creationId xmlns:p14="http://schemas.microsoft.com/office/powerpoint/2010/main" val="34098588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6351-0142-5E38-902C-225587BA5930}"/>
              </a:ext>
            </a:extLst>
          </p:cNvPr>
          <p:cNvSpPr>
            <a:spLocks noGrp="1"/>
          </p:cNvSpPr>
          <p:nvPr>
            <p:ph type="title"/>
          </p:nvPr>
        </p:nvSpPr>
        <p:spPr>
          <a:xfrm>
            <a:off x="360219" y="642594"/>
            <a:ext cx="11956472" cy="1371600"/>
          </a:xfrm>
        </p:spPr>
        <p:txBody>
          <a:bodyPr/>
          <a:lstStyle/>
          <a:p>
            <a:pPr algn="ctr"/>
            <a:r>
              <a:rPr lang="en-IN" dirty="0"/>
              <a:t>Area Under Receiver Operating Characteristics (ROC)</a:t>
            </a:r>
          </a:p>
        </p:txBody>
      </p:sp>
      <p:sp>
        <p:nvSpPr>
          <p:cNvPr id="3" name="Content Placeholder 2">
            <a:extLst>
              <a:ext uri="{FF2B5EF4-FFF2-40B4-BE49-F238E27FC236}">
                <a16:creationId xmlns:a16="http://schemas.microsoft.com/office/drawing/2014/main" id="{787CAB58-6183-ED39-7845-9C70FC04B17A}"/>
              </a:ext>
            </a:extLst>
          </p:cNvPr>
          <p:cNvSpPr>
            <a:spLocks noGrp="1"/>
          </p:cNvSpPr>
          <p:nvPr>
            <p:ph idx="1"/>
          </p:nvPr>
        </p:nvSpPr>
        <p:spPr>
          <a:xfrm>
            <a:off x="526473" y="2103120"/>
            <a:ext cx="6125441" cy="3849624"/>
          </a:xfrm>
        </p:spPr>
        <p:txBody>
          <a:bodyPr>
            <a:normAutofit/>
          </a:bodyPr>
          <a:lstStyle/>
          <a:p>
            <a:r>
              <a:rPr lang="en-US" sz="2400" dirty="0">
                <a:latin typeface="Arial" panose="020B0604020202020204" pitchFamily="34" charset="0"/>
                <a:cs typeface="Arial" panose="020B0604020202020204" pitchFamily="34" charset="0"/>
              </a:rPr>
              <a:t>The ROC curve was first developed by electrical engineers and radar engineers during World War II for detecting enemy objects in battlefields, starting in 1941, which led to its name ("receiver operating characteristic").</a:t>
            </a:r>
          </a:p>
          <a:p>
            <a:r>
              <a:rPr lang="en-US" sz="2400" dirty="0">
                <a:latin typeface="Arial" panose="020B0604020202020204" pitchFamily="34" charset="0"/>
                <a:cs typeface="Arial" panose="020B0604020202020204" pitchFamily="34" charset="0"/>
              </a:rPr>
              <a:t>The ROC curve is the plot of the true positive rate (TPR) against the false positive rate (FPR)</a:t>
            </a:r>
          </a:p>
          <a:p>
            <a:endParaRPr lang="en-IN" sz="2400" dirty="0"/>
          </a:p>
        </p:txBody>
      </p:sp>
      <p:pic>
        <p:nvPicPr>
          <p:cNvPr id="4" name="Picture 3">
            <a:extLst>
              <a:ext uri="{FF2B5EF4-FFF2-40B4-BE49-F238E27FC236}">
                <a16:creationId xmlns:a16="http://schemas.microsoft.com/office/drawing/2014/main" id="{86EA9B0A-6264-96A4-C7C5-7A3C502BE373}"/>
              </a:ext>
            </a:extLst>
          </p:cNvPr>
          <p:cNvPicPr>
            <a:picLocks noChangeAspect="1"/>
          </p:cNvPicPr>
          <p:nvPr/>
        </p:nvPicPr>
        <p:blipFill>
          <a:blip r:embed="rId2"/>
          <a:stretch>
            <a:fillRect/>
          </a:stretch>
        </p:blipFill>
        <p:spPr>
          <a:xfrm>
            <a:off x="7069281" y="1887145"/>
            <a:ext cx="4305301" cy="4176142"/>
          </a:xfrm>
          <a:prstGeom prst="rect">
            <a:avLst/>
          </a:prstGeom>
        </p:spPr>
      </p:pic>
    </p:spTree>
    <p:extLst>
      <p:ext uri="{BB962C8B-B14F-4D97-AF65-F5344CB8AC3E}">
        <p14:creationId xmlns:p14="http://schemas.microsoft.com/office/powerpoint/2010/main" val="1519370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CC4F-C461-4998-D479-982D28546C28}"/>
              </a:ext>
            </a:extLst>
          </p:cNvPr>
          <p:cNvSpPr>
            <a:spLocks noGrp="1"/>
          </p:cNvSpPr>
          <p:nvPr>
            <p:ph type="title"/>
          </p:nvPr>
        </p:nvSpPr>
        <p:spPr>
          <a:xfrm>
            <a:off x="1066800" y="642593"/>
            <a:ext cx="10058400" cy="812133"/>
          </a:xfrm>
        </p:spPr>
        <p:txBody>
          <a:bodyPr>
            <a:normAutofit/>
          </a:bodyPr>
          <a:lstStyle/>
          <a:p>
            <a:r>
              <a:rPr lang="en-IN" dirty="0"/>
              <a:t>Area Under ROC</a:t>
            </a:r>
          </a:p>
        </p:txBody>
      </p:sp>
      <p:sp>
        <p:nvSpPr>
          <p:cNvPr id="3" name="Content Placeholder 2">
            <a:extLst>
              <a:ext uri="{FF2B5EF4-FFF2-40B4-BE49-F238E27FC236}">
                <a16:creationId xmlns:a16="http://schemas.microsoft.com/office/drawing/2014/main" id="{DC5BCBB3-13F9-2F4B-485E-6085269029C9}"/>
              </a:ext>
            </a:extLst>
          </p:cNvPr>
          <p:cNvSpPr>
            <a:spLocks noGrp="1"/>
          </p:cNvSpPr>
          <p:nvPr>
            <p:ph idx="1"/>
          </p:nvPr>
        </p:nvSpPr>
        <p:spPr>
          <a:xfrm>
            <a:off x="242455" y="1309563"/>
            <a:ext cx="7581951" cy="3849624"/>
          </a:xfrm>
        </p:spPr>
        <p:txBody>
          <a:bodyPr>
            <a:noAutofit/>
          </a:bodyPr>
          <a:lstStyle/>
          <a:p>
            <a:r>
              <a:rPr lang="en-US" sz="2400" dirty="0">
                <a:latin typeface="Arial" panose="020B0604020202020204" pitchFamily="34" charset="0"/>
                <a:cs typeface="Arial" panose="020B0604020202020204" pitchFamily="34" charset="0"/>
              </a:rPr>
              <a:t>A ROC space is defined by FPR and TPR as x and y axes, respectively, which depicts relative trade-offs between true positive (benefits) and false positive (costs).</a:t>
            </a:r>
          </a:p>
          <a:p>
            <a:r>
              <a:rPr lang="en-US" sz="2400" dirty="0">
                <a:latin typeface="Arial" panose="020B0604020202020204" pitchFamily="34" charset="0"/>
                <a:cs typeface="Arial" panose="020B0604020202020204" pitchFamily="34" charset="0"/>
              </a:rPr>
              <a:t>Each prediction result or instance of a confusion matrix represents one point in the ROC space.</a:t>
            </a:r>
          </a:p>
          <a:p>
            <a:r>
              <a:rPr lang="en-US" sz="2400" b="0" i="0" dirty="0">
                <a:solidFill>
                  <a:srgbClr val="202122"/>
                </a:solidFill>
                <a:effectLst/>
                <a:latin typeface="Arial" panose="020B0604020202020204" pitchFamily="34" charset="0"/>
                <a:cs typeface="Arial" panose="020B0604020202020204" pitchFamily="34" charset="0"/>
              </a:rPr>
              <a:t>The best possible prediction method would yield a point in the upper left corner or coordinate (0,1) of the ROC space, representing 100% sensitivity (no false negatives) and 100% specificity (no false positives). </a:t>
            </a:r>
          </a:p>
          <a:p>
            <a:r>
              <a:rPr lang="en-US" sz="2400" b="0" i="0" dirty="0">
                <a:solidFill>
                  <a:srgbClr val="202122"/>
                </a:solidFill>
                <a:effectLst/>
                <a:latin typeface="Arial" panose="020B0604020202020204" pitchFamily="34" charset="0"/>
                <a:cs typeface="Arial" panose="020B0604020202020204" pitchFamily="34" charset="0"/>
              </a:rPr>
              <a:t>The (0,1) point is also called a </a:t>
            </a:r>
            <a:r>
              <a:rPr lang="en-US" sz="2400" b="0" i="1" dirty="0">
                <a:solidFill>
                  <a:srgbClr val="202122"/>
                </a:solidFill>
                <a:effectLst/>
                <a:latin typeface="Arial" panose="020B0604020202020204" pitchFamily="34" charset="0"/>
                <a:cs typeface="Arial" panose="020B0604020202020204" pitchFamily="34" charset="0"/>
              </a:rPr>
              <a:t>perfect classification</a:t>
            </a:r>
            <a:r>
              <a:rPr lang="en-US" sz="2400" b="0" i="0" dirty="0">
                <a:solidFill>
                  <a:srgbClr val="202122"/>
                </a:solidFill>
                <a:effectLst/>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AF0FF8C-37ED-3C1C-B502-B89B798FEC0F}"/>
              </a:ext>
            </a:extLst>
          </p:cNvPr>
          <p:cNvPicPr>
            <a:picLocks noChangeAspect="1"/>
          </p:cNvPicPr>
          <p:nvPr/>
        </p:nvPicPr>
        <p:blipFill>
          <a:blip r:embed="rId2"/>
          <a:stretch>
            <a:fillRect/>
          </a:stretch>
        </p:blipFill>
        <p:spPr>
          <a:xfrm>
            <a:off x="7824406" y="1625031"/>
            <a:ext cx="3900055" cy="3900055"/>
          </a:xfrm>
          <a:prstGeom prst="rect">
            <a:avLst/>
          </a:prstGeom>
        </p:spPr>
      </p:pic>
    </p:spTree>
    <p:extLst>
      <p:ext uri="{BB962C8B-B14F-4D97-AF65-F5344CB8AC3E}">
        <p14:creationId xmlns:p14="http://schemas.microsoft.com/office/powerpoint/2010/main" val="13002934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CC4F-C461-4998-D479-982D28546C28}"/>
              </a:ext>
            </a:extLst>
          </p:cNvPr>
          <p:cNvSpPr>
            <a:spLocks noGrp="1"/>
          </p:cNvSpPr>
          <p:nvPr>
            <p:ph type="title"/>
          </p:nvPr>
        </p:nvSpPr>
        <p:spPr>
          <a:xfrm>
            <a:off x="1066800" y="642593"/>
            <a:ext cx="10058400" cy="812133"/>
          </a:xfrm>
        </p:spPr>
        <p:txBody>
          <a:bodyPr>
            <a:normAutofit/>
          </a:bodyPr>
          <a:lstStyle/>
          <a:p>
            <a:r>
              <a:rPr lang="en-IN" dirty="0"/>
              <a:t>Area Under ROC</a:t>
            </a:r>
          </a:p>
        </p:txBody>
      </p:sp>
      <p:sp>
        <p:nvSpPr>
          <p:cNvPr id="3" name="Content Placeholder 2">
            <a:extLst>
              <a:ext uri="{FF2B5EF4-FFF2-40B4-BE49-F238E27FC236}">
                <a16:creationId xmlns:a16="http://schemas.microsoft.com/office/drawing/2014/main" id="{DC5BCBB3-13F9-2F4B-485E-6085269029C9}"/>
              </a:ext>
            </a:extLst>
          </p:cNvPr>
          <p:cNvSpPr>
            <a:spLocks noGrp="1"/>
          </p:cNvSpPr>
          <p:nvPr>
            <p:ph idx="1"/>
          </p:nvPr>
        </p:nvSpPr>
        <p:spPr>
          <a:xfrm>
            <a:off x="242455" y="1309563"/>
            <a:ext cx="7581951" cy="3849624"/>
          </a:xfrm>
        </p:spPr>
        <p:txBody>
          <a:bodyPr>
            <a:noAutofit/>
          </a:bodyPr>
          <a:lstStyle/>
          <a:p>
            <a:r>
              <a:rPr lang="en-US" sz="2400" b="0" i="0" dirty="0">
                <a:solidFill>
                  <a:srgbClr val="202122"/>
                </a:solidFill>
                <a:effectLst/>
                <a:latin typeface="Arial" panose="020B0604020202020204" pitchFamily="34" charset="0"/>
              </a:rPr>
              <a:t>A random guess would give a point along a diagonal line (the so-called </a:t>
            </a:r>
            <a:r>
              <a:rPr lang="en-US" sz="2400" b="0" i="1" dirty="0">
                <a:solidFill>
                  <a:srgbClr val="202122"/>
                </a:solidFill>
                <a:effectLst/>
                <a:latin typeface="Arial" panose="020B0604020202020204" pitchFamily="34" charset="0"/>
              </a:rPr>
              <a:t>line of no-discrimination</a:t>
            </a:r>
            <a:r>
              <a:rPr lang="en-US" sz="2400" b="0" i="0" dirty="0">
                <a:solidFill>
                  <a:srgbClr val="202122"/>
                </a:solidFill>
                <a:effectLst/>
                <a:latin typeface="Arial" panose="020B0604020202020204" pitchFamily="34" charset="0"/>
              </a:rPr>
              <a:t>) from the bottom left to the top right corners</a:t>
            </a:r>
          </a:p>
          <a:p>
            <a:r>
              <a:rPr lang="en-US" sz="2400" b="0" i="0" dirty="0">
                <a:solidFill>
                  <a:srgbClr val="202122"/>
                </a:solidFill>
                <a:effectLst/>
                <a:latin typeface="Arial" panose="020B0604020202020204" pitchFamily="34" charset="0"/>
              </a:rPr>
              <a:t>The diagonal divides the ROC space.</a:t>
            </a:r>
          </a:p>
          <a:p>
            <a:r>
              <a:rPr lang="en-US" sz="2400" b="0" i="0" dirty="0">
                <a:solidFill>
                  <a:srgbClr val="202122"/>
                </a:solidFill>
                <a:effectLst/>
                <a:latin typeface="Arial" panose="020B0604020202020204" pitchFamily="34" charset="0"/>
              </a:rPr>
              <a:t> Points above the diagonal represent good classification results (better than random); points below the line represent bad results (worse than random)</a:t>
            </a:r>
          </a:p>
          <a:p>
            <a:endParaRPr lang="en-IN" sz="2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AF0FF8C-37ED-3C1C-B502-B89B798FEC0F}"/>
              </a:ext>
            </a:extLst>
          </p:cNvPr>
          <p:cNvPicPr>
            <a:picLocks noChangeAspect="1"/>
          </p:cNvPicPr>
          <p:nvPr/>
        </p:nvPicPr>
        <p:blipFill>
          <a:blip r:embed="rId2"/>
          <a:stretch>
            <a:fillRect/>
          </a:stretch>
        </p:blipFill>
        <p:spPr>
          <a:xfrm>
            <a:off x="7824406" y="1625031"/>
            <a:ext cx="3900055" cy="3900055"/>
          </a:xfrm>
          <a:prstGeom prst="rect">
            <a:avLst/>
          </a:prstGeom>
        </p:spPr>
      </p:pic>
    </p:spTree>
    <p:extLst>
      <p:ext uri="{BB962C8B-B14F-4D97-AF65-F5344CB8AC3E}">
        <p14:creationId xmlns:p14="http://schemas.microsoft.com/office/powerpoint/2010/main" val="12190899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9D6D3-384C-99FD-9AF8-003E1C00A801}"/>
              </a:ext>
            </a:extLst>
          </p:cNvPr>
          <p:cNvSpPr>
            <a:spLocks noGrp="1"/>
          </p:cNvSpPr>
          <p:nvPr>
            <p:ph type="title"/>
          </p:nvPr>
        </p:nvSpPr>
        <p:spPr/>
        <p:txBody>
          <a:bodyPr/>
          <a:lstStyle/>
          <a:p>
            <a:r>
              <a:rPr lang="en-IN" dirty="0"/>
              <a:t>Logistic Regression Example</a:t>
            </a:r>
          </a:p>
        </p:txBody>
      </p:sp>
      <p:sp>
        <p:nvSpPr>
          <p:cNvPr id="3" name="Content Placeholder 2">
            <a:extLst>
              <a:ext uri="{FF2B5EF4-FFF2-40B4-BE49-F238E27FC236}">
                <a16:creationId xmlns:a16="http://schemas.microsoft.com/office/drawing/2014/main" id="{9229F9FF-171C-0389-C568-344BD9589A0D}"/>
              </a:ext>
            </a:extLst>
          </p:cNvPr>
          <p:cNvSpPr>
            <a:spLocks noGrp="1"/>
          </p:cNvSpPr>
          <p:nvPr>
            <p:ph idx="1"/>
          </p:nvPr>
        </p:nvSpPr>
        <p:spPr/>
        <p:txBody>
          <a:bodyPr/>
          <a:lstStyle/>
          <a:p>
            <a:r>
              <a:rPr lang="en-IN" dirty="0">
                <a:hlinkClick r:id="rId2"/>
              </a:rPr>
              <a:t>https://colab.research.google.com/drive/1zlb0KBHWDyQpUm-FfmP_l_lL947018c7?usp=sharing</a:t>
            </a:r>
            <a:endParaRPr lang="en-IN" dirty="0"/>
          </a:p>
          <a:p>
            <a:r>
              <a:rPr lang="en-IN" dirty="0"/>
              <a:t>Area under ROC curve </a:t>
            </a:r>
            <a:r>
              <a:rPr lang="en-US" dirty="0">
                <a:hlinkClick r:id="rId3"/>
              </a:rPr>
              <a:t>AUC ROC Curve in Machine Learning - </a:t>
            </a:r>
            <a:r>
              <a:rPr lang="en-US" dirty="0" err="1">
                <a:hlinkClick r:id="rId3"/>
              </a:rPr>
              <a:t>GeeksforGeeks</a:t>
            </a:r>
            <a:endParaRPr lang="en-IN" dirty="0"/>
          </a:p>
        </p:txBody>
      </p:sp>
    </p:spTree>
    <p:extLst>
      <p:ext uri="{BB962C8B-B14F-4D97-AF65-F5344CB8AC3E}">
        <p14:creationId xmlns:p14="http://schemas.microsoft.com/office/powerpoint/2010/main" val="36327252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AC3F-1645-A63C-9BDF-8BE92C5E78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05B949-7A99-4232-58FE-252BFD61A14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9407229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1573</TotalTime>
  <Words>4595</Words>
  <Application>Microsoft Office PowerPoint</Application>
  <PresentationFormat>Widescreen</PresentationFormat>
  <Paragraphs>322</Paragraphs>
  <Slides>64</Slides>
  <Notes>0</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64</vt:i4>
      </vt:variant>
    </vt:vector>
  </HeadingPairs>
  <TitlesOfParts>
    <vt:vector size="81" baseType="lpstr">
      <vt:lpstr>-apple-system</vt:lpstr>
      <vt:lpstr>Arial</vt:lpstr>
      <vt:lpstr>Arial Rounded MT Bold</vt:lpstr>
      <vt:lpstr>Avenir Next LT Pro</vt:lpstr>
      <vt:lpstr>Avenir Next LT Pro Light</vt:lpstr>
      <vt:lpstr>Calibri</vt:lpstr>
      <vt:lpstr>Calibri Light</vt:lpstr>
      <vt:lpstr>Cambria Math</vt:lpstr>
      <vt:lpstr>Courier New</vt:lpstr>
      <vt:lpstr>Garamond</vt:lpstr>
      <vt:lpstr>Microsoft Sans Serif</vt:lpstr>
      <vt:lpstr>Verdana</vt:lpstr>
      <vt:lpstr>Wingdings</vt:lpstr>
      <vt:lpstr>1_Office Theme</vt:lpstr>
      <vt:lpstr>SavonVTI</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regression</vt:lpstr>
      <vt:lpstr>Simple Linear Regression (SLR)</vt:lpstr>
      <vt:lpstr>Linear Regression(LR)</vt:lpstr>
      <vt:lpstr>Notation and terminology for LR</vt:lpstr>
      <vt:lpstr>Assumptions of LR</vt:lpstr>
      <vt:lpstr>Assumptions of LR</vt:lpstr>
      <vt:lpstr>Score of linear regression  (score(X, y, sample_weight=None)</vt:lpstr>
      <vt:lpstr>Confusion Matrix</vt:lpstr>
      <vt:lpstr>PowerPoint Presentation</vt:lpstr>
      <vt:lpstr>PowerPoint Presentation</vt:lpstr>
      <vt:lpstr>PowerPoint Presentation</vt:lpstr>
      <vt:lpstr>PowerPoint Presentation</vt:lpstr>
      <vt:lpstr>Python Implementation</vt:lpstr>
      <vt:lpstr>PowerPoint Presentation</vt:lpstr>
      <vt:lpstr>Few Statistical Parameters</vt:lpstr>
      <vt:lpstr>Few Statistical Parameters</vt:lpstr>
      <vt:lpstr>Few Statistical Parameters</vt:lpstr>
      <vt:lpstr>Ridge Regression</vt:lpstr>
      <vt:lpstr>Ridge Regression- Why?</vt:lpstr>
      <vt:lpstr>Ridge regression Example</vt:lpstr>
      <vt:lpstr>Logistic Regression</vt:lpstr>
      <vt:lpstr>PowerPoint Presentation</vt:lpstr>
      <vt:lpstr>Logistic function or logit function</vt:lpstr>
      <vt:lpstr>Assumptions of logistic regression</vt:lpstr>
      <vt:lpstr>Assumptions of logistic regression</vt:lpstr>
      <vt:lpstr>Working Principle of Logistic Regression</vt:lpstr>
      <vt:lpstr>Sensitivity and Specificity</vt:lpstr>
      <vt:lpstr>Area Under Receiver Operating Characteristics (ROC)</vt:lpstr>
      <vt:lpstr>Area Under ROC</vt:lpstr>
      <vt:lpstr>Area Under ROC</vt:lpstr>
      <vt:lpstr>Logistic Regression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DEBAJYOTI BISWAS</dc:creator>
  <cp:lastModifiedBy>DEBAJYOTI BISWAS</cp:lastModifiedBy>
  <cp:revision>49</cp:revision>
  <dcterms:created xsi:type="dcterms:W3CDTF">2023-03-17T03:35:57Z</dcterms:created>
  <dcterms:modified xsi:type="dcterms:W3CDTF">2024-09-10T02:07:27Z</dcterms:modified>
</cp:coreProperties>
</file>