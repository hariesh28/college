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338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346" r:id="rId36"/>
    <p:sldId id="339" r:id="rId37"/>
    <p:sldId id="347" r:id="rId38"/>
    <p:sldId id="348" r:id="rId39"/>
    <p:sldId id="340" r:id="rId40"/>
    <p:sldId id="341" r:id="rId41"/>
    <p:sldId id="342" r:id="rId42"/>
    <p:sldId id="343" r:id="rId43"/>
    <p:sldId id="344" r:id="rId44"/>
    <p:sldId id="345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  <p:sldId id="336" r:id="rId90"/>
    <p:sldId id="337" r:id="rId91"/>
  </p:sldIdLst>
  <p:sldSz cx="11864975" cy="6673850"/>
  <p:notesSz cx="9144000" cy="6673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942" y="72"/>
      </p:cViewPr>
      <p:guideLst>
        <p:guide orient="horz" pos="2880"/>
        <p:guide pos="280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7D9309-992E-4EDA-B5B2-588FF6FF4675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863E5B97-1658-4CA1-96B5-0EAF49711F65}">
      <dgm:prSet phldrT="[Text]"/>
      <dgm:spPr/>
      <dgm:t>
        <a:bodyPr/>
        <a:lstStyle/>
        <a:p>
          <a:r>
            <a:rPr lang="en-IN" dirty="0"/>
            <a:t>Set of features</a:t>
          </a:r>
        </a:p>
      </dgm:t>
    </dgm:pt>
    <dgm:pt modelId="{6645519A-556F-4AEC-868A-32C8A4D5A411}" type="parTrans" cxnId="{4BD49ACC-C84A-4F29-98E0-BFA88BC4AAAA}">
      <dgm:prSet/>
      <dgm:spPr/>
      <dgm:t>
        <a:bodyPr/>
        <a:lstStyle/>
        <a:p>
          <a:endParaRPr lang="en-IN"/>
        </a:p>
      </dgm:t>
    </dgm:pt>
    <dgm:pt modelId="{81DD66CC-1F62-4CF1-9CFB-FA5316049FCA}" type="sibTrans" cxnId="{4BD49ACC-C84A-4F29-98E0-BFA88BC4AAAA}">
      <dgm:prSet/>
      <dgm:spPr/>
      <dgm:t>
        <a:bodyPr/>
        <a:lstStyle/>
        <a:p>
          <a:endParaRPr lang="en-IN"/>
        </a:p>
      </dgm:t>
    </dgm:pt>
    <dgm:pt modelId="{E437EE31-D8CA-4F42-9FE1-CB4C3D24D1A9}">
      <dgm:prSet phldrT="[Text]"/>
      <dgm:spPr/>
      <dgm:t>
        <a:bodyPr/>
        <a:lstStyle/>
        <a:p>
          <a:r>
            <a:rPr lang="en-IN" dirty="0"/>
            <a:t>Select best features</a:t>
          </a:r>
        </a:p>
      </dgm:t>
    </dgm:pt>
    <dgm:pt modelId="{262A4F7B-7ABA-4E67-AEEA-83F9DD850D4A}" type="parTrans" cxnId="{5C2FD2C8-D666-47EC-846F-1DF205A1A672}">
      <dgm:prSet/>
      <dgm:spPr/>
      <dgm:t>
        <a:bodyPr/>
        <a:lstStyle/>
        <a:p>
          <a:endParaRPr lang="en-IN"/>
        </a:p>
      </dgm:t>
    </dgm:pt>
    <dgm:pt modelId="{BADA58C9-FF91-4707-8F4C-1FDE972E783F}" type="sibTrans" cxnId="{5C2FD2C8-D666-47EC-846F-1DF205A1A672}">
      <dgm:prSet/>
      <dgm:spPr/>
      <dgm:t>
        <a:bodyPr/>
        <a:lstStyle/>
        <a:p>
          <a:endParaRPr lang="en-IN"/>
        </a:p>
      </dgm:t>
    </dgm:pt>
    <dgm:pt modelId="{1E3C5FE5-AE1C-4C0B-814E-14E9687A006F}">
      <dgm:prSet phldrT="[Text]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IN" dirty="0"/>
            <a:t>Train ML models</a:t>
          </a:r>
        </a:p>
      </dgm:t>
    </dgm:pt>
    <dgm:pt modelId="{65BE8D00-6542-4D9F-901C-1B22F0F46DBC}" type="parTrans" cxnId="{2DB683FE-E9C8-4983-97D2-87EF63DEBB07}">
      <dgm:prSet/>
      <dgm:spPr/>
      <dgm:t>
        <a:bodyPr/>
        <a:lstStyle/>
        <a:p>
          <a:endParaRPr lang="en-IN"/>
        </a:p>
      </dgm:t>
    </dgm:pt>
    <dgm:pt modelId="{638C81C3-0DD0-452A-8E76-14F7F213B059}" type="sibTrans" cxnId="{2DB683FE-E9C8-4983-97D2-87EF63DEBB07}">
      <dgm:prSet/>
      <dgm:spPr/>
      <dgm:t>
        <a:bodyPr/>
        <a:lstStyle/>
        <a:p>
          <a:endParaRPr lang="en-IN"/>
        </a:p>
      </dgm:t>
    </dgm:pt>
    <dgm:pt modelId="{D5FEC606-9EEB-4CBA-9A50-1770F1277F0A}">
      <dgm:prSet/>
      <dgm:spPr/>
      <dgm:t>
        <a:bodyPr/>
        <a:lstStyle/>
        <a:p>
          <a:r>
            <a:rPr lang="en-IN" dirty="0"/>
            <a:t>Get best accuracy</a:t>
          </a:r>
        </a:p>
      </dgm:t>
    </dgm:pt>
    <dgm:pt modelId="{AD02B963-E4AD-4452-992F-8259C7FC936C}" type="parTrans" cxnId="{81B99E9C-E475-493C-AD5D-176B582F29C4}">
      <dgm:prSet/>
      <dgm:spPr/>
      <dgm:t>
        <a:bodyPr/>
        <a:lstStyle/>
        <a:p>
          <a:endParaRPr lang="en-IN"/>
        </a:p>
      </dgm:t>
    </dgm:pt>
    <dgm:pt modelId="{060A52EF-E604-4A48-AE70-716028336E05}" type="sibTrans" cxnId="{81B99E9C-E475-493C-AD5D-176B582F29C4}">
      <dgm:prSet/>
      <dgm:spPr/>
      <dgm:t>
        <a:bodyPr/>
        <a:lstStyle/>
        <a:p>
          <a:endParaRPr lang="en-IN"/>
        </a:p>
      </dgm:t>
    </dgm:pt>
    <dgm:pt modelId="{C3613501-20CE-4550-9ABF-423C29C157BB}" type="pres">
      <dgm:prSet presAssocID="{657D9309-992E-4EDA-B5B2-588FF6FF4675}" presName="CompostProcess" presStyleCnt="0">
        <dgm:presLayoutVars>
          <dgm:dir/>
          <dgm:resizeHandles val="exact"/>
        </dgm:presLayoutVars>
      </dgm:prSet>
      <dgm:spPr/>
    </dgm:pt>
    <dgm:pt modelId="{8A607EA6-FD9C-4DC9-A581-F16090FB8E91}" type="pres">
      <dgm:prSet presAssocID="{657D9309-992E-4EDA-B5B2-588FF6FF4675}" presName="arrow" presStyleLbl="bgShp" presStyleIdx="0" presStyleCnt="1"/>
      <dgm:spPr>
        <a:solidFill>
          <a:srgbClr val="00B050"/>
        </a:solidFill>
      </dgm:spPr>
    </dgm:pt>
    <dgm:pt modelId="{FE6B6C9A-7233-418D-9C96-53EFD5C40BDF}" type="pres">
      <dgm:prSet presAssocID="{657D9309-992E-4EDA-B5B2-588FF6FF4675}" presName="linearProcess" presStyleCnt="0"/>
      <dgm:spPr/>
    </dgm:pt>
    <dgm:pt modelId="{8E9CF217-DC32-4AB3-9950-DBAEA35A8C31}" type="pres">
      <dgm:prSet presAssocID="{863E5B97-1658-4CA1-96B5-0EAF49711F65}" presName="textNode" presStyleLbl="node1" presStyleIdx="0" presStyleCnt="4">
        <dgm:presLayoutVars>
          <dgm:bulletEnabled val="1"/>
        </dgm:presLayoutVars>
      </dgm:prSet>
      <dgm:spPr/>
    </dgm:pt>
    <dgm:pt modelId="{C862B451-CA0C-429E-A61E-5B6E7CF822AE}" type="pres">
      <dgm:prSet presAssocID="{81DD66CC-1F62-4CF1-9CFB-FA5316049FCA}" presName="sibTrans" presStyleCnt="0"/>
      <dgm:spPr/>
    </dgm:pt>
    <dgm:pt modelId="{6D11957C-FB5B-4902-A845-5752CCD91CEF}" type="pres">
      <dgm:prSet presAssocID="{E437EE31-D8CA-4F42-9FE1-CB4C3D24D1A9}" presName="textNode" presStyleLbl="node1" presStyleIdx="1" presStyleCnt="4">
        <dgm:presLayoutVars>
          <dgm:bulletEnabled val="1"/>
        </dgm:presLayoutVars>
      </dgm:prSet>
      <dgm:spPr/>
    </dgm:pt>
    <dgm:pt modelId="{A9CFE8BA-D1FB-4435-985D-C253990CD6B2}" type="pres">
      <dgm:prSet presAssocID="{BADA58C9-FF91-4707-8F4C-1FDE972E783F}" presName="sibTrans" presStyleCnt="0"/>
      <dgm:spPr/>
    </dgm:pt>
    <dgm:pt modelId="{BC502CA6-C9B6-4473-B297-9AD0A82199D1}" type="pres">
      <dgm:prSet presAssocID="{1E3C5FE5-AE1C-4C0B-814E-14E9687A006F}" presName="textNode" presStyleLbl="node1" presStyleIdx="2" presStyleCnt="4">
        <dgm:presLayoutVars>
          <dgm:bulletEnabled val="1"/>
        </dgm:presLayoutVars>
      </dgm:prSet>
      <dgm:spPr/>
    </dgm:pt>
    <dgm:pt modelId="{62F8AEDD-9394-457E-88D5-DC781A24B4AD}" type="pres">
      <dgm:prSet presAssocID="{638C81C3-0DD0-452A-8E76-14F7F213B059}" presName="sibTrans" presStyleCnt="0"/>
      <dgm:spPr/>
    </dgm:pt>
    <dgm:pt modelId="{B145CD78-95A2-43A0-9EA9-235AA3C4A035}" type="pres">
      <dgm:prSet presAssocID="{D5FEC606-9EEB-4CBA-9A50-1770F1277F0A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CC190A22-4B51-4C33-9D5B-7AF30AD4EA65}" type="presOf" srcId="{657D9309-992E-4EDA-B5B2-588FF6FF4675}" destId="{C3613501-20CE-4550-9ABF-423C29C157BB}" srcOrd="0" destOrd="0" presId="urn:microsoft.com/office/officeart/2005/8/layout/hProcess9"/>
    <dgm:cxn modelId="{A7D6476B-5805-4BBB-BE00-A0B4036EC016}" type="presOf" srcId="{D5FEC606-9EEB-4CBA-9A50-1770F1277F0A}" destId="{B145CD78-95A2-43A0-9EA9-235AA3C4A035}" srcOrd="0" destOrd="0" presId="urn:microsoft.com/office/officeart/2005/8/layout/hProcess9"/>
    <dgm:cxn modelId="{76670251-9955-4032-B2F4-516AB05CA854}" type="presOf" srcId="{E437EE31-D8CA-4F42-9FE1-CB4C3D24D1A9}" destId="{6D11957C-FB5B-4902-A845-5752CCD91CEF}" srcOrd="0" destOrd="0" presId="urn:microsoft.com/office/officeart/2005/8/layout/hProcess9"/>
    <dgm:cxn modelId="{F2DBD484-A888-4916-B309-FE3CBEC99DE0}" type="presOf" srcId="{863E5B97-1658-4CA1-96B5-0EAF49711F65}" destId="{8E9CF217-DC32-4AB3-9950-DBAEA35A8C31}" srcOrd="0" destOrd="0" presId="urn:microsoft.com/office/officeart/2005/8/layout/hProcess9"/>
    <dgm:cxn modelId="{81B99E9C-E475-493C-AD5D-176B582F29C4}" srcId="{657D9309-992E-4EDA-B5B2-588FF6FF4675}" destId="{D5FEC606-9EEB-4CBA-9A50-1770F1277F0A}" srcOrd="3" destOrd="0" parTransId="{AD02B963-E4AD-4452-992F-8259C7FC936C}" sibTransId="{060A52EF-E604-4A48-AE70-716028336E05}"/>
    <dgm:cxn modelId="{A95424B2-CE3E-4972-9A7E-B710C59ED5E7}" type="presOf" srcId="{1E3C5FE5-AE1C-4C0B-814E-14E9687A006F}" destId="{BC502CA6-C9B6-4473-B297-9AD0A82199D1}" srcOrd="0" destOrd="0" presId="urn:microsoft.com/office/officeart/2005/8/layout/hProcess9"/>
    <dgm:cxn modelId="{5C2FD2C8-D666-47EC-846F-1DF205A1A672}" srcId="{657D9309-992E-4EDA-B5B2-588FF6FF4675}" destId="{E437EE31-D8CA-4F42-9FE1-CB4C3D24D1A9}" srcOrd="1" destOrd="0" parTransId="{262A4F7B-7ABA-4E67-AEEA-83F9DD850D4A}" sibTransId="{BADA58C9-FF91-4707-8F4C-1FDE972E783F}"/>
    <dgm:cxn modelId="{4BD49ACC-C84A-4F29-98E0-BFA88BC4AAAA}" srcId="{657D9309-992E-4EDA-B5B2-588FF6FF4675}" destId="{863E5B97-1658-4CA1-96B5-0EAF49711F65}" srcOrd="0" destOrd="0" parTransId="{6645519A-556F-4AEC-868A-32C8A4D5A411}" sibTransId="{81DD66CC-1F62-4CF1-9CFB-FA5316049FCA}"/>
    <dgm:cxn modelId="{2DB683FE-E9C8-4983-97D2-87EF63DEBB07}" srcId="{657D9309-992E-4EDA-B5B2-588FF6FF4675}" destId="{1E3C5FE5-AE1C-4C0B-814E-14E9687A006F}" srcOrd="2" destOrd="0" parTransId="{65BE8D00-6542-4D9F-901C-1B22F0F46DBC}" sibTransId="{638C81C3-0DD0-452A-8E76-14F7F213B059}"/>
    <dgm:cxn modelId="{2B18DFC2-4235-489A-8C89-26ADF6AFEE8D}" type="presParOf" srcId="{C3613501-20CE-4550-9ABF-423C29C157BB}" destId="{8A607EA6-FD9C-4DC9-A581-F16090FB8E91}" srcOrd="0" destOrd="0" presId="urn:microsoft.com/office/officeart/2005/8/layout/hProcess9"/>
    <dgm:cxn modelId="{98A2F57A-7A1C-44D6-9494-D5DD6F4C9E71}" type="presParOf" srcId="{C3613501-20CE-4550-9ABF-423C29C157BB}" destId="{FE6B6C9A-7233-418D-9C96-53EFD5C40BDF}" srcOrd="1" destOrd="0" presId="urn:microsoft.com/office/officeart/2005/8/layout/hProcess9"/>
    <dgm:cxn modelId="{DAADE7A5-E4B9-4149-B60C-E99AD8E2B887}" type="presParOf" srcId="{FE6B6C9A-7233-418D-9C96-53EFD5C40BDF}" destId="{8E9CF217-DC32-4AB3-9950-DBAEA35A8C31}" srcOrd="0" destOrd="0" presId="urn:microsoft.com/office/officeart/2005/8/layout/hProcess9"/>
    <dgm:cxn modelId="{FA1F3554-F669-46F6-8266-E7EA6AA58A22}" type="presParOf" srcId="{FE6B6C9A-7233-418D-9C96-53EFD5C40BDF}" destId="{C862B451-CA0C-429E-A61E-5B6E7CF822AE}" srcOrd="1" destOrd="0" presId="urn:microsoft.com/office/officeart/2005/8/layout/hProcess9"/>
    <dgm:cxn modelId="{1CBCB414-F9F1-4E5A-9F2D-F869F981F628}" type="presParOf" srcId="{FE6B6C9A-7233-418D-9C96-53EFD5C40BDF}" destId="{6D11957C-FB5B-4902-A845-5752CCD91CEF}" srcOrd="2" destOrd="0" presId="urn:microsoft.com/office/officeart/2005/8/layout/hProcess9"/>
    <dgm:cxn modelId="{1AD77BCF-1D15-4155-A2C2-809D9EBA0858}" type="presParOf" srcId="{FE6B6C9A-7233-418D-9C96-53EFD5C40BDF}" destId="{A9CFE8BA-D1FB-4435-985D-C253990CD6B2}" srcOrd="3" destOrd="0" presId="urn:microsoft.com/office/officeart/2005/8/layout/hProcess9"/>
    <dgm:cxn modelId="{156278AA-1121-4FB3-85F6-BE42529845DD}" type="presParOf" srcId="{FE6B6C9A-7233-418D-9C96-53EFD5C40BDF}" destId="{BC502CA6-C9B6-4473-B297-9AD0A82199D1}" srcOrd="4" destOrd="0" presId="urn:microsoft.com/office/officeart/2005/8/layout/hProcess9"/>
    <dgm:cxn modelId="{5BD60B8F-B5B8-4B1C-BFF0-F1F377081122}" type="presParOf" srcId="{FE6B6C9A-7233-418D-9C96-53EFD5C40BDF}" destId="{62F8AEDD-9394-457E-88D5-DC781A24B4AD}" srcOrd="5" destOrd="0" presId="urn:microsoft.com/office/officeart/2005/8/layout/hProcess9"/>
    <dgm:cxn modelId="{D94B43AD-F6F9-4B1E-B9C3-140FCACA8C12}" type="presParOf" srcId="{FE6B6C9A-7233-418D-9C96-53EFD5C40BDF}" destId="{B145CD78-95A2-43A0-9EA9-235AA3C4A035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7D9309-992E-4EDA-B5B2-588FF6FF4675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863E5B97-1658-4CA1-96B5-0EAF49711F65}">
      <dgm:prSet phldrT="[Text]"/>
      <dgm:spPr/>
      <dgm:t>
        <a:bodyPr/>
        <a:lstStyle/>
        <a:p>
          <a:r>
            <a:rPr lang="en-IN" dirty="0"/>
            <a:t>Set of features</a:t>
          </a:r>
        </a:p>
      </dgm:t>
    </dgm:pt>
    <dgm:pt modelId="{6645519A-556F-4AEC-868A-32C8A4D5A411}" type="parTrans" cxnId="{4BD49ACC-C84A-4F29-98E0-BFA88BC4AAAA}">
      <dgm:prSet/>
      <dgm:spPr/>
      <dgm:t>
        <a:bodyPr/>
        <a:lstStyle/>
        <a:p>
          <a:endParaRPr lang="en-IN"/>
        </a:p>
      </dgm:t>
    </dgm:pt>
    <dgm:pt modelId="{81DD66CC-1F62-4CF1-9CFB-FA5316049FCA}" type="sibTrans" cxnId="{4BD49ACC-C84A-4F29-98E0-BFA88BC4AAAA}">
      <dgm:prSet/>
      <dgm:spPr/>
      <dgm:t>
        <a:bodyPr/>
        <a:lstStyle/>
        <a:p>
          <a:endParaRPr lang="en-IN"/>
        </a:p>
      </dgm:t>
    </dgm:pt>
    <dgm:pt modelId="{1E3C5FE5-AE1C-4C0B-814E-14E9687A006F}">
      <dgm:prSet phldrT="[Text]"/>
      <dgm:spPr/>
      <dgm:t>
        <a:bodyPr/>
        <a:lstStyle/>
        <a:p>
          <a:r>
            <a:rPr lang="en-IN" dirty="0"/>
            <a:t>Select some good features</a:t>
          </a:r>
        </a:p>
      </dgm:t>
    </dgm:pt>
    <dgm:pt modelId="{65BE8D00-6542-4D9F-901C-1B22F0F46DBC}" type="parTrans" cxnId="{2DB683FE-E9C8-4983-97D2-87EF63DEBB07}">
      <dgm:prSet/>
      <dgm:spPr/>
      <dgm:t>
        <a:bodyPr/>
        <a:lstStyle/>
        <a:p>
          <a:endParaRPr lang="en-IN"/>
        </a:p>
      </dgm:t>
    </dgm:pt>
    <dgm:pt modelId="{638C81C3-0DD0-452A-8E76-14F7F213B059}" type="sibTrans" cxnId="{2DB683FE-E9C8-4983-97D2-87EF63DEBB07}">
      <dgm:prSet/>
      <dgm:spPr/>
      <dgm:t>
        <a:bodyPr/>
        <a:lstStyle/>
        <a:p>
          <a:endParaRPr lang="en-IN"/>
        </a:p>
      </dgm:t>
    </dgm:pt>
    <dgm:pt modelId="{D5FEC606-9EEB-4CBA-9A50-1770F1277F0A}">
      <dgm:prSet/>
      <dgm:spPr>
        <a:solidFill>
          <a:srgbClr val="C00000"/>
        </a:solidFill>
      </dgm:spPr>
      <dgm:t>
        <a:bodyPr/>
        <a:lstStyle/>
        <a:p>
          <a:r>
            <a:rPr lang="en-IN" dirty="0"/>
            <a:t>Get  accuracy</a:t>
          </a:r>
        </a:p>
      </dgm:t>
    </dgm:pt>
    <dgm:pt modelId="{AD02B963-E4AD-4452-992F-8259C7FC936C}" type="parTrans" cxnId="{81B99E9C-E475-493C-AD5D-176B582F29C4}">
      <dgm:prSet/>
      <dgm:spPr/>
      <dgm:t>
        <a:bodyPr/>
        <a:lstStyle/>
        <a:p>
          <a:endParaRPr lang="en-IN"/>
        </a:p>
      </dgm:t>
    </dgm:pt>
    <dgm:pt modelId="{060A52EF-E604-4A48-AE70-716028336E05}" type="sibTrans" cxnId="{81B99E9C-E475-493C-AD5D-176B582F29C4}">
      <dgm:prSet/>
      <dgm:spPr/>
      <dgm:t>
        <a:bodyPr/>
        <a:lstStyle/>
        <a:p>
          <a:endParaRPr lang="en-IN"/>
        </a:p>
      </dgm:t>
    </dgm:pt>
    <dgm:pt modelId="{574F4F5D-4043-49A8-AD8D-CF34299A4379}">
      <dgm:prSet/>
      <dgm:spPr/>
      <dgm:t>
        <a:bodyPr/>
        <a:lstStyle/>
        <a:p>
          <a:r>
            <a:rPr lang="en-IN"/>
            <a:t>Train ML models</a:t>
          </a:r>
          <a:endParaRPr lang="en-IN" dirty="0"/>
        </a:p>
      </dgm:t>
    </dgm:pt>
    <dgm:pt modelId="{5D0D2742-3157-42A6-9A89-DDC640F62C47}" type="parTrans" cxnId="{EB0EC958-4E50-4D1E-9F03-6ABE004D2D79}">
      <dgm:prSet/>
      <dgm:spPr/>
      <dgm:t>
        <a:bodyPr/>
        <a:lstStyle/>
        <a:p>
          <a:endParaRPr lang="en-IN"/>
        </a:p>
      </dgm:t>
    </dgm:pt>
    <dgm:pt modelId="{657CD32D-6837-45A2-BFD0-68ECD89DDB7C}" type="sibTrans" cxnId="{EB0EC958-4E50-4D1E-9F03-6ABE004D2D79}">
      <dgm:prSet/>
      <dgm:spPr/>
      <dgm:t>
        <a:bodyPr/>
        <a:lstStyle/>
        <a:p>
          <a:endParaRPr lang="en-IN"/>
        </a:p>
      </dgm:t>
    </dgm:pt>
    <dgm:pt modelId="{932DC7AC-8B35-4336-A456-E4B7F5384BF4}">
      <dgm:prSet/>
      <dgm:spPr/>
      <dgm:t>
        <a:bodyPr/>
        <a:lstStyle/>
        <a:p>
          <a:r>
            <a:rPr lang="en-IN" dirty="0"/>
            <a:t>Get Best  accuracy</a:t>
          </a:r>
        </a:p>
      </dgm:t>
    </dgm:pt>
    <dgm:pt modelId="{BA02F852-1E54-42D9-924E-52C251AD0C97}" type="parTrans" cxnId="{5D1E18E5-76BD-428D-9CF6-C5D406E4E4FB}">
      <dgm:prSet/>
      <dgm:spPr/>
      <dgm:t>
        <a:bodyPr/>
        <a:lstStyle/>
        <a:p>
          <a:endParaRPr lang="en-IN"/>
        </a:p>
      </dgm:t>
    </dgm:pt>
    <dgm:pt modelId="{199E62C7-3508-4B19-859C-10C10F9CC4F4}" type="sibTrans" cxnId="{5D1E18E5-76BD-428D-9CF6-C5D406E4E4FB}">
      <dgm:prSet/>
      <dgm:spPr/>
      <dgm:t>
        <a:bodyPr/>
        <a:lstStyle/>
        <a:p>
          <a:endParaRPr lang="en-IN"/>
        </a:p>
      </dgm:t>
    </dgm:pt>
    <dgm:pt modelId="{C3613501-20CE-4550-9ABF-423C29C157BB}" type="pres">
      <dgm:prSet presAssocID="{657D9309-992E-4EDA-B5B2-588FF6FF4675}" presName="CompostProcess" presStyleCnt="0">
        <dgm:presLayoutVars>
          <dgm:dir/>
          <dgm:resizeHandles val="exact"/>
        </dgm:presLayoutVars>
      </dgm:prSet>
      <dgm:spPr/>
    </dgm:pt>
    <dgm:pt modelId="{8A607EA6-FD9C-4DC9-A581-F16090FB8E91}" type="pres">
      <dgm:prSet presAssocID="{657D9309-992E-4EDA-B5B2-588FF6FF4675}" presName="arrow" presStyleLbl="bgShp" presStyleIdx="0" presStyleCnt="1"/>
      <dgm:spPr>
        <a:solidFill>
          <a:srgbClr val="00B050"/>
        </a:solidFill>
      </dgm:spPr>
    </dgm:pt>
    <dgm:pt modelId="{FE6B6C9A-7233-418D-9C96-53EFD5C40BDF}" type="pres">
      <dgm:prSet presAssocID="{657D9309-992E-4EDA-B5B2-588FF6FF4675}" presName="linearProcess" presStyleCnt="0"/>
      <dgm:spPr/>
    </dgm:pt>
    <dgm:pt modelId="{8E9CF217-DC32-4AB3-9950-DBAEA35A8C31}" type="pres">
      <dgm:prSet presAssocID="{863E5B97-1658-4CA1-96B5-0EAF49711F65}" presName="textNode" presStyleLbl="node1" presStyleIdx="0" presStyleCnt="5">
        <dgm:presLayoutVars>
          <dgm:bulletEnabled val="1"/>
        </dgm:presLayoutVars>
      </dgm:prSet>
      <dgm:spPr/>
    </dgm:pt>
    <dgm:pt modelId="{C862B451-CA0C-429E-A61E-5B6E7CF822AE}" type="pres">
      <dgm:prSet presAssocID="{81DD66CC-1F62-4CF1-9CFB-FA5316049FCA}" presName="sibTrans" presStyleCnt="0"/>
      <dgm:spPr/>
    </dgm:pt>
    <dgm:pt modelId="{5E1CE7D2-DF03-47EA-B5DB-6894D7D40B7D}" type="pres">
      <dgm:prSet presAssocID="{574F4F5D-4043-49A8-AD8D-CF34299A4379}" presName="textNode" presStyleLbl="node1" presStyleIdx="1" presStyleCnt="5">
        <dgm:presLayoutVars>
          <dgm:bulletEnabled val="1"/>
        </dgm:presLayoutVars>
      </dgm:prSet>
      <dgm:spPr/>
    </dgm:pt>
    <dgm:pt modelId="{F8F755E0-5052-41D2-96D9-4C398E5DF436}" type="pres">
      <dgm:prSet presAssocID="{657CD32D-6837-45A2-BFD0-68ECD89DDB7C}" presName="sibTrans" presStyleCnt="0"/>
      <dgm:spPr/>
    </dgm:pt>
    <dgm:pt modelId="{BC502CA6-C9B6-4473-B297-9AD0A82199D1}" type="pres">
      <dgm:prSet presAssocID="{1E3C5FE5-AE1C-4C0B-814E-14E9687A006F}" presName="textNode" presStyleLbl="node1" presStyleIdx="2" presStyleCnt="5">
        <dgm:presLayoutVars>
          <dgm:bulletEnabled val="1"/>
        </dgm:presLayoutVars>
      </dgm:prSet>
      <dgm:spPr/>
    </dgm:pt>
    <dgm:pt modelId="{62F8AEDD-9394-457E-88D5-DC781A24B4AD}" type="pres">
      <dgm:prSet presAssocID="{638C81C3-0DD0-452A-8E76-14F7F213B059}" presName="sibTrans" presStyleCnt="0"/>
      <dgm:spPr/>
    </dgm:pt>
    <dgm:pt modelId="{B145CD78-95A2-43A0-9EA9-235AA3C4A035}" type="pres">
      <dgm:prSet presAssocID="{D5FEC606-9EEB-4CBA-9A50-1770F1277F0A}" presName="textNode" presStyleLbl="node1" presStyleIdx="3" presStyleCnt="5">
        <dgm:presLayoutVars>
          <dgm:bulletEnabled val="1"/>
        </dgm:presLayoutVars>
      </dgm:prSet>
      <dgm:spPr/>
    </dgm:pt>
    <dgm:pt modelId="{C9700119-A100-4E91-A5B4-0F1C8550A78B}" type="pres">
      <dgm:prSet presAssocID="{060A52EF-E604-4A48-AE70-716028336E05}" presName="sibTrans" presStyleCnt="0"/>
      <dgm:spPr/>
    </dgm:pt>
    <dgm:pt modelId="{6A9C9FAD-16B2-4949-B62C-627D169E6B11}" type="pres">
      <dgm:prSet presAssocID="{932DC7AC-8B35-4336-A456-E4B7F5384BF4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CC190A22-4B51-4C33-9D5B-7AF30AD4EA65}" type="presOf" srcId="{657D9309-992E-4EDA-B5B2-588FF6FF4675}" destId="{C3613501-20CE-4550-9ABF-423C29C157BB}" srcOrd="0" destOrd="0" presId="urn:microsoft.com/office/officeart/2005/8/layout/hProcess9"/>
    <dgm:cxn modelId="{C0733963-BEC2-44DC-BD81-1A43982866F1}" type="presOf" srcId="{574F4F5D-4043-49A8-AD8D-CF34299A4379}" destId="{5E1CE7D2-DF03-47EA-B5DB-6894D7D40B7D}" srcOrd="0" destOrd="0" presId="urn:microsoft.com/office/officeart/2005/8/layout/hProcess9"/>
    <dgm:cxn modelId="{A7D6476B-5805-4BBB-BE00-A0B4036EC016}" type="presOf" srcId="{D5FEC606-9EEB-4CBA-9A50-1770F1277F0A}" destId="{B145CD78-95A2-43A0-9EA9-235AA3C4A035}" srcOrd="0" destOrd="0" presId="urn:microsoft.com/office/officeart/2005/8/layout/hProcess9"/>
    <dgm:cxn modelId="{EB0EC958-4E50-4D1E-9F03-6ABE004D2D79}" srcId="{657D9309-992E-4EDA-B5B2-588FF6FF4675}" destId="{574F4F5D-4043-49A8-AD8D-CF34299A4379}" srcOrd="1" destOrd="0" parTransId="{5D0D2742-3157-42A6-9A89-DDC640F62C47}" sibTransId="{657CD32D-6837-45A2-BFD0-68ECD89DDB7C}"/>
    <dgm:cxn modelId="{F2DBD484-A888-4916-B309-FE3CBEC99DE0}" type="presOf" srcId="{863E5B97-1658-4CA1-96B5-0EAF49711F65}" destId="{8E9CF217-DC32-4AB3-9950-DBAEA35A8C31}" srcOrd="0" destOrd="0" presId="urn:microsoft.com/office/officeart/2005/8/layout/hProcess9"/>
    <dgm:cxn modelId="{28660A98-2A04-4D7F-878F-7EB8F7E16D84}" type="presOf" srcId="{932DC7AC-8B35-4336-A456-E4B7F5384BF4}" destId="{6A9C9FAD-16B2-4949-B62C-627D169E6B11}" srcOrd="0" destOrd="0" presId="urn:microsoft.com/office/officeart/2005/8/layout/hProcess9"/>
    <dgm:cxn modelId="{81B99E9C-E475-493C-AD5D-176B582F29C4}" srcId="{657D9309-992E-4EDA-B5B2-588FF6FF4675}" destId="{D5FEC606-9EEB-4CBA-9A50-1770F1277F0A}" srcOrd="3" destOrd="0" parTransId="{AD02B963-E4AD-4452-992F-8259C7FC936C}" sibTransId="{060A52EF-E604-4A48-AE70-716028336E05}"/>
    <dgm:cxn modelId="{A95424B2-CE3E-4972-9A7E-B710C59ED5E7}" type="presOf" srcId="{1E3C5FE5-AE1C-4C0B-814E-14E9687A006F}" destId="{BC502CA6-C9B6-4473-B297-9AD0A82199D1}" srcOrd="0" destOrd="0" presId="urn:microsoft.com/office/officeart/2005/8/layout/hProcess9"/>
    <dgm:cxn modelId="{4BD49ACC-C84A-4F29-98E0-BFA88BC4AAAA}" srcId="{657D9309-992E-4EDA-B5B2-588FF6FF4675}" destId="{863E5B97-1658-4CA1-96B5-0EAF49711F65}" srcOrd="0" destOrd="0" parTransId="{6645519A-556F-4AEC-868A-32C8A4D5A411}" sibTransId="{81DD66CC-1F62-4CF1-9CFB-FA5316049FCA}"/>
    <dgm:cxn modelId="{5D1E18E5-76BD-428D-9CF6-C5D406E4E4FB}" srcId="{657D9309-992E-4EDA-B5B2-588FF6FF4675}" destId="{932DC7AC-8B35-4336-A456-E4B7F5384BF4}" srcOrd="4" destOrd="0" parTransId="{BA02F852-1E54-42D9-924E-52C251AD0C97}" sibTransId="{199E62C7-3508-4B19-859C-10C10F9CC4F4}"/>
    <dgm:cxn modelId="{2DB683FE-E9C8-4983-97D2-87EF63DEBB07}" srcId="{657D9309-992E-4EDA-B5B2-588FF6FF4675}" destId="{1E3C5FE5-AE1C-4C0B-814E-14E9687A006F}" srcOrd="2" destOrd="0" parTransId="{65BE8D00-6542-4D9F-901C-1B22F0F46DBC}" sibTransId="{638C81C3-0DD0-452A-8E76-14F7F213B059}"/>
    <dgm:cxn modelId="{2B18DFC2-4235-489A-8C89-26ADF6AFEE8D}" type="presParOf" srcId="{C3613501-20CE-4550-9ABF-423C29C157BB}" destId="{8A607EA6-FD9C-4DC9-A581-F16090FB8E91}" srcOrd="0" destOrd="0" presId="urn:microsoft.com/office/officeart/2005/8/layout/hProcess9"/>
    <dgm:cxn modelId="{98A2F57A-7A1C-44D6-9494-D5DD6F4C9E71}" type="presParOf" srcId="{C3613501-20CE-4550-9ABF-423C29C157BB}" destId="{FE6B6C9A-7233-418D-9C96-53EFD5C40BDF}" srcOrd="1" destOrd="0" presId="urn:microsoft.com/office/officeart/2005/8/layout/hProcess9"/>
    <dgm:cxn modelId="{DAADE7A5-E4B9-4149-B60C-E99AD8E2B887}" type="presParOf" srcId="{FE6B6C9A-7233-418D-9C96-53EFD5C40BDF}" destId="{8E9CF217-DC32-4AB3-9950-DBAEA35A8C31}" srcOrd="0" destOrd="0" presId="urn:microsoft.com/office/officeart/2005/8/layout/hProcess9"/>
    <dgm:cxn modelId="{FA1F3554-F669-46F6-8266-E7EA6AA58A22}" type="presParOf" srcId="{FE6B6C9A-7233-418D-9C96-53EFD5C40BDF}" destId="{C862B451-CA0C-429E-A61E-5B6E7CF822AE}" srcOrd="1" destOrd="0" presId="urn:microsoft.com/office/officeart/2005/8/layout/hProcess9"/>
    <dgm:cxn modelId="{E51506CE-F0AF-4571-8977-2EC10C3C30C7}" type="presParOf" srcId="{FE6B6C9A-7233-418D-9C96-53EFD5C40BDF}" destId="{5E1CE7D2-DF03-47EA-B5DB-6894D7D40B7D}" srcOrd="2" destOrd="0" presId="urn:microsoft.com/office/officeart/2005/8/layout/hProcess9"/>
    <dgm:cxn modelId="{AA91868C-B78E-4145-8E4B-D273C6DDD035}" type="presParOf" srcId="{FE6B6C9A-7233-418D-9C96-53EFD5C40BDF}" destId="{F8F755E0-5052-41D2-96D9-4C398E5DF436}" srcOrd="3" destOrd="0" presId="urn:microsoft.com/office/officeart/2005/8/layout/hProcess9"/>
    <dgm:cxn modelId="{156278AA-1121-4FB3-85F6-BE42529845DD}" type="presParOf" srcId="{FE6B6C9A-7233-418D-9C96-53EFD5C40BDF}" destId="{BC502CA6-C9B6-4473-B297-9AD0A82199D1}" srcOrd="4" destOrd="0" presId="urn:microsoft.com/office/officeart/2005/8/layout/hProcess9"/>
    <dgm:cxn modelId="{5BD60B8F-B5B8-4B1C-BFF0-F1F377081122}" type="presParOf" srcId="{FE6B6C9A-7233-418D-9C96-53EFD5C40BDF}" destId="{62F8AEDD-9394-457E-88D5-DC781A24B4AD}" srcOrd="5" destOrd="0" presId="urn:microsoft.com/office/officeart/2005/8/layout/hProcess9"/>
    <dgm:cxn modelId="{D94B43AD-F6F9-4B1E-B9C3-140FCACA8C12}" type="presParOf" srcId="{FE6B6C9A-7233-418D-9C96-53EFD5C40BDF}" destId="{B145CD78-95A2-43A0-9EA9-235AA3C4A035}" srcOrd="6" destOrd="0" presId="urn:microsoft.com/office/officeart/2005/8/layout/hProcess9"/>
    <dgm:cxn modelId="{20803615-5BAA-4A80-AEFA-07BAE291B432}" type="presParOf" srcId="{FE6B6C9A-7233-418D-9C96-53EFD5C40BDF}" destId="{C9700119-A100-4E91-A5B4-0F1C8550A78B}" srcOrd="7" destOrd="0" presId="urn:microsoft.com/office/officeart/2005/8/layout/hProcess9"/>
    <dgm:cxn modelId="{D103DE46-4EF1-418E-A3E3-4D24A1DB28AD}" type="presParOf" srcId="{FE6B6C9A-7233-418D-9C96-53EFD5C40BDF}" destId="{6A9C9FAD-16B2-4949-B62C-627D169E6B11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43E765-7E0F-4D05-BB02-DFEB288DAED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F898E5D-8CC8-4957-B0D2-8B3278B14085}">
      <dgm:prSet/>
      <dgm:spPr/>
      <dgm:t>
        <a:bodyPr/>
        <a:lstStyle/>
        <a:p>
          <a:r>
            <a:rPr lang="en-US" dirty="0"/>
            <a:t>Generally used while doing the pre-processing step</a:t>
          </a:r>
        </a:p>
      </dgm:t>
    </dgm:pt>
    <dgm:pt modelId="{AC027A30-61CE-463C-9A8C-81E80C28D393}" type="parTrans" cxnId="{1781E633-CF8C-4A0F-9EFB-8650892BD3C0}">
      <dgm:prSet/>
      <dgm:spPr/>
      <dgm:t>
        <a:bodyPr/>
        <a:lstStyle/>
        <a:p>
          <a:endParaRPr lang="en-US"/>
        </a:p>
      </dgm:t>
    </dgm:pt>
    <dgm:pt modelId="{D9C87E14-B54A-4CC9-BD4D-093BA44D7BB6}" type="sibTrans" cxnId="{1781E633-CF8C-4A0F-9EFB-8650892BD3C0}">
      <dgm:prSet/>
      <dgm:spPr/>
      <dgm:t>
        <a:bodyPr/>
        <a:lstStyle/>
        <a:p>
          <a:endParaRPr lang="en-US"/>
        </a:p>
      </dgm:t>
    </dgm:pt>
    <dgm:pt modelId="{0BE0C4D5-D477-4B49-9506-E200AF518263}">
      <dgm:prSet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These methods select features from the dataset irrespective of the use of any machine learning algorithm</a:t>
          </a:r>
        </a:p>
      </dgm:t>
    </dgm:pt>
    <dgm:pt modelId="{D5BC992E-586A-4A57-B7E9-56434BA1D661}" type="parTrans" cxnId="{61A5DE2D-B661-4EAE-8695-508E64FCF9B4}">
      <dgm:prSet/>
      <dgm:spPr/>
      <dgm:t>
        <a:bodyPr/>
        <a:lstStyle/>
        <a:p>
          <a:endParaRPr lang="en-US"/>
        </a:p>
      </dgm:t>
    </dgm:pt>
    <dgm:pt modelId="{99F9376E-127A-40DC-8499-D1292C9BC93D}" type="sibTrans" cxnId="{61A5DE2D-B661-4EAE-8695-508E64FCF9B4}">
      <dgm:prSet/>
      <dgm:spPr/>
      <dgm:t>
        <a:bodyPr/>
        <a:lstStyle/>
        <a:p>
          <a:endParaRPr lang="en-US"/>
        </a:p>
      </dgm:t>
    </dgm:pt>
    <dgm:pt modelId="{55C38764-5B4D-40D2-9389-75CA239EC4B1}">
      <dgm:prSet custT="1"/>
      <dgm:spPr/>
      <dgm:t>
        <a:bodyPr/>
        <a:lstStyle/>
        <a:p>
          <a:r>
            <a:rPr lang="en-IN" sz="2800" dirty="0"/>
            <a:t>very fast and inexpensive</a:t>
          </a:r>
          <a:endParaRPr lang="en-US" sz="2800" dirty="0"/>
        </a:p>
      </dgm:t>
    </dgm:pt>
    <dgm:pt modelId="{6BE6B8E3-312B-435C-90AA-3E6B9896F2AC}" type="parTrans" cxnId="{E0807D8F-1BC8-458A-8DE7-130D9A247940}">
      <dgm:prSet/>
      <dgm:spPr/>
      <dgm:t>
        <a:bodyPr/>
        <a:lstStyle/>
        <a:p>
          <a:endParaRPr lang="en-US"/>
        </a:p>
      </dgm:t>
    </dgm:pt>
    <dgm:pt modelId="{A3650496-C82E-4473-B99E-ED3A5EBFE2DB}" type="sibTrans" cxnId="{E0807D8F-1BC8-458A-8DE7-130D9A247940}">
      <dgm:prSet/>
      <dgm:spPr/>
      <dgm:t>
        <a:bodyPr/>
        <a:lstStyle/>
        <a:p>
          <a:endParaRPr lang="en-US"/>
        </a:p>
      </dgm:t>
    </dgm:pt>
    <dgm:pt modelId="{AE6B3AA9-F4F9-4FE5-8D38-F351526BDE25}">
      <dgm:prSet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good for removing duplicated, correlated, redundant features</a:t>
          </a:r>
        </a:p>
      </dgm:t>
    </dgm:pt>
    <dgm:pt modelId="{B2CAF553-1875-40E2-A2E0-97DE9162E4F8}" type="parTrans" cxnId="{A4F9F652-B523-458C-B54D-64615A9643DE}">
      <dgm:prSet/>
      <dgm:spPr/>
      <dgm:t>
        <a:bodyPr/>
        <a:lstStyle/>
        <a:p>
          <a:endParaRPr lang="en-US"/>
        </a:p>
      </dgm:t>
    </dgm:pt>
    <dgm:pt modelId="{B663DE58-C0CF-4FC5-90BF-B4DE44D16A3D}" type="sibTrans" cxnId="{A4F9F652-B523-458C-B54D-64615A9643DE}">
      <dgm:prSet/>
      <dgm:spPr/>
      <dgm:t>
        <a:bodyPr/>
        <a:lstStyle/>
        <a:p>
          <a:endParaRPr lang="en-US"/>
        </a:p>
      </dgm:t>
    </dgm:pt>
    <dgm:pt modelId="{14CFB78C-5AA8-4A3F-90F9-8BAAA35CFCAF}" type="pres">
      <dgm:prSet presAssocID="{3A43E765-7E0F-4D05-BB02-DFEB288DAED0}" presName="outerComposite" presStyleCnt="0">
        <dgm:presLayoutVars>
          <dgm:chMax val="5"/>
          <dgm:dir/>
          <dgm:resizeHandles val="exact"/>
        </dgm:presLayoutVars>
      </dgm:prSet>
      <dgm:spPr/>
    </dgm:pt>
    <dgm:pt modelId="{8453A41F-F114-42EB-954F-A2BFE9FACCBC}" type="pres">
      <dgm:prSet presAssocID="{3A43E765-7E0F-4D05-BB02-DFEB288DAED0}" presName="dummyMaxCanvas" presStyleCnt="0">
        <dgm:presLayoutVars/>
      </dgm:prSet>
      <dgm:spPr/>
    </dgm:pt>
    <dgm:pt modelId="{C436BF9F-A777-42D4-B1A0-0756BA887C4B}" type="pres">
      <dgm:prSet presAssocID="{3A43E765-7E0F-4D05-BB02-DFEB288DAED0}" presName="FourNodes_1" presStyleLbl="node1" presStyleIdx="0" presStyleCnt="4" custScaleX="103448">
        <dgm:presLayoutVars>
          <dgm:bulletEnabled val="1"/>
        </dgm:presLayoutVars>
      </dgm:prSet>
      <dgm:spPr/>
    </dgm:pt>
    <dgm:pt modelId="{C62AAF33-25C2-41EF-9FC0-3159A3E8CE8A}" type="pres">
      <dgm:prSet presAssocID="{3A43E765-7E0F-4D05-BB02-DFEB288DAED0}" presName="FourNodes_2" presStyleLbl="node1" presStyleIdx="1" presStyleCnt="4" custScaleX="108184">
        <dgm:presLayoutVars>
          <dgm:bulletEnabled val="1"/>
        </dgm:presLayoutVars>
      </dgm:prSet>
      <dgm:spPr/>
    </dgm:pt>
    <dgm:pt modelId="{AFB8FBFF-1297-438B-A0C8-00A37C55BA76}" type="pres">
      <dgm:prSet presAssocID="{3A43E765-7E0F-4D05-BB02-DFEB288DAED0}" presName="FourNodes_3" presStyleLbl="node1" presStyleIdx="2" presStyleCnt="4">
        <dgm:presLayoutVars>
          <dgm:bulletEnabled val="1"/>
        </dgm:presLayoutVars>
      </dgm:prSet>
      <dgm:spPr/>
    </dgm:pt>
    <dgm:pt modelId="{2E1E2349-0DB4-4ECD-AA24-009A9BCB6860}" type="pres">
      <dgm:prSet presAssocID="{3A43E765-7E0F-4D05-BB02-DFEB288DAED0}" presName="FourNodes_4" presStyleLbl="node1" presStyleIdx="3" presStyleCnt="4">
        <dgm:presLayoutVars>
          <dgm:bulletEnabled val="1"/>
        </dgm:presLayoutVars>
      </dgm:prSet>
      <dgm:spPr/>
    </dgm:pt>
    <dgm:pt modelId="{DCD14913-72A3-4BC4-A21A-9371E12701A7}" type="pres">
      <dgm:prSet presAssocID="{3A43E765-7E0F-4D05-BB02-DFEB288DAED0}" presName="FourConn_1-2" presStyleLbl="fgAccFollowNode1" presStyleIdx="0" presStyleCnt="3">
        <dgm:presLayoutVars>
          <dgm:bulletEnabled val="1"/>
        </dgm:presLayoutVars>
      </dgm:prSet>
      <dgm:spPr/>
    </dgm:pt>
    <dgm:pt modelId="{A4B74407-4359-4EA8-919E-A0D19852CB85}" type="pres">
      <dgm:prSet presAssocID="{3A43E765-7E0F-4D05-BB02-DFEB288DAED0}" presName="FourConn_2-3" presStyleLbl="fgAccFollowNode1" presStyleIdx="1" presStyleCnt="3">
        <dgm:presLayoutVars>
          <dgm:bulletEnabled val="1"/>
        </dgm:presLayoutVars>
      </dgm:prSet>
      <dgm:spPr/>
    </dgm:pt>
    <dgm:pt modelId="{9BAC21B3-2D65-4A1F-8BBF-5453A32CC00B}" type="pres">
      <dgm:prSet presAssocID="{3A43E765-7E0F-4D05-BB02-DFEB288DAED0}" presName="FourConn_3-4" presStyleLbl="fgAccFollowNode1" presStyleIdx="2" presStyleCnt="3">
        <dgm:presLayoutVars>
          <dgm:bulletEnabled val="1"/>
        </dgm:presLayoutVars>
      </dgm:prSet>
      <dgm:spPr/>
    </dgm:pt>
    <dgm:pt modelId="{0A85E0E3-FF72-498B-ACBB-BAA6D1E9C315}" type="pres">
      <dgm:prSet presAssocID="{3A43E765-7E0F-4D05-BB02-DFEB288DAED0}" presName="FourNodes_1_text" presStyleLbl="node1" presStyleIdx="3" presStyleCnt="4">
        <dgm:presLayoutVars>
          <dgm:bulletEnabled val="1"/>
        </dgm:presLayoutVars>
      </dgm:prSet>
      <dgm:spPr/>
    </dgm:pt>
    <dgm:pt modelId="{1F518612-2D37-469B-B364-F962AA67B6BA}" type="pres">
      <dgm:prSet presAssocID="{3A43E765-7E0F-4D05-BB02-DFEB288DAED0}" presName="FourNodes_2_text" presStyleLbl="node1" presStyleIdx="3" presStyleCnt="4">
        <dgm:presLayoutVars>
          <dgm:bulletEnabled val="1"/>
        </dgm:presLayoutVars>
      </dgm:prSet>
      <dgm:spPr/>
    </dgm:pt>
    <dgm:pt modelId="{70A43A98-FF88-4273-99E7-C08BDF8ADDC5}" type="pres">
      <dgm:prSet presAssocID="{3A43E765-7E0F-4D05-BB02-DFEB288DAED0}" presName="FourNodes_3_text" presStyleLbl="node1" presStyleIdx="3" presStyleCnt="4">
        <dgm:presLayoutVars>
          <dgm:bulletEnabled val="1"/>
        </dgm:presLayoutVars>
      </dgm:prSet>
      <dgm:spPr/>
    </dgm:pt>
    <dgm:pt modelId="{C4DB5DD1-616E-4F77-85B0-F04130944D94}" type="pres">
      <dgm:prSet presAssocID="{3A43E765-7E0F-4D05-BB02-DFEB288DAED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617E40A-E412-4F77-BF59-37EF83ACBCE3}" type="presOf" srcId="{55C38764-5B4D-40D2-9389-75CA239EC4B1}" destId="{AFB8FBFF-1297-438B-A0C8-00A37C55BA76}" srcOrd="0" destOrd="0" presId="urn:microsoft.com/office/officeart/2005/8/layout/vProcess5"/>
    <dgm:cxn modelId="{61A5DE2D-B661-4EAE-8695-508E64FCF9B4}" srcId="{3A43E765-7E0F-4D05-BB02-DFEB288DAED0}" destId="{0BE0C4D5-D477-4B49-9506-E200AF518263}" srcOrd="1" destOrd="0" parTransId="{D5BC992E-586A-4A57-B7E9-56434BA1D661}" sibTransId="{99F9376E-127A-40DC-8499-D1292C9BC93D}"/>
    <dgm:cxn modelId="{1781E633-CF8C-4A0F-9EFB-8650892BD3C0}" srcId="{3A43E765-7E0F-4D05-BB02-DFEB288DAED0}" destId="{BF898E5D-8CC8-4957-B0D2-8B3278B14085}" srcOrd="0" destOrd="0" parTransId="{AC027A30-61CE-463C-9A8C-81E80C28D393}" sibTransId="{D9C87E14-B54A-4CC9-BD4D-093BA44D7BB6}"/>
    <dgm:cxn modelId="{1DD93035-84D3-4C43-9BC3-EF75A7C7D9E0}" type="presOf" srcId="{3A43E765-7E0F-4D05-BB02-DFEB288DAED0}" destId="{14CFB78C-5AA8-4A3F-90F9-8BAAA35CFCAF}" srcOrd="0" destOrd="0" presId="urn:microsoft.com/office/officeart/2005/8/layout/vProcess5"/>
    <dgm:cxn modelId="{D23FC53F-608D-4E2A-8417-8A542EB7D5A2}" type="presOf" srcId="{55C38764-5B4D-40D2-9389-75CA239EC4B1}" destId="{70A43A98-FF88-4273-99E7-C08BDF8ADDC5}" srcOrd="1" destOrd="0" presId="urn:microsoft.com/office/officeart/2005/8/layout/vProcess5"/>
    <dgm:cxn modelId="{AAB61267-294B-4D3B-A6A2-C1C79FC07446}" type="presOf" srcId="{BF898E5D-8CC8-4957-B0D2-8B3278B14085}" destId="{0A85E0E3-FF72-498B-ACBB-BAA6D1E9C315}" srcOrd="1" destOrd="0" presId="urn:microsoft.com/office/officeart/2005/8/layout/vProcess5"/>
    <dgm:cxn modelId="{1CE4F36A-B648-4F15-9B3F-2CCC2F20DE37}" type="presOf" srcId="{0BE0C4D5-D477-4B49-9506-E200AF518263}" destId="{1F518612-2D37-469B-B364-F962AA67B6BA}" srcOrd="1" destOrd="0" presId="urn:microsoft.com/office/officeart/2005/8/layout/vProcess5"/>
    <dgm:cxn modelId="{FA94996D-4552-4DE6-8DC2-0E3F37BC6EBB}" type="presOf" srcId="{D9C87E14-B54A-4CC9-BD4D-093BA44D7BB6}" destId="{DCD14913-72A3-4BC4-A21A-9371E12701A7}" srcOrd="0" destOrd="0" presId="urn:microsoft.com/office/officeart/2005/8/layout/vProcess5"/>
    <dgm:cxn modelId="{A4F9F652-B523-458C-B54D-64615A9643DE}" srcId="{3A43E765-7E0F-4D05-BB02-DFEB288DAED0}" destId="{AE6B3AA9-F4F9-4FE5-8D38-F351526BDE25}" srcOrd="3" destOrd="0" parTransId="{B2CAF553-1875-40E2-A2E0-97DE9162E4F8}" sibTransId="{B663DE58-C0CF-4FC5-90BF-B4DE44D16A3D}"/>
    <dgm:cxn modelId="{E0807D8F-1BC8-458A-8DE7-130D9A247940}" srcId="{3A43E765-7E0F-4D05-BB02-DFEB288DAED0}" destId="{55C38764-5B4D-40D2-9389-75CA239EC4B1}" srcOrd="2" destOrd="0" parTransId="{6BE6B8E3-312B-435C-90AA-3E6B9896F2AC}" sibTransId="{A3650496-C82E-4473-B99E-ED3A5EBFE2DB}"/>
    <dgm:cxn modelId="{77D71394-6323-4510-9206-458EA4BF0198}" type="presOf" srcId="{A3650496-C82E-4473-B99E-ED3A5EBFE2DB}" destId="{9BAC21B3-2D65-4A1F-8BBF-5453A32CC00B}" srcOrd="0" destOrd="0" presId="urn:microsoft.com/office/officeart/2005/8/layout/vProcess5"/>
    <dgm:cxn modelId="{ED6F1CA0-3389-4607-AFEF-82A7363BEDDA}" type="presOf" srcId="{99F9376E-127A-40DC-8499-D1292C9BC93D}" destId="{A4B74407-4359-4EA8-919E-A0D19852CB85}" srcOrd="0" destOrd="0" presId="urn:microsoft.com/office/officeart/2005/8/layout/vProcess5"/>
    <dgm:cxn modelId="{582896A4-B604-46C0-9FDA-AE1633CB64AE}" type="presOf" srcId="{AE6B3AA9-F4F9-4FE5-8D38-F351526BDE25}" destId="{C4DB5DD1-616E-4F77-85B0-F04130944D94}" srcOrd="1" destOrd="0" presId="urn:microsoft.com/office/officeart/2005/8/layout/vProcess5"/>
    <dgm:cxn modelId="{EEB302B1-0045-4D23-B73B-852A5B151649}" type="presOf" srcId="{AE6B3AA9-F4F9-4FE5-8D38-F351526BDE25}" destId="{2E1E2349-0DB4-4ECD-AA24-009A9BCB6860}" srcOrd="0" destOrd="0" presId="urn:microsoft.com/office/officeart/2005/8/layout/vProcess5"/>
    <dgm:cxn modelId="{5119F0CD-EA3A-4B89-B06D-DA5F0F880C0C}" type="presOf" srcId="{0BE0C4D5-D477-4B49-9506-E200AF518263}" destId="{C62AAF33-25C2-41EF-9FC0-3159A3E8CE8A}" srcOrd="0" destOrd="0" presId="urn:microsoft.com/office/officeart/2005/8/layout/vProcess5"/>
    <dgm:cxn modelId="{000299F0-7C2A-42B8-BB69-2201D23C5254}" type="presOf" srcId="{BF898E5D-8CC8-4957-B0D2-8B3278B14085}" destId="{C436BF9F-A777-42D4-B1A0-0756BA887C4B}" srcOrd="0" destOrd="0" presId="urn:microsoft.com/office/officeart/2005/8/layout/vProcess5"/>
    <dgm:cxn modelId="{0FA41F32-FF9F-443D-A7B5-85A374AC6E82}" type="presParOf" srcId="{14CFB78C-5AA8-4A3F-90F9-8BAAA35CFCAF}" destId="{8453A41F-F114-42EB-954F-A2BFE9FACCBC}" srcOrd="0" destOrd="0" presId="urn:microsoft.com/office/officeart/2005/8/layout/vProcess5"/>
    <dgm:cxn modelId="{67452FED-76D3-4578-9154-85C00E34F3EC}" type="presParOf" srcId="{14CFB78C-5AA8-4A3F-90F9-8BAAA35CFCAF}" destId="{C436BF9F-A777-42D4-B1A0-0756BA887C4B}" srcOrd="1" destOrd="0" presId="urn:microsoft.com/office/officeart/2005/8/layout/vProcess5"/>
    <dgm:cxn modelId="{DA1D3173-D340-438A-8513-F7967DF48101}" type="presParOf" srcId="{14CFB78C-5AA8-4A3F-90F9-8BAAA35CFCAF}" destId="{C62AAF33-25C2-41EF-9FC0-3159A3E8CE8A}" srcOrd="2" destOrd="0" presId="urn:microsoft.com/office/officeart/2005/8/layout/vProcess5"/>
    <dgm:cxn modelId="{92CD5DED-FFCC-47FE-8F79-C5C67F616D6B}" type="presParOf" srcId="{14CFB78C-5AA8-4A3F-90F9-8BAAA35CFCAF}" destId="{AFB8FBFF-1297-438B-A0C8-00A37C55BA76}" srcOrd="3" destOrd="0" presId="urn:microsoft.com/office/officeart/2005/8/layout/vProcess5"/>
    <dgm:cxn modelId="{8E091672-5E16-4513-96F1-BBB31A288811}" type="presParOf" srcId="{14CFB78C-5AA8-4A3F-90F9-8BAAA35CFCAF}" destId="{2E1E2349-0DB4-4ECD-AA24-009A9BCB6860}" srcOrd="4" destOrd="0" presId="urn:microsoft.com/office/officeart/2005/8/layout/vProcess5"/>
    <dgm:cxn modelId="{E44D2A05-BABD-4D16-BF2F-0388C3C75210}" type="presParOf" srcId="{14CFB78C-5AA8-4A3F-90F9-8BAAA35CFCAF}" destId="{DCD14913-72A3-4BC4-A21A-9371E12701A7}" srcOrd="5" destOrd="0" presId="urn:microsoft.com/office/officeart/2005/8/layout/vProcess5"/>
    <dgm:cxn modelId="{D3F5385A-9CFA-46E7-898B-10D76851A7AE}" type="presParOf" srcId="{14CFB78C-5AA8-4A3F-90F9-8BAAA35CFCAF}" destId="{A4B74407-4359-4EA8-919E-A0D19852CB85}" srcOrd="6" destOrd="0" presId="urn:microsoft.com/office/officeart/2005/8/layout/vProcess5"/>
    <dgm:cxn modelId="{B7EFD4FC-24A0-42BB-969D-5AFECF5B58D7}" type="presParOf" srcId="{14CFB78C-5AA8-4A3F-90F9-8BAAA35CFCAF}" destId="{9BAC21B3-2D65-4A1F-8BBF-5453A32CC00B}" srcOrd="7" destOrd="0" presId="urn:microsoft.com/office/officeart/2005/8/layout/vProcess5"/>
    <dgm:cxn modelId="{8BB91354-AB08-4CD7-9B9E-86C08C501A3C}" type="presParOf" srcId="{14CFB78C-5AA8-4A3F-90F9-8BAAA35CFCAF}" destId="{0A85E0E3-FF72-498B-ACBB-BAA6D1E9C315}" srcOrd="8" destOrd="0" presId="urn:microsoft.com/office/officeart/2005/8/layout/vProcess5"/>
    <dgm:cxn modelId="{8C6ACA99-A176-428E-A972-026103642745}" type="presParOf" srcId="{14CFB78C-5AA8-4A3F-90F9-8BAAA35CFCAF}" destId="{1F518612-2D37-469B-B364-F962AA67B6BA}" srcOrd="9" destOrd="0" presId="urn:microsoft.com/office/officeart/2005/8/layout/vProcess5"/>
    <dgm:cxn modelId="{7B68954A-0003-4E1B-9988-18D9E8B91584}" type="presParOf" srcId="{14CFB78C-5AA8-4A3F-90F9-8BAAA35CFCAF}" destId="{70A43A98-FF88-4273-99E7-C08BDF8ADDC5}" srcOrd="10" destOrd="0" presId="urn:microsoft.com/office/officeart/2005/8/layout/vProcess5"/>
    <dgm:cxn modelId="{CDFD8388-E62C-4E2C-891C-B1F2ECA2A93E}" type="presParOf" srcId="{14CFB78C-5AA8-4A3F-90F9-8BAAA35CFCAF}" destId="{C4DB5DD1-616E-4F77-85B0-F04130944D9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E0CD07-4A52-4AC6-A3DA-770CB0D223CD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432EDF81-2338-4B7F-AB5D-6B78A2516264}">
      <dgm:prSet phldrT="[Text]"/>
      <dgm:spPr/>
      <dgm:t>
        <a:bodyPr/>
        <a:lstStyle/>
        <a:p>
          <a:r>
            <a:rPr lang="en-IN" dirty="0"/>
            <a:t>Set of all features</a:t>
          </a:r>
        </a:p>
      </dgm:t>
    </dgm:pt>
    <dgm:pt modelId="{1FF30A46-C158-4D98-9C20-1BD9FBAAEF21}" type="parTrans" cxnId="{32711348-ACAB-47FA-A342-BD62F2476AA7}">
      <dgm:prSet/>
      <dgm:spPr/>
      <dgm:t>
        <a:bodyPr/>
        <a:lstStyle/>
        <a:p>
          <a:endParaRPr lang="en-IN"/>
        </a:p>
      </dgm:t>
    </dgm:pt>
    <dgm:pt modelId="{1248BA31-6ED3-4612-8AA9-51DF1BFFFA4A}" type="sibTrans" cxnId="{32711348-ACAB-47FA-A342-BD62F2476AA7}">
      <dgm:prSet/>
      <dgm:spPr/>
      <dgm:t>
        <a:bodyPr/>
        <a:lstStyle/>
        <a:p>
          <a:endParaRPr lang="en-IN"/>
        </a:p>
      </dgm:t>
    </dgm:pt>
    <dgm:pt modelId="{7D6D5623-5E1A-4520-AF97-0DC6F5C8F137}">
      <dgm:prSet phldrT="[Text]"/>
      <dgm:spPr/>
      <dgm:t>
        <a:bodyPr/>
        <a:lstStyle/>
        <a:p>
          <a:r>
            <a:rPr lang="en-IN" dirty="0"/>
            <a:t>Selecting the best subset of features</a:t>
          </a:r>
        </a:p>
      </dgm:t>
    </dgm:pt>
    <dgm:pt modelId="{41E8929B-D127-4634-99E7-663304F22844}" type="parTrans" cxnId="{E9CD7B80-C65A-4563-83FF-0DF4CE9257BB}">
      <dgm:prSet/>
      <dgm:spPr/>
      <dgm:t>
        <a:bodyPr/>
        <a:lstStyle/>
        <a:p>
          <a:endParaRPr lang="en-IN"/>
        </a:p>
      </dgm:t>
    </dgm:pt>
    <dgm:pt modelId="{9ED64775-7DE7-4F60-A92F-74C08DDC55E6}" type="sibTrans" cxnId="{E9CD7B80-C65A-4563-83FF-0DF4CE9257BB}">
      <dgm:prSet/>
      <dgm:spPr/>
      <dgm:t>
        <a:bodyPr/>
        <a:lstStyle/>
        <a:p>
          <a:endParaRPr lang="en-IN"/>
        </a:p>
      </dgm:t>
    </dgm:pt>
    <dgm:pt modelId="{2F7FDD47-6BB3-4934-82BF-ABAF4C37F0C9}">
      <dgm:prSet phldrT="[Text]"/>
      <dgm:spPr/>
      <dgm:t>
        <a:bodyPr/>
        <a:lstStyle/>
        <a:p>
          <a:r>
            <a:rPr lang="en-IN" dirty="0"/>
            <a:t>Learning algorithm</a:t>
          </a:r>
        </a:p>
      </dgm:t>
    </dgm:pt>
    <dgm:pt modelId="{348DAF47-A4F0-41F5-B52D-323C306B4E08}" type="parTrans" cxnId="{C4CE7C9F-4993-4D0E-8E8D-C7347EA0A34B}">
      <dgm:prSet/>
      <dgm:spPr/>
      <dgm:t>
        <a:bodyPr/>
        <a:lstStyle/>
        <a:p>
          <a:endParaRPr lang="en-IN"/>
        </a:p>
      </dgm:t>
    </dgm:pt>
    <dgm:pt modelId="{DB79DAFE-F7C5-42A9-8BCF-2FFBF439DEDA}" type="sibTrans" cxnId="{C4CE7C9F-4993-4D0E-8E8D-C7347EA0A34B}">
      <dgm:prSet/>
      <dgm:spPr/>
      <dgm:t>
        <a:bodyPr/>
        <a:lstStyle/>
        <a:p>
          <a:endParaRPr lang="en-IN"/>
        </a:p>
      </dgm:t>
    </dgm:pt>
    <dgm:pt modelId="{CB7F8359-4EF6-4A4D-B0FB-D3CD8099CAC7}">
      <dgm:prSet/>
      <dgm:spPr/>
      <dgm:t>
        <a:bodyPr/>
        <a:lstStyle/>
        <a:p>
          <a:r>
            <a:rPr lang="en-IN" dirty="0"/>
            <a:t>Performance improvement</a:t>
          </a:r>
        </a:p>
      </dgm:t>
    </dgm:pt>
    <dgm:pt modelId="{3F01A861-649E-478C-BA26-B6D4BF345610}" type="parTrans" cxnId="{0FBEFAB1-7F97-4612-A389-8998C0CE0E18}">
      <dgm:prSet/>
      <dgm:spPr/>
      <dgm:t>
        <a:bodyPr/>
        <a:lstStyle/>
        <a:p>
          <a:endParaRPr lang="en-IN"/>
        </a:p>
      </dgm:t>
    </dgm:pt>
    <dgm:pt modelId="{899D5E76-D6F9-431A-8B39-CE95C4CE3927}" type="sibTrans" cxnId="{0FBEFAB1-7F97-4612-A389-8998C0CE0E18}">
      <dgm:prSet/>
      <dgm:spPr/>
      <dgm:t>
        <a:bodyPr/>
        <a:lstStyle/>
        <a:p>
          <a:endParaRPr lang="en-IN"/>
        </a:p>
      </dgm:t>
    </dgm:pt>
    <dgm:pt modelId="{C3DC3138-9083-47B8-9043-FCCFB215339B}" type="pres">
      <dgm:prSet presAssocID="{E0E0CD07-4A52-4AC6-A3DA-770CB0D223CD}" presName="Name0" presStyleCnt="0">
        <dgm:presLayoutVars>
          <dgm:dir/>
          <dgm:resizeHandles val="exact"/>
        </dgm:presLayoutVars>
      </dgm:prSet>
      <dgm:spPr/>
    </dgm:pt>
    <dgm:pt modelId="{5CF1453B-DA81-435D-B2B5-276D4E9AD41F}" type="pres">
      <dgm:prSet presAssocID="{432EDF81-2338-4B7F-AB5D-6B78A2516264}" presName="node" presStyleLbl="node1" presStyleIdx="0" presStyleCnt="4">
        <dgm:presLayoutVars>
          <dgm:bulletEnabled val="1"/>
        </dgm:presLayoutVars>
      </dgm:prSet>
      <dgm:spPr/>
    </dgm:pt>
    <dgm:pt modelId="{50D75C49-5935-4779-B7B0-5E6AA15FEF38}" type="pres">
      <dgm:prSet presAssocID="{1248BA31-6ED3-4612-8AA9-51DF1BFFFA4A}" presName="sibTrans" presStyleLbl="sibTrans2D1" presStyleIdx="0" presStyleCnt="3"/>
      <dgm:spPr/>
    </dgm:pt>
    <dgm:pt modelId="{574DA06A-5F49-4C4B-9245-E1C558599BC1}" type="pres">
      <dgm:prSet presAssocID="{1248BA31-6ED3-4612-8AA9-51DF1BFFFA4A}" presName="connectorText" presStyleLbl="sibTrans2D1" presStyleIdx="0" presStyleCnt="3"/>
      <dgm:spPr/>
    </dgm:pt>
    <dgm:pt modelId="{B3BBE48D-E45F-4634-A91D-330A274C3D3C}" type="pres">
      <dgm:prSet presAssocID="{7D6D5623-5E1A-4520-AF97-0DC6F5C8F137}" presName="node" presStyleLbl="node1" presStyleIdx="1" presStyleCnt="4">
        <dgm:presLayoutVars>
          <dgm:bulletEnabled val="1"/>
        </dgm:presLayoutVars>
      </dgm:prSet>
      <dgm:spPr/>
    </dgm:pt>
    <dgm:pt modelId="{0284EC55-54A5-4C4F-9640-8CF5361417AF}" type="pres">
      <dgm:prSet presAssocID="{9ED64775-7DE7-4F60-A92F-74C08DDC55E6}" presName="sibTrans" presStyleLbl="sibTrans2D1" presStyleIdx="1" presStyleCnt="3"/>
      <dgm:spPr/>
    </dgm:pt>
    <dgm:pt modelId="{85832CD5-7AFB-429A-B09E-4D09A82C5D1B}" type="pres">
      <dgm:prSet presAssocID="{9ED64775-7DE7-4F60-A92F-74C08DDC55E6}" presName="connectorText" presStyleLbl="sibTrans2D1" presStyleIdx="1" presStyleCnt="3"/>
      <dgm:spPr/>
    </dgm:pt>
    <dgm:pt modelId="{FC1D8FEA-6478-461C-90C4-A986CA002932}" type="pres">
      <dgm:prSet presAssocID="{2F7FDD47-6BB3-4934-82BF-ABAF4C37F0C9}" presName="node" presStyleLbl="node1" presStyleIdx="2" presStyleCnt="4">
        <dgm:presLayoutVars>
          <dgm:bulletEnabled val="1"/>
        </dgm:presLayoutVars>
      </dgm:prSet>
      <dgm:spPr/>
    </dgm:pt>
    <dgm:pt modelId="{219D0F1F-E992-4CD8-9B6E-EAA81B2180FC}" type="pres">
      <dgm:prSet presAssocID="{DB79DAFE-F7C5-42A9-8BCF-2FFBF439DEDA}" presName="sibTrans" presStyleLbl="sibTrans2D1" presStyleIdx="2" presStyleCnt="3"/>
      <dgm:spPr/>
    </dgm:pt>
    <dgm:pt modelId="{BDEB8587-E80F-46BD-86B6-95AB409279F2}" type="pres">
      <dgm:prSet presAssocID="{DB79DAFE-F7C5-42A9-8BCF-2FFBF439DEDA}" presName="connectorText" presStyleLbl="sibTrans2D1" presStyleIdx="2" presStyleCnt="3"/>
      <dgm:spPr/>
    </dgm:pt>
    <dgm:pt modelId="{462E5356-2D9C-46CB-9F6E-4E510144FFE9}" type="pres">
      <dgm:prSet presAssocID="{CB7F8359-4EF6-4A4D-B0FB-D3CD8099CAC7}" presName="node" presStyleLbl="node1" presStyleIdx="3" presStyleCnt="4">
        <dgm:presLayoutVars>
          <dgm:bulletEnabled val="1"/>
        </dgm:presLayoutVars>
      </dgm:prSet>
      <dgm:spPr/>
    </dgm:pt>
  </dgm:ptLst>
  <dgm:cxnLst>
    <dgm:cxn modelId="{8F9C4020-499D-4DC9-8016-E387DCBA5363}" type="presOf" srcId="{DB79DAFE-F7C5-42A9-8BCF-2FFBF439DEDA}" destId="{BDEB8587-E80F-46BD-86B6-95AB409279F2}" srcOrd="1" destOrd="0" presId="urn:microsoft.com/office/officeart/2005/8/layout/process1"/>
    <dgm:cxn modelId="{2A9B982D-FC2C-4689-A2DF-8DFEB638AA1B}" type="presOf" srcId="{2F7FDD47-6BB3-4934-82BF-ABAF4C37F0C9}" destId="{FC1D8FEA-6478-461C-90C4-A986CA002932}" srcOrd="0" destOrd="0" presId="urn:microsoft.com/office/officeart/2005/8/layout/process1"/>
    <dgm:cxn modelId="{AE88555B-9469-4884-8EF7-59EA8AB90700}" type="presOf" srcId="{1248BA31-6ED3-4612-8AA9-51DF1BFFFA4A}" destId="{50D75C49-5935-4779-B7B0-5E6AA15FEF38}" srcOrd="0" destOrd="0" presId="urn:microsoft.com/office/officeart/2005/8/layout/process1"/>
    <dgm:cxn modelId="{3EF64160-1588-4AEA-BD47-DA9758813EA1}" type="presOf" srcId="{9ED64775-7DE7-4F60-A92F-74C08DDC55E6}" destId="{85832CD5-7AFB-429A-B09E-4D09A82C5D1B}" srcOrd="1" destOrd="0" presId="urn:microsoft.com/office/officeart/2005/8/layout/process1"/>
    <dgm:cxn modelId="{3C9B9565-9E12-49E2-873F-50B4CEB29BCE}" type="presOf" srcId="{9ED64775-7DE7-4F60-A92F-74C08DDC55E6}" destId="{0284EC55-54A5-4C4F-9640-8CF5361417AF}" srcOrd="0" destOrd="0" presId="urn:microsoft.com/office/officeart/2005/8/layout/process1"/>
    <dgm:cxn modelId="{C4140446-5E74-4E99-BC55-20AA422341DB}" type="presOf" srcId="{7D6D5623-5E1A-4520-AF97-0DC6F5C8F137}" destId="{B3BBE48D-E45F-4634-A91D-330A274C3D3C}" srcOrd="0" destOrd="0" presId="urn:microsoft.com/office/officeart/2005/8/layout/process1"/>
    <dgm:cxn modelId="{32711348-ACAB-47FA-A342-BD62F2476AA7}" srcId="{E0E0CD07-4A52-4AC6-A3DA-770CB0D223CD}" destId="{432EDF81-2338-4B7F-AB5D-6B78A2516264}" srcOrd="0" destOrd="0" parTransId="{1FF30A46-C158-4D98-9C20-1BD9FBAAEF21}" sibTransId="{1248BA31-6ED3-4612-8AA9-51DF1BFFFA4A}"/>
    <dgm:cxn modelId="{68253E78-3613-4B24-A606-AC7E1DC04BB9}" type="presOf" srcId="{CB7F8359-4EF6-4A4D-B0FB-D3CD8099CAC7}" destId="{462E5356-2D9C-46CB-9F6E-4E510144FFE9}" srcOrd="0" destOrd="0" presId="urn:microsoft.com/office/officeart/2005/8/layout/process1"/>
    <dgm:cxn modelId="{E9CD7B80-C65A-4563-83FF-0DF4CE9257BB}" srcId="{E0E0CD07-4A52-4AC6-A3DA-770CB0D223CD}" destId="{7D6D5623-5E1A-4520-AF97-0DC6F5C8F137}" srcOrd="1" destOrd="0" parTransId="{41E8929B-D127-4634-99E7-663304F22844}" sibTransId="{9ED64775-7DE7-4F60-A92F-74C08DDC55E6}"/>
    <dgm:cxn modelId="{C4CE7C9F-4993-4D0E-8E8D-C7347EA0A34B}" srcId="{E0E0CD07-4A52-4AC6-A3DA-770CB0D223CD}" destId="{2F7FDD47-6BB3-4934-82BF-ABAF4C37F0C9}" srcOrd="2" destOrd="0" parTransId="{348DAF47-A4F0-41F5-B52D-323C306B4E08}" sibTransId="{DB79DAFE-F7C5-42A9-8BCF-2FFBF439DEDA}"/>
    <dgm:cxn modelId="{0FBEFAB1-7F97-4612-A389-8998C0CE0E18}" srcId="{E0E0CD07-4A52-4AC6-A3DA-770CB0D223CD}" destId="{CB7F8359-4EF6-4A4D-B0FB-D3CD8099CAC7}" srcOrd="3" destOrd="0" parTransId="{3F01A861-649E-478C-BA26-B6D4BF345610}" sibTransId="{899D5E76-D6F9-431A-8B39-CE95C4CE3927}"/>
    <dgm:cxn modelId="{8F2F8EB5-FD66-40F3-A85A-DD18415A7393}" type="presOf" srcId="{432EDF81-2338-4B7F-AB5D-6B78A2516264}" destId="{5CF1453B-DA81-435D-B2B5-276D4E9AD41F}" srcOrd="0" destOrd="0" presId="urn:microsoft.com/office/officeart/2005/8/layout/process1"/>
    <dgm:cxn modelId="{D7CAEBBB-1ADD-45A9-8583-0D8A3ED37489}" type="presOf" srcId="{DB79DAFE-F7C5-42A9-8BCF-2FFBF439DEDA}" destId="{219D0F1F-E992-4CD8-9B6E-EAA81B2180FC}" srcOrd="0" destOrd="0" presId="urn:microsoft.com/office/officeart/2005/8/layout/process1"/>
    <dgm:cxn modelId="{C58C39C2-6D29-4CD1-BA5E-90CD8EBF382F}" type="presOf" srcId="{1248BA31-6ED3-4612-8AA9-51DF1BFFFA4A}" destId="{574DA06A-5F49-4C4B-9245-E1C558599BC1}" srcOrd="1" destOrd="0" presId="urn:microsoft.com/office/officeart/2005/8/layout/process1"/>
    <dgm:cxn modelId="{F1CD7BE7-9682-495F-8EF8-B62EA105BD26}" type="presOf" srcId="{E0E0CD07-4A52-4AC6-A3DA-770CB0D223CD}" destId="{C3DC3138-9083-47B8-9043-FCCFB215339B}" srcOrd="0" destOrd="0" presId="urn:microsoft.com/office/officeart/2005/8/layout/process1"/>
    <dgm:cxn modelId="{E927B503-F573-46B9-8677-2105B8687F51}" type="presParOf" srcId="{C3DC3138-9083-47B8-9043-FCCFB215339B}" destId="{5CF1453B-DA81-435D-B2B5-276D4E9AD41F}" srcOrd="0" destOrd="0" presId="urn:microsoft.com/office/officeart/2005/8/layout/process1"/>
    <dgm:cxn modelId="{2C8E43FE-A06B-441F-99AB-E3B095007C8E}" type="presParOf" srcId="{C3DC3138-9083-47B8-9043-FCCFB215339B}" destId="{50D75C49-5935-4779-B7B0-5E6AA15FEF38}" srcOrd="1" destOrd="0" presId="urn:microsoft.com/office/officeart/2005/8/layout/process1"/>
    <dgm:cxn modelId="{050AF9FD-0C02-44F4-A14B-0426AA595C1D}" type="presParOf" srcId="{50D75C49-5935-4779-B7B0-5E6AA15FEF38}" destId="{574DA06A-5F49-4C4B-9245-E1C558599BC1}" srcOrd="0" destOrd="0" presId="urn:microsoft.com/office/officeart/2005/8/layout/process1"/>
    <dgm:cxn modelId="{75CFEF53-60C6-4A0E-BE2F-A9DE31792F4C}" type="presParOf" srcId="{C3DC3138-9083-47B8-9043-FCCFB215339B}" destId="{B3BBE48D-E45F-4634-A91D-330A274C3D3C}" srcOrd="2" destOrd="0" presId="urn:microsoft.com/office/officeart/2005/8/layout/process1"/>
    <dgm:cxn modelId="{72533675-5F69-45AB-AE5C-80F4D17AB395}" type="presParOf" srcId="{C3DC3138-9083-47B8-9043-FCCFB215339B}" destId="{0284EC55-54A5-4C4F-9640-8CF5361417AF}" srcOrd="3" destOrd="0" presId="urn:microsoft.com/office/officeart/2005/8/layout/process1"/>
    <dgm:cxn modelId="{03DB2E61-19EA-4F51-AE6E-0D33ECEB41B9}" type="presParOf" srcId="{0284EC55-54A5-4C4F-9640-8CF5361417AF}" destId="{85832CD5-7AFB-429A-B09E-4D09A82C5D1B}" srcOrd="0" destOrd="0" presId="urn:microsoft.com/office/officeart/2005/8/layout/process1"/>
    <dgm:cxn modelId="{37128EF7-2DC6-43AE-95EE-19C9E69E38FD}" type="presParOf" srcId="{C3DC3138-9083-47B8-9043-FCCFB215339B}" destId="{FC1D8FEA-6478-461C-90C4-A986CA002932}" srcOrd="4" destOrd="0" presId="urn:microsoft.com/office/officeart/2005/8/layout/process1"/>
    <dgm:cxn modelId="{0A73AFC7-1AE5-4E7E-BD59-2C0E2885CA91}" type="presParOf" srcId="{C3DC3138-9083-47B8-9043-FCCFB215339B}" destId="{219D0F1F-E992-4CD8-9B6E-EAA81B2180FC}" srcOrd="5" destOrd="0" presId="urn:microsoft.com/office/officeart/2005/8/layout/process1"/>
    <dgm:cxn modelId="{B79BF0E7-7695-4E46-B413-CAEA11C003CB}" type="presParOf" srcId="{219D0F1F-E992-4CD8-9B6E-EAA81B2180FC}" destId="{BDEB8587-E80F-46BD-86B6-95AB409279F2}" srcOrd="0" destOrd="0" presId="urn:microsoft.com/office/officeart/2005/8/layout/process1"/>
    <dgm:cxn modelId="{D584FC78-80B5-4B95-9858-A1E58BFF6C35}" type="presParOf" srcId="{C3DC3138-9083-47B8-9043-FCCFB215339B}" destId="{462E5356-2D9C-46CB-9F6E-4E510144FFE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07EA6-FD9C-4DC9-A581-F16090FB8E91}">
      <dsp:nvSpPr>
        <dsp:cNvPr id="0" name=""/>
        <dsp:cNvSpPr/>
      </dsp:nvSpPr>
      <dsp:spPr>
        <a:xfrm>
          <a:off x="593248" y="0"/>
          <a:ext cx="6723485" cy="5273322"/>
        </a:xfrm>
        <a:prstGeom prst="rightArrow">
          <a:avLst/>
        </a:prstGeom>
        <a:solidFill>
          <a:srgbClr val="00B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9CF217-DC32-4AB3-9950-DBAEA35A8C31}">
      <dsp:nvSpPr>
        <dsp:cNvPr id="0" name=""/>
        <dsp:cNvSpPr/>
      </dsp:nvSpPr>
      <dsp:spPr>
        <a:xfrm>
          <a:off x="5288" y="1581996"/>
          <a:ext cx="1897509" cy="21093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Set of features</a:t>
          </a:r>
        </a:p>
      </dsp:txBody>
      <dsp:txXfrm>
        <a:off x="97917" y="1674625"/>
        <a:ext cx="1712251" cy="1924070"/>
      </dsp:txXfrm>
    </dsp:sp>
    <dsp:sp modelId="{6D11957C-FB5B-4902-A845-5752CCD91CEF}">
      <dsp:nvSpPr>
        <dsp:cNvPr id="0" name=""/>
        <dsp:cNvSpPr/>
      </dsp:nvSpPr>
      <dsp:spPr>
        <a:xfrm>
          <a:off x="2005920" y="1581996"/>
          <a:ext cx="1897509" cy="2109328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Select best features</a:t>
          </a:r>
        </a:p>
      </dsp:txBody>
      <dsp:txXfrm>
        <a:off x="2098549" y="1674625"/>
        <a:ext cx="1712251" cy="1924070"/>
      </dsp:txXfrm>
    </dsp:sp>
    <dsp:sp modelId="{BC502CA6-C9B6-4473-B297-9AD0A82199D1}">
      <dsp:nvSpPr>
        <dsp:cNvPr id="0" name=""/>
        <dsp:cNvSpPr/>
      </dsp:nvSpPr>
      <dsp:spPr>
        <a:xfrm>
          <a:off x="4006553" y="1581996"/>
          <a:ext cx="1897509" cy="2109328"/>
        </a:xfrm>
        <a:prstGeom prst="roundRect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Train ML models</a:t>
          </a:r>
        </a:p>
      </dsp:txBody>
      <dsp:txXfrm>
        <a:off x="4099182" y="1674625"/>
        <a:ext cx="1712251" cy="1924070"/>
      </dsp:txXfrm>
    </dsp:sp>
    <dsp:sp modelId="{B145CD78-95A2-43A0-9EA9-235AA3C4A035}">
      <dsp:nvSpPr>
        <dsp:cNvPr id="0" name=""/>
        <dsp:cNvSpPr/>
      </dsp:nvSpPr>
      <dsp:spPr>
        <a:xfrm>
          <a:off x="6007185" y="1581996"/>
          <a:ext cx="1897509" cy="2109328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Get best accuracy</a:t>
          </a:r>
        </a:p>
      </dsp:txBody>
      <dsp:txXfrm>
        <a:off x="6099814" y="1674625"/>
        <a:ext cx="1712251" cy="19240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07EA6-FD9C-4DC9-A581-F16090FB8E91}">
      <dsp:nvSpPr>
        <dsp:cNvPr id="0" name=""/>
        <dsp:cNvSpPr/>
      </dsp:nvSpPr>
      <dsp:spPr>
        <a:xfrm>
          <a:off x="702389" y="0"/>
          <a:ext cx="7960413" cy="5273322"/>
        </a:xfrm>
        <a:prstGeom prst="rightArrow">
          <a:avLst/>
        </a:prstGeom>
        <a:solidFill>
          <a:srgbClr val="00B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9CF217-DC32-4AB3-9950-DBAEA35A8C31}">
      <dsp:nvSpPr>
        <dsp:cNvPr id="0" name=""/>
        <dsp:cNvSpPr/>
      </dsp:nvSpPr>
      <dsp:spPr>
        <a:xfrm>
          <a:off x="4115" y="1581996"/>
          <a:ext cx="1799415" cy="21093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Set of features</a:t>
          </a:r>
        </a:p>
      </dsp:txBody>
      <dsp:txXfrm>
        <a:off x="91955" y="1669836"/>
        <a:ext cx="1623735" cy="1933648"/>
      </dsp:txXfrm>
    </dsp:sp>
    <dsp:sp modelId="{5E1CE7D2-DF03-47EA-B5DB-6894D7D40B7D}">
      <dsp:nvSpPr>
        <dsp:cNvPr id="0" name=""/>
        <dsp:cNvSpPr/>
      </dsp:nvSpPr>
      <dsp:spPr>
        <a:xfrm>
          <a:off x="1893501" y="1581996"/>
          <a:ext cx="1799415" cy="2109328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Train ML models</a:t>
          </a:r>
          <a:endParaRPr lang="en-IN" sz="3000" kern="1200" dirty="0"/>
        </a:p>
      </dsp:txBody>
      <dsp:txXfrm>
        <a:off x="1981341" y="1669836"/>
        <a:ext cx="1623735" cy="1933648"/>
      </dsp:txXfrm>
    </dsp:sp>
    <dsp:sp modelId="{BC502CA6-C9B6-4473-B297-9AD0A82199D1}">
      <dsp:nvSpPr>
        <dsp:cNvPr id="0" name=""/>
        <dsp:cNvSpPr/>
      </dsp:nvSpPr>
      <dsp:spPr>
        <a:xfrm>
          <a:off x="3782888" y="1581996"/>
          <a:ext cx="1799415" cy="2109328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Select some good features</a:t>
          </a:r>
        </a:p>
      </dsp:txBody>
      <dsp:txXfrm>
        <a:off x="3870728" y="1669836"/>
        <a:ext cx="1623735" cy="1933648"/>
      </dsp:txXfrm>
    </dsp:sp>
    <dsp:sp modelId="{B145CD78-95A2-43A0-9EA9-235AA3C4A035}">
      <dsp:nvSpPr>
        <dsp:cNvPr id="0" name=""/>
        <dsp:cNvSpPr/>
      </dsp:nvSpPr>
      <dsp:spPr>
        <a:xfrm>
          <a:off x="5672274" y="1581996"/>
          <a:ext cx="1799415" cy="2109328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Get  accuracy</a:t>
          </a:r>
        </a:p>
      </dsp:txBody>
      <dsp:txXfrm>
        <a:off x="5760114" y="1669836"/>
        <a:ext cx="1623735" cy="1933648"/>
      </dsp:txXfrm>
    </dsp:sp>
    <dsp:sp modelId="{6A9C9FAD-16B2-4949-B62C-627D169E6B11}">
      <dsp:nvSpPr>
        <dsp:cNvPr id="0" name=""/>
        <dsp:cNvSpPr/>
      </dsp:nvSpPr>
      <dsp:spPr>
        <a:xfrm>
          <a:off x="7561660" y="1581996"/>
          <a:ext cx="1799415" cy="2109328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Get Best  accuracy</a:t>
          </a:r>
        </a:p>
      </dsp:txBody>
      <dsp:txXfrm>
        <a:off x="7649500" y="1669836"/>
        <a:ext cx="1623735" cy="1933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36BF9F-A777-42D4-B1A0-0756BA887C4B}">
      <dsp:nvSpPr>
        <dsp:cNvPr id="0" name=""/>
        <dsp:cNvSpPr/>
      </dsp:nvSpPr>
      <dsp:spPr>
        <a:xfrm>
          <a:off x="-73371" y="0"/>
          <a:ext cx="8805251" cy="10561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Generally used while doing the pre-processing step</a:t>
          </a:r>
        </a:p>
      </dsp:txBody>
      <dsp:txXfrm>
        <a:off x="-42438" y="30933"/>
        <a:ext cx="7536120" cy="994265"/>
      </dsp:txXfrm>
    </dsp:sp>
    <dsp:sp modelId="{C62AAF33-25C2-41EF-9FC0-3159A3E8CE8A}">
      <dsp:nvSpPr>
        <dsp:cNvPr id="0" name=""/>
        <dsp:cNvSpPr/>
      </dsp:nvSpPr>
      <dsp:spPr>
        <a:xfrm>
          <a:off x="437930" y="1248155"/>
          <a:ext cx="9208368" cy="105613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These methods select features from the dataset irrespective of the use of any machine learning algorithm</a:t>
          </a:r>
        </a:p>
      </dsp:txBody>
      <dsp:txXfrm>
        <a:off x="468863" y="1279088"/>
        <a:ext cx="7632633" cy="994265"/>
      </dsp:txXfrm>
    </dsp:sp>
    <dsp:sp modelId="{AFB8FBFF-1297-438B-A0C8-00A37C55BA76}">
      <dsp:nvSpPr>
        <dsp:cNvPr id="0" name=""/>
        <dsp:cNvSpPr/>
      </dsp:nvSpPr>
      <dsp:spPr>
        <a:xfrm>
          <a:off x="1488452" y="2496311"/>
          <a:ext cx="8511765" cy="105613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very fast and inexpensive</a:t>
          </a:r>
          <a:endParaRPr lang="en-US" sz="2800" kern="1200" dirty="0"/>
        </a:p>
      </dsp:txBody>
      <dsp:txXfrm>
        <a:off x="1519385" y="2527244"/>
        <a:ext cx="7061193" cy="994265"/>
      </dsp:txXfrm>
    </dsp:sp>
    <dsp:sp modelId="{2E1E2349-0DB4-4ECD-AA24-009A9BCB6860}">
      <dsp:nvSpPr>
        <dsp:cNvPr id="0" name=""/>
        <dsp:cNvSpPr/>
      </dsp:nvSpPr>
      <dsp:spPr>
        <a:xfrm>
          <a:off x="2201312" y="3744467"/>
          <a:ext cx="8511765" cy="10561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good for removing duplicated, correlated, redundant features</a:t>
          </a:r>
        </a:p>
      </dsp:txBody>
      <dsp:txXfrm>
        <a:off x="2232245" y="3775400"/>
        <a:ext cx="7050553" cy="994265"/>
      </dsp:txXfrm>
    </dsp:sp>
    <dsp:sp modelId="{DCD14913-72A3-4BC4-A21A-9371E12701A7}">
      <dsp:nvSpPr>
        <dsp:cNvPr id="0" name=""/>
        <dsp:cNvSpPr/>
      </dsp:nvSpPr>
      <dsp:spPr>
        <a:xfrm>
          <a:off x="7898651" y="808900"/>
          <a:ext cx="686485" cy="68648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8053110" y="808900"/>
        <a:ext cx="377567" cy="516580"/>
      </dsp:txXfrm>
    </dsp:sp>
    <dsp:sp modelId="{A4B74407-4359-4EA8-919E-A0D19852CB85}">
      <dsp:nvSpPr>
        <dsp:cNvPr id="0" name=""/>
        <dsp:cNvSpPr/>
      </dsp:nvSpPr>
      <dsp:spPr>
        <a:xfrm>
          <a:off x="8611511" y="2057056"/>
          <a:ext cx="686485" cy="68648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8765970" y="2057056"/>
        <a:ext cx="377567" cy="516580"/>
      </dsp:txXfrm>
    </dsp:sp>
    <dsp:sp modelId="{9BAC21B3-2D65-4A1F-8BBF-5453A32CC00B}">
      <dsp:nvSpPr>
        <dsp:cNvPr id="0" name=""/>
        <dsp:cNvSpPr/>
      </dsp:nvSpPr>
      <dsp:spPr>
        <a:xfrm>
          <a:off x="9313732" y="3305212"/>
          <a:ext cx="686485" cy="68648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9468191" y="3305212"/>
        <a:ext cx="377567" cy="5165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F1453B-DA81-435D-B2B5-276D4E9AD41F}">
      <dsp:nvSpPr>
        <dsp:cNvPr id="0" name=""/>
        <dsp:cNvSpPr/>
      </dsp:nvSpPr>
      <dsp:spPr>
        <a:xfrm>
          <a:off x="4855" y="2373017"/>
          <a:ext cx="2122939" cy="127376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Set of all features</a:t>
          </a:r>
        </a:p>
      </dsp:txBody>
      <dsp:txXfrm>
        <a:off x="42162" y="2410324"/>
        <a:ext cx="2048325" cy="1199149"/>
      </dsp:txXfrm>
    </dsp:sp>
    <dsp:sp modelId="{50D75C49-5935-4779-B7B0-5E6AA15FEF38}">
      <dsp:nvSpPr>
        <dsp:cNvPr id="0" name=""/>
        <dsp:cNvSpPr/>
      </dsp:nvSpPr>
      <dsp:spPr>
        <a:xfrm>
          <a:off x="2340089" y="2746654"/>
          <a:ext cx="450063" cy="526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2340089" y="2851952"/>
        <a:ext cx="315044" cy="315893"/>
      </dsp:txXfrm>
    </dsp:sp>
    <dsp:sp modelId="{B3BBE48D-E45F-4634-A91D-330A274C3D3C}">
      <dsp:nvSpPr>
        <dsp:cNvPr id="0" name=""/>
        <dsp:cNvSpPr/>
      </dsp:nvSpPr>
      <dsp:spPr>
        <a:xfrm>
          <a:off x="2976971" y="2373017"/>
          <a:ext cx="2122939" cy="1273763"/>
        </a:xfrm>
        <a:prstGeom prst="roundRect">
          <a:avLst>
            <a:gd name="adj" fmla="val 10000"/>
          </a:avLst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Selecting the best subset of features</a:t>
          </a:r>
        </a:p>
      </dsp:txBody>
      <dsp:txXfrm>
        <a:off x="3014278" y="2410324"/>
        <a:ext cx="2048325" cy="1199149"/>
      </dsp:txXfrm>
    </dsp:sp>
    <dsp:sp modelId="{0284EC55-54A5-4C4F-9640-8CF5361417AF}">
      <dsp:nvSpPr>
        <dsp:cNvPr id="0" name=""/>
        <dsp:cNvSpPr/>
      </dsp:nvSpPr>
      <dsp:spPr>
        <a:xfrm>
          <a:off x="5312205" y="2746654"/>
          <a:ext cx="450063" cy="526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5312205" y="2851952"/>
        <a:ext cx="315044" cy="315893"/>
      </dsp:txXfrm>
    </dsp:sp>
    <dsp:sp modelId="{FC1D8FEA-6478-461C-90C4-A986CA002932}">
      <dsp:nvSpPr>
        <dsp:cNvPr id="0" name=""/>
        <dsp:cNvSpPr/>
      </dsp:nvSpPr>
      <dsp:spPr>
        <a:xfrm>
          <a:off x="5949087" y="2373017"/>
          <a:ext cx="2122939" cy="1273763"/>
        </a:xfrm>
        <a:prstGeom prst="roundRect">
          <a:avLst>
            <a:gd name="adj" fmla="val 10000"/>
          </a:avLst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Learning algorithm</a:t>
          </a:r>
        </a:p>
      </dsp:txBody>
      <dsp:txXfrm>
        <a:off x="5986394" y="2410324"/>
        <a:ext cx="2048325" cy="1199149"/>
      </dsp:txXfrm>
    </dsp:sp>
    <dsp:sp modelId="{219D0F1F-E992-4CD8-9B6E-EAA81B2180FC}">
      <dsp:nvSpPr>
        <dsp:cNvPr id="0" name=""/>
        <dsp:cNvSpPr/>
      </dsp:nvSpPr>
      <dsp:spPr>
        <a:xfrm>
          <a:off x="8284321" y="2746654"/>
          <a:ext cx="450063" cy="526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8284321" y="2851952"/>
        <a:ext cx="315044" cy="315893"/>
      </dsp:txXfrm>
    </dsp:sp>
    <dsp:sp modelId="{462E5356-2D9C-46CB-9F6E-4E510144FFE9}">
      <dsp:nvSpPr>
        <dsp:cNvPr id="0" name=""/>
        <dsp:cNvSpPr/>
      </dsp:nvSpPr>
      <dsp:spPr>
        <a:xfrm>
          <a:off x="8921203" y="2373017"/>
          <a:ext cx="2122939" cy="1273763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Performance improvement</a:t>
          </a:r>
        </a:p>
      </dsp:txBody>
      <dsp:txXfrm>
        <a:off x="8958510" y="2410324"/>
        <a:ext cx="2048325" cy="11991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12705" y="2968624"/>
            <a:ext cx="8239566" cy="676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chemeClr val="hlink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79746" y="3737356"/>
            <a:ext cx="8305483" cy="3462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11111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ts val="1120"/>
              </a:lnSpc>
            </a:pPr>
            <a:fld id="{81D60167-4931-47E6-BA6A-407CBD079E47}" type="slidenum">
              <a:rPr lang="en-IN" spc="-85" smtClean="0"/>
              <a:pPr marL="38100">
                <a:lnSpc>
                  <a:spcPts val="1120"/>
                </a:lnSpc>
              </a:pPr>
              <a:t>‹#›</a:t>
            </a:fld>
            <a:endParaRPr lang="en-IN" spc="-8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folHlink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folHlink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11111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ts val="1120"/>
              </a:lnSpc>
            </a:pPr>
            <a:fld id="{81D60167-4931-47E6-BA6A-407CBD079E47}" type="slidenum">
              <a:rPr lang="en-IN" spc="-85" smtClean="0"/>
              <a:pPr marL="38100">
                <a:lnSpc>
                  <a:spcPts val="1120"/>
                </a:lnSpc>
              </a:pPr>
              <a:t>‹#›</a:t>
            </a:fld>
            <a:endParaRPr lang="en-IN" spc="-8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folHlink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93249" y="1534986"/>
            <a:ext cx="5161264" cy="3462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10462" y="1534986"/>
            <a:ext cx="5161264" cy="3462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11111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ts val="1120"/>
              </a:lnSpc>
            </a:pPr>
            <a:fld id="{81D60167-4931-47E6-BA6A-407CBD079E47}" type="slidenum">
              <a:rPr lang="en-IN" spc="-85" smtClean="0"/>
              <a:pPr marL="38100">
                <a:lnSpc>
                  <a:spcPts val="1120"/>
                </a:lnSpc>
              </a:pPr>
              <a:t>‹#›</a:t>
            </a:fld>
            <a:endParaRPr lang="en-IN" spc="-8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folHlink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11111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ts val="1120"/>
              </a:lnSpc>
            </a:pPr>
            <a:fld id="{81D60167-4931-47E6-BA6A-407CBD079E47}" type="slidenum">
              <a:rPr lang="en-IN" spc="-85" smtClean="0"/>
              <a:pPr marL="38100">
                <a:lnSpc>
                  <a:spcPts val="1120"/>
                </a:lnSpc>
              </a:pPr>
              <a:t>‹#›</a:t>
            </a:fld>
            <a:endParaRPr lang="en-IN" spc="-8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11111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ts val="1120"/>
              </a:lnSpc>
            </a:pPr>
            <a:fld id="{81D60167-4931-47E6-BA6A-407CBD079E47}" type="slidenum">
              <a:rPr lang="en-IN" spc="-85" smtClean="0"/>
              <a:pPr marL="38100">
                <a:lnSpc>
                  <a:spcPts val="1120"/>
                </a:lnSpc>
              </a:pPr>
              <a:t>‹#›</a:t>
            </a:fld>
            <a:endParaRPr lang="en-IN" spc="-8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4749" y="318770"/>
            <a:ext cx="9875474" cy="3462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folHlink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28439" y="1182687"/>
            <a:ext cx="9225842" cy="3462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folHlink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34092" y="6206680"/>
            <a:ext cx="379679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93249" y="6206680"/>
            <a:ext cx="272894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62330" y="6399718"/>
            <a:ext cx="291681" cy="141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11111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ts val="1120"/>
              </a:lnSpc>
            </a:pPr>
            <a:fld id="{81D60167-4931-47E6-BA6A-407CBD079E47}" type="slidenum">
              <a:rPr lang="en-IN" spc="-85" smtClean="0"/>
              <a:pPr marL="38100">
                <a:lnSpc>
                  <a:spcPts val="1120"/>
                </a:lnSpc>
              </a:pPr>
              <a:t>‹#›</a:t>
            </a:fld>
            <a:endParaRPr lang="en-IN" spc="-8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feature_extraction.DictVectorizer.html" TargetMode="External"/><Relationship Id="rId2" Type="http://schemas.openxmlformats.org/officeDocument/2006/relationships/hyperlink" Target="https://scikit-learn.org/stable/modules/generated/sklearn.feature_extraction.FeatureHasher.html#sklearn.feature_extraction.FeatureHasher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feature_extraction.DictVectorizer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impute.KNNImputer.html#sklearn.impute.KNNImputer" TargetMode="External"/><Relationship Id="rId2" Type="http://schemas.openxmlformats.org/officeDocument/2006/relationships/hyperlink" Target="https://scikit-learn.org/stable/modules/generated/sklearn.impute.SimpleImputer.html#sklearn.impute.SimpleImputer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scikit-learn.org/stable/modules/generated/sklearn.impute.MissingIndicator.html#sklearn.impute.MissingIndicator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cikit-learn.org/stable/modules/generated/sklearn.impute.SimpleImputer.html#sklearn.impute.SimpleImpute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impute.KNNImputer.html#sklearn.impute.KNNImput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modules/generated/sklearn.impute.MissingIndicator.html#sklearn.impute.MissingIndicator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preprocessing.MinMaxScaler.html#sklearn.preprocessing.MinMaxScaler" TargetMode="External"/><Relationship Id="rId2" Type="http://schemas.openxmlformats.org/officeDocument/2006/relationships/hyperlink" Target="https://scikit-learn.org/stable/modules/generated/sklearn.preprocessing.MaxAbsScaler.html#sklearn.preprocessing.MaxAbsScaler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scikit-learn.org/stable/modules/generated/sklearn.preprocessing.StandardScaler.html#sklearn.preprocessing.StandardScaler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preprocessing.StandardScaler.html#sklearn.preprocessing.StandardScaler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preprocessing.MinMaxScaler.html#sklearn.preprocessing.MinMaxScaler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preprocessing.MaxAbsScaler.html#sklearn.preprocessing.MaxAbsScaler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preprocessing.FunctionTransformer.html#sklearn.preprocessing.FunctionTransformer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preprocessing.KBinsDiscretizer.html#sklearn.preprocessing.KBinsDiscretiz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cikit-learn.org/stable/modules/generated/sklearn.preprocessing.OneHotEncoder.html#sklearn.preprocessing.OneHotEncoder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preprocessing.LabelEncoder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preprocessing.OrdinalEncoder.html#sklearn.preprocessing.OrdinalEncoder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preprocessing.LabelBinarizer.html#sklearn.preprocessing.LabelBinarizer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preprocessing.MultiLabelBinarizer.htm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preprocessing.add_dummy_feature.html#sklearn.preprocessing.add_dummy_feature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feature-selection-techniques-in-machine-learning/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scikit-learn.org/stable/modules/generated/sklearn.feature_selection.SelectKBest.html#sklearn.feature_selection.SelectKBest" TargetMode="External"/><Relationship Id="rId3" Type="http://schemas.openxmlformats.org/officeDocument/2006/relationships/hyperlink" Target="https://scikit-learn.org/stable/modules/generated/sklearn.feature_selection.RFE.html#sklearn.feature_selection.RFE" TargetMode="External"/><Relationship Id="rId7" Type="http://schemas.openxmlformats.org/officeDocument/2006/relationships/hyperlink" Target="https://scikit-learn.org/stable/modules/generated/sklearn.feature_selection.VarianceThreshold.html#sklearn.feature_selection.VarianceThreshol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kit-learn.org/stable/modules/generated/sklearn.feature_selection.SequentialFeatureSelector.html#sklearn.feature_selection.SequentialFeatureSelector" TargetMode="External"/><Relationship Id="rId5" Type="http://schemas.openxmlformats.org/officeDocument/2006/relationships/hyperlink" Target="https://scikit-learn.org/stable/modules/generated/sklearn.feature_selection.SelectFromModel.html#sklearn.feature_selection.SelectFromModel" TargetMode="External"/><Relationship Id="rId4" Type="http://schemas.openxmlformats.org/officeDocument/2006/relationships/hyperlink" Target="https://scikit-learn.org/stable/modules/generated/sklearn.feature_selection.RFECV.html#sklearn.feature_selection.RFECV" TargetMode="External"/><Relationship Id="rId9" Type="http://schemas.openxmlformats.org/officeDocument/2006/relationships/hyperlink" Target="https://scikit-learn.org/stable/modules/generated/sklearn.feature_selection.GenericUnivariateSelect.html#sklearn.feature_selection.GenericUnivariateSelect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feature_selection.VarianceThreshold.html#sklearn.feature_selection.VarianceThreshold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feature_selection.SelectKBest.html#sklearn.feature_selection.SelectKBest" TargetMode="External"/><Relationship Id="rId2" Type="http://schemas.openxmlformats.org/officeDocument/2006/relationships/hyperlink" Target="https://scikit-learn.org/stable/modules/generated/sklearn.feature_selection.GenericUnivariateSelect.html#sklearn.feature_selection.GenericUnivariateSelect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feature_selection.GenericUnivariateSelect.html#sklearn.feature_selection.GenericUnivariateSelect" TargetMode="External"/><Relationship Id="rId2" Type="http://schemas.openxmlformats.org/officeDocument/2006/relationships/hyperlink" Target="https://scikit-learn.org/stable/modules/generated/sklearn.feature_selection.SelectKBest.html#sklearn.feature_selection.SelectKBes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cikit-learn.org/stable/modules/generated/sklearn.feature_selection.GenericUnivariateSelect.html#sklearn.feature_selection.GenericUnivariateSelect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scikit-learn.org/stable/modules/generated/sklearn.feature_selection.RFE.html#sklearn.feature_selection.RF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cikit-learn.org/stable/modules/generated/sklearn.feature_selection.RFECV.html#sklearn.feature_selection.RFECV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cikit-learn.org/stable/modules/generated/sklearn.feature_selection.SelectFromModel.html#sklearn.feature_selection.SelectFromModel" TargetMode="Externa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compose.TransformedTargetRegressor.html" TargetMode="External"/><Relationship Id="rId2" Type="http://schemas.openxmlformats.org/officeDocument/2006/relationships/hyperlink" Target="https://scikit-learn.org/stable/modules/generated/sklearn.compose.ColumnTransformer.html#sklearn.compose.ColumnTransformer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cikit-learn.org/stable/modules/generated/sklearn.compose.ColumnTransformer.html#sklearn.compose.ColumnTransformer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cikit-learn.org/stable/modules/generated/sklearn.compose.TransformedTargetRegressor.html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classes.html#module-sklearn.pipeline" TargetMode="Externa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data_transforms.html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2936" y="644525"/>
            <a:ext cx="6299200" cy="882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5600" spc="-345" dirty="0">
                <a:solidFill>
                  <a:srgbClr val="0000FF"/>
                </a:solidFill>
                <a:latin typeface="Verdana"/>
                <a:cs typeface="Verdana"/>
              </a:rPr>
              <a:t>Data</a:t>
            </a:r>
            <a:r>
              <a:rPr sz="5600" spc="-409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5600" spc="-240" dirty="0">
                <a:solidFill>
                  <a:srgbClr val="0000FF"/>
                </a:solidFill>
                <a:latin typeface="Verdana"/>
                <a:cs typeface="Verdana"/>
              </a:rPr>
              <a:t>Preprocessing</a:t>
            </a:r>
            <a:endParaRPr sz="56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85332" y="1987551"/>
            <a:ext cx="3694429" cy="24057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Machine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Learning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Practice</a:t>
            </a:r>
            <a:endParaRPr sz="22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200" dirty="0">
              <a:latin typeface="Microsoft Sans Serif"/>
              <a:cs typeface="Microsoft Sans Serif"/>
            </a:endParaRPr>
          </a:p>
          <a:p>
            <a:pPr>
              <a:spcBef>
                <a:spcPts val="40"/>
              </a:spcBef>
            </a:pPr>
            <a:endParaRPr sz="28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3150" spc="-155" dirty="0">
                <a:latin typeface="Verdana"/>
                <a:cs typeface="Verdana"/>
              </a:rPr>
              <a:t>D</a:t>
            </a:r>
            <a:r>
              <a:rPr lang="en-IN" sz="3150" spc="-275" dirty="0" err="1">
                <a:latin typeface="Verdana"/>
                <a:cs typeface="Verdana"/>
              </a:rPr>
              <a:t>ebajyoti</a:t>
            </a:r>
            <a:r>
              <a:rPr lang="en-IN" sz="3150" spc="-275" dirty="0">
                <a:latin typeface="Verdana"/>
                <a:cs typeface="Verdana"/>
              </a:rPr>
              <a:t> Biswas</a:t>
            </a:r>
            <a:endParaRPr sz="3150" dirty="0">
              <a:latin typeface="Verdana"/>
              <a:cs typeface="Verdana"/>
            </a:endParaRPr>
          </a:p>
          <a:p>
            <a:pPr>
              <a:spcBef>
                <a:spcPts val="45"/>
              </a:spcBef>
            </a:pPr>
            <a:endParaRPr sz="2900" dirty="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lang="en-IN"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SNU Chennai</a:t>
            </a:r>
            <a:endParaRPr sz="225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1</a:t>
            </a:fld>
            <a:endParaRPr spc="-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2</a:t>
            </a:fld>
            <a:endParaRPr spc="-85" dirty="0"/>
          </a:p>
        </p:txBody>
      </p:sp>
      <p:sp>
        <p:nvSpPr>
          <p:cNvPr id="2" name="object 2"/>
          <p:cNvSpPr txBox="1"/>
          <p:nvPr/>
        </p:nvSpPr>
        <p:spPr>
          <a:xfrm>
            <a:off x="2109787" y="625476"/>
            <a:ext cx="7903209" cy="2287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The </a:t>
            </a:r>
            <a:r>
              <a:rPr sz="2250" spc="-5" dirty="0">
                <a:latin typeface="Microsoft Sans Serif"/>
                <a:cs typeface="Microsoft Sans Serif"/>
              </a:rPr>
              <a:t>real world training </a:t>
            </a:r>
            <a:r>
              <a:rPr sz="2250" dirty="0">
                <a:latin typeface="Microsoft Sans Serif"/>
                <a:cs typeface="Microsoft Sans Serif"/>
              </a:rPr>
              <a:t>data </a:t>
            </a:r>
            <a:r>
              <a:rPr sz="2250" spc="-10" dirty="0">
                <a:latin typeface="Microsoft Sans Serif"/>
                <a:cs typeface="Microsoft Sans Serif"/>
              </a:rPr>
              <a:t>is </a:t>
            </a:r>
            <a:r>
              <a:rPr sz="2250" spc="-5" dirty="0">
                <a:latin typeface="Microsoft Sans Serif"/>
                <a:cs typeface="Microsoft Sans Serif"/>
              </a:rPr>
              <a:t>usually </a:t>
            </a:r>
            <a:r>
              <a:rPr sz="2250" dirty="0">
                <a:latin typeface="Microsoft Sans Serif"/>
                <a:cs typeface="Microsoft Sans Serif"/>
              </a:rPr>
              <a:t>not </a:t>
            </a:r>
            <a:r>
              <a:rPr sz="2250" spc="-5" dirty="0">
                <a:latin typeface="Microsoft Sans Serif"/>
                <a:cs typeface="Microsoft Sans Serif"/>
              </a:rPr>
              <a:t>clean </a:t>
            </a:r>
            <a:r>
              <a:rPr sz="2250" dirty="0">
                <a:latin typeface="Microsoft Sans Serif"/>
                <a:cs typeface="Microsoft Sans Serif"/>
              </a:rPr>
              <a:t>and has many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issues </a:t>
            </a:r>
            <a:r>
              <a:rPr sz="2250" dirty="0">
                <a:latin typeface="Microsoft Sans Serif"/>
                <a:cs typeface="Microsoft Sans Serif"/>
              </a:rPr>
              <a:t>such as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missing values </a:t>
            </a:r>
            <a:r>
              <a:rPr sz="2250" dirty="0">
                <a:latin typeface="Microsoft Sans Serif"/>
                <a:cs typeface="Microsoft Sans Serif"/>
              </a:rPr>
              <a:t>for </a:t>
            </a:r>
            <a:r>
              <a:rPr sz="2250" spc="-5" dirty="0">
                <a:latin typeface="Microsoft Sans Serif"/>
                <a:cs typeface="Microsoft Sans Serif"/>
              </a:rPr>
              <a:t>certain </a:t>
            </a:r>
            <a:r>
              <a:rPr sz="2250" dirty="0">
                <a:latin typeface="Microsoft Sans Serif"/>
                <a:cs typeface="Microsoft Sans Serif"/>
              </a:rPr>
              <a:t>features, features on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different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scales,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non-numeric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attributes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etc.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20"/>
              </a:spcBef>
            </a:pPr>
            <a:endParaRPr sz="2800">
              <a:latin typeface="Microsoft Sans Serif"/>
              <a:cs typeface="Microsoft Sans Serif"/>
            </a:endParaRPr>
          </a:p>
          <a:p>
            <a:pPr marL="12700" marR="877569">
              <a:lnSpc>
                <a:spcPct val="108300"/>
              </a:lnSpc>
            </a:pPr>
            <a:r>
              <a:rPr sz="2250" dirty="0">
                <a:latin typeface="Microsoft Sans Serif"/>
                <a:cs typeface="Microsoft Sans Serif"/>
              </a:rPr>
              <a:t>Often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there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pre-process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make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it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amenable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training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model.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09787" y="3649881"/>
            <a:ext cx="7554595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B12121"/>
                </a:solidFill>
                <a:latin typeface="Microsoft Sans Serif"/>
                <a:cs typeface="Microsoft Sans Serif"/>
              </a:rPr>
              <a:t>same</a:t>
            </a:r>
            <a:r>
              <a:rPr sz="2250" spc="25" dirty="0">
                <a:solidFill>
                  <a:srgbClr val="B12121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B12121"/>
                </a:solidFill>
                <a:latin typeface="Microsoft Sans Serif"/>
                <a:cs typeface="Microsoft Sans Serif"/>
              </a:rPr>
              <a:t>pre-processing</a:t>
            </a:r>
            <a:r>
              <a:rPr sz="2250" spc="25" dirty="0">
                <a:solidFill>
                  <a:srgbClr val="B12121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should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applied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both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training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test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set.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95905" y="4567999"/>
            <a:ext cx="7124700" cy="1064907"/>
          </a:xfrm>
          <a:prstGeom prst="rect">
            <a:avLst/>
          </a:prstGeom>
          <a:solidFill>
            <a:srgbClr val="CFE2F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-5" dirty="0">
                <a:latin typeface="Microsoft Sans Serif"/>
                <a:cs typeface="Microsoft Sans Serif"/>
              </a:rPr>
              <a:t>Sklearn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provides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pipeline</a:t>
            </a:r>
            <a:r>
              <a:rPr sz="2250" spc="2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making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easier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chain</a:t>
            </a:r>
            <a:endParaRPr sz="2250">
              <a:latin typeface="Microsoft Sans Serif"/>
              <a:cs typeface="Microsoft Sans Serif"/>
            </a:endParaRPr>
          </a:p>
          <a:p>
            <a:pPr marR="303530">
              <a:lnSpc>
                <a:spcPct val="108300"/>
              </a:lnSpc>
            </a:pPr>
            <a:r>
              <a:rPr sz="2250" spc="-5" dirty="0">
                <a:latin typeface="Microsoft Sans Serif"/>
                <a:cs typeface="Microsoft Sans Serif"/>
              </a:rPr>
              <a:t>multiple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together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apply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them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uniformly </a:t>
            </a:r>
            <a:r>
              <a:rPr sz="2250" spc="-58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across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train,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eval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and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test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sets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72740" y="3033713"/>
            <a:ext cx="6915150" cy="346249"/>
          </a:xfrm>
          <a:prstGeom prst="rect">
            <a:avLst/>
          </a:prstGeom>
          <a:solidFill>
            <a:srgbClr val="CFE2F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-5" dirty="0">
                <a:latin typeface="Microsoft Sans Serif"/>
                <a:cs typeface="Microsoft Sans Serif"/>
              </a:rPr>
              <a:t>Sklearn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provides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rich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set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transformers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this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job.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3</a:t>
            </a:fld>
            <a:endParaRPr spc="-85" dirty="0"/>
          </a:p>
        </p:txBody>
      </p:sp>
      <p:sp>
        <p:nvSpPr>
          <p:cNvPr id="2" name="object 2"/>
          <p:cNvSpPr txBox="1"/>
          <p:nvPr/>
        </p:nvSpPr>
        <p:spPr>
          <a:xfrm>
            <a:off x="2250354" y="958851"/>
            <a:ext cx="7030720" cy="14686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Once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you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get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training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ﬁrst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job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explore </a:t>
            </a:r>
            <a:r>
              <a:rPr sz="2250" spc="-58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data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list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down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preprocessing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needed.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30"/>
              </a:spcBef>
            </a:pPr>
            <a:endParaRPr sz="2350">
              <a:latin typeface="Microsoft Sans Serif"/>
              <a:cs typeface="Microsoft Sans Serif"/>
            </a:endParaRPr>
          </a:p>
          <a:p>
            <a:pPr marL="12700"/>
            <a:r>
              <a:rPr sz="2250" spc="-25" dirty="0">
                <a:latin typeface="Microsoft Sans Serif"/>
                <a:cs typeface="Microsoft Sans Serif"/>
              </a:rPr>
              <a:t>Typical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problems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include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6950" y="2559415"/>
            <a:ext cx="3648075" cy="346249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 marL="177800"/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Missing</a:t>
            </a:r>
            <a:r>
              <a:rPr sz="225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values</a:t>
            </a:r>
            <a:r>
              <a:rPr sz="225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1306" y="3109913"/>
            <a:ext cx="5991225" cy="34624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250" spc="-5" dirty="0">
                <a:latin typeface="Microsoft Sans Serif"/>
                <a:cs typeface="Microsoft Sans Serif"/>
              </a:rPr>
              <a:t>Numerical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not</a:t>
            </a:r>
            <a:r>
              <a:rPr sz="2250" spc="20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on</a:t>
            </a:r>
            <a:r>
              <a:rPr sz="2250" spc="1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same</a:t>
            </a:r>
            <a:r>
              <a:rPr sz="2250" spc="1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scale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4182" y="3684012"/>
            <a:ext cx="5991225" cy="742950"/>
          </a:xfrm>
          <a:prstGeom prst="rect">
            <a:avLst/>
          </a:prstGeom>
          <a:solidFill>
            <a:srgbClr val="C8D9F7"/>
          </a:solidFill>
        </p:spPr>
        <p:txBody>
          <a:bodyPr vert="horz" wrap="square" lIns="0" tIns="0" rIns="0" bIns="0" rtlCol="0">
            <a:spAutoFit/>
          </a:bodyPr>
          <a:lstStyle/>
          <a:p>
            <a:pPr marL="1270" algn="ctr"/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Categorical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attributes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represented</a:t>
            </a:r>
            <a:endParaRPr sz="2250">
              <a:latin typeface="Microsoft Sans Serif"/>
              <a:cs typeface="Microsoft Sans Serif"/>
            </a:endParaRPr>
          </a:p>
          <a:p>
            <a:pPr marL="1270" algn="ctr">
              <a:spcBef>
                <a:spcPts val="225"/>
              </a:spcBef>
            </a:pP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sensible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numerical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representation.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6950" y="4700588"/>
            <a:ext cx="4905375" cy="346249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 marL="365125"/>
            <a:r>
              <a:rPr sz="2250" spc="-85" dirty="0">
                <a:solidFill>
                  <a:srgbClr val="0000FF"/>
                </a:solidFill>
                <a:latin typeface="Microsoft Sans Serif"/>
                <a:cs typeface="Microsoft Sans Serif"/>
              </a:rPr>
              <a:t>Too</a:t>
            </a:r>
            <a:r>
              <a:rPr sz="225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many</a:t>
            </a:r>
            <a:r>
              <a:rPr sz="225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features</a:t>
            </a:r>
            <a:r>
              <a:rPr sz="2250" dirty="0">
                <a:latin typeface="Microsoft Sans Serif"/>
                <a:cs typeface="Microsoft Sans Serif"/>
              </a:rPr>
              <a:t>,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reduce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them.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22492" y="5295900"/>
            <a:ext cx="5343525" cy="346249"/>
          </a:xfrm>
          <a:prstGeom prst="rect">
            <a:avLst/>
          </a:prstGeom>
          <a:solidFill>
            <a:srgbClr val="CFE2F2"/>
          </a:solidFill>
        </p:spPr>
        <p:txBody>
          <a:bodyPr vert="horz" wrap="square" lIns="0" tIns="0" rIns="0" bIns="0" rtlCol="0">
            <a:spAutoFit/>
          </a:bodyPr>
          <a:lstStyle/>
          <a:p>
            <a:pPr marL="155575"/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Extract</a:t>
            </a:r>
            <a:r>
              <a:rPr sz="225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features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from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non-numeric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7725" y="920750"/>
            <a:ext cx="5663565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0" marR="5080" indent="-1524635">
              <a:lnSpc>
                <a:spcPct val="108300"/>
              </a:lnSpc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Sklearn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provides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library</a:t>
            </a:r>
            <a:r>
              <a:rPr sz="2250" spc="20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of</a:t>
            </a:r>
            <a:r>
              <a:rPr sz="2250" spc="1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transformers</a:t>
            </a:r>
            <a:r>
              <a:rPr sz="2250" spc="20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data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preprocessing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55837" y="2000250"/>
            <a:ext cx="7353300" cy="1857375"/>
            <a:chOff x="895350" y="2000249"/>
            <a:chExt cx="7353300" cy="1857375"/>
          </a:xfrm>
        </p:grpSpPr>
        <p:sp>
          <p:nvSpPr>
            <p:cNvPr id="4" name="object 4"/>
            <p:cNvSpPr/>
            <p:nvPr/>
          </p:nvSpPr>
          <p:spPr>
            <a:xfrm>
              <a:off x="895350" y="2000249"/>
              <a:ext cx="7353300" cy="1857375"/>
            </a:xfrm>
            <a:custGeom>
              <a:avLst/>
              <a:gdLst/>
              <a:ahLst/>
              <a:cxnLst/>
              <a:rect l="l" t="t" r="r" b="b"/>
              <a:pathLst>
                <a:path w="7353300" h="1857375">
                  <a:moveTo>
                    <a:pt x="7353299" y="1857374"/>
                  </a:moveTo>
                  <a:lnTo>
                    <a:pt x="0" y="1857374"/>
                  </a:lnTo>
                  <a:lnTo>
                    <a:pt x="0" y="0"/>
                  </a:lnTo>
                  <a:lnTo>
                    <a:pt x="7353299" y="0"/>
                  </a:lnTo>
                  <a:lnTo>
                    <a:pt x="7353299" y="1857374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5850" y="2162174"/>
              <a:ext cx="85724" cy="857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5850" y="2905124"/>
              <a:ext cx="85724" cy="857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5850" y="3276599"/>
              <a:ext cx="85724" cy="857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5850" y="3648074"/>
              <a:ext cx="85724" cy="857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255837" y="2000250"/>
            <a:ext cx="7353300" cy="1857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7990"/>
            <a:r>
              <a:rPr sz="2250" dirty="0">
                <a:latin typeface="Microsoft Sans Serif"/>
                <a:cs typeface="Microsoft Sans Serif"/>
              </a:rPr>
              <a:t>Data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cleaning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(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sklearn.preprocessing</a:t>
            </a:r>
            <a:r>
              <a:rPr sz="2250" spc="-5" dirty="0">
                <a:latin typeface="Microsoft Sans Serif"/>
                <a:cs typeface="Microsoft Sans Serif"/>
              </a:rPr>
              <a:t>)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such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as</a:t>
            </a:r>
            <a:endParaRPr sz="2250">
              <a:latin typeface="Microsoft Sans Serif"/>
              <a:cs typeface="Microsoft Sans Serif"/>
            </a:endParaRPr>
          </a:p>
          <a:p>
            <a:pPr marL="427990" marR="547370">
              <a:lnSpc>
                <a:spcPct val="108300"/>
              </a:lnSpc>
            </a:pPr>
            <a:r>
              <a:rPr sz="2250" spc="-5" dirty="0">
                <a:solidFill>
                  <a:srgbClr val="B12121"/>
                </a:solidFill>
                <a:latin typeface="Microsoft Sans Serif"/>
                <a:cs typeface="Microsoft Sans Serif"/>
              </a:rPr>
              <a:t>standardization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missing</a:t>
            </a:r>
            <a:r>
              <a:rPr sz="2250" spc="2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value</a:t>
            </a:r>
            <a:r>
              <a:rPr sz="2250" spc="2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imputation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etc.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extraction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(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sklearn.feature_extraction</a:t>
            </a:r>
            <a:r>
              <a:rPr sz="2250" spc="-5" dirty="0">
                <a:latin typeface="Microsoft Sans Serif"/>
                <a:cs typeface="Microsoft Sans Serif"/>
              </a:rPr>
              <a:t>) </a:t>
            </a:r>
            <a:r>
              <a:rPr sz="2250" dirty="0">
                <a:latin typeface="Microsoft Sans Serif"/>
                <a:cs typeface="Microsoft Sans Serif"/>
              </a:rPr>
              <a:t> Feature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reduction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(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sklearn.decomposition.pca</a:t>
            </a:r>
            <a:r>
              <a:rPr sz="2250" spc="-5" dirty="0">
                <a:latin typeface="Microsoft Sans Serif"/>
                <a:cs typeface="Microsoft Sans Serif"/>
              </a:rPr>
              <a:t>) </a:t>
            </a:r>
            <a:r>
              <a:rPr sz="2250" dirty="0">
                <a:latin typeface="Microsoft Sans Serif"/>
                <a:cs typeface="Microsoft Sans Serif"/>
              </a:rPr>
              <a:t> Feature</a:t>
            </a:r>
            <a:r>
              <a:rPr sz="2250" spc="4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expansion</a:t>
            </a:r>
            <a:r>
              <a:rPr sz="2250" spc="4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(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sklearn.kernel_approximation</a:t>
            </a:r>
            <a:r>
              <a:rPr sz="2250" spc="-5" dirty="0">
                <a:latin typeface="Microsoft Sans Serif"/>
                <a:cs typeface="Microsoft Sans Serif"/>
              </a:rPr>
              <a:t>)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4</a:t>
            </a:fld>
            <a:endParaRPr spc="-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22486" y="2276474"/>
            <a:ext cx="7429500" cy="742950"/>
            <a:chOff x="761999" y="2276474"/>
            <a:chExt cx="7429500" cy="742950"/>
          </a:xfrm>
        </p:grpSpPr>
        <p:sp>
          <p:nvSpPr>
            <p:cNvPr id="3" name="object 3"/>
            <p:cNvSpPr/>
            <p:nvPr/>
          </p:nvSpPr>
          <p:spPr>
            <a:xfrm>
              <a:off x="761999" y="2276474"/>
              <a:ext cx="7429500" cy="742950"/>
            </a:xfrm>
            <a:custGeom>
              <a:avLst/>
              <a:gdLst/>
              <a:ahLst/>
              <a:cxnLst/>
              <a:rect l="l" t="t" r="r" b="b"/>
              <a:pathLst>
                <a:path w="7429500" h="742950">
                  <a:moveTo>
                    <a:pt x="7429499" y="742949"/>
                  </a:moveTo>
                  <a:lnTo>
                    <a:pt x="0" y="742949"/>
                  </a:lnTo>
                  <a:lnTo>
                    <a:pt x="0" y="0"/>
                  </a:lnTo>
                  <a:lnTo>
                    <a:pt x="7429499" y="0"/>
                  </a:lnTo>
                  <a:lnTo>
                    <a:pt x="7429499" y="742949"/>
                  </a:lnTo>
                  <a:close/>
                </a:path>
              </a:pathLst>
            </a:custGeom>
            <a:solidFill>
              <a:srgbClr val="D9D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499" y="2438399"/>
              <a:ext cx="85725" cy="857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90624" y="2352674"/>
              <a:ext cx="685800" cy="266700"/>
            </a:xfrm>
            <a:custGeom>
              <a:avLst/>
              <a:gdLst/>
              <a:ahLst/>
              <a:cxnLst/>
              <a:rect l="l" t="t" r="r" b="b"/>
              <a:pathLst>
                <a:path w="685800" h="266700">
                  <a:moveTo>
                    <a:pt x="652752" y="266699"/>
                  </a:moveTo>
                  <a:lnTo>
                    <a:pt x="33047" y="266699"/>
                  </a:lnTo>
                  <a:lnTo>
                    <a:pt x="28187" y="265733"/>
                  </a:lnTo>
                  <a:lnTo>
                    <a:pt x="966" y="238512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652752" y="0"/>
                  </a:lnTo>
                  <a:lnTo>
                    <a:pt x="684833" y="28187"/>
                  </a:lnTo>
                  <a:lnTo>
                    <a:pt x="685799" y="33047"/>
                  </a:lnTo>
                  <a:lnTo>
                    <a:pt x="685799" y="233652"/>
                  </a:lnTo>
                  <a:lnTo>
                    <a:pt x="657612" y="265733"/>
                  </a:lnTo>
                  <a:lnTo>
                    <a:pt x="652752" y="266699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22486" y="2276474"/>
            <a:ext cx="7429500" cy="742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7990"/>
            <a:r>
              <a:rPr b="1" dirty="0">
                <a:latin typeface="Courier New"/>
                <a:cs typeface="Courier New"/>
              </a:rPr>
              <a:t>fit()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method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learns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model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parameters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from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training</a:t>
            </a:r>
            <a:endParaRPr sz="2250">
              <a:latin typeface="Microsoft Sans Serif"/>
              <a:cs typeface="Microsoft Sans Serif"/>
            </a:endParaRPr>
          </a:p>
          <a:p>
            <a:pPr marL="427990">
              <a:spcBef>
                <a:spcPts val="225"/>
              </a:spcBef>
            </a:pPr>
            <a:r>
              <a:rPr sz="2250" dirty="0">
                <a:latin typeface="Microsoft Sans Serif"/>
                <a:cs typeface="Microsoft Sans Serif"/>
              </a:rPr>
              <a:t>set.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7323" y="1616075"/>
            <a:ext cx="56800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Each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transformer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has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following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methods:</a:t>
            </a:r>
            <a:endParaRPr sz="225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22486" y="3333749"/>
            <a:ext cx="7429500" cy="742950"/>
            <a:chOff x="761999" y="3333749"/>
            <a:chExt cx="7429500" cy="742950"/>
          </a:xfrm>
        </p:grpSpPr>
        <p:sp>
          <p:nvSpPr>
            <p:cNvPr id="9" name="object 9"/>
            <p:cNvSpPr/>
            <p:nvPr/>
          </p:nvSpPr>
          <p:spPr>
            <a:xfrm>
              <a:off x="761999" y="3333749"/>
              <a:ext cx="7429500" cy="742950"/>
            </a:xfrm>
            <a:custGeom>
              <a:avLst/>
              <a:gdLst/>
              <a:ahLst/>
              <a:cxnLst/>
              <a:rect l="l" t="t" r="r" b="b"/>
              <a:pathLst>
                <a:path w="7429500" h="742950">
                  <a:moveTo>
                    <a:pt x="7429499" y="742949"/>
                  </a:moveTo>
                  <a:lnTo>
                    <a:pt x="0" y="742949"/>
                  </a:lnTo>
                  <a:lnTo>
                    <a:pt x="0" y="0"/>
                  </a:lnTo>
                  <a:lnTo>
                    <a:pt x="7429499" y="0"/>
                  </a:lnTo>
                  <a:lnTo>
                    <a:pt x="7429499" y="742949"/>
                  </a:lnTo>
                  <a:close/>
                </a:path>
              </a:pathLst>
            </a:custGeom>
            <a:solidFill>
              <a:srgbClr val="E9D0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499" y="3495674"/>
              <a:ext cx="85725" cy="857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90624" y="3409949"/>
              <a:ext cx="1504950" cy="266700"/>
            </a:xfrm>
            <a:custGeom>
              <a:avLst/>
              <a:gdLst/>
              <a:ahLst/>
              <a:cxnLst/>
              <a:rect l="l" t="t" r="r" b="b"/>
              <a:pathLst>
                <a:path w="1504950" h="266700">
                  <a:moveTo>
                    <a:pt x="1471902" y="266699"/>
                  </a:moveTo>
                  <a:lnTo>
                    <a:pt x="33047" y="266699"/>
                  </a:lnTo>
                  <a:lnTo>
                    <a:pt x="28187" y="265733"/>
                  </a:lnTo>
                  <a:lnTo>
                    <a:pt x="966" y="238512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71902" y="0"/>
                  </a:lnTo>
                  <a:lnTo>
                    <a:pt x="1503982" y="28187"/>
                  </a:lnTo>
                  <a:lnTo>
                    <a:pt x="1504949" y="33047"/>
                  </a:lnTo>
                  <a:lnTo>
                    <a:pt x="1504949" y="233652"/>
                  </a:lnTo>
                  <a:lnTo>
                    <a:pt x="1476762" y="265733"/>
                  </a:lnTo>
                  <a:lnTo>
                    <a:pt x="1471902" y="266699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22486" y="3333749"/>
            <a:ext cx="7429500" cy="742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7990"/>
            <a:r>
              <a:rPr b="1" dirty="0">
                <a:latin typeface="Courier New"/>
                <a:cs typeface="Courier New"/>
              </a:rPr>
              <a:t>transform()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method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applies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learnt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transformation</a:t>
            </a:r>
            <a:endParaRPr sz="2250">
              <a:latin typeface="Microsoft Sans Serif"/>
              <a:cs typeface="Microsoft Sans Serif"/>
            </a:endParaRPr>
          </a:p>
          <a:p>
            <a:pPr marL="427990">
              <a:spcBef>
                <a:spcPts val="225"/>
              </a:spcBef>
            </a:pPr>
            <a:r>
              <a:rPr sz="2250" dirty="0">
                <a:latin typeface="Microsoft Sans Serif"/>
                <a:cs typeface="Microsoft Sans Serif"/>
              </a:rPr>
              <a:t>to the new data.</a:t>
            </a:r>
            <a:endParaRPr sz="225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03436" y="4377384"/>
            <a:ext cx="7429500" cy="1114425"/>
            <a:chOff x="742949" y="4377383"/>
            <a:chExt cx="7429500" cy="1114425"/>
          </a:xfrm>
        </p:grpSpPr>
        <p:sp>
          <p:nvSpPr>
            <p:cNvPr id="14" name="object 14"/>
            <p:cNvSpPr/>
            <p:nvPr/>
          </p:nvSpPr>
          <p:spPr>
            <a:xfrm>
              <a:off x="742949" y="4377383"/>
              <a:ext cx="7429500" cy="1114425"/>
            </a:xfrm>
            <a:custGeom>
              <a:avLst/>
              <a:gdLst/>
              <a:ahLst/>
              <a:cxnLst/>
              <a:rect l="l" t="t" r="r" b="b"/>
              <a:pathLst>
                <a:path w="7429500" h="1114425">
                  <a:moveTo>
                    <a:pt x="7429499" y="1114424"/>
                  </a:moveTo>
                  <a:lnTo>
                    <a:pt x="0" y="1114424"/>
                  </a:lnTo>
                  <a:lnTo>
                    <a:pt x="0" y="0"/>
                  </a:lnTo>
                  <a:lnTo>
                    <a:pt x="7429499" y="0"/>
                  </a:lnTo>
                  <a:lnTo>
                    <a:pt x="7429499" y="1114424"/>
                  </a:lnTo>
                  <a:close/>
                </a:path>
              </a:pathLst>
            </a:custGeom>
            <a:solidFill>
              <a:srgbClr val="C8D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449" y="4539308"/>
              <a:ext cx="85725" cy="857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71562" y="4453585"/>
              <a:ext cx="6067425" cy="638175"/>
            </a:xfrm>
            <a:custGeom>
              <a:avLst/>
              <a:gdLst/>
              <a:ahLst/>
              <a:cxnLst/>
              <a:rect l="l" t="t" r="r" b="b"/>
              <a:pathLst>
                <a:path w="6067425" h="638175">
                  <a:moveTo>
                    <a:pt x="1504950" y="404533"/>
                  </a:moveTo>
                  <a:lnTo>
                    <a:pt x="1476768" y="372452"/>
                  </a:lnTo>
                  <a:lnTo>
                    <a:pt x="1471904" y="371475"/>
                  </a:lnTo>
                  <a:lnTo>
                    <a:pt x="33058" y="371475"/>
                  </a:lnTo>
                  <a:lnTo>
                    <a:pt x="977" y="399669"/>
                  </a:lnTo>
                  <a:lnTo>
                    <a:pt x="0" y="404533"/>
                  </a:lnTo>
                  <a:lnTo>
                    <a:pt x="0" y="600075"/>
                  </a:lnTo>
                  <a:lnTo>
                    <a:pt x="0" y="605129"/>
                  </a:lnTo>
                  <a:lnTo>
                    <a:pt x="28194" y="637209"/>
                  </a:lnTo>
                  <a:lnTo>
                    <a:pt x="33058" y="638175"/>
                  </a:lnTo>
                  <a:lnTo>
                    <a:pt x="1471904" y="638175"/>
                  </a:lnTo>
                  <a:lnTo>
                    <a:pt x="1503984" y="609993"/>
                  </a:lnTo>
                  <a:lnTo>
                    <a:pt x="1504950" y="605129"/>
                  </a:lnTo>
                  <a:lnTo>
                    <a:pt x="1504950" y="404533"/>
                  </a:lnTo>
                  <a:close/>
                </a:path>
                <a:path w="6067425" h="638175">
                  <a:moveTo>
                    <a:pt x="2057400" y="33058"/>
                  </a:moveTo>
                  <a:lnTo>
                    <a:pt x="2029218" y="977"/>
                  </a:lnTo>
                  <a:lnTo>
                    <a:pt x="2024354" y="0"/>
                  </a:lnTo>
                  <a:lnTo>
                    <a:pt x="33058" y="0"/>
                  </a:lnTo>
                  <a:lnTo>
                    <a:pt x="977" y="28194"/>
                  </a:lnTo>
                  <a:lnTo>
                    <a:pt x="0" y="33058"/>
                  </a:lnTo>
                  <a:lnTo>
                    <a:pt x="0" y="228600"/>
                  </a:lnTo>
                  <a:lnTo>
                    <a:pt x="0" y="233654"/>
                  </a:lnTo>
                  <a:lnTo>
                    <a:pt x="28194" y="265734"/>
                  </a:lnTo>
                  <a:lnTo>
                    <a:pt x="33058" y="266700"/>
                  </a:lnTo>
                  <a:lnTo>
                    <a:pt x="2024354" y="266700"/>
                  </a:lnTo>
                  <a:lnTo>
                    <a:pt x="2056434" y="238518"/>
                  </a:lnTo>
                  <a:lnTo>
                    <a:pt x="2057400" y="233654"/>
                  </a:lnTo>
                  <a:lnTo>
                    <a:pt x="2057400" y="33058"/>
                  </a:lnTo>
                  <a:close/>
                </a:path>
                <a:path w="6067425" h="638175">
                  <a:moveTo>
                    <a:pt x="6067425" y="33058"/>
                  </a:moveTo>
                  <a:lnTo>
                    <a:pt x="6039243" y="977"/>
                  </a:lnTo>
                  <a:lnTo>
                    <a:pt x="6034379" y="0"/>
                  </a:lnTo>
                  <a:lnTo>
                    <a:pt x="5414683" y="0"/>
                  </a:lnTo>
                  <a:lnTo>
                    <a:pt x="5382603" y="28194"/>
                  </a:lnTo>
                  <a:lnTo>
                    <a:pt x="5381625" y="33058"/>
                  </a:lnTo>
                  <a:lnTo>
                    <a:pt x="5381625" y="228600"/>
                  </a:lnTo>
                  <a:lnTo>
                    <a:pt x="5381625" y="233654"/>
                  </a:lnTo>
                  <a:lnTo>
                    <a:pt x="5409819" y="265734"/>
                  </a:lnTo>
                  <a:lnTo>
                    <a:pt x="5414683" y="266700"/>
                  </a:lnTo>
                  <a:lnTo>
                    <a:pt x="6034379" y="266700"/>
                  </a:lnTo>
                  <a:lnTo>
                    <a:pt x="6066460" y="238518"/>
                  </a:lnTo>
                  <a:lnTo>
                    <a:pt x="6067425" y="233654"/>
                  </a:lnTo>
                  <a:lnTo>
                    <a:pt x="6067425" y="33058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03436" y="4377384"/>
            <a:ext cx="7429500" cy="1064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7990"/>
            <a:r>
              <a:rPr b="1" dirty="0">
                <a:latin typeface="Courier New"/>
                <a:cs typeface="Courier New"/>
              </a:rPr>
              <a:t>fit_transform()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performs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function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both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fit()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endParaRPr sz="2250">
              <a:latin typeface="Microsoft Sans Serif"/>
              <a:cs typeface="Microsoft Sans Serif"/>
            </a:endParaRPr>
          </a:p>
          <a:p>
            <a:pPr marL="427990" marR="718820">
              <a:lnSpc>
                <a:spcPct val="108300"/>
              </a:lnSpc>
            </a:pPr>
            <a:r>
              <a:rPr b="1" dirty="0">
                <a:latin typeface="Courier New"/>
                <a:cs typeface="Courier New"/>
              </a:rPr>
              <a:t>transform()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methods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more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convenient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  </a:t>
            </a:r>
            <a:r>
              <a:rPr sz="2250" spc="-5" dirty="0">
                <a:latin typeface="Microsoft Sans Serif"/>
                <a:cs typeface="Microsoft Sans Serif"/>
              </a:rPr>
              <a:t>efﬁcient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use.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5</a:t>
            </a:fld>
            <a:endParaRPr spc="-85" dirty="0"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4036963" y="644525"/>
            <a:ext cx="3562985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14" dirty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sz="2900" spc="-200" dirty="0">
                <a:solidFill>
                  <a:srgbClr val="000000"/>
                </a:solidFill>
                <a:latin typeface="Verdana"/>
                <a:cs typeface="Verdana"/>
              </a:rPr>
              <a:t>ransformer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200" dirty="0">
                <a:solidFill>
                  <a:srgbClr val="000000"/>
                </a:solidFill>
                <a:latin typeface="Verdana"/>
                <a:cs typeface="Verdana"/>
              </a:rPr>
              <a:t>methods</a:t>
            </a:r>
            <a:endParaRPr sz="2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6</a:t>
            </a:fld>
            <a:endParaRPr spc="-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6755" y="2968624"/>
            <a:ext cx="6151880" cy="67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4250" spc="-195" dirty="0">
                <a:solidFill>
                  <a:srgbClr val="0000FF"/>
                </a:solidFill>
                <a:latin typeface="Verdana"/>
                <a:cs typeface="Verdana"/>
              </a:rPr>
              <a:t>Part</a:t>
            </a:r>
            <a:r>
              <a:rPr sz="4250" spc="-3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4250" spc="-345" dirty="0">
                <a:solidFill>
                  <a:srgbClr val="0000FF"/>
                </a:solidFill>
                <a:latin typeface="Verdana"/>
                <a:cs typeface="Verdana"/>
              </a:rPr>
              <a:t>1.</a:t>
            </a:r>
            <a:r>
              <a:rPr sz="4250" spc="-3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4250" spc="-215" dirty="0">
                <a:solidFill>
                  <a:srgbClr val="0000FF"/>
                </a:solidFill>
                <a:latin typeface="Verdana"/>
                <a:cs typeface="Verdana"/>
              </a:rPr>
              <a:t>Feature</a:t>
            </a:r>
            <a:r>
              <a:rPr sz="4250" spc="-3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4250" spc="-290" dirty="0">
                <a:solidFill>
                  <a:srgbClr val="0000FF"/>
                </a:solidFill>
                <a:latin typeface="Verdana"/>
                <a:cs typeface="Verdana"/>
              </a:rPr>
              <a:t>extraction</a:t>
            </a:r>
            <a:endParaRPr sz="4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1086" y="2000250"/>
            <a:ext cx="2057400" cy="34624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250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FeatureHasher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4437" y="2000250"/>
            <a:ext cx="2266950" cy="346249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 marL="252095"/>
            <a:r>
              <a:rPr sz="2250" spc="-15" dirty="0">
                <a:solidFill>
                  <a:srgbClr val="0F6ACC"/>
                </a:solidFill>
                <a:latin typeface="Microsoft Sans Serif"/>
                <a:cs typeface="Microsoft Sans Serif"/>
                <a:hlinkClick r:id="rId3"/>
              </a:rPr>
              <a:t>DictVectorizer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22486" y="1038224"/>
            <a:ext cx="3562350" cy="266700"/>
          </a:xfrm>
          <a:custGeom>
            <a:avLst/>
            <a:gdLst/>
            <a:ahLst/>
            <a:cxnLst/>
            <a:rect l="l" t="t" r="r" b="b"/>
            <a:pathLst>
              <a:path w="3562350" h="266700">
                <a:moveTo>
                  <a:pt x="352930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529302" y="0"/>
                </a:lnTo>
                <a:lnTo>
                  <a:pt x="3561382" y="28187"/>
                </a:lnTo>
                <a:lnTo>
                  <a:pt x="3562349" y="33047"/>
                </a:lnTo>
                <a:lnTo>
                  <a:pt x="3562349" y="233652"/>
                </a:lnTo>
                <a:lnTo>
                  <a:pt x="3534161" y="265733"/>
                </a:lnTo>
                <a:lnTo>
                  <a:pt x="352930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09787" y="920750"/>
            <a:ext cx="6911975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sklearn.feature_extraction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has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useful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APIs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extract  features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from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data: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7</a:t>
            </a:fld>
            <a:endParaRPr spc="-85" dirty="0"/>
          </a:p>
        </p:txBody>
      </p:sp>
      <p:sp>
        <p:nvSpPr>
          <p:cNvPr id="6" name="object 6"/>
          <p:cNvSpPr txBox="1"/>
          <p:nvPr/>
        </p:nvSpPr>
        <p:spPr>
          <a:xfrm>
            <a:off x="3533625" y="3135312"/>
            <a:ext cx="44170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Let's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study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these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APIs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one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by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one.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6925" y="666750"/>
            <a:ext cx="1981200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-15" dirty="0">
                <a:solidFill>
                  <a:srgbClr val="0F6ACC"/>
                </a:solidFill>
                <a:hlinkClick r:id="rId2"/>
              </a:rPr>
              <a:t>DictVectorizer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6925" y="1333499"/>
            <a:ext cx="7239000" cy="742950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dirty="0">
                <a:latin typeface="Microsoft Sans Serif"/>
                <a:cs typeface="Microsoft Sans Serif"/>
              </a:rPr>
              <a:t>Converts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lists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mappings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name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225"/>
              </a:spcBef>
            </a:pPr>
            <a:r>
              <a:rPr sz="2250" spc="-5" dirty="0">
                <a:latin typeface="Microsoft Sans Serif"/>
                <a:cs typeface="Microsoft Sans Serif"/>
              </a:rPr>
              <a:t>value,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into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matrix.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58100" y="3338513"/>
            <a:ext cx="2428875" cy="1381125"/>
          </a:xfrm>
          <a:custGeom>
            <a:avLst/>
            <a:gdLst/>
            <a:ahLst/>
            <a:cxnLst/>
            <a:rect l="l" t="t" r="r" b="b"/>
            <a:pathLst>
              <a:path w="2428875" h="1381125">
                <a:moveTo>
                  <a:pt x="2428874" y="1381124"/>
                </a:moveTo>
                <a:lnTo>
                  <a:pt x="0" y="1381124"/>
                </a:lnTo>
                <a:lnTo>
                  <a:pt x="0" y="0"/>
                </a:lnTo>
                <a:lnTo>
                  <a:pt x="2428874" y="0"/>
                </a:lnTo>
                <a:lnTo>
                  <a:pt x="2428874" y="1381124"/>
                </a:lnTo>
                <a:close/>
              </a:path>
            </a:pathLst>
          </a:custGeom>
          <a:solidFill>
            <a:srgbClr val="E9D0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45697" y="3802062"/>
            <a:ext cx="27432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b="1" spc="235" dirty="0">
                <a:latin typeface="Verdana"/>
                <a:cs typeface="Verdana"/>
              </a:rPr>
              <a:t>X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0468" y="3802062"/>
            <a:ext cx="2482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93943" y="3783013"/>
            <a:ext cx="9461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b="1" spc="-5" dirty="0">
                <a:latin typeface="Verdana"/>
                <a:cs typeface="Verdana"/>
              </a:rPr>
              <a:t>′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9667" y="3935413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4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36905" y="4230687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36905" y="3906837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36905" y="3725862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36905" y="3373437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795" dirty="0">
                <a:latin typeface="Cambria"/>
                <a:cs typeface="Cambria"/>
              </a:rPr>
              <a:t>⎡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32316" y="3287712"/>
            <a:ext cx="96520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3865" algn="l"/>
              </a:tabLst>
            </a:pPr>
            <a:r>
              <a:rPr sz="2250" spc="-125" dirty="0">
                <a:latin typeface="Cambria"/>
                <a:cs typeface="Cambria"/>
              </a:rPr>
              <a:t>4	96</a:t>
            </a:r>
            <a:r>
              <a:rPr sz="2250" spc="155" dirty="0">
                <a:latin typeface="Cambria"/>
                <a:cs typeface="Cambria"/>
              </a:rPr>
              <a:t>.</a:t>
            </a:r>
            <a:r>
              <a:rPr sz="2250" spc="-125" dirty="0">
                <a:latin typeface="Cambria"/>
                <a:cs typeface="Cambria"/>
              </a:rPr>
              <a:t>0</a:t>
            </a:r>
            <a:endParaRPr sz="2250">
              <a:latin typeface="Cambria"/>
              <a:cs typeface="Cambria"/>
            </a:endParaRPr>
          </a:p>
          <a:p>
            <a:pPr marL="12700">
              <a:tabLst>
                <a:tab pos="443865" algn="l"/>
              </a:tabLst>
            </a:pPr>
            <a:r>
              <a:rPr sz="2250" spc="-125" dirty="0">
                <a:latin typeface="Cambria"/>
                <a:cs typeface="Cambria"/>
              </a:rPr>
              <a:t>1	73</a:t>
            </a:r>
            <a:r>
              <a:rPr sz="2250" spc="155" dirty="0">
                <a:latin typeface="Cambria"/>
                <a:cs typeface="Cambria"/>
              </a:rPr>
              <a:t>.</a:t>
            </a:r>
            <a:r>
              <a:rPr sz="2250" spc="-125" dirty="0">
                <a:latin typeface="Cambria"/>
                <a:cs typeface="Cambria"/>
              </a:rPr>
              <a:t>9</a:t>
            </a:r>
            <a:endParaRPr sz="2250">
              <a:latin typeface="Cambria"/>
              <a:cs typeface="Cambria"/>
            </a:endParaRPr>
          </a:p>
          <a:p>
            <a:pPr marL="12700">
              <a:tabLst>
                <a:tab pos="443865" algn="l"/>
              </a:tabLst>
            </a:pPr>
            <a:r>
              <a:rPr sz="2250" spc="-125" dirty="0">
                <a:latin typeface="Cambria"/>
                <a:cs typeface="Cambria"/>
              </a:rPr>
              <a:t>3	88</a:t>
            </a:r>
            <a:r>
              <a:rPr sz="2250" spc="155" dirty="0">
                <a:latin typeface="Cambria"/>
                <a:cs typeface="Cambria"/>
              </a:rPr>
              <a:t>.</a:t>
            </a:r>
            <a:r>
              <a:rPr sz="2250" spc="-125" dirty="0">
                <a:latin typeface="Cambria"/>
                <a:cs typeface="Cambria"/>
              </a:rPr>
              <a:t>9</a:t>
            </a:r>
            <a:endParaRPr sz="2250">
              <a:latin typeface="Cambria"/>
              <a:cs typeface="Cambria"/>
            </a:endParaRPr>
          </a:p>
          <a:p>
            <a:pPr marL="12700">
              <a:tabLst>
                <a:tab pos="443865" algn="l"/>
              </a:tabLst>
            </a:pPr>
            <a:r>
              <a:rPr sz="2250" spc="-125" dirty="0">
                <a:latin typeface="Cambria"/>
                <a:cs typeface="Cambria"/>
              </a:rPr>
              <a:t>2	81</a:t>
            </a:r>
            <a:r>
              <a:rPr sz="2250" spc="155" dirty="0">
                <a:latin typeface="Cambria"/>
                <a:cs typeface="Cambria"/>
              </a:rPr>
              <a:t>.</a:t>
            </a:r>
            <a:r>
              <a:rPr sz="2250" spc="-125" dirty="0">
                <a:latin typeface="Cambria"/>
                <a:cs typeface="Cambria"/>
              </a:rPr>
              <a:t>6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79905" y="4230687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79905" y="3906837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79905" y="3725862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79905" y="3373437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795" dirty="0">
                <a:latin typeface="Cambria"/>
                <a:cs typeface="Cambria"/>
              </a:rPr>
              <a:t>⎤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23715" y="2463800"/>
            <a:ext cx="164592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Original</a:t>
            </a:r>
            <a:r>
              <a:rPr sz="2250" spc="-6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30889" y="2211388"/>
            <a:ext cx="2654935" cy="7306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1520" marR="30480" indent="-694055">
              <a:lnSpc>
                <a:spcPct val="108300"/>
              </a:lnSpc>
              <a:spcBef>
                <a:spcPts val="100"/>
              </a:spcBef>
            </a:pPr>
            <a:r>
              <a:rPr sz="2250" spc="-10" dirty="0">
                <a:latin typeface="Microsoft Sans Serif"/>
                <a:cs typeface="Microsoft Sans Serif"/>
              </a:rPr>
              <a:t>Transformed</a:t>
            </a:r>
            <a:r>
              <a:rPr sz="2250" spc="-5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matrix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b="1" spc="110" dirty="0">
                <a:latin typeface="Verdana"/>
                <a:cs typeface="Verdana"/>
              </a:rPr>
              <a:t>X</a:t>
            </a:r>
            <a:r>
              <a:rPr sz="2325" b="1" spc="165" baseline="28673" dirty="0">
                <a:latin typeface="Verdana"/>
                <a:cs typeface="Verdana"/>
              </a:rPr>
              <a:t>′</a:t>
            </a:r>
            <a:endParaRPr sz="2325" baseline="28673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70025" y="5419190"/>
            <a:ext cx="3924300" cy="619125"/>
          </a:xfrm>
          <a:custGeom>
            <a:avLst/>
            <a:gdLst/>
            <a:ahLst/>
            <a:cxnLst/>
            <a:rect l="l" t="t" r="r" b="b"/>
            <a:pathLst>
              <a:path w="3924300" h="619125">
                <a:moveTo>
                  <a:pt x="3891251" y="619124"/>
                </a:moveTo>
                <a:lnTo>
                  <a:pt x="33047" y="619124"/>
                </a:lnTo>
                <a:lnTo>
                  <a:pt x="28187" y="618158"/>
                </a:lnTo>
                <a:lnTo>
                  <a:pt x="966" y="590937"/>
                </a:lnTo>
                <a:lnTo>
                  <a:pt x="0" y="586077"/>
                </a:lnTo>
                <a:lnTo>
                  <a:pt x="0" y="5810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891251" y="0"/>
                </a:lnTo>
                <a:lnTo>
                  <a:pt x="3923332" y="28187"/>
                </a:lnTo>
                <a:lnTo>
                  <a:pt x="3924299" y="33047"/>
                </a:lnTo>
                <a:lnTo>
                  <a:pt x="3924299" y="586077"/>
                </a:lnTo>
                <a:lnTo>
                  <a:pt x="3896111" y="618158"/>
                </a:lnTo>
                <a:lnTo>
                  <a:pt x="3891251" y="619124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404951" y="5417920"/>
            <a:ext cx="3043555" cy="462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dv</a:t>
            </a:r>
            <a:r>
              <a:rPr sz="1200" b="1" spc="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1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DictVectorizer(sparse=</a:t>
            </a:r>
            <a:r>
              <a:rPr sz="1200" b="1" spc="-5" dirty="0">
                <a:solidFill>
                  <a:srgbClr val="F92572"/>
                </a:solidFill>
                <a:latin typeface="Courier New"/>
                <a:cs typeface="Courier New"/>
              </a:rPr>
              <a:t>False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) </a:t>
            </a:r>
            <a:r>
              <a:rPr sz="1200" b="1" spc="-70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dv.fit_transform(data)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50893" y="4710115"/>
            <a:ext cx="5627370" cy="1019810"/>
            <a:chOff x="1890406" y="4710115"/>
            <a:chExt cx="5627370" cy="1019810"/>
          </a:xfrm>
        </p:grpSpPr>
        <p:sp>
          <p:nvSpPr>
            <p:cNvPr id="23" name="object 23"/>
            <p:cNvSpPr/>
            <p:nvPr/>
          </p:nvSpPr>
          <p:spPr>
            <a:xfrm>
              <a:off x="1909438" y="5186389"/>
              <a:ext cx="1044575" cy="518159"/>
            </a:xfrm>
            <a:custGeom>
              <a:avLst/>
              <a:gdLst/>
              <a:ahLst/>
              <a:cxnLst/>
              <a:rect l="l" t="t" r="r" b="b"/>
              <a:pathLst>
                <a:path w="1044575" h="518160">
                  <a:moveTo>
                    <a:pt x="0" y="0"/>
                  </a:moveTo>
                  <a:lnTo>
                    <a:pt x="1044346" y="517580"/>
                  </a:lnTo>
                </a:path>
              </a:pathLst>
            </a:custGeom>
            <a:ln w="38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77566" y="5627446"/>
              <a:ext cx="127635" cy="102870"/>
            </a:xfrm>
            <a:custGeom>
              <a:avLst/>
              <a:gdLst/>
              <a:ahLst/>
              <a:cxnLst/>
              <a:rect l="l" t="t" r="r" b="b"/>
              <a:pathLst>
                <a:path w="127635" h="102870">
                  <a:moveTo>
                    <a:pt x="127241" y="101815"/>
                  </a:moveTo>
                  <a:lnTo>
                    <a:pt x="50368" y="0"/>
                  </a:lnTo>
                  <a:lnTo>
                    <a:pt x="0" y="102489"/>
                  </a:lnTo>
                  <a:lnTo>
                    <a:pt x="127241" y="1018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74804" y="4759085"/>
              <a:ext cx="513715" cy="855980"/>
            </a:xfrm>
            <a:custGeom>
              <a:avLst/>
              <a:gdLst/>
              <a:ahLst/>
              <a:cxnLst/>
              <a:rect l="l" t="t" r="r" b="b"/>
              <a:pathLst>
                <a:path w="513715" h="855979">
                  <a:moveTo>
                    <a:pt x="0" y="855898"/>
                  </a:moveTo>
                  <a:lnTo>
                    <a:pt x="513542" y="0"/>
                  </a:lnTo>
                </a:path>
              </a:pathLst>
            </a:custGeom>
            <a:ln w="380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410130" y="4710115"/>
              <a:ext cx="107950" cy="127635"/>
            </a:xfrm>
            <a:custGeom>
              <a:avLst/>
              <a:gdLst/>
              <a:ahLst/>
              <a:cxnLst/>
              <a:rect l="l" t="t" r="r" b="b"/>
              <a:pathLst>
                <a:path w="107950" h="127635">
                  <a:moveTo>
                    <a:pt x="97671" y="127401"/>
                  </a:moveTo>
                  <a:lnTo>
                    <a:pt x="0" y="68477"/>
                  </a:lnTo>
                  <a:lnTo>
                    <a:pt x="107599" y="0"/>
                  </a:lnTo>
                  <a:lnTo>
                    <a:pt x="97671" y="1274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126925" y="2952750"/>
            <a:ext cx="3067050" cy="2143125"/>
          </a:xfrm>
          <a:prstGeom prst="rect">
            <a:avLst/>
          </a:prstGeom>
          <a:solidFill>
            <a:srgbClr val="D9E9D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dirty="0">
                <a:latin typeface="Microsoft Sans Serif"/>
                <a:cs typeface="Microsoft Sans Serif"/>
              </a:rPr>
              <a:t>data</a:t>
            </a:r>
            <a:r>
              <a:rPr sz="2250" spc="-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=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825"/>
              </a:spcBef>
            </a:pPr>
            <a:r>
              <a:rPr sz="2250" dirty="0">
                <a:latin typeface="Microsoft Sans Serif"/>
                <a:cs typeface="Microsoft Sans Serif"/>
              </a:rPr>
              <a:t>[{'age':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4,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'height':96.0},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750"/>
              </a:spcBef>
            </a:pPr>
            <a:r>
              <a:rPr sz="2250" dirty="0">
                <a:latin typeface="Microsoft Sans Serif"/>
                <a:cs typeface="Microsoft Sans Serif"/>
              </a:rPr>
              <a:t>{'age': 1,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'height':73.9},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825"/>
              </a:spcBef>
            </a:pPr>
            <a:r>
              <a:rPr sz="2250" dirty="0">
                <a:latin typeface="Microsoft Sans Serif"/>
                <a:cs typeface="Microsoft Sans Serif"/>
              </a:rPr>
              <a:t>{'age': 3,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'height':88.9},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750"/>
              </a:spcBef>
            </a:pPr>
            <a:r>
              <a:rPr sz="2250" dirty="0">
                <a:latin typeface="Microsoft Sans Serif"/>
                <a:cs typeface="Microsoft Sans Serif"/>
              </a:rPr>
              <a:t>{'age': 2, </a:t>
            </a:r>
            <a:r>
              <a:rPr sz="2250" spc="-5" dirty="0">
                <a:latin typeface="Microsoft Sans Serif"/>
                <a:cs typeface="Microsoft Sans Serif"/>
              </a:rPr>
              <a:t>'height':81.6}]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8</a:t>
            </a:fld>
            <a:endParaRPr spc="-8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9</a:t>
            </a:fld>
            <a:endParaRPr spc="-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4374" y="2968624"/>
            <a:ext cx="5216525" cy="67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4250" spc="-195" dirty="0">
                <a:solidFill>
                  <a:srgbClr val="0000FF"/>
                </a:solidFill>
                <a:latin typeface="Verdana"/>
                <a:cs typeface="Verdana"/>
              </a:rPr>
              <a:t>Part</a:t>
            </a:r>
            <a:r>
              <a:rPr sz="4250" spc="-3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4250" spc="-535" dirty="0">
                <a:solidFill>
                  <a:srgbClr val="0000FF"/>
                </a:solidFill>
                <a:latin typeface="Verdana"/>
                <a:cs typeface="Verdana"/>
              </a:rPr>
              <a:t>2:</a:t>
            </a:r>
            <a:r>
              <a:rPr sz="4250" spc="-3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4250" spc="-260" dirty="0">
                <a:solidFill>
                  <a:srgbClr val="0000FF"/>
                </a:solidFill>
                <a:latin typeface="Verdana"/>
                <a:cs typeface="Verdana"/>
              </a:rPr>
              <a:t>Data</a:t>
            </a:r>
            <a:r>
              <a:rPr sz="4250" spc="-3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4250" spc="-195" dirty="0">
                <a:solidFill>
                  <a:srgbClr val="0000FF"/>
                </a:solidFill>
                <a:latin typeface="Verdana"/>
                <a:cs typeface="Verdana"/>
              </a:rPr>
              <a:t>Cleaning</a:t>
            </a:r>
            <a:endParaRPr sz="4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10</a:t>
            </a:fld>
            <a:endParaRPr spc="-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7007" y="3073399"/>
            <a:ext cx="4031615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60" dirty="0">
                <a:solidFill>
                  <a:srgbClr val="0000FF"/>
                </a:solidFill>
                <a:latin typeface="Verdana"/>
                <a:cs typeface="Verdana"/>
              </a:rPr>
              <a:t>Handling</a:t>
            </a:r>
            <a:r>
              <a:rPr sz="2900" spc="-2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170" dirty="0">
                <a:solidFill>
                  <a:srgbClr val="0000FF"/>
                </a:solidFill>
                <a:latin typeface="Verdana"/>
                <a:cs typeface="Verdana"/>
              </a:rPr>
              <a:t>missing</a:t>
            </a:r>
            <a:r>
              <a:rPr sz="2900" spc="-2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150" dirty="0">
                <a:solidFill>
                  <a:srgbClr val="0000FF"/>
                </a:solidFill>
                <a:latin typeface="Verdana"/>
                <a:cs typeface="Verdana"/>
              </a:rPr>
              <a:t>values</a:t>
            </a:r>
            <a:endParaRPr sz="2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09786" y="532607"/>
            <a:ext cx="7696834" cy="2861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0830">
              <a:lnSpc>
                <a:spcPct val="108300"/>
              </a:lnSpc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Missing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occur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due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errors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0000CC"/>
                </a:solidFill>
                <a:latin typeface="Microsoft Sans Serif"/>
                <a:cs typeface="Microsoft Sans Serif"/>
              </a:rPr>
              <a:t>in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data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capture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such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as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sensor</a:t>
            </a:r>
            <a:r>
              <a:rPr sz="2250" spc="20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malfunctioning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measurement</a:t>
            </a:r>
            <a:r>
              <a:rPr sz="2250" spc="2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errors</a:t>
            </a:r>
            <a:r>
              <a:rPr sz="2250" spc="20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etc.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20"/>
              </a:spcBef>
            </a:pPr>
            <a:endParaRPr sz="2150">
              <a:latin typeface="Microsoft Sans Serif"/>
              <a:cs typeface="Microsoft Sans Serif"/>
            </a:endParaRPr>
          </a:p>
          <a:p>
            <a:pPr marL="12700" marR="5080">
              <a:lnSpc>
                <a:spcPct val="108300"/>
              </a:lnSpc>
              <a:spcBef>
                <a:spcPts val="5"/>
              </a:spcBef>
            </a:pPr>
            <a:r>
              <a:rPr sz="2250" dirty="0">
                <a:latin typeface="Microsoft Sans Serif"/>
                <a:cs typeface="Microsoft Sans Serif"/>
              </a:rPr>
              <a:t>Many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ML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algorithms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not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work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missing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need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all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present.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5"/>
              </a:spcBef>
            </a:pPr>
            <a:endParaRPr sz="2050">
              <a:latin typeface="Microsoft Sans Serif"/>
              <a:cs typeface="Microsoft Sans Serif"/>
            </a:endParaRPr>
          </a:p>
          <a:p>
            <a:pPr marL="12700" marR="354330">
              <a:lnSpc>
                <a:spcPct val="108300"/>
              </a:lnSpc>
            </a:pP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Discarding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records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containing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missing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would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result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loss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of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valuable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training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samples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22486" y="3907630"/>
            <a:ext cx="7620000" cy="742950"/>
            <a:chOff x="761999" y="3907630"/>
            <a:chExt cx="7620000" cy="742950"/>
          </a:xfrm>
        </p:grpSpPr>
        <p:sp>
          <p:nvSpPr>
            <p:cNvPr id="4" name="object 4"/>
            <p:cNvSpPr/>
            <p:nvPr/>
          </p:nvSpPr>
          <p:spPr>
            <a:xfrm>
              <a:off x="761999" y="3907630"/>
              <a:ext cx="7620000" cy="742950"/>
            </a:xfrm>
            <a:custGeom>
              <a:avLst/>
              <a:gdLst/>
              <a:ahLst/>
              <a:cxnLst/>
              <a:rect l="l" t="t" r="r" b="b"/>
              <a:pathLst>
                <a:path w="7620000" h="742950">
                  <a:moveTo>
                    <a:pt x="7619999" y="742949"/>
                  </a:moveTo>
                  <a:lnTo>
                    <a:pt x="0" y="742949"/>
                  </a:lnTo>
                  <a:lnTo>
                    <a:pt x="0" y="0"/>
                  </a:lnTo>
                  <a:lnTo>
                    <a:pt x="7619999" y="0"/>
                  </a:lnTo>
                  <a:lnTo>
                    <a:pt x="7619999" y="742949"/>
                  </a:lnTo>
                  <a:close/>
                </a:path>
              </a:pathLst>
            </a:custGeom>
            <a:solidFill>
              <a:srgbClr val="CFE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999" y="3983830"/>
              <a:ext cx="1924050" cy="266700"/>
            </a:xfrm>
            <a:custGeom>
              <a:avLst/>
              <a:gdLst/>
              <a:ahLst/>
              <a:cxnLst/>
              <a:rect l="l" t="t" r="r" b="b"/>
              <a:pathLst>
                <a:path w="1924050" h="266700">
                  <a:moveTo>
                    <a:pt x="1891002" y="266699"/>
                  </a:moveTo>
                  <a:lnTo>
                    <a:pt x="33047" y="266699"/>
                  </a:lnTo>
                  <a:lnTo>
                    <a:pt x="28187" y="265733"/>
                  </a:lnTo>
                  <a:lnTo>
                    <a:pt x="966" y="238512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891002" y="0"/>
                  </a:lnTo>
                  <a:lnTo>
                    <a:pt x="1923082" y="28187"/>
                  </a:lnTo>
                  <a:lnTo>
                    <a:pt x="1924049" y="33047"/>
                  </a:lnTo>
                  <a:lnTo>
                    <a:pt x="1924049" y="233652"/>
                  </a:lnTo>
                  <a:lnTo>
                    <a:pt x="1895862" y="265733"/>
                  </a:lnTo>
                  <a:lnTo>
                    <a:pt x="1891002" y="266699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22486" y="3907630"/>
            <a:ext cx="7620000" cy="742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b="1" dirty="0">
                <a:latin typeface="Courier New"/>
                <a:cs typeface="Courier New"/>
              </a:rPr>
              <a:t>sklearn.impute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API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provides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functionality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ﬁll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missing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225"/>
              </a:spcBef>
            </a:pPr>
            <a:r>
              <a:rPr sz="2250" spc="-5" dirty="0">
                <a:latin typeface="Microsoft Sans Serif"/>
                <a:cs typeface="Microsoft Sans Serif"/>
              </a:rPr>
              <a:t>values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dataset.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11</a:t>
            </a:fld>
            <a:endParaRPr spc="-85" dirty="0"/>
          </a:p>
        </p:txBody>
      </p:sp>
      <p:sp>
        <p:nvSpPr>
          <p:cNvPr id="7" name="object 7"/>
          <p:cNvSpPr txBox="1"/>
          <p:nvPr/>
        </p:nvSpPr>
        <p:spPr>
          <a:xfrm>
            <a:off x="2884486" y="5055394"/>
            <a:ext cx="2419350" cy="34624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 marL="287655"/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  <a:hlinkClick r:id="rId2"/>
              </a:rPr>
              <a:t>SimpleImputer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94487" y="5055394"/>
            <a:ext cx="2009775" cy="34624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 marL="216535"/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  <a:hlinkClick r:id="rId3"/>
              </a:rPr>
              <a:t>KNNImputer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29983" y="5709443"/>
            <a:ext cx="48539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provides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indicators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missing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values.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1050" y="5722144"/>
            <a:ext cx="2286000" cy="346249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 marL="110489"/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4"/>
              </a:rPr>
              <a:t>MissingIndicator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9941" y="468312"/>
            <a:ext cx="186817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0000FF"/>
                </a:solidFill>
                <a:hlinkClick r:id="rId2"/>
              </a:rPr>
              <a:t>SimpleImputer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987" y="1231952"/>
            <a:ext cx="85725" cy="857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551111" y="1517702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>
                <a:moveTo>
                  <a:pt x="78610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86102" y="0"/>
                </a:lnTo>
                <a:lnTo>
                  <a:pt x="818182" y="28187"/>
                </a:lnTo>
                <a:lnTo>
                  <a:pt x="819149" y="33047"/>
                </a:lnTo>
                <a:lnTo>
                  <a:pt x="819149" y="233652"/>
                </a:lnTo>
                <a:lnTo>
                  <a:pt x="790962" y="265733"/>
                </a:lnTo>
                <a:lnTo>
                  <a:pt x="78610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32175" y="1517713"/>
            <a:ext cx="1095375" cy="266700"/>
          </a:xfrm>
          <a:custGeom>
            <a:avLst/>
            <a:gdLst/>
            <a:ahLst/>
            <a:cxnLst/>
            <a:rect l="l" t="t" r="r" b="b"/>
            <a:pathLst>
              <a:path w="1095375" h="266700">
                <a:moveTo>
                  <a:pt x="1095375" y="33045"/>
                </a:moveTo>
                <a:lnTo>
                  <a:pt x="1067193" y="965"/>
                </a:lnTo>
                <a:lnTo>
                  <a:pt x="1062329" y="0"/>
                </a:lnTo>
                <a:lnTo>
                  <a:pt x="995083" y="0"/>
                </a:lnTo>
                <a:lnTo>
                  <a:pt x="963002" y="28181"/>
                </a:lnTo>
                <a:lnTo>
                  <a:pt x="962025" y="33045"/>
                </a:lnTo>
                <a:lnTo>
                  <a:pt x="961059" y="28181"/>
                </a:lnTo>
                <a:lnTo>
                  <a:pt x="933843" y="965"/>
                </a:lnTo>
                <a:lnTo>
                  <a:pt x="928979" y="0"/>
                </a:lnTo>
                <a:lnTo>
                  <a:pt x="166408" y="0"/>
                </a:lnTo>
                <a:lnTo>
                  <a:pt x="134327" y="28181"/>
                </a:lnTo>
                <a:lnTo>
                  <a:pt x="133350" y="33045"/>
                </a:lnTo>
                <a:lnTo>
                  <a:pt x="132384" y="28181"/>
                </a:lnTo>
                <a:lnTo>
                  <a:pt x="105168" y="965"/>
                </a:lnTo>
                <a:lnTo>
                  <a:pt x="100304" y="0"/>
                </a:lnTo>
                <a:lnTo>
                  <a:pt x="33058" y="0"/>
                </a:lnTo>
                <a:lnTo>
                  <a:pt x="977" y="28181"/>
                </a:lnTo>
                <a:lnTo>
                  <a:pt x="0" y="33045"/>
                </a:lnTo>
                <a:lnTo>
                  <a:pt x="0" y="228600"/>
                </a:lnTo>
                <a:lnTo>
                  <a:pt x="0" y="233641"/>
                </a:lnTo>
                <a:lnTo>
                  <a:pt x="28194" y="265734"/>
                </a:lnTo>
                <a:lnTo>
                  <a:pt x="33058" y="266700"/>
                </a:lnTo>
                <a:lnTo>
                  <a:pt x="100304" y="266700"/>
                </a:lnTo>
                <a:lnTo>
                  <a:pt x="132384" y="238506"/>
                </a:lnTo>
                <a:lnTo>
                  <a:pt x="133350" y="233641"/>
                </a:lnTo>
                <a:lnTo>
                  <a:pt x="134327" y="238506"/>
                </a:lnTo>
                <a:lnTo>
                  <a:pt x="161544" y="265734"/>
                </a:lnTo>
                <a:lnTo>
                  <a:pt x="166408" y="266700"/>
                </a:lnTo>
                <a:lnTo>
                  <a:pt x="928979" y="266700"/>
                </a:lnTo>
                <a:lnTo>
                  <a:pt x="961059" y="238506"/>
                </a:lnTo>
                <a:lnTo>
                  <a:pt x="962025" y="233641"/>
                </a:lnTo>
                <a:lnTo>
                  <a:pt x="963002" y="238506"/>
                </a:lnTo>
                <a:lnTo>
                  <a:pt x="990219" y="265734"/>
                </a:lnTo>
                <a:lnTo>
                  <a:pt x="995083" y="266700"/>
                </a:lnTo>
                <a:lnTo>
                  <a:pt x="1062329" y="266700"/>
                </a:lnTo>
                <a:lnTo>
                  <a:pt x="1094409" y="238506"/>
                </a:lnTo>
                <a:lnTo>
                  <a:pt x="1095375" y="233641"/>
                </a:lnTo>
                <a:lnTo>
                  <a:pt x="1095375" y="33045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89474" y="1517713"/>
            <a:ext cx="2057400" cy="266700"/>
          </a:xfrm>
          <a:custGeom>
            <a:avLst/>
            <a:gdLst/>
            <a:ahLst/>
            <a:cxnLst/>
            <a:rect l="l" t="t" r="r" b="b"/>
            <a:pathLst>
              <a:path w="2057400" h="266700">
                <a:moveTo>
                  <a:pt x="2057400" y="33045"/>
                </a:moveTo>
                <a:lnTo>
                  <a:pt x="2029218" y="965"/>
                </a:lnTo>
                <a:lnTo>
                  <a:pt x="2024354" y="0"/>
                </a:lnTo>
                <a:lnTo>
                  <a:pt x="166408" y="0"/>
                </a:lnTo>
                <a:lnTo>
                  <a:pt x="134327" y="28181"/>
                </a:lnTo>
                <a:lnTo>
                  <a:pt x="133350" y="33045"/>
                </a:lnTo>
                <a:lnTo>
                  <a:pt x="132384" y="28181"/>
                </a:lnTo>
                <a:lnTo>
                  <a:pt x="105168" y="965"/>
                </a:lnTo>
                <a:lnTo>
                  <a:pt x="100304" y="0"/>
                </a:lnTo>
                <a:lnTo>
                  <a:pt x="33058" y="0"/>
                </a:lnTo>
                <a:lnTo>
                  <a:pt x="977" y="28181"/>
                </a:lnTo>
                <a:lnTo>
                  <a:pt x="0" y="33045"/>
                </a:lnTo>
                <a:lnTo>
                  <a:pt x="0" y="228600"/>
                </a:lnTo>
                <a:lnTo>
                  <a:pt x="0" y="233641"/>
                </a:lnTo>
                <a:lnTo>
                  <a:pt x="28194" y="265734"/>
                </a:lnTo>
                <a:lnTo>
                  <a:pt x="33058" y="266700"/>
                </a:lnTo>
                <a:lnTo>
                  <a:pt x="100304" y="266700"/>
                </a:lnTo>
                <a:lnTo>
                  <a:pt x="132384" y="238506"/>
                </a:lnTo>
                <a:lnTo>
                  <a:pt x="133350" y="233641"/>
                </a:lnTo>
                <a:lnTo>
                  <a:pt x="134327" y="238506"/>
                </a:lnTo>
                <a:lnTo>
                  <a:pt x="161544" y="265734"/>
                </a:lnTo>
                <a:lnTo>
                  <a:pt x="166408" y="266700"/>
                </a:lnTo>
                <a:lnTo>
                  <a:pt x="2024354" y="266700"/>
                </a:lnTo>
                <a:lnTo>
                  <a:pt x="2056434" y="238506"/>
                </a:lnTo>
                <a:lnTo>
                  <a:pt x="2057400" y="233641"/>
                </a:lnTo>
                <a:lnTo>
                  <a:pt x="2057400" y="33045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85060" y="1517702"/>
            <a:ext cx="1371600" cy="266700"/>
          </a:xfrm>
          <a:custGeom>
            <a:avLst/>
            <a:gdLst/>
            <a:ahLst/>
            <a:cxnLst/>
            <a:rect l="l" t="t" r="r" b="b"/>
            <a:pathLst>
              <a:path w="1371600" h="266700">
                <a:moveTo>
                  <a:pt x="133855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338552" y="0"/>
                </a:lnTo>
                <a:lnTo>
                  <a:pt x="1370633" y="28187"/>
                </a:lnTo>
                <a:lnTo>
                  <a:pt x="1371599" y="33047"/>
                </a:lnTo>
                <a:lnTo>
                  <a:pt x="1371599" y="233652"/>
                </a:lnTo>
                <a:lnTo>
                  <a:pt x="1343412" y="265733"/>
                </a:lnTo>
                <a:lnTo>
                  <a:pt x="133855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38412" y="1028752"/>
            <a:ext cx="7013575" cy="76835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spcBef>
                <a:spcPts val="325"/>
              </a:spcBef>
            </a:pPr>
            <a:r>
              <a:rPr sz="2250" spc="-10" dirty="0">
                <a:latin typeface="Microsoft Sans Serif"/>
                <a:cs typeface="Microsoft Sans Serif"/>
              </a:rPr>
              <a:t>Fills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missing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values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following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strategies</a:t>
            </a:r>
            <a:r>
              <a:rPr sz="2250" spc="-5" dirty="0">
                <a:latin typeface="Microsoft Sans Serif"/>
                <a:cs typeface="Microsoft Sans Serif"/>
              </a:rPr>
              <a:t>: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spcBef>
                <a:spcPts val="225"/>
              </a:spcBef>
            </a:pPr>
            <a:r>
              <a:rPr b="1" spc="-5" dirty="0">
                <a:latin typeface="Courier New"/>
                <a:cs typeface="Courier New"/>
              </a:rPr>
              <a:t>'</a:t>
            </a:r>
            <a:r>
              <a:rPr b="1" spc="-5" dirty="0">
                <a:solidFill>
                  <a:srgbClr val="800080"/>
                </a:solidFill>
                <a:latin typeface="Courier New"/>
                <a:cs typeface="Courier New"/>
              </a:rPr>
              <a:t>mean</a:t>
            </a:r>
            <a:r>
              <a:rPr b="1" spc="-5" dirty="0">
                <a:latin typeface="Courier New"/>
                <a:cs typeface="Courier New"/>
              </a:rPr>
              <a:t>'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r>
              <a:rPr sz="2250" spc="35" dirty="0">
                <a:latin typeface="Microsoft Sans Serif"/>
                <a:cs typeface="Microsoft Sans Serif"/>
              </a:rPr>
              <a:t> </a:t>
            </a:r>
            <a:r>
              <a:rPr b="1" spc="-5" dirty="0">
                <a:latin typeface="Courier New"/>
                <a:cs typeface="Courier New"/>
              </a:rPr>
              <a:t>'median'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r>
              <a:rPr sz="2250" spc="40" dirty="0">
                <a:latin typeface="Microsoft Sans Serif"/>
                <a:cs typeface="Microsoft Sans Serif"/>
              </a:rPr>
              <a:t> </a:t>
            </a:r>
            <a:r>
              <a:rPr b="1" spc="-5" dirty="0">
                <a:latin typeface="Courier New"/>
                <a:cs typeface="Courier New"/>
              </a:rPr>
              <a:t>'most_frequent'</a:t>
            </a:r>
            <a:r>
              <a:rPr b="1" spc="-445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40" dirty="0">
                <a:latin typeface="Microsoft Sans Serif"/>
                <a:cs typeface="Microsoft Sans Serif"/>
              </a:rPr>
              <a:t> </a:t>
            </a:r>
            <a:r>
              <a:rPr b="1" spc="-5" dirty="0">
                <a:latin typeface="Courier New"/>
                <a:cs typeface="Courier New"/>
              </a:rPr>
              <a:t>'</a:t>
            </a:r>
            <a:r>
              <a:rPr b="1" spc="-5" dirty="0">
                <a:solidFill>
                  <a:srgbClr val="800080"/>
                </a:solidFill>
                <a:latin typeface="Courier New"/>
                <a:cs typeface="Courier New"/>
              </a:rPr>
              <a:t>constant</a:t>
            </a:r>
            <a:r>
              <a:rPr b="1" spc="-5" dirty="0">
                <a:latin typeface="Courier New"/>
                <a:cs typeface="Courier New"/>
              </a:rPr>
              <a:t>'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12400" y="3186541"/>
            <a:ext cx="2676525" cy="1381125"/>
          </a:xfrm>
          <a:custGeom>
            <a:avLst/>
            <a:gdLst/>
            <a:ahLst/>
            <a:cxnLst/>
            <a:rect l="l" t="t" r="r" b="b"/>
            <a:pathLst>
              <a:path w="2676525" h="1381125">
                <a:moveTo>
                  <a:pt x="2676524" y="1381124"/>
                </a:moveTo>
                <a:lnTo>
                  <a:pt x="0" y="1381124"/>
                </a:lnTo>
                <a:lnTo>
                  <a:pt x="0" y="0"/>
                </a:lnTo>
                <a:lnTo>
                  <a:pt x="2676524" y="0"/>
                </a:lnTo>
                <a:lnTo>
                  <a:pt x="2676524" y="13811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99998" y="3650090"/>
            <a:ext cx="9467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11200" algn="l"/>
              </a:tabLst>
            </a:pPr>
            <a:r>
              <a:rPr sz="2250" b="1" spc="235" dirty="0">
                <a:latin typeface="Verdana"/>
                <a:cs typeface="Verdana"/>
              </a:rPr>
              <a:t>X	</a:t>
            </a: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48242" y="3783441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4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5481" y="407871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5481" y="375486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5481" y="357389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67381" y="3135740"/>
            <a:ext cx="138493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spcBef>
                <a:spcPts val="100"/>
              </a:spcBef>
              <a:tabLst>
                <a:tab pos="422275" algn="l"/>
                <a:tab pos="1203325" algn="l"/>
              </a:tabLst>
            </a:pPr>
            <a:r>
              <a:rPr sz="3375" spc="1064" baseline="-17283" dirty="0">
                <a:latin typeface="Cambria"/>
                <a:cs typeface="Cambria"/>
              </a:rPr>
              <a:t>⎡	</a:t>
            </a:r>
            <a:r>
              <a:rPr sz="2250" spc="-125" dirty="0">
                <a:latin typeface="Cambria"/>
                <a:cs typeface="Cambria"/>
              </a:rPr>
              <a:t>7	1</a:t>
            </a:r>
            <a:endParaRPr sz="2250">
              <a:latin typeface="Cambria"/>
              <a:cs typeface="Cambria"/>
            </a:endParaRPr>
          </a:p>
          <a:p>
            <a:pPr marL="246379">
              <a:tabLst>
                <a:tab pos="1203325" algn="l"/>
              </a:tabLst>
            </a:pPr>
            <a:r>
              <a:rPr sz="2250" i="1" spc="-20" dirty="0">
                <a:solidFill>
                  <a:srgbClr val="FF0000"/>
                </a:solidFill>
                <a:latin typeface="Georgia"/>
                <a:cs typeface="Georgia"/>
              </a:rPr>
              <a:t>nan	</a:t>
            </a:r>
            <a:r>
              <a:rPr sz="2250" spc="-125" dirty="0">
                <a:latin typeface="Cambria"/>
                <a:cs typeface="Cambria"/>
              </a:rPr>
              <a:t>8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77103" y="3821540"/>
            <a:ext cx="11252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617855" algn="l"/>
              </a:tabLst>
            </a:pPr>
            <a:r>
              <a:rPr sz="2250" spc="-125" dirty="0">
                <a:latin typeface="Cambria"/>
                <a:cs typeface="Cambria"/>
              </a:rPr>
              <a:t>2	</a:t>
            </a:r>
            <a:r>
              <a:rPr sz="2250" i="1" spc="20" dirty="0">
                <a:solidFill>
                  <a:srgbClr val="FF0000"/>
                </a:solidFill>
                <a:latin typeface="Georgia"/>
                <a:cs typeface="Georgia"/>
              </a:rPr>
              <a:t>n</a:t>
            </a:r>
            <a:r>
              <a:rPr sz="2250" i="1" spc="-105" dirty="0">
                <a:solidFill>
                  <a:srgbClr val="FF0000"/>
                </a:solidFill>
                <a:latin typeface="Georgia"/>
                <a:cs typeface="Georgia"/>
              </a:rPr>
              <a:t>a</a:t>
            </a:r>
            <a:r>
              <a:rPr sz="2250" i="1" spc="20" dirty="0">
                <a:solidFill>
                  <a:srgbClr val="FF0000"/>
                </a:solidFill>
                <a:latin typeface="Georgia"/>
                <a:cs typeface="Georgia"/>
              </a:rPr>
              <a:t>n</a:t>
            </a:r>
            <a:endParaRPr sz="2250">
              <a:latin typeface="Georgia"/>
              <a:cs typeface="Georgia"/>
            </a:endParaRPr>
          </a:p>
          <a:p>
            <a:pPr marL="12700">
              <a:tabLst>
                <a:tab pos="793115" algn="l"/>
              </a:tabLst>
            </a:pPr>
            <a:r>
              <a:rPr sz="2250" spc="-125" dirty="0">
                <a:latin typeface="Cambria"/>
                <a:cs typeface="Cambria"/>
              </a:rPr>
              <a:t>9	6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81856" y="3431014"/>
            <a:ext cx="216535" cy="10160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spcBef>
                <a:spcPts val="1300"/>
              </a:spcBef>
            </a:pPr>
            <a:r>
              <a:rPr sz="2250" spc="-795" dirty="0">
                <a:latin typeface="Cambria"/>
                <a:cs typeface="Cambria"/>
              </a:rPr>
              <a:t>⎥</a:t>
            </a:r>
            <a:r>
              <a:rPr sz="3375" spc="1064" baseline="1234" dirty="0">
                <a:latin typeface="Cambria"/>
                <a:cs typeface="Cambria"/>
              </a:rPr>
              <a:t>⎥</a:t>
            </a:r>
            <a:endParaRPr sz="3375" baseline="1234">
              <a:latin typeface="Cambria"/>
              <a:cs typeface="Cambria"/>
            </a:endParaRPr>
          </a:p>
          <a:p>
            <a:pPr marL="12700">
              <a:spcBef>
                <a:spcPts val="12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44881" y="3186541"/>
            <a:ext cx="2057400" cy="1381125"/>
          </a:xfrm>
          <a:custGeom>
            <a:avLst/>
            <a:gdLst/>
            <a:ahLst/>
            <a:cxnLst/>
            <a:rect l="l" t="t" r="r" b="b"/>
            <a:pathLst>
              <a:path w="2057400" h="1381125">
                <a:moveTo>
                  <a:pt x="2057399" y="1381124"/>
                </a:moveTo>
                <a:lnTo>
                  <a:pt x="0" y="1381124"/>
                </a:lnTo>
                <a:lnTo>
                  <a:pt x="0" y="0"/>
                </a:lnTo>
                <a:lnTo>
                  <a:pt x="2057399" y="0"/>
                </a:lnTo>
                <a:lnTo>
                  <a:pt x="2057399" y="1381124"/>
                </a:lnTo>
                <a:close/>
              </a:path>
            </a:pathLst>
          </a:custGeom>
          <a:solidFill>
            <a:srgbClr val="E9D0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023687" y="407871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56456" y="3221465"/>
            <a:ext cx="505650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4679315" algn="l"/>
              </a:tabLst>
            </a:pPr>
            <a:r>
              <a:rPr sz="2250" spc="710" dirty="0">
                <a:latin typeface="Cambria"/>
                <a:cs typeface="Cambria"/>
              </a:rPr>
              <a:t>⎤	</a:t>
            </a:r>
            <a:r>
              <a:rPr sz="2250" spc="310" dirty="0">
                <a:latin typeface="Cambria"/>
                <a:cs typeface="Cambria"/>
              </a:rPr>
              <a:t>⎡</a:t>
            </a:r>
            <a:r>
              <a:rPr sz="3375" spc="465" baseline="16049" dirty="0">
                <a:latin typeface="Cambria"/>
                <a:cs typeface="Cambria"/>
              </a:rPr>
              <a:t>7</a:t>
            </a:r>
            <a:endParaRPr sz="3375" baseline="16049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07078" y="3697715"/>
            <a:ext cx="150622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b="1" spc="345" baseline="8641" dirty="0">
                <a:latin typeface="Verdana"/>
                <a:cs typeface="Verdana"/>
              </a:rPr>
              <a:t>X</a:t>
            </a:r>
            <a:r>
              <a:rPr sz="2325" b="1" spc="-7" baseline="43010" dirty="0">
                <a:latin typeface="Verdana"/>
                <a:cs typeface="Verdana"/>
              </a:rPr>
              <a:t>′</a:t>
            </a:r>
            <a:r>
              <a:rPr sz="2325" b="1" spc="-600" baseline="43010" dirty="0">
                <a:latin typeface="Verdana"/>
                <a:cs typeface="Verdana"/>
              </a:rPr>
              <a:t> </a:t>
            </a:r>
            <a:r>
              <a:rPr sz="1550" spc="-75" dirty="0">
                <a:latin typeface="Cambria"/>
                <a:cs typeface="Cambria"/>
              </a:rPr>
              <a:t>4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2</a:t>
            </a:r>
            <a:r>
              <a:rPr sz="1550" dirty="0">
                <a:latin typeface="Cambria"/>
                <a:cs typeface="Cambria"/>
              </a:rPr>
              <a:t> </a:t>
            </a:r>
            <a:r>
              <a:rPr sz="1550" spc="65" dirty="0">
                <a:latin typeface="Cambria"/>
                <a:cs typeface="Cambria"/>
              </a:rPr>
              <a:t> </a:t>
            </a:r>
            <a:r>
              <a:rPr sz="3375" spc="750" baseline="8641" dirty="0">
                <a:latin typeface="Cambria"/>
                <a:cs typeface="Cambria"/>
              </a:rPr>
              <a:t>=</a:t>
            </a:r>
            <a:r>
              <a:rPr sz="3375" spc="247" baseline="8641" dirty="0">
                <a:latin typeface="Cambria"/>
                <a:cs typeface="Cambria"/>
              </a:rPr>
              <a:t> </a:t>
            </a:r>
            <a:r>
              <a:rPr sz="3375" spc="1117" baseline="23456" dirty="0">
                <a:latin typeface="Cambria"/>
                <a:cs typeface="Cambria"/>
              </a:rPr>
              <a:t>⎢</a:t>
            </a:r>
            <a:r>
              <a:rPr sz="3375" spc="-187" baseline="41975" dirty="0">
                <a:solidFill>
                  <a:srgbClr val="FF0000"/>
                </a:solidFill>
                <a:latin typeface="Cambria"/>
                <a:cs typeface="Cambria"/>
              </a:rPr>
              <a:t>6</a:t>
            </a:r>
            <a:endParaRPr sz="3375" baseline="41975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19098" y="3821540"/>
            <a:ext cx="5969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</a:tabLst>
            </a:pPr>
            <a:r>
              <a:rPr sz="2250" spc="-125" dirty="0">
                <a:latin typeface="Cambria"/>
                <a:cs typeface="Cambria"/>
              </a:rPr>
              <a:t>2	</a:t>
            </a:r>
            <a:r>
              <a:rPr sz="2250" spc="-125" dirty="0">
                <a:solidFill>
                  <a:srgbClr val="FF0000"/>
                </a:solidFill>
                <a:latin typeface="Cambria"/>
                <a:cs typeface="Cambria"/>
              </a:rPr>
              <a:t>5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19098" y="4164440"/>
            <a:ext cx="5969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</a:tabLst>
            </a:pPr>
            <a:r>
              <a:rPr sz="2250" spc="-125" dirty="0">
                <a:latin typeface="Cambria"/>
                <a:cs typeface="Cambria"/>
              </a:rPr>
              <a:t>9	6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795212" y="407871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622324" y="3478640"/>
            <a:ext cx="4146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250" spc="310" dirty="0">
                <a:latin typeface="Cambria"/>
                <a:cs typeface="Cambria"/>
              </a:rPr>
              <a:t>8</a:t>
            </a:r>
            <a:r>
              <a:rPr sz="3375" spc="465" baseline="-18518" dirty="0">
                <a:latin typeface="Cambria"/>
                <a:cs typeface="Cambria"/>
              </a:rPr>
              <a:t>⎥</a:t>
            </a:r>
            <a:endParaRPr sz="3375" baseline="-18518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22324" y="3135740"/>
            <a:ext cx="4146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250" spc="310" dirty="0">
                <a:latin typeface="Cambria"/>
                <a:cs typeface="Cambria"/>
              </a:rPr>
              <a:t>1</a:t>
            </a:r>
            <a:r>
              <a:rPr sz="3375" spc="465" baseline="-17283" dirty="0">
                <a:latin typeface="Cambria"/>
                <a:cs typeface="Cambria"/>
              </a:rPr>
              <a:t>⎤</a:t>
            </a:r>
            <a:endParaRPr sz="3375" baseline="-17283">
              <a:latin typeface="Cambria"/>
              <a:cs typeface="Cambr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26284" y="2367391"/>
            <a:ext cx="2076450" cy="600075"/>
          </a:xfrm>
          <a:custGeom>
            <a:avLst/>
            <a:gdLst/>
            <a:ahLst/>
            <a:cxnLst/>
            <a:rect l="l" t="t" r="r" b="b"/>
            <a:pathLst>
              <a:path w="2076450" h="600075">
                <a:moveTo>
                  <a:pt x="2076449" y="600074"/>
                </a:moveTo>
                <a:lnTo>
                  <a:pt x="0" y="600074"/>
                </a:lnTo>
                <a:lnTo>
                  <a:pt x="0" y="0"/>
                </a:lnTo>
                <a:lnTo>
                  <a:pt x="2076449" y="0"/>
                </a:lnTo>
                <a:lnTo>
                  <a:pt x="2076449" y="600074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668080" y="2314685"/>
            <a:ext cx="1588770" cy="598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marR="5080" indent="-307975">
              <a:lnSpc>
                <a:spcPct val="111100"/>
              </a:lnSpc>
              <a:spcBef>
                <a:spcPts val="100"/>
              </a:spcBef>
            </a:pPr>
            <a:r>
              <a:rPr spc="-105" dirty="0">
                <a:latin typeface="Verdana"/>
                <a:cs typeface="Verdana"/>
              </a:rPr>
              <a:t>Original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20" dirty="0">
                <a:latin typeface="Verdana"/>
                <a:cs typeface="Verdana"/>
              </a:rPr>
              <a:t>feature  </a:t>
            </a:r>
            <a:r>
              <a:rPr spc="-165" dirty="0">
                <a:latin typeface="Verdana"/>
                <a:cs typeface="Verdana"/>
              </a:rPr>
              <a:t>matrix</a:t>
            </a:r>
            <a:r>
              <a:rPr spc="-125" dirty="0">
                <a:latin typeface="Verdana"/>
                <a:cs typeface="Verdana"/>
              </a:rPr>
              <a:t> </a:t>
            </a:r>
            <a:r>
              <a:rPr b="1" spc="185" dirty="0">
                <a:latin typeface="Verdana"/>
                <a:cs typeface="Verdana"/>
              </a:rPr>
              <a:t>X</a:t>
            </a:r>
            <a:endParaRPr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670963" y="2367391"/>
            <a:ext cx="1771650" cy="600075"/>
          </a:xfrm>
          <a:custGeom>
            <a:avLst/>
            <a:gdLst/>
            <a:ahLst/>
            <a:cxnLst/>
            <a:rect l="l" t="t" r="r" b="b"/>
            <a:pathLst>
              <a:path w="1771650" h="600075">
                <a:moveTo>
                  <a:pt x="1771649" y="600074"/>
                </a:moveTo>
                <a:lnTo>
                  <a:pt x="0" y="600074"/>
                </a:lnTo>
                <a:lnTo>
                  <a:pt x="0" y="0"/>
                </a:lnTo>
                <a:lnTo>
                  <a:pt x="1771649" y="0"/>
                </a:lnTo>
                <a:lnTo>
                  <a:pt x="1771649" y="600074"/>
                </a:lnTo>
                <a:close/>
              </a:path>
            </a:pathLst>
          </a:custGeom>
          <a:solidFill>
            <a:srgbClr val="D9D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653550" y="2314685"/>
            <a:ext cx="1790700" cy="598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219075">
              <a:lnSpc>
                <a:spcPct val="111100"/>
              </a:lnSpc>
              <a:spcBef>
                <a:spcPts val="100"/>
              </a:spcBef>
            </a:pPr>
            <a:r>
              <a:rPr spc="-125" dirty="0">
                <a:latin typeface="Verdana"/>
                <a:cs typeface="Verdana"/>
              </a:rPr>
              <a:t>Transformed </a:t>
            </a:r>
            <a:r>
              <a:rPr spc="-120" dirty="0">
                <a:latin typeface="Verdana"/>
                <a:cs typeface="Verdana"/>
              </a:rPr>
              <a:t> </a:t>
            </a:r>
            <a:r>
              <a:rPr spc="-125" dirty="0">
                <a:latin typeface="Verdana"/>
                <a:cs typeface="Verdana"/>
              </a:rPr>
              <a:t>feature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65" dirty="0">
                <a:latin typeface="Verdana"/>
                <a:cs typeface="Verdana"/>
              </a:rPr>
              <a:t>matrix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b="1" spc="180" dirty="0">
                <a:latin typeface="Verdana"/>
                <a:cs typeface="Verdana"/>
              </a:rPr>
              <a:t>X</a:t>
            </a:r>
            <a:r>
              <a:rPr sz="1875" b="1" spc="-15" baseline="28888" dirty="0">
                <a:latin typeface="Verdana"/>
                <a:cs typeface="Verdana"/>
              </a:rPr>
              <a:t>′</a:t>
            </a:r>
            <a:endParaRPr sz="1875" baseline="28888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984376" y="2510266"/>
            <a:ext cx="4114800" cy="638175"/>
          </a:xfrm>
          <a:custGeom>
            <a:avLst/>
            <a:gdLst/>
            <a:ahLst/>
            <a:cxnLst/>
            <a:rect l="l" t="t" r="r" b="b"/>
            <a:pathLst>
              <a:path w="4114800" h="638175">
                <a:moveTo>
                  <a:pt x="4081752" y="638174"/>
                </a:moveTo>
                <a:lnTo>
                  <a:pt x="33047" y="638174"/>
                </a:lnTo>
                <a:lnTo>
                  <a:pt x="28187" y="637208"/>
                </a:lnTo>
                <a:lnTo>
                  <a:pt x="966" y="609987"/>
                </a:lnTo>
                <a:lnTo>
                  <a:pt x="0" y="605127"/>
                </a:lnTo>
                <a:lnTo>
                  <a:pt x="0" y="6000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4081752" y="0"/>
                </a:lnTo>
                <a:lnTo>
                  <a:pt x="4113832" y="28187"/>
                </a:lnTo>
                <a:lnTo>
                  <a:pt x="4114799" y="33047"/>
                </a:lnTo>
                <a:lnTo>
                  <a:pt x="4114799" y="605127"/>
                </a:lnTo>
                <a:lnTo>
                  <a:pt x="4086611" y="637208"/>
                </a:lnTo>
                <a:lnTo>
                  <a:pt x="4081752" y="638174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019302" y="2508995"/>
            <a:ext cx="3226435" cy="693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SimpleImputer(strategy=</a:t>
            </a:r>
            <a:r>
              <a:rPr sz="1200" b="1" dirty="0">
                <a:solidFill>
                  <a:srgbClr val="A6E22E"/>
                </a:solidFill>
                <a:latin typeface="Courier New"/>
                <a:cs typeface="Courier New"/>
              </a:rPr>
              <a:t>'mean'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)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si.fit_transform(X)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241141" y="2811428"/>
            <a:ext cx="5717540" cy="2790190"/>
            <a:chOff x="1880654" y="2811428"/>
            <a:chExt cx="5717540" cy="2790190"/>
          </a:xfrm>
        </p:grpSpPr>
        <p:sp>
          <p:nvSpPr>
            <p:cNvPr id="34" name="object 34"/>
            <p:cNvSpPr/>
            <p:nvPr/>
          </p:nvSpPr>
          <p:spPr>
            <a:xfrm>
              <a:off x="1932174" y="2830479"/>
              <a:ext cx="691515" cy="328295"/>
            </a:xfrm>
            <a:custGeom>
              <a:avLst/>
              <a:gdLst/>
              <a:ahLst/>
              <a:cxnLst/>
              <a:rect l="l" t="t" r="r" b="b"/>
              <a:pathLst>
                <a:path w="691514" h="328294">
                  <a:moveTo>
                    <a:pt x="691428" y="0"/>
                  </a:moveTo>
                  <a:lnTo>
                    <a:pt x="0" y="327982"/>
                  </a:lnTo>
                </a:path>
              </a:pathLst>
            </a:custGeom>
            <a:ln w="37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80654" y="3083013"/>
              <a:ext cx="128270" cy="102235"/>
            </a:xfrm>
            <a:custGeom>
              <a:avLst/>
              <a:gdLst/>
              <a:ahLst/>
              <a:cxnLst/>
              <a:rect l="l" t="t" r="r" b="b"/>
              <a:pathLst>
                <a:path w="128269" h="102235">
                  <a:moveTo>
                    <a:pt x="127723" y="102031"/>
                  </a:moveTo>
                  <a:lnTo>
                    <a:pt x="78359" y="0"/>
                  </a:lnTo>
                  <a:lnTo>
                    <a:pt x="0" y="99898"/>
                  </a:lnTo>
                  <a:lnTo>
                    <a:pt x="127723" y="1020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740702" y="2830478"/>
              <a:ext cx="804545" cy="330835"/>
            </a:xfrm>
            <a:custGeom>
              <a:avLst/>
              <a:gdLst/>
              <a:ahLst/>
              <a:cxnLst/>
              <a:rect l="l" t="t" r="r" b="b"/>
              <a:pathLst>
                <a:path w="804545" h="330835">
                  <a:moveTo>
                    <a:pt x="0" y="0"/>
                  </a:moveTo>
                  <a:lnTo>
                    <a:pt x="804206" y="330678"/>
                  </a:lnTo>
                </a:path>
              </a:pathLst>
            </a:custGeom>
            <a:ln w="377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69999" y="3087192"/>
              <a:ext cx="128270" cy="104775"/>
            </a:xfrm>
            <a:custGeom>
              <a:avLst/>
              <a:gdLst/>
              <a:ahLst/>
              <a:cxnLst/>
              <a:rect l="l" t="t" r="r" b="b"/>
              <a:pathLst>
                <a:path w="128270" h="104775">
                  <a:moveTo>
                    <a:pt x="0" y="104437"/>
                  </a:moveTo>
                  <a:lnTo>
                    <a:pt x="44048" y="0"/>
                  </a:lnTo>
                  <a:lnTo>
                    <a:pt x="127795" y="95711"/>
                  </a:lnTo>
                  <a:lnTo>
                    <a:pt x="0" y="1044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20260" y="4639102"/>
              <a:ext cx="1724025" cy="962025"/>
            </a:xfrm>
            <a:custGeom>
              <a:avLst/>
              <a:gdLst/>
              <a:ahLst/>
              <a:cxnLst/>
              <a:rect l="l" t="t" r="r" b="b"/>
              <a:pathLst>
                <a:path w="1724025" h="962025">
                  <a:moveTo>
                    <a:pt x="1724024" y="962024"/>
                  </a:moveTo>
                  <a:lnTo>
                    <a:pt x="0" y="962024"/>
                  </a:lnTo>
                  <a:lnTo>
                    <a:pt x="0" y="0"/>
                  </a:lnTo>
                  <a:lnTo>
                    <a:pt x="1724024" y="0"/>
                  </a:lnTo>
                  <a:lnTo>
                    <a:pt x="1724024" y="962024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383776" y="4499520"/>
            <a:ext cx="1567815" cy="753411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50800">
              <a:spcBef>
                <a:spcPts val="475"/>
              </a:spcBef>
            </a:pPr>
            <a:r>
              <a:rPr sz="2250" u="sng" spc="-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7 </a:t>
            </a:r>
            <a:r>
              <a:rPr sz="2250" u="sng" spc="5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+ </a:t>
            </a:r>
            <a:r>
              <a:rPr sz="2250" u="sng" spc="-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2 </a:t>
            </a:r>
            <a:r>
              <a:rPr sz="2250" u="sng" spc="5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+</a:t>
            </a:r>
            <a:r>
              <a:rPr sz="2250" spc="500" dirty="0">
                <a:latin typeface="Cambria"/>
                <a:cs typeface="Cambria"/>
              </a:rPr>
              <a:t> </a:t>
            </a:r>
            <a:r>
              <a:rPr sz="2250" u="sng" spc="-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9</a:t>
            </a:r>
            <a:r>
              <a:rPr sz="2250" spc="-125" dirty="0">
                <a:latin typeface="Cambria"/>
                <a:cs typeface="Cambria"/>
              </a:rPr>
              <a:t> </a:t>
            </a:r>
            <a:r>
              <a:rPr sz="2250" spc="-70" dirty="0">
                <a:latin typeface="Cambria"/>
                <a:cs typeface="Cambria"/>
              </a:rPr>
              <a:t> </a:t>
            </a:r>
            <a:r>
              <a:rPr lang="en-IN" sz="3375" spc="750" baseline="-37037" dirty="0">
                <a:latin typeface="Cambria"/>
                <a:cs typeface="Cambria"/>
              </a:rPr>
              <a:t>=</a:t>
            </a:r>
            <a:r>
              <a:rPr sz="2250" spc="-125" dirty="0">
                <a:latin typeface="Cambria"/>
                <a:cs typeface="Cambria"/>
              </a:rPr>
              <a:t>3</a:t>
            </a:r>
            <a:endParaRPr sz="2250" dirty="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59070" y="5207427"/>
            <a:ext cx="168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6</a:t>
            </a:r>
            <a:endParaRPr sz="2250">
              <a:latin typeface="Cambria"/>
              <a:cs typeface="Cambri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303730" y="4548615"/>
            <a:ext cx="4016375" cy="1570355"/>
            <a:chOff x="1943242" y="4548614"/>
            <a:chExt cx="4016375" cy="1570355"/>
          </a:xfrm>
        </p:grpSpPr>
        <p:sp>
          <p:nvSpPr>
            <p:cNvPr id="42" name="object 42"/>
            <p:cNvSpPr/>
            <p:nvPr/>
          </p:nvSpPr>
          <p:spPr>
            <a:xfrm>
              <a:off x="1952767" y="4558139"/>
              <a:ext cx="0" cy="409575"/>
            </a:xfrm>
            <a:custGeom>
              <a:avLst/>
              <a:gdLst/>
              <a:ahLst/>
              <a:cxnLst/>
              <a:rect l="l" t="t" r="r" b="b"/>
              <a:pathLst>
                <a:path h="409575">
                  <a:moveTo>
                    <a:pt x="0" y="0"/>
                  </a:moveTo>
                  <a:lnTo>
                    <a:pt x="0" y="40957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52768" y="4962952"/>
              <a:ext cx="1933575" cy="0"/>
            </a:xfrm>
            <a:custGeom>
              <a:avLst/>
              <a:gdLst/>
              <a:ahLst/>
              <a:cxnLst/>
              <a:rect l="l" t="t" r="r" b="b"/>
              <a:pathLst>
                <a:path w="1933575">
                  <a:moveTo>
                    <a:pt x="0" y="0"/>
                  </a:moveTo>
                  <a:lnTo>
                    <a:pt x="1933493" y="0"/>
                  </a:lnTo>
                </a:path>
              </a:pathLst>
            </a:custGeom>
            <a:ln w="19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48074" y="4924856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76365" y="3810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36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99807" y="4558139"/>
              <a:ext cx="0" cy="1304925"/>
            </a:xfrm>
            <a:custGeom>
              <a:avLst/>
              <a:gdLst/>
              <a:ahLst/>
              <a:cxnLst/>
              <a:rect l="l" t="t" r="r" b="b"/>
              <a:pathLst>
                <a:path h="1304925">
                  <a:moveTo>
                    <a:pt x="0" y="0"/>
                  </a:moveTo>
                  <a:lnTo>
                    <a:pt x="0" y="130492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99806" y="5861344"/>
              <a:ext cx="1285875" cy="0"/>
            </a:xfrm>
            <a:custGeom>
              <a:avLst/>
              <a:gdLst/>
              <a:ahLst/>
              <a:cxnLst/>
              <a:rect l="l" t="t" r="r" b="b"/>
              <a:pathLst>
                <a:path w="1285875">
                  <a:moveTo>
                    <a:pt x="0" y="0"/>
                  </a:moveTo>
                  <a:lnTo>
                    <a:pt x="1285802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047438" y="5823245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0" y="76197"/>
                  </a:moveTo>
                  <a:lnTo>
                    <a:pt x="0" y="0"/>
                  </a:lnTo>
                  <a:lnTo>
                    <a:pt x="76343" y="38098"/>
                  </a:lnTo>
                  <a:lnTo>
                    <a:pt x="0" y="761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121286" y="5537494"/>
              <a:ext cx="1838325" cy="581025"/>
            </a:xfrm>
            <a:custGeom>
              <a:avLst/>
              <a:gdLst/>
              <a:ahLst/>
              <a:cxnLst/>
              <a:rect l="l" t="t" r="r" b="b"/>
              <a:pathLst>
                <a:path w="1838325" h="581025">
                  <a:moveTo>
                    <a:pt x="1838324" y="581024"/>
                  </a:moveTo>
                  <a:lnTo>
                    <a:pt x="0" y="581024"/>
                  </a:lnTo>
                  <a:lnTo>
                    <a:pt x="0" y="0"/>
                  </a:lnTo>
                  <a:lnTo>
                    <a:pt x="1838324" y="0"/>
                  </a:lnTo>
                  <a:lnTo>
                    <a:pt x="1838324" y="581024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056350" y="5820069"/>
            <a:ext cx="168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3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754050" y="5883035"/>
            <a:ext cx="1764664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250" u="sng" spc="-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 </a:t>
            </a:r>
            <a:r>
              <a:rPr sz="2250" u="sng" spc="5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+ </a:t>
            </a:r>
            <a:r>
              <a:rPr sz="2250" u="sng" spc="-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8 </a:t>
            </a:r>
            <a:r>
              <a:rPr sz="2250" u="sng" spc="5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+</a:t>
            </a:r>
            <a:r>
              <a:rPr sz="2250" spc="500" dirty="0">
                <a:latin typeface="Cambria"/>
                <a:cs typeface="Cambria"/>
              </a:rPr>
              <a:t> </a:t>
            </a:r>
            <a:r>
              <a:rPr sz="2250" u="sng" spc="-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6</a:t>
            </a:r>
            <a:r>
              <a:rPr sz="2250" spc="-125" dirty="0">
                <a:latin typeface="Cambria"/>
                <a:cs typeface="Cambria"/>
              </a:rPr>
              <a:t> </a:t>
            </a:r>
            <a:r>
              <a:rPr sz="2250" spc="-70" dirty="0">
                <a:latin typeface="Cambria"/>
                <a:cs typeface="Cambria"/>
              </a:rPr>
              <a:t> </a:t>
            </a:r>
            <a:r>
              <a:rPr sz="3375" spc="750" baseline="-37037" dirty="0">
                <a:latin typeface="Cambria"/>
                <a:cs typeface="Cambria"/>
              </a:rPr>
              <a:t>=</a:t>
            </a:r>
            <a:r>
              <a:rPr sz="3375" spc="195" baseline="-37037" dirty="0">
                <a:latin typeface="Cambria"/>
                <a:cs typeface="Cambria"/>
              </a:rPr>
              <a:t> </a:t>
            </a:r>
            <a:r>
              <a:rPr sz="3375" spc="-187" baseline="-37037" dirty="0">
                <a:latin typeface="Cambria"/>
                <a:cs typeface="Cambria"/>
              </a:rPr>
              <a:t>5</a:t>
            </a:r>
            <a:endParaRPr sz="3375" baseline="-37037">
              <a:latin typeface="Cambria"/>
              <a:cs typeface="Cambri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005774" y="3784777"/>
            <a:ext cx="2618105" cy="2078989"/>
            <a:chOff x="5645286" y="3784776"/>
            <a:chExt cx="2618105" cy="2078989"/>
          </a:xfrm>
        </p:grpSpPr>
        <p:sp>
          <p:nvSpPr>
            <p:cNvPr id="52" name="object 52"/>
            <p:cNvSpPr/>
            <p:nvPr/>
          </p:nvSpPr>
          <p:spPr>
            <a:xfrm>
              <a:off x="5645286" y="4962952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39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168133" y="3817400"/>
              <a:ext cx="685800" cy="1139190"/>
            </a:xfrm>
            <a:custGeom>
              <a:avLst/>
              <a:gdLst/>
              <a:ahLst/>
              <a:cxnLst/>
              <a:rect l="l" t="t" r="r" b="b"/>
              <a:pathLst>
                <a:path w="685800" h="1139189">
                  <a:moveTo>
                    <a:pt x="0" y="1138889"/>
                  </a:moveTo>
                  <a:lnTo>
                    <a:pt x="685221" y="0"/>
                  </a:lnTo>
                </a:path>
              </a:pathLst>
            </a:custGeom>
            <a:ln w="19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801038" y="3784777"/>
              <a:ext cx="72390" cy="85090"/>
            </a:xfrm>
            <a:custGeom>
              <a:avLst/>
              <a:gdLst/>
              <a:ahLst/>
              <a:cxnLst/>
              <a:rect l="l" t="t" r="r" b="b"/>
              <a:pathLst>
                <a:path w="72390" h="85089">
                  <a:moveTo>
                    <a:pt x="71932" y="0"/>
                  </a:moveTo>
                  <a:lnTo>
                    <a:pt x="0" y="45656"/>
                  </a:lnTo>
                  <a:lnTo>
                    <a:pt x="65354" y="84848"/>
                  </a:lnTo>
                  <a:lnTo>
                    <a:pt x="719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962811" y="5851819"/>
              <a:ext cx="1343025" cy="0"/>
            </a:xfrm>
            <a:custGeom>
              <a:avLst/>
              <a:gdLst/>
              <a:ahLst/>
              <a:cxnLst/>
              <a:rect l="l" t="t" r="r" b="b"/>
              <a:pathLst>
                <a:path w="1343025">
                  <a:moveTo>
                    <a:pt x="0" y="0"/>
                  </a:moveTo>
                  <a:lnTo>
                    <a:pt x="1343024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310478" y="4201204"/>
              <a:ext cx="934085" cy="1652905"/>
            </a:xfrm>
            <a:custGeom>
              <a:avLst/>
              <a:gdLst/>
              <a:ahLst/>
              <a:cxnLst/>
              <a:rect l="l" t="t" r="r" b="b"/>
              <a:pathLst>
                <a:path w="934084" h="1652904">
                  <a:moveTo>
                    <a:pt x="0" y="1652689"/>
                  </a:moveTo>
                  <a:lnTo>
                    <a:pt x="933718" y="0"/>
                  </a:lnTo>
                </a:path>
              </a:pathLst>
            </a:custGeom>
            <a:ln w="19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192089" y="4167968"/>
              <a:ext cx="71120" cy="85725"/>
            </a:xfrm>
            <a:custGeom>
              <a:avLst/>
              <a:gdLst/>
              <a:ahLst/>
              <a:cxnLst/>
              <a:rect l="l" t="t" r="r" b="b"/>
              <a:pathLst>
                <a:path w="71120" h="85725">
                  <a:moveTo>
                    <a:pt x="66659" y="85195"/>
                  </a:moveTo>
                  <a:lnTo>
                    <a:pt x="0" y="47746"/>
                  </a:lnTo>
                  <a:lnTo>
                    <a:pt x="70884" y="0"/>
                  </a:lnTo>
                  <a:lnTo>
                    <a:pt x="66659" y="851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12</a:t>
            </a:fld>
            <a:endParaRPr spc="-8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2331606"/>
            <a:ext cx="85725" cy="8572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741612" y="315075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08487" y="3807981"/>
            <a:ext cx="1514475" cy="266700"/>
          </a:xfrm>
          <a:custGeom>
            <a:avLst/>
            <a:gdLst/>
            <a:ahLst/>
            <a:cxnLst/>
            <a:rect l="l" t="t" r="r" b="b"/>
            <a:pathLst>
              <a:path w="1514475" h="266700">
                <a:moveTo>
                  <a:pt x="1481427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481427" y="0"/>
                </a:lnTo>
                <a:lnTo>
                  <a:pt x="1513507" y="28187"/>
                </a:lnTo>
                <a:lnTo>
                  <a:pt x="1514474" y="33047"/>
                </a:lnTo>
                <a:lnTo>
                  <a:pt x="1514474" y="233652"/>
                </a:lnTo>
                <a:lnTo>
                  <a:pt x="1486286" y="265732"/>
                </a:lnTo>
                <a:lnTo>
                  <a:pt x="148142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4331856"/>
            <a:ext cx="85725" cy="857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09787" y="1533095"/>
            <a:ext cx="7108825" cy="3364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  <a:hlinkClick r:id="rId3"/>
              </a:rPr>
              <a:t>KNNImputer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5"/>
              </a:spcBef>
            </a:pPr>
            <a:endParaRPr sz="1750">
              <a:latin typeface="Microsoft Sans Serif"/>
              <a:cs typeface="Microsoft Sans Serif"/>
            </a:endParaRPr>
          </a:p>
          <a:p>
            <a:pPr marL="440690" marR="259079">
              <a:lnSpc>
                <a:spcPct val="108300"/>
              </a:lnSpc>
            </a:pPr>
            <a:r>
              <a:rPr sz="2250" dirty="0">
                <a:latin typeface="Microsoft Sans Serif"/>
                <a:cs typeface="Microsoft Sans Serif"/>
              </a:rPr>
              <a:t>Uses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k-nearest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neighbours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approach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ﬁll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missing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dataset.</a:t>
            </a:r>
            <a:endParaRPr sz="2250">
              <a:latin typeface="Microsoft Sans Serif"/>
              <a:cs typeface="Microsoft Sans Serif"/>
            </a:endParaRPr>
          </a:p>
          <a:p>
            <a:pPr marL="869315" marR="5080">
              <a:lnSpc>
                <a:spcPct val="108300"/>
              </a:lnSpc>
              <a:spcBef>
                <a:spcPts val="600"/>
              </a:spcBef>
            </a:pP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missing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attribute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speciﬁc </a:t>
            </a:r>
            <a:r>
              <a:rPr sz="225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example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ﬁlled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mean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same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attribute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n_neighbors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closest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neighbor</a:t>
            </a:r>
            <a:r>
              <a:rPr sz="2250" spc="-10" dirty="0">
                <a:solidFill>
                  <a:srgbClr val="800080"/>
                </a:solidFill>
                <a:latin typeface="Microsoft Sans Serif"/>
                <a:cs typeface="Microsoft Sans Serif"/>
              </a:rPr>
              <a:t>s</a:t>
            </a:r>
            <a:r>
              <a:rPr sz="2250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 marL="440690" marR="813435">
              <a:lnSpc>
                <a:spcPct val="108300"/>
              </a:lnSpc>
              <a:spcBef>
                <a:spcPts val="530"/>
              </a:spcBef>
            </a:pP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nearest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neighbours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decided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based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Euclidean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distance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13</a:t>
            </a:fld>
            <a:endParaRPr spc="-8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9787" y="1135062"/>
            <a:ext cx="286829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000000"/>
                </a:solidFill>
              </a:rPr>
              <a:t>Example: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KNNImputer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2162174"/>
            <a:ext cx="85724" cy="85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38411" y="1987550"/>
            <a:ext cx="426593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Consider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following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feature</a:t>
            </a:r>
            <a:r>
              <a:rPr sz="2250" spc="1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matrix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08475" y="2667000"/>
            <a:ext cx="3190875" cy="1381125"/>
          </a:xfrm>
          <a:custGeom>
            <a:avLst/>
            <a:gdLst/>
            <a:ahLst/>
            <a:cxnLst/>
            <a:rect l="l" t="t" r="r" b="b"/>
            <a:pathLst>
              <a:path w="3190875" h="1381125">
                <a:moveTo>
                  <a:pt x="3190874" y="1381124"/>
                </a:moveTo>
                <a:lnTo>
                  <a:pt x="0" y="1381124"/>
                </a:lnTo>
                <a:lnTo>
                  <a:pt x="0" y="0"/>
                </a:lnTo>
                <a:lnTo>
                  <a:pt x="3190874" y="0"/>
                </a:lnTo>
                <a:lnTo>
                  <a:pt x="3190874" y="13811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96072" y="3130549"/>
            <a:ext cx="9467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11200" algn="l"/>
              </a:tabLst>
            </a:pPr>
            <a:r>
              <a:rPr sz="2250" b="1" spc="235" dirty="0">
                <a:latin typeface="Verdana"/>
                <a:cs typeface="Verdana"/>
              </a:rPr>
              <a:t>X	</a:t>
            </a: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44317" y="3263901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4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3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01555" y="355917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01555" y="32353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01555" y="3054349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50755" y="2616200"/>
            <a:ext cx="209994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spcBef>
                <a:spcPts val="100"/>
              </a:spcBef>
              <a:tabLst>
                <a:tab pos="394970" algn="l"/>
                <a:tab pos="1042669" algn="l"/>
                <a:tab pos="1554480" algn="l"/>
              </a:tabLst>
            </a:pPr>
            <a:r>
              <a:rPr sz="3375" spc="1064" baseline="-17283" dirty="0">
                <a:latin typeface="Cambria"/>
                <a:cs typeface="Cambria"/>
              </a:rPr>
              <a:t>⎡	</a:t>
            </a:r>
            <a:r>
              <a:rPr sz="2250" spc="20" dirty="0">
                <a:latin typeface="Cambria"/>
                <a:cs typeface="Cambria"/>
              </a:rPr>
              <a:t>1.	2.	</a:t>
            </a:r>
            <a:r>
              <a:rPr sz="2250" i="1" spc="-20" dirty="0">
                <a:latin typeface="Georgia"/>
                <a:cs typeface="Georgia"/>
              </a:rPr>
              <a:t>nan</a:t>
            </a:r>
            <a:endParaRPr sz="2250">
              <a:latin typeface="Georgia"/>
              <a:cs typeface="Georgia"/>
            </a:endParaRPr>
          </a:p>
          <a:p>
            <a:pPr marL="394970">
              <a:tabLst>
                <a:tab pos="1042669" algn="l"/>
                <a:tab pos="1690370" algn="l"/>
              </a:tabLst>
            </a:pPr>
            <a:r>
              <a:rPr sz="2250" spc="20" dirty="0">
                <a:latin typeface="Cambria"/>
                <a:cs typeface="Cambria"/>
              </a:rPr>
              <a:t>3.	4.	3.</a:t>
            </a:r>
            <a:endParaRPr sz="2250">
              <a:latin typeface="Cambria"/>
              <a:cs typeface="Cambria"/>
            </a:endParaRPr>
          </a:p>
          <a:p>
            <a:pPr marL="259079">
              <a:tabLst>
                <a:tab pos="1042669" algn="l"/>
                <a:tab pos="1690370" algn="l"/>
              </a:tabLst>
            </a:pPr>
            <a:r>
              <a:rPr sz="2250" i="1" spc="-20" dirty="0">
                <a:latin typeface="Georgia"/>
                <a:cs typeface="Georgia"/>
              </a:rPr>
              <a:t>nan	</a:t>
            </a:r>
            <a:r>
              <a:rPr sz="2250" spc="20" dirty="0">
                <a:latin typeface="Cambria"/>
                <a:cs typeface="Cambria"/>
              </a:rPr>
              <a:t>6.	5.</a:t>
            </a:r>
            <a:endParaRPr sz="2250">
              <a:latin typeface="Cambria"/>
              <a:cs typeface="Cambria"/>
            </a:endParaRPr>
          </a:p>
          <a:p>
            <a:pPr marL="394970">
              <a:tabLst>
                <a:tab pos="1042669" algn="l"/>
                <a:tab pos="1690370" algn="l"/>
              </a:tabLst>
            </a:pPr>
            <a:r>
              <a:rPr sz="2250" spc="20" dirty="0">
                <a:latin typeface="Cambria"/>
                <a:cs typeface="Cambria"/>
              </a:rPr>
              <a:t>8.	8.	7.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92280" y="355917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92280" y="32353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92280" y="3054349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4457699"/>
            <a:ext cx="85724" cy="8572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538412" y="4283075"/>
            <a:ext cx="5542915" cy="95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It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has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4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samples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2</a:t>
            </a:r>
            <a:r>
              <a:rPr sz="2250" spc="20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missing</a:t>
            </a:r>
            <a:r>
              <a:rPr sz="2250" spc="20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values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spcBef>
                <a:spcPts val="1895"/>
              </a:spcBef>
            </a:pPr>
            <a:r>
              <a:rPr sz="2250" dirty="0">
                <a:latin typeface="Microsoft Sans Serif"/>
                <a:cs typeface="Microsoft Sans Serif"/>
              </a:rPr>
              <a:t>Let's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ﬁll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missing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KNNImputer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5041608"/>
            <a:ext cx="85724" cy="85724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14</a:t>
            </a:fld>
            <a:endParaRPr spc="-8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9812" y="1552575"/>
            <a:ext cx="7600950" cy="409575"/>
          </a:xfrm>
          <a:custGeom>
            <a:avLst/>
            <a:gdLst/>
            <a:ahLst/>
            <a:cxnLst/>
            <a:rect l="l" t="t" r="r" b="b"/>
            <a:pathLst>
              <a:path w="7600950" h="409575">
                <a:moveTo>
                  <a:pt x="7600949" y="409574"/>
                </a:moveTo>
                <a:lnTo>
                  <a:pt x="0" y="409574"/>
                </a:lnTo>
                <a:lnTo>
                  <a:pt x="0" y="0"/>
                </a:lnTo>
                <a:lnTo>
                  <a:pt x="7600949" y="0"/>
                </a:lnTo>
                <a:lnTo>
                  <a:pt x="7600949" y="409574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39812" y="1552575"/>
            <a:ext cx="7600950" cy="3558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19380">
              <a:spcBef>
                <a:spcPts val="75"/>
              </a:spcBef>
              <a:tabLst>
                <a:tab pos="1910714" algn="l"/>
                <a:tab pos="2871470" algn="l"/>
                <a:tab pos="3228340" algn="l"/>
              </a:tabLst>
            </a:pPr>
            <a:r>
              <a:rPr sz="2250" spc="50" dirty="0">
                <a:latin typeface="Cambria"/>
                <a:cs typeface="Cambria"/>
              </a:rPr>
              <a:t>dist(</a:t>
            </a:r>
            <a:r>
              <a:rPr sz="2250" i="1" spc="50" dirty="0">
                <a:latin typeface="Georgia"/>
                <a:cs typeface="Georgia"/>
              </a:rPr>
              <a:t>x</a:t>
            </a:r>
            <a:r>
              <a:rPr sz="2250" spc="50" dirty="0">
                <a:latin typeface="Cambria"/>
                <a:cs typeface="Cambria"/>
              </a:rPr>
              <a:t>,</a:t>
            </a:r>
            <a:r>
              <a:rPr sz="2250" spc="-125" dirty="0">
                <a:latin typeface="Cambria"/>
                <a:cs typeface="Cambria"/>
              </a:rPr>
              <a:t> </a:t>
            </a:r>
            <a:r>
              <a:rPr sz="2250" i="1" spc="-35" dirty="0">
                <a:latin typeface="Georgia"/>
                <a:cs typeface="Georgia"/>
              </a:rPr>
              <a:t>y</a:t>
            </a:r>
            <a:r>
              <a:rPr sz="2250" spc="-35" dirty="0">
                <a:latin typeface="Cambria"/>
                <a:cs typeface="Cambria"/>
              </a:rPr>
              <a:t>)</a:t>
            </a:r>
            <a:r>
              <a:rPr sz="2250" spc="130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=	</a:t>
            </a:r>
            <a:r>
              <a:rPr sz="2250" spc="-15" dirty="0">
                <a:latin typeface="Cambria"/>
                <a:cs typeface="Cambria"/>
              </a:rPr>
              <a:t>weight	</a:t>
            </a:r>
            <a:r>
              <a:rPr sz="2250" spc="500" dirty="0">
                <a:latin typeface="Cambria"/>
                <a:cs typeface="Cambria"/>
              </a:rPr>
              <a:t>×	</a:t>
            </a:r>
            <a:r>
              <a:rPr sz="2250" spc="-5" dirty="0">
                <a:latin typeface="Cambria"/>
                <a:cs typeface="Cambria"/>
              </a:rPr>
              <a:t>distance</a:t>
            </a:r>
            <a:r>
              <a:rPr sz="2250" spc="55" dirty="0">
                <a:latin typeface="Cambria"/>
                <a:cs typeface="Cambria"/>
              </a:rPr>
              <a:t> </a:t>
            </a:r>
            <a:r>
              <a:rPr sz="2250" spc="-30" dirty="0">
                <a:latin typeface="Cambria"/>
                <a:cs typeface="Cambria"/>
              </a:rPr>
              <a:t>from</a:t>
            </a:r>
            <a:r>
              <a:rPr sz="2250" spc="55" dirty="0">
                <a:latin typeface="Cambria"/>
                <a:cs typeface="Cambria"/>
              </a:rPr>
              <a:t> </a:t>
            </a:r>
            <a:r>
              <a:rPr sz="2250" spc="-35" dirty="0">
                <a:latin typeface="Cambria"/>
                <a:cs typeface="Cambria"/>
              </a:rPr>
              <a:t>present</a:t>
            </a:r>
            <a:r>
              <a:rPr sz="2250" spc="50" dirty="0">
                <a:latin typeface="Cambria"/>
                <a:cs typeface="Cambria"/>
              </a:rPr>
              <a:t> </a:t>
            </a:r>
            <a:r>
              <a:rPr sz="2250" spc="-25" dirty="0">
                <a:latin typeface="Cambria"/>
                <a:cs typeface="Cambria"/>
              </a:rPr>
              <a:t>coordinates</a:t>
            </a:r>
            <a:r>
              <a:rPr sz="2325" spc="-37" baseline="34050" dirty="0">
                <a:latin typeface="Cambria"/>
                <a:cs typeface="Cambria"/>
              </a:rPr>
              <a:t>2</a:t>
            </a:r>
            <a:endParaRPr sz="2325" baseline="3405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99906" y="1565392"/>
            <a:ext cx="5826760" cy="335280"/>
          </a:xfrm>
          <a:custGeom>
            <a:avLst/>
            <a:gdLst/>
            <a:ahLst/>
            <a:cxnLst/>
            <a:rect l="l" t="t" r="r" b="b"/>
            <a:pathLst>
              <a:path w="5826759" h="335280">
                <a:moveTo>
                  <a:pt x="113873" y="301066"/>
                </a:moveTo>
                <a:lnTo>
                  <a:pt x="101293" y="301066"/>
                </a:lnTo>
                <a:lnTo>
                  <a:pt x="233736" y="28540"/>
                </a:lnTo>
                <a:lnTo>
                  <a:pt x="242672" y="9840"/>
                </a:lnTo>
                <a:lnTo>
                  <a:pt x="245755" y="3072"/>
                </a:lnTo>
                <a:lnTo>
                  <a:pt x="247081" y="1033"/>
                </a:lnTo>
                <a:lnTo>
                  <a:pt x="248859" y="0"/>
                </a:lnTo>
                <a:lnTo>
                  <a:pt x="251116" y="0"/>
                </a:lnTo>
                <a:lnTo>
                  <a:pt x="251116" y="11171"/>
                </a:lnTo>
                <a:lnTo>
                  <a:pt x="254304" y="11171"/>
                </a:lnTo>
                <a:lnTo>
                  <a:pt x="113873" y="301066"/>
                </a:lnTo>
                <a:close/>
              </a:path>
              <a:path w="5826759" h="335280">
                <a:moveTo>
                  <a:pt x="5826556" y="11171"/>
                </a:moveTo>
                <a:lnTo>
                  <a:pt x="251116" y="11171"/>
                </a:lnTo>
                <a:lnTo>
                  <a:pt x="251116" y="0"/>
                </a:lnTo>
                <a:lnTo>
                  <a:pt x="5826556" y="0"/>
                </a:lnTo>
                <a:lnTo>
                  <a:pt x="5826556" y="11171"/>
                </a:lnTo>
                <a:close/>
              </a:path>
              <a:path w="5826759" h="335280">
                <a:moveTo>
                  <a:pt x="7533" y="208344"/>
                </a:moveTo>
                <a:lnTo>
                  <a:pt x="7138" y="208344"/>
                </a:lnTo>
                <a:lnTo>
                  <a:pt x="0" y="201083"/>
                </a:lnTo>
                <a:lnTo>
                  <a:pt x="21443" y="184605"/>
                </a:lnTo>
                <a:lnTo>
                  <a:pt x="42887" y="167848"/>
                </a:lnTo>
                <a:lnTo>
                  <a:pt x="43914" y="169927"/>
                </a:lnTo>
                <a:lnTo>
                  <a:pt x="46699" y="176160"/>
                </a:lnTo>
                <a:lnTo>
                  <a:pt x="51247" y="186547"/>
                </a:lnTo>
                <a:lnTo>
                  <a:pt x="54405" y="193821"/>
                </a:lnTo>
                <a:lnTo>
                  <a:pt x="26522" y="193821"/>
                </a:lnTo>
                <a:lnTo>
                  <a:pt x="23503" y="196056"/>
                </a:lnTo>
                <a:lnTo>
                  <a:pt x="16929" y="201083"/>
                </a:lnTo>
                <a:lnTo>
                  <a:pt x="10721" y="205914"/>
                </a:lnTo>
                <a:lnTo>
                  <a:pt x="7533" y="208344"/>
                </a:lnTo>
                <a:close/>
              </a:path>
              <a:path w="5826759" h="335280">
                <a:moveTo>
                  <a:pt x="94718" y="335138"/>
                </a:moveTo>
                <a:lnTo>
                  <a:pt x="88680" y="335138"/>
                </a:lnTo>
                <a:lnTo>
                  <a:pt x="88313" y="334859"/>
                </a:lnTo>
                <a:lnTo>
                  <a:pt x="57559" y="264201"/>
                </a:lnTo>
                <a:lnTo>
                  <a:pt x="34422" y="211416"/>
                </a:lnTo>
                <a:lnTo>
                  <a:pt x="28570" y="198220"/>
                </a:lnTo>
                <a:lnTo>
                  <a:pt x="26522" y="193821"/>
                </a:lnTo>
                <a:lnTo>
                  <a:pt x="54405" y="193821"/>
                </a:lnTo>
                <a:lnTo>
                  <a:pt x="71984" y="234317"/>
                </a:lnTo>
                <a:lnTo>
                  <a:pt x="92849" y="282104"/>
                </a:lnTo>
                <a:lnTo>
                  <a:pt x="101293" y="301066"/>
                </a:lnTo>
                <a:lnTo>
                  <a:pt x="113873" y="301066"/>
                </a:lnTo>
                <a:lnTo>
                  <a:pt x="101631" y="326397"/>
                </a:lnTo>
                <a:lnTo>
                  <a:pt x="98386" y="332988"/>
                </a:lnTo>
                <a:lnTo>
                  <a:pt x="96863" y="334496"/>
                </a:lnTo>
                <a:lnTo>
                  <a:pt x="94718" y="3351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55236" y="318770"/>
            <a:ext cx="9875474" cy="93217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7800"/>
              </a:lnSpc>
              <a:spcBef>
                <a:spcPts val="90"/>
              </a:spcBef>
            </a:pPr>
            <a:r>
              <a:rPr sz="2900" spc="-190" dirty="0">
                <a:solidFill>
                  <a:srgbClr val="000000"/>
                </a:solidFill>
                <a:latin typeface="Verdana"/>
                <a:cs typeface="Verdana"/>
              </a:rPr>
              <a:t>Computing</a:t>
            </a:r>
            <a:r>
              <a:rPr sz="2900" spc="-20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20" dirty="0">
                <a:solidFill>
                  <a:srgbClr val="000000"/>
                </a:solidFill>
                <a:latin typeface="Verdana"/>
                <a:cs typeface="Verdana"/>
              </a:rPr>
              <a:t>Euclidean</a:t>
            </a:r>
            <a:r>
              <a:rPr sz="2900" spc="-2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50" dirty="0">
                <a:solidFill>
                  <a:srgbClr val="000000"/>
                </a:solidFill>
                <a:latin typeface="Verdana"/>
                <a:cs typeface="Verdana"/>
              </a:rPr>
              <a:t>distance</a:t>
            </a:r>
            <a:r>
              <a:rPr sz="2900" spc="-20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80" dirty="0">
                <a:solidFill>
                  <a:srgbClr val="000000"/>
                </a:solidFill>
                <a:latin typeface="Verdana"/>
                <a:cs typeface="Verdana"/>
              </a:rPr>
              <a:t>in</a:t>
            </a:r>
            <a:r>
              <a:rPr sz="2900" spc="-2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35" dirty="0">
                <a:solidFill>
                  <a:srgbClr val="000000"/>
                </a:solidFill>
                <a:latin typeface="Verdana"/>
                <a:cs typeface="Verdana"/>
              </a:rPr>
              <a:t>presence</a:t>
            </a:r>
            <a:r>
              <a:rPr sz="2900" spc="-20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75" dirty="0">
                <a:solidFill>
                  <a:srgbClr val="000000"/>
                </a:solidFill>
                <a:latin typeface="Verdana"/>
                <a:cs typeface="Verdana"/>
              </a:rPr>
              <a:t>of </a:t>
            </a:r>
            <a:r>
              <a:rPr sz="2900" spc="-100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70" dirty="0">
                <a:solidFill>
                  <a:srgbClr val="000000"/>
                </a:solidFill>
                <a:latin typeface="Verdana"/>
                <a:cs typeface="Verdana"/>
              </a:rPr>
              <a:t>missing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50" dirty="0">
                <a:solidFill>
                  <a:srgbClr val="000000"/>
                </a:solidFill>
                <a:latin typeface="Verdana"/>
                <a:cs typeface="Verdana"/>
              </a:rPr>
              <a:t>values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83654" y="2309812"/>
            <a:ext cx="5715000" cy="647700"/>
          </a:xfrm>
          <a:custGeom>
            <a:avLst/>
            <a:gdLst/>
            <a:ahLst/>
            <a:cxnLst/>
            <a:rect l="l" t="t" r="r" b="b"/>
            <a:pathLst>
              <a:path w="5715000" h="647700">
                <a:moveTo>
                  <a:pt x="5714999" y="647699"/>
                </a:moveTo>
                <a:lnTo>
                  <a:pt x="0" y="647699"/>
                </a:lnTo>
                <a:lnTo>
                  <a:pt x="0" y="0"/>
                </a:lnTo>
                <a:lnTo>
                  <a:pt x="5714999" y="0"/>
                </a:lnTo>
                <a:lnTo>
                  <a:pt x="5714999" y="647699"/>
                </a:lnTo>
                <a:close/>
              </a:path>
            </a:pathLst>
          </a:custGeom>
          <a:solidFill>
            <a:srgbClr val="D0DF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97086" y="2163763"/>
            <a:ext cx="7493000" cy="192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86355" marR="1177290" indent="-1242695">
              <a:lnSpc>
                <a:spcPct val="113900"/>
              </a:lnSpc>
              <a:spcBef>
                <a:spcPts val="100"/>
              </a:spcBef>
            </a:pPr>
            <a:r>
              <a:rPr sz="3375" spc="-22" baseline="-37037" dirty="0">
                <a:latin typeface="Cambria"/>
                <a:cs typeface="Cambria"/>
              </a:rPr>
              <a:t>weight</a:t>
            </a:r>
            <a:r>
              <a:rPr sz="3375" spc="179" baseline="-37037" dirty="0">
                <a:latin typeface="Cambria"/>
                <a:cs typeface="Cambria"/>
              </a:rPr>
              <a:t> </a:t>
            </a:r>
            <a:r>
              <a:rPr sz="3375" spc="750" baseline="-37037" dirty="0">
                <a:latin typeface="Cambria"/>
                <a:cs typeface="Cambria"/>
              </a:rPr>
              <a:t>=</a:t>
            </a:r>
            <a:r>
              <a:rPr sz="2250" u="sng" spc="6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250" u="sng" spc="3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total</a:t>
            </a:r>
            <a:r>
              <a:rPr sz="2250" u="sng" spc="6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250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number</a:t>
            </a:r>
            <a:r>
              <a:rPr sz="2250" u="sng" spc="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250" u="sng" spc="-3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of</a:t>
            </a:r>
            <a:r>
              <a:rPr sz="2250" u="sng" spc="6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250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coordinates </a:t>
            </a:r>
            <a:r>
              <a:rPr sz="2250" spc="-15" dirty="0">
                <a:latin typeface="Cambria"/>
                <a:cs typeface="Cambria"/>
              </a:rPr>
              <a:t> </a:t>
            </a:r>
            <a:r>
              <a:rPr sz="2250" spc="-25" dirty="0">
                <a:latin typeface="Cambria"/>
                <a:cs typeface="Cambria"/>
              </a:rPr>
              <a:t>number</a:t>
            </a:r>
            <a:r>
              <a:rPr sz="2250" spc="50" dirty="0">
                <a:latin typeface="Cambria"/>
                <a:cs typeface="Cambria"/>
              </a:rPr>
              <a:t> </a:t>
            </a:r>
            <a:r>
              <a:rPr sz="2250" spc="-35" dirty="0">
                <a:latin typeface="Cambria"/>
                <a:cs typeface="Cambria"/>
              </a:rPr>
              <a:t>of</a:t>
            </a:r>
            <a:r>
              <a:rPr sz="2250" spc="55" dirty="0">
                <a:latin typeface="Cambria"/>
                <a:cs typeface="Cambria"/>
              </a:rPr>
              <a:t> </a:t>
            </a:r>
            <a:r>
              <a:rPr sz="2250" spc="-35" dirty="0">
                <a:latin typeface="Cambria"/>
                <a:cs typeface="Cambria"/>
              </a:rPr>
              <a:t>present</a:t>
            </a:r>
            <a:r>
              <a:rPr sz="2250" spc="50" dirty="0">
                <a:latin typeface="Cambria"/>
                <a:cs typeface="Cambria"/>
              </a:rPr>
              <a:t> </a:t>
            </a:r>
            <a:r>
              <a:rPr sz="2250" spc="-20" dirty="0">
                <a:latin typeface="Cambria"/>
                <a:cs typeface="Cambria"/>
              </a:rPr>
              <a:t>coordinates</a:t>
            </a:r>
            <a:endParaRPr sz="2250">
              <a:latin typeface="Cambria"/>
              <a:cs typeface="Cambria"/>
            </a:endParaRPr>
          </a:p>
          <a:p>
            <a:pPr>
              <a:spcBef>
                <a:spcPts val="30"/>
              </a:spcBef>
            </a:pPr>
            <a:endParaRPr sz="2500">
              <a:latin typeface="Cambria"/>
              <a:cs typeface="Cambria"/>
            </a:endParaRPr>
          </a:p>
          <a:p>
            <a:pPr marL="25400"/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example,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distance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between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i="1" spc="155" dirty="0">
                <a:latin typeface="Georgia"/>
                <a:cs typeface="Georgia"/>
              </a:rPr>
              <a:t>x</a:t>
            </a:r>
            <a:r>
              <a:rPr sz="2250" i="1" spc="80" dirty="0">
                <a:latin typeface="Georgia"/>
                <a:cs typeface="Georgia"/>
              </a:rPr>
              <a:t> </a:t>
            </a: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spc="130" dirty="0">
                <a:latin typeface="Cambria"/>
                <a:cs typeface="Cambria"/>
              </a:rPr>
              <a:t> </a:t>
            </a:r>
            <a:r>
              <a:rPr sz="2250" spc="-170" dirty="0">
                <a:latin typeface="Cambria"/>
                <a:cs typeface="Cambria"/>
              </a:rPr>
              <a:t>[</a:t>
            </a:r>
            <a:r>
              <a:rPr sz="2250" spc="-125" dirty="0">
                <a:latin typeface="Cambria"/>
                <a:cs typeface="Cambria"/>
              </a:rPr>
              <a:t>3</a:t>
            </a:r>
            <a:r>
              <a:rPr sz="2250" spc="160" dirty="0">
                <a:latin typeface="Cambria"/>
                <a:cs typeface="Cambria"/>
              </a:rPr>
              <a:t>,</a:t>
            </a:r>
            <a:r>
              <a:rPr sz="2250" spc="-125" dirty="0">
                <a:latin typeface="Cambria"/>
                <a:cs typeface="Cambria"/>
              </a:rPr>
              <a:t> </a:t>
            </a:r>
            <a:r>
              <a:rPr sz="2250" i="1" spc="20" dirty="0">
                <a:latin typeface="Georgia"/>
                <a:cs typeface="Georgia"/>
              </a:rPr>
              <a:t>n</a:t>
            </a:r>
            <a:r>
              <a:rPr sz="2250" i="1" spc="-105" dirty="0">
                <a:latin typeface="Georgia"/>
                <a:cs typeface="Georgia"/>
              </a:rPr>
              <a:t>a</a:t>
            </a:r>
            <a:r>
              <a:rPr sz="2250" i="1" spc="20" dirty="0">
                <a:latin typeface="Georgia"/>
                <a:cs typeface="Georgia"/>
              </a:rPr>
              <a:t>n</a:t>
            </a:r>
            <a:r>
              <a:rPr sz="2250" spc="160" dirty="0">
                <a:latin typeface="Cambria"/>
                <a:cs typeface="Cambria"/>
              </a:rPr>
              <a:t>,</a:t>
            </a:r>
            <a:r>
              <a:rPr sz="2250" spc="-125" dirty="0">
                <a:latin typeface="Cambria"/>
                <a:cs typeface="Cambria"/>
              </a:rPr>
              <a:t> </a:t>
            </a:r>
            <a:r>
              <a:rPr sz="2250" i="1" spc="20" dirty="0">
                <a:latin typeface="Georgia"/>
                <a:cs typeface="Georgia"/>
              </a:rPr>
              <a:t>n</a:t>
            </a:r>
            <a:r>
              <a:rPr sz="2250" i="1" spc="-105" dirty="0">
                <a:latin typeface="Georgia"/>
                <a:cs typeface="Georgia"/>
              </a:rPr>
              <a:t>a</a:t>
            </a:r>
            <a:r>
              <a:rPr sz="2250" i="1" spc="20" dirty="0">
                <a:latin typeface="Georgia"/>
                <a:cs typeface="Georgia"/>
              </a:rPr>
              <a:t>n</a:t>
            </a:r>
            <a:r>
              <a:rPr sz="2250" spc="160" dirty="0">
                <a:latin typeface="Cambria"/>
                <a:cs typeface="Cambria"/>
              </a:rPr>
              <a:t>,</a:t>
            </a:r>
            <a:r>
              <a:rPr sz="2250" spc="-125" dirty="0">
                <a:latin typeface="Cambria"/>
                <a:cs typeface="Cambria"/>
              </a:rPr>
              <a:t> 6</a:t>
            </a:r>
            <a:r>
              <a:rPr sz="2250" spc="-165" dirty="0">
                <a:latin typeface="Cambria"/>
                <a:cs typeface="Cambria"/>
              </a:rPr>
              <a:t>]</a:t>
            </a:r>
            <a:r>
              <a:rPr sz="2250" spc="135" dirty="0">
                <a:latin typeface="Cambria"/>
                <a:cs typeface="Cambr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endParaRPr sz="2250">
              <a:latin typeface="Microsoft Sans Serif"/>
              <a:cs typeface="Microsoft Sans Serif"/>
            </a:endParaRPr>
          </a:p>
          <a:p>
            <a:pPr marL="25400">
              <a:spcBef>
                <a:spcPts val="450"/>
              </a:spcBef>
            </a:pPr>
            <a:r>
              <a:rPr sz="2250" i="1" spc="-160" dirty="0">
                <a:latin typeface="Georgia"/>
                <a:cs typeface="Georgia"/>
              </a:rPr>
              <a:t>y</a:t>
            </a:r>
            <a:r>
              <a:rPr sz="2250" i="1" spc="160" dirty="0">
                <a:latin typeface="Georgia"/>
                <a:cs typeface="Georgia"/>
              </a:rPr>
              <a:t> </a:t>
            </a: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spc="130" dirty="0">
                <a:latin typeface="Cambria"/>
                <a:cs typeface="Cambria"/>
              </a:rPr>
              <a:t> </a:t>
            </a:r>
            <a:r>
              <a:rPr sz="2250" spc="-170" dirty="0">
                <a:latin typeface="Cambria"/>
                <a:cs typeface="Cambria"/>
              </a:rPr>
              <a:t>[</a:t>
            </a:r>
            <a:r>
              <a:rPr sz="2250" spc="-125" dirty="0">
                <a:latin typeface="Cambria"/>
                <a:cs typeface="Cambria"/>
              </a:rPr>
              <a:t>1</a:t>
            </a:r>
            <a:r>
              <a:rPr sz="2250" spc="160" dirty="0">
                <a:latin typeface="Cambria"/>
                <a:cs typeface="Cambria"/>
              </a:rPr>
              <a:t>,</a:t>
            </a:r>
            <a:r>
              <a:rPr sz="2250" spc="-125" dirty="0">
                <a:latin typeface="Cambria"/>
                <a:cs typeface="Cambria"/>
              </a:rPr>
              <a:t> </a:t>
            </a:r>
            <a:r>
              <a:rPr sz="2250" i="1" spc="20" dirty="0">
                <a:latin typeface="Georgia"/>
                <a:cs typeface="Georgia"/>
              </a:rPr>
              <a:t>n</a:t>
            </a:r>
            <a:r>
              <a:rPr sz="2250" i="1" spc="-105" dirty="0">
                <a:latin typeface="Georgia"/>
                <a:cs typeface="Georgia"/>
              </a:rPr>
              <a:t>a</a:t>
            </a:r>
            <a:r>
              <a:rPr sz="2250" i="1" spc="20" dirty="0">
                <a:latin typeface="Georgia"/>
                <a:cs typeface="Georgia"/>
              </a:rPr>
              <a:t>n</a:t>
            </a:r>
            <a:r>
              <a:rPr sz="2250" spc="160" dirty="0">
                <a:latin typeface="Cambria"/>
                <a:cs typeface="Cambria"/>
              </a:rPr>
              <a:t>,</a:t>
            </a:r>
            <a:r>
              <a:rPr sz="2250" spc="-125" dirty="0">
                <a:latin typeface="Cambria"/>
                <a:cs typeface="Cambria"/>
              </a:rPr>
              <a:t> 4</a:t>
            </a:r>
            <a:r>
              <a:rPr sz="2250" spc="160" dirty="0">
                <a:latin typeface="Cambria"/>
                <a:cs typeface="Cambria"/>
              </a:rPr>
              <a:t>,</a:t>
            </a:r>
            <a:r>
              <a:rPr sz="2250" spc="-125" dirty="0">
                <a:latin typeface="Cambria"/>
                <a:cs typeface="Cambria"/>
              </a:rPr>
              <a:t> 5</a:t>
            </a:r>
            <a:r>
              <a:rPr sz="2250" spc="-165" dirty="0">
                <a:latin typeface="Cambria"/>
                <a:cs typeface="Cambria"/>
              </a:rPr>
              <a:t>]</a:t>
            </a:r>
            <a:r>
              <a:rPr sz="2250" spc="135" dirty="0">
                <a:latin typeface="Cambria"/>
                <a:cs typeface="Cambria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is:</a:t>
            </a:r>
            <a:endParaRPr sz="225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08487" y="6000749"/>
            <a:ext cx="3133725" cy="419100"/>
            <a:chOff x="3047999" y="6000749"/>
            <a:chExt cx="3133725" cy="419100"/>
          </a:xfrm>
        </p:grpSpPr>
        <p:sp>
          <p:nvSpPr>
            <p:cNvPr id="9" name="object 9"/>
            <p:cNvSpPr/>
            <p:nvPr/>
          </p:nvSpPr>
          <p:spPr>
            <a:xfrm>
              <a:off x="3047999" y="6000749"/>
              <a:ext cx="3133725" cy="419100"/>
            </a:xfrm>
            <a:custGeom>
              <a:avLst/>
              <a:gdLst/>
              <a:ahLst/>
              <a:cxnLst/>
              <a:rect l="l" t="t" r="r" b="b"/>
              <a:pathLst>
                <a:path w="3133725" h="419100">
                  <a:moveTo>
                    <a:pt x="3133724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3133724" y="0"/>
                  </a:lnTo>
                  <a:lnTo>
                    <a:pt x="3133724" y="4190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3517" y="6051902"/>
              <a:ext cx="855980" cy="282575"/>
            </a:xfrm>
            <a:custGeom>
              <a:avLst/>
              <a:gdLst/>
              <a:ahLst/>
              <a:cxnLst/>
              <a:rect l="l" t="t" r="r" b="b"/>
              <a:pathLst>
                <a:path w="855979" h="282575">
                  <a:moveTo>
                    <a:pt x="105437" y="247508"/>
                  </a:moveTo>
                  <a:lnTo>
                    <a:pt x="92841" y="247508"/>
                  </a:lnTo>
                  <a:lnTo>
                    <a:pt x="94808" y="243751"/>
                  </a:lnTo>
                  <a:lnTo>
                    <a:pt x="100412" y="232480"/>
                  </a:lnTo>
                  <a:lnTo>
                    <a:pt x="109657" y="213695"/>
                  </a:lnTo>
                  <a:lnTo>
                    <a:pt x="134834" y="162277"/>
                  </a:lnTo>
                  <a:lnTo>
                    <a:pt x="146679" y="138006"/>
                  </a:lnTo>
                  <a:lnTo>
                    <a:pt x="203930" y="20245"/>
                  </a:lnTo>
                  <a:lnTo>
                    <a:pt x="209742" y="8374"/>
                  </a:lnTo>
                  <a:lnTo>
                    <a:pt x="211965" y="3951"/>
                  </a:lnTo>
                  <a:lnTo>
                    <a:pt x="213479" y="1326"/>
                  </a:lnTo>
                  <a:lnTo>
                    <a:pt x="215393" y="0"/>
                  </a:lnTo>
                  <a:lnTo>
                    <a:pt x="217678" y="0"/>
                  </a:lnTo>
                  <a:lnTo>
                    <a:pt x="217678" y="11288"/>
                  </a:lnTo>
                  <a:lnTo>
                    <a:pt x="220898" y="11288"/>
                  </a:lnTo>
                  <a:lnTo>
                    <a:pt x="158571" y="138937"/>
                  </a:lnTo>
                  <a:lnTo>
                    <a:pt x="105437" y="247508"/>
                  </a:lnTo>
                  <a:close/>
                </a:path>
                <a:path w="855979" h="282575">
                  <a:moveTo>
                    <a:pt x="855731" y="11288"/>
                  </a:moveTo>
                  <a:lnTo>
                    <a:pt x="217678" y="11288"/>
                  </a:lnTo>
                  <a:lnTo>
                    <a:pt x="217678" y="0"/>
                  </a:lnTo>
                  <a:lnTo>
                    <a:pt x="855731" y="0"/>
                  </a:lnTo>
                  <a:lnTo>
                    <a:pt x="855731" y="11288"/>
                  </a:lnTo>
                  <a:close/>
                </a:path>
                <a:path w="855979" h="282575">
                  <a:moveTo>
                    <a:pt x="6570" y="175542"/>
                  </a:moveTo>
                  <a:lnTo>
                    <a:pt x="5799" y="175542"/>
                  </a:lnTo>
                  <a:lnTo>
                    <a:pt x="4522" y="174780"/>
                  </a:lnTo>
                  <a:lnTo>
                    <a:pt x="2713" y="173284"/>
                  </a:lnTo>
                  <a:lnTo>
                    <a:pt x="1056" y="171788"/>
                  </a:lnTo>
                  <a:lnTo>
                    <a:pt x="0" y="170462"/>
                  </a:lnTo>
                  <a:lnTo>
                    <a:pt x="85" y="168401"/>
                  </a:lnTo>
                  <a:lnTo>
                    <a:pt x="285" y="168204"/>
                  </a:lnTo>
                  <a:lnTo>
                    <a:pt x="657" y="167442"/>
                  </a:lnTo>
                  <a:lnTo>
                    <a:pt x="7205" y="162277"/>
                  </a:lnTo>
                  <a:lnTo>
                    <a:pt x="32194" y="143566"/>
                  </a:lnTo>
                  <a:lnTo>
                    <a:pt x="38365" y="138768"/>
                  </a:lnTo>
                  <a:lnTo>
                    <a:pt x="38936" y="138204"/>
                  </a:lnTo>
                  <a:lnTo>
                    <a:pt x="39422" y="138006"/>
                  </a:lnTo>
                  <a:lnTo>
                    <a:pt x="41336" y="138006"/>
                  </a:lnTo>
                  <a:lnTo>
                    <a:pt x="42478" y="138937"/>
                  </a:lnTo>
                  <a:lnTo>
                    <a:pt x="43421" y="140828"/>
                  </a:lnTo>
                  <a:lnTo>
                    <a:pt x="53384" y="162277"/>
                  </a:lnTo>
                  <a:lnTo>
                    <a:pt x="25138" y="162277"/>
                  </a:lnTo>
                  <a:lnTo>
                    <a:pt x="6570" y="175542"/>
                  </a:lnTo>
                  <a:close/>
                </a:path>
                <a:path w="855979" h="282575">
                  <a:moveTo>
                    <a:pt x="86842" y="282222"/>
                  </a:moveTo>
                  <a:lnTo>
                    <a:pt x="82272" y="282222"/>
                  </a:lnTo>
                  <a:lnTo>
                    <a:pt x="81129" y="281939"/>
                  </a:lnTo>
                  <a:lnTo>
                    <a:pt x="80558" y="281375"/>
                  </a:lnTo>
                  <a:lnTo>
                    <a:pt x="71657" y="262528"/>
                  </a:lnTo>
                  <a:lnTo>
                    <a:pt x="25138" y="162277"/>
                  </a:lnTo>
                  <a:lnTo>
                    <a:pt x="53384" y="162277"/>
                  </a:lnTo>
                  <a:lnTo>
                    <a:pt x="92841" y="247508"/>
                  </a:lnTo>
                  <a:lnTo>
                    <a:pt x="105437" y="247508"/>
                  </a:lnTo>
                  <a:lnTo>
                    <a:pt x="89413" y="280246"/>
                  </a:lnTo>
                  <a:lnTo>
                    <a:pt x="88642" y="281573"/>
                  </a:lnTo>
                  <a:lnTo>
                    <a:pt x="86842" y="2822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408487" y="6000750"/>
            <a:ext cx="3133725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tabLst>
                <a:tab pos="1744345" algn="l"/>
              </a:tabLst>
            </a:pPr>
            <a:r>
              <a:rPr sz="2250" dirty="0">
                <a:latin typeface="Cambria"/>
                <a:cs typeface="Cambria"/>
              </a:rPr>
              <a:t>di</a:t>
            </a:r>
            <a:r>
              <a:rPr sz="2250" spc="-85" dirty="0">
                <a:latin typeface="Cambria"/>
                <a:cs typeface="Cambria"/>
              </a:rPr>
              <a:t>s</a:t>
            </a:r>
            <a:r>
              <a:rPr sz="2250" spc="105" dirty="0">
                <a:latin typeface="Cambria"/>
                <a:cs typeface="Cambria"/>
              </a:rPr>
              <a:t>t</a:t>
            </a:r>
            <a:r>
              <a:rPr sz="2250" spc="10" dirty="0">
                <a:latin typeface="Cambria"/>
                <a:cs typeface="Cambria"/>
              </a:rPr>
              <a:t>(</a:t>
            </a:r>
            <a:r>
              <a:rPr sz="2250" i="1" spc="150" dirty="0">
                <a:latin typeface="Georgia"/>
                <a:cs typeface="Georgia"/>
              </a:rPr>
              <a:t>x</a:t>
            </a:r>
            <a:r>
              <a:rPr sz="2250" spc="160" dirty="0">
                <a:latin typeface="Cambria"/>
                <a:cs typeface="Cambria"/>
              </a:rPr>
              <a:t>,</a:t>
            </a:r>
            <a:r>
              <a:rPr sz="2250" spc="-125" dirty="0">
                <a:latin typeface="Cambria"/>
                <a:cs typeface="Cambria"/>
              </a:rPr>
              <a:t> </a:t>
            </a:r>
            <a:r>
              <a:rPr sz="2250" i="1" spc="-85" dirty="0">
                <a:latin typeface="Georgia"/>
                <a:cs typeface="Georgia"/>
              </a:rPr>
              <a:t>y</a:t>
            </a:r>
            <a:r>
              <a:rPr sz="2250" spc="15" dirty="0">
                <a:latin typeface="Cambria"/>
                <a:cs typeface="Cambria"/>
              </a:rPr>
              <a:t>)</a:t>
            </a:r>
            <a:r>
              <a:rPr sz="2250" spc="125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dirty="0">
                <a:latin typeface="Cambria"/>
                <a:cs typeface="Cambria"/>
              </a:rPr>
              <a:t>	</a:t>
            </a:r>
            <a:r>
              <a:rPr sz="2250" spc="-125" dirty="0">
                <a:latin typeface="Cambria"/>
                <a:cs typeface="Cambria"/>
              </a:rPr>
              <a:t>2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×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5</a:t>
            </a:r>
            <a:r>
              <a:rPr sz="2250" spc="155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≈</a:t>
            </a:r>
            <a:r>
              <a:rPr sz="2250" spc="130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3</a:t>
            </a:r>
            <a:r>
              <a:rPr sz="2250" spc="155" dirty="0">
                <a:latin typeface="Cambria"/>
                <a:cs typeface="Cambria"/>
              </a:rPr>
              <a:t>.</a:t>
            </a:r>
            <a:r>
              <a:rPr sz="2250" spc="-125" dirty="0">
                <a:latin typeface="Cambria"/>
                <a:cs typeface="Cambria"/>
              </a:rPr>
              <a:t>3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39813" y="4457699"/>
            <a:ext cx="7591425" cy="647700"/>
          </a:xfrm>
          <a:custGeom>
            <a:avLst/>
            <a:gdLst/>
            <a:ahLst/>
            <a:cxnLst/>
            <a:rect l="l" t="t" r="r" b="b"/>
            <a:pathLst>
              <a:path w="7591425" h="647700">
                <a:moveTo>
                  <a:pt x="7591424" y="647699"/>
                </a:moveTo>
                <a:lnTo>
                  <a:pt x="0" y="647699"/>
                </a:lnTo>
                <a:lnTo>
                  <a:pt x="0" y="0"/>
                </a:lnTo>
                <a:lnTo>
                  <a:pt x="7591424" y="0"/>
                </a:lnTo>
                <a:lnTo>
                  <a:pt x="7591424" y="647699"/>
                </a:lnTo>
                <a:close/>
              </a:path>
            </a:pathLst>
          </a:custGeom>
          <a:solidFill>
            <a:srgbClr val="C8D9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840794" y="4359275"/>
            <a:ext cx="48799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spc="-22" baseline="-37037" dirty="0">
                <a:latin typeface="Cambria"/>
                <a:cs typeface="Cambria"/>
              </a:rPr>
              <a:t>weight</a:t>
            </a:r>
            <a:r>
              <a:rPr sz="3375" spc="179" baseline="-37037" dirty="0">
                <a:latin typeface="Cambria"/>
                <a:cs typeface="Cambria"/>
              </a:rPr>
              <a:t> </a:t>
            </a:r>
            <a:r>
              <a:rPr sz="3375" spc="750" baseline="-37037" dirty="0">
                <a:latin typeface="Cambria"/>
                <a:cs typeface="Cambria"/>
              </a:rPr>
              <a:t>= </a:t>
            </a:r>
            <a:r>
              <a:rPr sz="2250" u="sng" spc="66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250" u="sng" spc="3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total</a:t>
            </a:r>
            <a:r>
              <a:rPr sz="2250" u="sng" spc="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250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number</a:t>
            </a:r>
            <a:r>
              <a:rPr sz="2250" u="sng" spc="6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250" u="sng" spc="-3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of</a:t>
            </a:r>
            <a:r>
              <a:rPr sz="2250" u="sng" spc="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250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coordinates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15</a:t>
            </a:fld>
            <a:endParaRPr spc="-85" dirty="0"/>
          </a:p>
        </p:txBody>
      </p:sp>
      <p:sp>
        <p:nvSpPr>
          <p:cNvPr id="14" name="object 14"/>
          <p:cNvSpPr txBox="1"/>
          <p:nvPr/>
        </p:nvSpPr>
        <p:spPr>
          <a:xfrm>
            <a:off x="4108759" y="4749799"/>
            <a:ext cx="43408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184650" algn="l"/>
              </a:tabLst>
            </a:pPr>
            <a:r>
              <a:rPr sz="2250" spc="-5" dirty="0">
                <a:latin typeface="Cambria"/>
                <a:cs typeface="Cambria"/>
              </a:rPr>
              <a:t>n</a:t>
            </a:r>
            <a:r>
              <a:rPr sz="2250" spc="5" dirty="0">
                <a:latin typeface="Cambria"/>
                <a:cs typeface="Cambria"/>
              </a:rPr>
              <a:t>u</a:t>
            </a:r>
            <a:r>
              <a:rPr sz="2250" dirty="0">
                <a:latin typeface="Cambria"/>
                <a:cs typeface="Cambria"/>
              </a:rPr>
              <a:t>m</a:t>
            </a:r>
            <a:r>
              <a:rPr sz="2250" spc="15" dirty="0">
                <a:latin typeface="Cambria"/>
                <a:cs typeface="Cambria"/>
              </a:rPr>
              <a:t>b</a:t>
            </a:r>
            <a:r>
              <a:rPr sz="2250" spc="-100" dirty="0">
                <a:latin typeface="Cambria"/>
                <a:cs typeface="Cambria"/>
              </a:rPr>
              <a:t>e</a:t>
            </a:r>
            <a:r>
              <a:rPr sz="2250" spc="-50" dirty="0">
                <a:latin typeface="Cambria"/>
                <a:cs typeface="Cambria"/>
              </a:rPr>
              <a:t>r</a:t>
            </a:r>
            <a:r>
              <a:rPr sz="2250" spc="65" dirty="0">
                <a:latin typeface="Cambria"/>
                <a:cs typeface="Cambria"/>
              </a:rPr>
              <a:t> </a:t>
            </a:r>
            <a:r>
              <a:rPr sz="2250" spc="-35" dirty="0">
                <a:latin typeface="Cambria"/>
                <a:cs typeface="Cambria"/>
              </a:rPr>
              <a:t>of</a:t>
            </a:r>
            <a:r>
              <a:rPr sz="2250" spc="65" dirty="0">
                <a:latin typeface="Cambria"/>
                <a:cs typeface="Cambria"/>
              </a:rPr>
              <a:t> </a:t>
            </a:r>
            <a:r>
              <a:rPr sz="2250" spc="-5" dirty="0">
                <a:latin typeface="Cambria"/>
                <a:cs typeface="Cambria"/>
              </a:rPr>
              <a:t>p</a:t>
            </a:r>
            <a:r>
              <a:rPr sz="2250" spc="-50" dirty="0">
                <a:latin typeface="Cambria"/>
                <a:cs typeface="Cambria"/>
              </a:rPr>
              <a:t>r</a:t>
            </a:r>
            <a:r>
              <a:rPr sz="2250" spc="-100" dirty="0">
                <a:latin typeface="Cambria"/>
                <a:cs typeface="Cambria"/>
              </a:rPr>
              <a:t>e</a:t>
            </a:r>
            <a:r>
              <a:rPr sz="2250" spc="-85" dirty="0">
                <a:latin typeface="Cambria"/>
                <a:cs typeface="Cambria"/>
              </a:rPr>
              <a:t>s</a:t>
            </a:r>
            <a:r>
              <a:rPr sz="2250" spc="-100" dirty="0">
                <a:latin typeface="Cambria"/>
                <a:cs typeface="Cambria"/>
              </a:rPr>
              <a:t>e</a:t>
            </a:r>
            <a:r>
              <a:rPr sz="2250" spc="-5" dirty="0">
                <a:latin typeface="Cambria"/>
                <a:cs typeface="Cambria"/>
              </a:rPr>
              <a:t>n</a:t>
            </a:r>
            <a:r>
              <a:rPr sz="2250" spc="110" dirty="0">
                <a:latin typeface="Cambria"/>
                <a:cs typeface="Cambria"/>
              </a:rPr>
              <a:t>t</a:t>
            </a:r>
            <a:r>
              <a:rPr sz="2250" spc="65" dirty="0">
                <a:latin typeface="Cambria"/>
                <a:cs typeface="Cambria"/>
              </a:rPr>
              <a:t> </a:t>
            </a:r>
            <a:r>
              <a:rPr sz="2250" spc="5" dirty="0">
                <a:latin typeface="Cambria"/>
                <a:cs typeface="Cambria"/>
              </a:rPr>
              <a:t>c</a:t>
            </a:r>
            <a:r>
              <a:rPr sz="2250" spc="-65" dirty="0">
                <a:latin typeface="Cambria"/>
                <a:cs typeface="Cambria"/>
              </a:rPr>
              <a:t>oor</a:t>
            </a:r>
            <a:r>
              <a:rPr sz="2250" dirty="0">
                <a:latin typeface="Cambria"/>
                <a:cs typeface="Cambria"/>
              </a:rPr>
              <a:t>di</a:t>
            </a:r>
            <a:r>
              <a:rPr sz="2250" spc="-5" dirty="0">
                <a:latin typeface="Cambria"/>
                <a:cs typeface="Cambria"/>
              </a:rPr>
              <a:t>n</a:t>
            </a:r>
            <a:r>
              <a:rPr sz="2250" spc="70" dirty="0">
                <a:latin typeface="Cambria"/>
                <a:cs typeface="Cambria"/>
              </a:rPr>
              <a:t>at</a:t>
            </a:r>
            <a:r>
              <a:rPr sz="2250" spc="-100" dirty="0">
                <a:latin typeface="Cambria"/>
                <a:cs typeface="Cambria"/>
              </a:rPr>
              <a:t>e</a:t>
            </a:r>
            <a:r>
              <a:rPr sz="2250" spc="-85" dirty="0">
                <a:latin typeface="Cambria"/>
                <a:cs typeface="Cambria"/>
              </a:rPr>
              <a:t>s</a:t>
            </a:r>
            <a:r>
              <a:rPr sz="2250" dirty="0">
                <a:latin typeface="Cambria"/>
                <a:cs typeface="Cambria"/>
              </a:rPr>
              <a:t>	</a:t>
            </a:r>
            <a:r>
              <a:rPr sz="2250" spc="-125" dirty="0"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19553" y="4549775"/>
            <a:ext cx="111379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spc="370" dirty="0">
                <a:latin typeface="Cambria"/>
                <a:cs typeface="Cambria"/>
              </a:rPr>
              <a:t> </a:t>
            </a:r>
            <a:r>
              <a:rPr sz="3375" u="sng" spc="-187" baseline="37037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4</a:t>
            </a:r>
            <a:r>
              <a:rPr sz="3375" spc="555" baseline="37037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spc="110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31149" y="5348250"/>
            <a:ext cx="7600950" cy="34624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 marL="77470"/>
            <a:r>
              <a:rPr sz="2250" spc="-5" dirty="0">
                <a:latin typeface="Cambria"/>
                <a:cs typeface="Cambria"/>
              </a:rPr>
              <a:t>distance</a:t>
            </a:r>
            <a:r>
              <a:rPr sz="2250" spc="65" dirty="0">
                <a:latin typeface="Cambria"/>
                <a:cs typeface="Cambria"/>
              </a:rPr>
              <a:t> </a:t>
            </a:r>
            <a:r>
              <a:rPr sz="2250" spc="-30" dirty="0">
                <a:latin typeface="Cambria"/>
                <a:cs typeface="Cambria"/>
              </a:rPr>
              <a:t>from</a:t>
            </a:r>
            <a:r>
              <a:rPr sz="2250" spc="65" dirty="0">
                <a:latin typeface="Cambria"/>
                <a:cs typeface="Cambria"/>
              </a:rPr>
              <a:t> </a:t>
            </a:r>
            <a:r>
              <a:rPr sz="2250" spc="-35" dirty="0">
                <a:latin typeface="Cambria"/>
                <a:cs typeface="Cambria"/>
              </a:rPr>
              <a:t>present</a:t>
            </a:r>
            <a:r>
              <a:rPr sz="2250" spc="65" dirty="0">
                <a:latin typeface="Cambria"/>
                <a:cs typeface="Cambria"/>
              </a:rPr>
              <a:t> </a:t>
            </a:r>
            <a:r>
              <a:rPr sz="2250" spc="-25" dirty="0">
                <a:latin typeface="Cambria"/>
                <a:cs typeface="Cambria"/>
              </a:rPr>
              <a:t>coordinates</a:t>
            </a:r>
            <a:r>
              <a:rPr sz="2325" spc="-37" baseline="34050" dirty="0">
                <a:latin typeface="Cambria"/>
                <a:cs typeface="Cambria"/>
              </a:rPr>
              <a:t>2</a:t>
            </a:r>
            <a:r>
              <a:rPr sz="2325" spc="120" baseline="34050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spc="130" dirty="0">
                <a:latin typeface="Cambria"/>
                <a:cs typeface="Cambria"/>
              </a:rPr>
              <a:t> </a:t>
            </a:r>
            <a:r>
              <a:rPr sz="2250" spc="-55" dirty="0">
                <a:latin typeface="Cambria"/>
                <a:cs typeface="Cambria"/>
              </a:rPr>
              <a:t>(3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−</a:t>
            </a:r>
            <a:r>
              <a:rPr sz="2250" spc="5" dirty="0">
                <a:latin typeface="Cambria"/>
                <a:cs typeface="Cambria"/>
              </a:rPr>
              <a:t> </a:t>
            </a:r>
            <a:r>
              <a:rPr sz="2250" spc="-65" dirty="0">
                <a:latin typeface="Cambria"/>
                <a:cs typeface="Cambria"/>
              </a:rPr>
              <a:t>1)</a:t>
            </a:r>
            <a:r>
              <a:rPr sz="2325" spc="-97" baseline="28673" dirty="0">
                <a:latin typeface="Cambria"/>
                <a:cs typeface="Cambria"/>
              </a:rPr>
              <a:t>2</a:t>
            </a:r>
            <a:r>
              <a:rPr sz="2325" spc="405" baseline="28673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+</a:t>
            </a:r>
            <a:r>
              <a:rPr sz="2250" spc="5" dirty="0">
                <a:latin typeface="Cambria"/>
                <a:cs typeface="Cambria"/>
              </a:rPr>
              <a:t> </a:t>
            </a:r>
            <a:r>
              <a:rPr sz="2250" spc="-55" dirty="0">
                <a:latin typeface="Cambria"/>
                <a:cs typeface="Cambria"/>
              </a:rPr>
              <a:t>(6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−</a:t>
            </a:r>
            <a:r>
              <a:rPr sz="2250" spc="5" dirty="0">
                <a:latin typeface="Cambria"/>
                <a:cs typeface="Cambria"/>
              </a:rPr>
              <a:t> </a:t>
            </a:r>
            <a:r>
              <a:rPr sz="2250" spc="-65" dirty="0">
                <a:latin typeface="Cambria"/>
                <a:cs typeface="Cambria"/>
              </a:rPr>
              <a:t>5)</a:t>
            </a:r>
            <a:r>
              <a:rPr sz="2325" spc="-97" baseline="28673" dirty="0">
                <a:latin typeface="Cambria"/>
                <a:cs typeface="Cambria"/>
              </a:rPr>
              <a:t>2</a:t>
            </a:r>
            <a:r>
              <a:rPr sz="2325" spc="585" baseline="28673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spc="130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5</a:t>
            </a:r>
            <a:endParaRPr sz="22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951" y="2667000"/>
            <a:ext cx="1508125" cy="346249"/>
          </a:xfrm>
          <a:prstGeom prst="rect">
            <a:avLst/>
          </a:prstGeom>
          <a:solidFill>
            <a:srgbClr val="C8D9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tabLst>
                <a:tab pos="636270" algn="l"/>
                <a:tab pos="1150620" algn="l"/>
              </a:tabLst>
            </a:pPr>
            <a:r>
              <a:rPr sz="2250" spc="275" dirty="0">
                <a:latin typeface="Segoe UI Symbol"/>
                <a:cs typeface="Segoe UI Symbol"/>
              </a:rPr>
              <a:t>[</a:t>
            </a:r>
            <a:r>
              <a:rPr sz="2250" spc="-125" dirty="0">
                <a:latin typeface="Cambria"/>
                <a:cs typeface="Cambria"/>
              </a:rPr>
              <a:t>3</a:t>
            </a:r>
            <a:r>
              <a:rPr sz="2250" spc="160" dirty="0">
                <a:latin typeface="Cambria"/>
                <a:cs typeface="Cambria"/>
              </a:rPr>
              <a:t>.</a:t>
            </a:r>
            <a:r>
              <a:rPr sz="2250" dirty="0">
                <a:latin typeface="Cambria"/>
                <a:cs typeface="Cambria"/>
              </a:rPr>
              <a:t>	</a:t>
            </a:r>
            <a:r>
              <a:rPr sz="2250" spc="-125" dirty="0">
                <a:latin typeface="Cambria"/>
                <a:cs typeface="Cambria"/>
              </a:rPr>
              <a:t>4</a:t>
            </a:r>
            <a:r>
              <a:rPr sz="2250" spc="160" dirty="0">
                <a:latin typeface="Cambria"/>
                <a:cs typeface="Cambria"/>
              </a:rPr>
              <a:t>.</a:t>
            </a:r>
            <a:r>
              <a:rPr sz="2250" dirty="0">
                <a:latin typeface="Cambria"/>
                <a:cs typeface="Cambria"/>
              </a:rPr>
              <a:t>	</a:t>
            </a:r>
            <a:r>
              <a:rPr sz="2250" spc="-125" dirty="0">
                <a:latin typeface="Cambria"/>
                <a:cs typeface="Cambria"/>
              </a:rPr>
              <a:t>3</a:t>
            </a:r>
            <a:r>
              <a:rPr sz="2250" spc="180" dirty="0">
                <a:latin typeface="Cambria"/>
                <a:cs typeface="Cambria"/>
              </a:rPr>
              <a:t>.</a:t>
            </a:r>
            <a:r>
              <a:rPr sz="2250" spc="254" dirty="0">
                <a:latin typeface="Segoe UI Symbol"/>
                <a:cs typeface="Segoe UI Symbol"/>
              </a:rPr>
              <a:t>]</a:t>
            </a:r>
            <a:endParaRPr sz="2250">
              <a:latin typeface="Segoe UI Symbol"/>
              <a:cs typeface="Segoe UI Symbo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4951" y="3162300"/>
            <a:ext cx="1774825" cy="346249"/>
          </a:xfrm>
          <a:prstGeom prst="rect">
            <a:avLst/>
          </a:prstGeom>
          <a:solidFill>
            <a:srgbClr val="C8D9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tabLst>
                <a:tab pos="902969" algn="l"/>
                <a:tab pos="1417320" algn="l"/>
              </a:tabLst>
            </a:pPr>
            <a:r>
              <a:rPr sz="2250" spc="254" dirty="0">
                <a:latin typeface="Segoe UI Symbol"/>
                <a:cs typeface="Segoe UI Symbol"/>
              </a:rPr>
              <a:t>[</a:t>
            </a:r>
            <a:r>
              <a:rPr sz="2250" i="1" spc="20" dirty="0">
                <a:latin typeface="Georgia"/>
                <a:cs typeface="Georgia"/>
              </a:rPr>
              <a:t>n</a:t>
            </a:r>
            <a:r>
              <a:rPr sz="2250" i="1" spc="-105" dirty="0">
                <a:latin typeface="Georgia"/>
                <a:cs typeface="Georgia"/>
              </a:rPr>
              <a:t>a</a:t>
            </a:r>
            <a:r>
              <a:rPr sz="2250" i="1" spc="20" dirty="0">
                <a:latin typeface="Georgia"/>
                <a:cs typeface="Georgia"/>
              </a:rPr>
              <a:t>n</a:t>
            </a:r>
            <a:r>
              <a:rPr sz="2250" i="1" dirty="0">
                <a:latin typeface="Georgia"/>
                <a:cs typeface="Georgia"/>
              </a:rPr>
              <a:t>	</a:t>
            </a:r>
            <a:r>
              <a:rPr sz="2250" spc="-125" dirty="0">
                <a:latin typeface="Cambria"/>
                <a:cs typeface="Cambria"/>
              </a:rPr>
              <a:t>6</a:t>
            </a:r>
            <a:r>
              <a:rPr sz="2250" spc="160" dirty="0">
                <a:latin typeface="Cambria"/>
                <a:cs typeface="Cambria"/>
              </a:rPr>
              <a:t>.</a:t>
            </a:r>
            <a:r>
              <a:rPr sz="2250" dirty="0">
                <a:latin typeface="Cambria"/>
                <a:cs typeface="Cambria"/>
              </a:rPr>
              <a:t>	</a:t>
            </a:r>
            <a:r>
              <a:rPr sz="2250" spc="-125" dirty="0">
                <a:latin typeface="Cambria"/>
                <a:cs typeface="Cambria"/>
              </a:rPr>
              <a:t>5</a:t>
            </a:r>
            <a:r>
              <a:rPr sz="2250" spc="180" dirty="0">
                <a:latin typeface="Cambria"/>
                <a:cs typeface="Cambria"/>
              </a:rPr>
              <a:t>.</a:t>
            </a:r>
            <a:r>
              <a:rPr sz="2250" spc="254" dirty="0">
                <a:latin typeface="Segoe UI Symbol"/>
                <a:cs typeface="Segoe UI Symbol"/>
              </a:rPr>
              <a:t>]</a:t>
            </a:r>
            <a:endParaRPr sz="22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4951" y="3695700"/>
            <a:ext cx="1508125" cy="346249"/>
          </a:xfrm>
          <a:prstGeom prst="rect">
            <a:avLst/>
          </a:prstGeom>
          <a:solidFill>
            <a:srgbClr val="C8D9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tabLst>
                <a:tab pos="636270" algn="l"/>
                <a:tab pos="1150620" algn="l"/>
              </a:tabLst>
            </a:pPr>
            <a:r>
              <a:rPr sz="2250" spc="275" dirty="0">
                <a:latin typeface="Segoe UI Symbol"/>
                <a:cs typeface="Segoe UI Symbol"/>
              </a:rPr>
              <a:t>[</a:t>
            </a:r>
            <a:r>
              <a:rPr sz="2250" spc="-125" dirty="0">
                <a:latin typeface="Cambria"/>
                <a:cs typeface="Cambria"/>
              </a:rPr>
              <a:t>8</a:t>
            </a:r>
            <a:r>
              <a:rPr sz="2250" spc="160" dirty="0">
                <a:latin typeface="Cambria"/>
                <a:cs typeface="Cambria"/>
              </a:rPr>
              <a:t>.</a:t>
            </a:r>
            <a:r>
              <a:rPr sz="2250" dirty="0">
                <a:latin typeface="Cambria"/>
                <a:cs typeface="Cambria"/>
              </a:rPr>
              <a:t>	</a:t>
            </a:r>
            <a:r>
              <a:rPr sz="2250" spc="-125" dirty="0">
                <a:latin typeface="Cambria"/>
                <a:cs typeface="Cambria"/>
              </a:rPr>
              <a:t>8</a:t>
            </a:r>
            <a:r>
              <a:rPr sz="2250" spc="160" dirty="0">
                <a:latin typeface="Cambria"/>
                <a:cs typeface="Cambria"/>
              </a:rPr>
              <a:t>.</a:t>
            </a:r>
            <a:r>
              <a:rPr sz="2250" dirty="0">
                <a:latin typeface="Cambria"/>
                <a:cs typeface="Cambria"/>
              </a:rPr>
              <a:t>	</a:t>
            </a:r>
            <a:r>
              <a:rPr sz="2250" spc="-125" dirty="0">
                <a:latin typeface="Cambria"/>
                <a:cs typeface="Cambria"/>
              </a:rPr>
              <a:t>7</a:t>
            </a:r>
            <a:r>
              <a:rPr sz="2250" spc="180" dirty="0">
                <a:latin typeface="Cambria"/>
                <a:cs typeface="Cambria"/>
              </a:rPr>
              <a:t>.</a:t>
            </a:r>
            <a:r>
              <a:rPr sz="2250" spc="254" dirty="0">
                <a:latin typeface="Segoe UI Symbol"/>
                <a:cs typeface="Segoe UI Symbol"/>
              </a:rPr>
              <a:t>]</a:t>
            </a:r>
            <a:endParaRPr sz="225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00922" y="2114550"/>
            <a:ext cx="3752850" cy="34624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tabLst>
                <a:tab pos="2437130" algn="l"/>
                <a:tab pos="2944495" algn="l"/>
              </a:tabLst>
            </a:pPr>
            <a:r>
              <a:rPr sz="2250" spc="-5" dirty="0">
                <a:latin typeface="Microsoft Sans Serif"/>
                <a:cs typeface="Microsoft Sans Serif"/>
              </a:rPr>
              <a:t>Distance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35" dirty="0">
                <a:latin typeface="Microsoft Sans Serif"/>
                <a:cs typeface="Microsoft Sans Serif"/>
              </a:rPr>
              <a:t> </a:t>
            </a:r>
            <a:r>
              <a:rPr sz="2250" spc="-45" dirty="0">
                <a:solidFill>
                  <a:srgbClr val="FF0000"/>
                </a:solidFill>
                <a:latin typeface="Cambria"/>
                <a:cs typeface="Cambria"/>
              </a:rPr>
              <a:t>[1.	</a:t>
            </a:r>
            <a:r>
              <a:rPr sz="2250" spc="20" dirty="0">
                <a:solidFill>
                  <a:srgbClr val="FF0000"/>
                </a:solidFill>
                <a:latin typeface="Cambria"/>
                <a:cs typeface="Cambria"/>
              </a:rPr>
              <a:t>2.	</a:t>
            </a:r>
            <a:r>
              <a:rPr sz="2250" i="1" spc="-15" dirty="0">
                <a:solidFill>
                  <a:srgbClr val="FF0000"/>
                </a:solidFill>
                <a:latin typeface="Georgia"/>
                <a:cs typeface="Georgia"/>
              </a:rPr>
              <a:t>nan</a:t>
            </a:r>
            <a:r>
              <a:rPr sz="2250" spc="-15" dirty="0">
                <a:solidFill>
                  <a:srgbClr val="FF0000"/>
                </a:solidFill>
                <a:latin typeface="Cambria"/>
                <a:cs typeface="Cambria"/>
              </a:rPr>
              <a:t>.]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17936" y="2638425"/>
            <a:ext cx="3867150" cy="523875"/>
          </a:xfrm>
          <a:custGeom>
            <a:avLst/>
            <a:gdLst/>
            <a:ahLst/>
            <a:cxnLst/>
            <a:rect l="l" t="t" r="r" b="b"/>
            <a:pathLst>
              <a:path w="3867150" h="523875">
                <a:moveTo>
                  <a:pt x="3867149" y="523874"/>
                </a:moveTo>
                <a:lnTo>
                  <a:pt x="0" y="523874"/>
                </a:lnTo>
                <a:lnTo>
                  <a:pt x="0" y="0"/>
                </a:lnTo>
                <a:lnTo>
                  <a:pt x="3867149" y="0"/>
                </a:lnTo>
                <a:lnTo>
                  <a:pt x="3867149" y="523874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40447" y="2873376"/>
            <a:ext cx="11303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45280" y="2650857"/>
            <a:ext cx="2954020" cy="494030"/>
          </a:xfrm>
          <a:custGeom>
            <a:avLst/>
            <a:gdLst/>
            <a:ahLst/>
            <a:cxnLst/>
            <a:rect l="l" t="t" r="r" b="b"/>
            <a:pathLst>
              <a:path w="2954020" h="494030">
                <a:moveTo>
                  <a:pt x="401269" y="263791"/>
                </a:moveTo>
                <a:lnTo>
                  <a:pt x="296494" y="263791"/>
                </a:lnTo>
                <a:lnTo>
                  <a:pt x="296494" y="273316"/>
                </a:lnTo>
                <a:lnTo>
                  <a:pt x="401269" y="273316"/>
                </a:lnTo>
                <a:lnTo>
                  <a:pt x="401269" y="263791"/>
                </a:lnTo>
                <a:close/>
              </a:path>
              <a:path w="2954020" h="494030">
                <a:moveTo>
                  <a:pt x="2953969" y="0"/>
                </a:moveTo>
                <a:lnTo>
                  <a:pt x="249224" y="0"/>
                </a:lnTo>
                <a:lnTo>
                  <a:pt x="247015" y="0"/>
                </a:lnTo>
                <a:lnTo>
                  <a:pt x="245351" y="901"/>
                </a:lnTo>
                <a:lnTo>
                  <a:pt x="228638" y="50927"/>
                </a:lnTo>
                <a:lnTo>
                  <a:pt x="144551" y="315747"/>
                </a:lnTo>
                <a:lnTo>
                  <a:pt x="115404" y="407123"/>
                </a:lnTo>
                <a:lnTo>
                  <a:pt x="103060" y="445592"/>
                </a:lnTo>
                <a:lnTo>
                  <a:pt x="55854" y="282892"/>
                </a:lnTo>
                <a:lnTo>
                  <a:pt x="45593" y="247497"/>
                </a:lnTo>
                <a:lnTo>
                  <a:pt x="37858" y="256273"/>
                </a:lnTo>
                <a:lnTo>
                  <a:pt x="26187" y="269836"/>
                </a:lnTo>
                <a:lnTo>
                  <a:pt x="21005" y="275958"/>
                </a:lnTo>
                <a:lnTo>
                  <a:pt x="15684" y="282321"/>
                </a:lnTo>
                <a:lnTo>
                  <a:pt x="10223" y="288925"/>
                </a:lnTo>
                <a:lnTo>
                  <a:pt x="0" y="293865"/>
                </a:lnTo>
                <a:lnTo>
                  <a:pt x="6629" y="300443"/>
                </a:lnTo>
                <a:lnTo>
                  <a:pt x="9118" y="302831"/>
                </a:lnTo>
                <a:lnTo>
                  <a:pt x="10782" y="304292"/>
                </a:lnTo>
                <a:lnTo>
                  <a:pt x="16306" y="297434"/>
                </a:lnTo>
                <a:lnTo>
                  <a:pt x="22936" y="289750"/>
                </a:lnTo>
                <a:lnTo>
                  <a:pt x="25971" y="286181"/>
                </a:lnTo>
                <a:lnTo>
                  <a:pt x="28740" y="282892"/>
                </a:lnTo>
                <a:lnTo>
                  <a:pt x="49110" y="352856"/>
                </a:lnTo>
                <a:lnTo>
                  <a:pt x="65760" y="410210"/>
                </a:lnTo>
                <a:lnTo>
                  <a:pt x="78676" y="454926"/>
                </a:lnTo>
                <a:lnTo>
                  <a:pt x="87871" y="487032"/>
                </a:lnTo>
                <a:lnTo>
                  <a:pt x="88773" y="490677"/>
                </a:lnTo>
                <a:lnTo>
                  <a:pt x="89446" y="492975"/>
                </a:lnTo>
                <a:lnTo>
                  <a:pt x="89801" y="493890"/>
                </a:lnTo>
                <a:lnTo>
                  <a:pt x="96240" y="493890"/>
                </a:lnTo>
                <a:lnTo>
                  <a:pt x="114604" y="445592"/>
                </a:lnTo>
                <a:lnTo>
                  <a:pt x="212064" y="139230"/>
                </a:lnTo>
                <a:lnTo>
                  <a:pt x="234810" y="67360"/>
                </a:lnTo>
                <a:lnTo>
                  <a:pt x="252564" y="10972"/>
                </a:lnTo>
                <a:lnTo>
                  <a:pt x="2953969" y="10972"/>
                </a:lnTo>
                <a:lnTo>
                  <a:pt x="2953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15048" y="2692400"/>
            <a:ext cx="3611879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sz="2325" spc="-112" baseline="32258" dirty="0">
                <a:latin typeface="Cambria"/>
                <a:cs typeface="Cambria"/>
              </a:rPr>
              <a:t>3</a:t>
            </a:r>
            <a:r>
              <a:rPr sz="2325" spc="-82" baseline="32258" dirty="0">
                <a:latin typeface="Cambria"/>
                <a:cs typeface="Cambria"/>
              </a:rPr>
              <a:t> </a:t>
            </a:r>
            <a:r>
              <a:rPr sz="2250" spc="10" dirty="0">
                <a:latin typeface="Cambria"/>
                <a:cs typeface="Cambria"/>
              </a:rPr>
              <a:t>((</a:t>
            </a:r>
            <a:r>
              <a:rPr sz="2250" spc="-125" dirty="0">
                <a:latin typeface="Cambria"/>
                <a:cs typeface="Cambria"/>
              </a:rPr>
              <a:t>1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−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3</a:t>
            </a:r>
            <a:r>
              <a:rPr sz="2250" spc="10" dirty="0">
                <a:latin typeface="Cambria"/>
                <a:cs typeface="Cambria"/>
              </a:rPr>
              <a:t>)</a:t>
            </a:r>
            <a:r>
              <a:rPr sz="2325" spc="-112" baseline="23297" dirty="0">
                <a:latin typeface="Cambria"/>
                <a:cs typeface="Cambria"/>
              </a:rPr>
              <a:t>2</a:t>
            </a:r>
            <a:r>
              <a:rPr sz="2325" baseline="23297" dirty="0">
                <a:latin typeface="Cambria"/>
                <a:cs typeface="Cambria"/>
              </a:rPr>
              <a:t> </a:t>
            </a:r>
            <a:r>
              <a:rPr sz="2325" spc="-112" baseline="23297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+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10" dirty="0">
                <a:latin typeface="Cambria"/>
                <a:cs typeface="Cambria"/>
              </a:rPr>
              <a:t>(</a:t>
            </a:r>
            <a:r>
              <a:rPr sz="2250" spc="-125" dirty="0">
                <a:latin typeface="Cambria"/>
                <a:cs typeface="Cambria"/>
              </a:rPr>
              <a:t>2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−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4</a:t>
            </a:r>
            <a:r>
              <a:rPr sz="2250" spc="10" dirty="0">
                <a:latin typeface="Cambria"/>
                <a:cs typeface="Cambria"/>
              </a:rPr>
              <a:t>)</a:t>
            </a:r>
            <a:r>
              <a:rPr sz="2325" spc="52" baseline="23297" dirty="0">
                <a:latin typeface="Cambria"/>
                <a:cs typeface="Cambria"/>
              </a:rPr>
              <a:t>2</a:t>
            </a:r>
            <a:r>
              <a:rPr sz="2250" spc="15" dirty="0">
                <a:latin typeface="Cambria"/>
                <a:cs typeface="Cambria"/>
              </a:rPr>
              <a:t>)</a:t>
            </a:r>
            <a:r>
              <a:rPr sz="2250" spc="195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≈</a:t>
            </a:r>
            <a:r>
              <a:rPr sz="2250" spc="130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3</a:t>
            </a:r>
            <a:r>
              <a:rPr sz="2250" spc="155" dirty="0">
                <a:latin typeface="Cambria"/>
                <a:cs typeface="Cambria"/>
              </a:rPr>
              <a:t>.</a:t>
            </a:r>
            <a:r>
              <a:rPr sz="2250" spc="-125" dirty="0">
                <a:latin typeface="Cambria"/>
                <a:cs typeface="Cambria"/>
              </a:rPr>
              <a:t>46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17937" y="3695700"/>
            <a:ext cx="4010025" cy="523875"/>
          </a:xfrm>
          <a:custGeom>
            <a:avLst/>
            <a:gdLst/>
            <a:ahLst/>
            <a:cxnLst/>
            <a:rect l="l" t="t" r="r" b="b"/>
            <a:pathLst>
              <a:path w="4010025" h="523875">
                <a:moveTo>
                  <a:pt x="4010024" y="523874"/>
                </a:moveTo>
                <a:lnTo>
                  <a:pt x="0" y="523874"/>
                </a:lnTo>
                <a:lnTo>
                  <a:pt x="0" y="0"/>
                </a:lnTo>
                <a:lnTo>
                  <a:pt x="4010024" y="0"/>
                </a:lnTo>
                <a:lnTo>
                  <a:pt x="4010024" y="523874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40447" y="3930651"/>
            <a:ext cx="11303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45280" y="3708132"/>
            <a:ext cx="2954020" cy="494030"/>
          </a:xfrm>
          <a:custGeom>
            <a:avLst/>
            <a:gdLst/>
            <a:ahLst/>
            <a:cxnLst/>
            <a:rect l="l" t="t" r="r" b="b"/>
            <a:pathLst>
              <a:path w="2954020" h="494029">
                <a:moveTo>
                  <a:pt x="401269" y="263791"/>
                </a:moveTo>
                <a:lnTo>
                  <a:pt x="296494" y="263791"/>
                </a:lnTo>
                <a:lnTo>
                  <a:pt x="296494" y="273316"/>
                </a:lnTo>
                <a:lnTo>
                  <a:pt x="401269" y="273316"/>
                </a:lnTo>
                <a:lnTo>
                  <a:pt x="401269" y="263791"/>
                </a:lnTo>
                <a:close/>
              </a:path>
              <a:path w="2954020" h="494029">
                <a:moveTo>
                  <a:pt x="2953969" y="0"/>
                </a:moveTo>
                <a:lnTo>
                  <a:pt x="249224" y="0"/>
                </a:lnTo>
                <a:lnTo>
                  <a:pt x="247015" y="0"/>
                </a:lnTo>
                <a:lnTo>
                  <a:pt x="245351" y="901"/>
                </a:lnTo>
                <a:lnTo>
                  <a:pt x="228638" y="50927"/>
                </a:lnTo>
                <a:lnTo>
                  <a:pt x="144551" y="315747"/>
                </a:lnTo>
                <a:lnTo>
                  <a:pt x="115404" y="407123"/>
                </a:lnTo>
                <a:lnTo>
                  <a:pt x="103060" y="445592"/>
                </a:lnTo>
                <a:lnTo>
                  <a:pt x="55854" y="282892"/>
                </a:lnTo>
                <a:lnTo>
                  <a:pt x="45593" y="247497"/>
                </a:lnTo>
                <a:lnTo>
                  <a:pt x="37858" y="256273"/>
                </a:lnTo>
                <a:lnTo>
                  <a:pt x="26187" y="269836"/>
                </a:lnTo>
                <a:lnTo>
                  <a:pt x="21005" y="275958"/>
                </a:lnTo>
                <a:lnTo>
                  <a:pt x="15684" y="282321"/>
                </a:lnTo>
                <a:lnTo>
                  <a:pt x="10223" y="288925"/>
                </a:lnTo>
                <a:lnTo>
                  <a:pt x="0" y="293865"/>
                </a:lnTo>
                <a:lnTo>
                  <a:pt x="6629" y="300443"/>
                </a:lnTo>
                <a:lnTo>
                  <a:pt x="9118" y="302831"/>
                </a:lnTo>
                <a:lnTo>
                  <a:pt x="10782" y="304292"/>
                </a:lnTo>
                <a:lnTo>
                  <a:pt x="16306" y="297434"/>
                </a:lnTo>
                <a:lnTo>
                  <a:pt x="22936" y="289750"/>
                </a:lnTo>
                <a:lnTo>
                  <a:pt x="25971" y="286181"/>
                </a:lnTo>
                <a:lnTo>
                  <a:pt x="28740" y="282892"/>
                </a:lnTo>
                <a:lnTo>
                  <a:pt x="49110" y="352856"/>
                </a:lnTo>
                <a:lnTo>
                  <a:pt x="65760" y="410210"/>
                </a:lnTo>
                <a:lnTo>
                  <a:pt x="78676" y="454926"/>
                </a:lnTo>
                <a:lnTo>
                  <a:pt x="87871" y="487032"/>
                </a:lnTo>
                <a:lnTo>
                  <a:pt x="88773" y="490677"/>
                </a:lnTo>
                <a:lnTo>
                  <a:pt x="89446" y="492975"/>
                </a:lnTo>
                <a:lnTo>
                  <a:pt x="89801" y="493890"/>
                </a:lnTo>
                <a:lnTo>
                  <a:pt x="96240" y="493890"/>
                </a:lnTo>
                <a:lnTo>
                  <a:pt x="114604" y="445592"/>
                </a:lnTo>
                <a:lnTo>
                  <a:pt x="212064" y="139230"/>
                </a:lnTo>
                <a:lnTo>
                  <a:pt x="234810" y="67360"/>
                </a:lnTo>
                <a:lnTo>
                  <a:pt x="252564" y="10972"/>
                </a:lnTo>
                <a:lnTo>
                  <a:pt x="2953969" y="10972"/>
                </a:lnTo>
                <a:lnTo>
                  <a:pt x="2953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15047" y="3749675"/>
            <a:ext cx="3754754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sz="2325" spc="-112" baseline="32258" dirty="0">
                <a:latin typeface="Cambria"/>
                <a:cs typeface="Cambria"/>
              </a:rPr>
              <a:t>3</a:t>
            </a:r>
            <a:r>
              <a:rPr sz="2325" spc="-82" baseline="32258" dirty="0">
                <a:latin typeface="Cambria"/>
                <a:cs typeface="Cambria"/>
              </a:rPr>
              <a:t> </a:t>
            </a:r>
            <a:r>
              <a:rPr sz="2250" spc="10" dirty="0">
                <a:latin typeface="Cambria"/>
                <a:cs typeface="Cambria"/>
              </a:rPr>
              <a:t>((</a:t>
            </a:r>
            <a:r>
              <a:rPr sz="2250" spc="-125" dirty="0">
                <a:latin typeface="Cambria"/>
                <a:cs typeface="Cambria"/>
              </a:rPr>
              <a:t>1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−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8</a:t>
            </a:r>
            <a:r>
              <a:rPr sz="2250" spc="10" dirty="0">
                <a:latin typeface="Cambria"/>
                <a:cs typeface="Cambria"/>
              </a:rPr>
              <a:t>)</a:t>
            </a:r>
            <a:r>
              <a:rPr sz="2325" spc="-112" baseline="23297" dirty="0">
                <a:latin typeface="Cambria"/>
                <a:cs typeface="Cambria"/>
              </a:rPr>
              <a:t>2</a:t>
            </a:r>
            <a:r>
              <a:rPr sz="2325" baseline="23297" dirty="0">
                <a:latin typeface="Cambria"/>
                <a:cs typeface="Cambria"/>
              </a:rPr>
              <a:t> </a:t>
            </a:r>
            <a:r>
              <a:rPr sz="2325" spc="-112" baseline="23297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+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10" dirty="0">
                <a:latin typeface="Cambria"/>
                <a:cs typeface="Cambria"/>
              </a:rPr>
              <a:t>(</a:t>
            </a:r>
            <a:r>
              <a:rPr sz="2250" spc="-125" dirty="0">
                <a:latin typeface="Cambria"/>
                <a:cs typeface="Cambria"/>
              </a:rPr>
              <a:t>2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−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8</a:t>
            </a:r>
            <a:r>
              <a:rPr sz="2250" spc="10" dirty="0">
                <a:latin typeface="Cambria"/>
                <a:cs typeface="Cambria"/>
              </a:rPr>
              <a:t>)</a:t>
            </a:r>
            <a:r>
              <a:rPr sz="2325" spc="52" baseline="23297" dirty="0">
                <a:latin typeface="Cambria"/>
                <a:cs typeface="Cambria"/>
              </a:rPr>
              <a:t>2</a:t>
            </a:r>
            <a:r>
              <a:rPr sz="2250" spc="15" dirty="0">
                <a:latin typeface="Cambria"/>
                <a:cs typeface="Cambria"/>
              </a:rPr>
              <a:t>)</a:t>
            </a:r>
            <a:r>
              <a:rPr sz="2250" spc="195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≈</a:t>
            </a:r>
            <a:r>
              <a:rPr sz="2250" spc="130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11</a:t>
            </a:r>
            <a:r>
              <a:rPr sz="2250" spc="155" dirty="0">
                <a:latin typeface="Cambria"/>
                <a:cs typeface="Cambria"/>
              </a:rPr>
              <a:t>.</a:t>
            </a:r>
            <a:r>
              <a:rPr sz="2250" spc="-125" dirty="0">
                <a:latin typeface="Cambria"/>
                <a:cs typeface="Cambria"/>
              </a:rPr>
              <a:t>29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24679" y="2740025"/>
            <a:ext cx="1439545" cy="7496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8745">
              <a:lnSpc>
                <a:spcPct val="111100"/>
              </a:lnSpc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2</a:t>
            </a:r>
            <a:r>
              <a:rPr sz="2250" spc="-120" dirty="0">
                <a:latin typeface="Cambria"/>
                <a:cs typeface="Cambr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nearest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neighbours</a:t>
            </a:r>
            <a:endParaRPr sz="225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03420" y="3010550"/>
            <a:ext cx="923925" cy="488315"/>
            <a:chOff x="6542932" y="3010549"/>
            <a:chExt cx="923925" cy="488315"/>
          </a:xfrm>
        </p:grpSpPr>
        <p:sp>
          <p:nvSpPr>
            <p:cNvPr id="16" name="object 16"/>
            <p:cNvSpPr/>
            <p:nvPr/>
          </p:nvSpPr>
          <p:spPr>
            <a:xfrm>
              <a:off x="6599060" y="3057456"/>
              <a:ext cx="848994" cy="143510"/>
            </a:xfrm>
            <a:custGeom>
              <a:avLst/>
              <a:gdLst/>
              <a:ahLst/>
              <a:cxnLst/>
              <a:rect l="l" t="t" r="r" b="b"/>
              <a:pathLst>
                <a:path w="848995" h="143510">
                  <a:moveTo>
                    <a:pt x="0" y="0"/>
                  </a:moveTo>
                  <a:lnTo>
                    <a:pt x="848746" y="142938"/>
                  </a:lnTo>
                </a:path>
              </a:pathLst>
            </a:custGeom>
            <a:ln w="38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42926" y="3010560"/>
              <a:ext cx="121920" cy="113030"/>
            </a:xfrm>
            <a:custGeom>
              <a:avLst/>
              <a:gdLst/>
              <a:ahLst/>
              <a:cxnLst/>
              <a:rect l="l" t="t" r="r" b="b"/>
              <a:pathLst>
                <a:path w="121920" h="113030">
                  <a:moveTo>
                    <a:pt x="121666" y="0"/>
                  </a:moveTo>
                  <a:lnTo>
                    <a:pt x="0" y="37452"/>
                  </a:lnTo>
                  <a:lnTo>
                    <a:pt x="102844" y="112712"/>
                  </a:lnTo>
                  <a:lnTo>
                    <a:pt x="1216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98513" y="3267078"/>
              <a:ext cx="849630" cy="187960"/>
            </a:xfrm>
            <a:custGeom>
              <a:avLst/>
              <a:gdLst/>
              <a:ahLst/>
              <a:cxnLst/>
              <a:rect l="l" t="t" r="r" b="b"/>
              <a:pathLst>
                <a:path w="849629" h="187960">
                  <a:moveTo>
                    <a:pt x="0" y="187731"/>
                  </a:moveTo>
                  <a:lnTo>
                    <a:pt x="849293" y="0"/>
                  </a:lnTo>
                </a:path>
              </a:pathLst>
            </a:custGeom>
            <a:ln w="380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42932" y="3386713"/>
              <a:ext cx="123825" cy="111760"/>
            </a:xfrm>
            <a:custGeom>
              <a:avLst/>
              <a:gdLst/>
              <a:ahLst/>
              <a:cxnLst/>
              <a:rect l="l" t="t" r="r" b="b"/>
              <a:pathLst>
                <a:path w="123825" h="111760">
                  <a:moveTo>
                    <a:pt x="0" y="80382"/>
                  </a:moveTo>
                  <a:lnTo>
                    <a:pt x="98927" y="0"/>
                  </a:lnTo>
                  <a:lnTo>
                    <a:pt x="123399" y="111620"/>
                  </a:lnTo>
                  <a:lnTo>
                    <a:pt x="0" y="80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766031" y="5523616"/>
            <a:ext cx="1609725" cy="34624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tabLst>
                <a:tab pos="658495" algn="l"/>
                <a:tab pos="1166495" algn="l"/>
              </a:tabLst>
            </a:pPr>
            <a:r>
              <a:rPr sz="2250" spc="-45" dirty="0">
                <a:latin typeface="Cambria"/>
                <a:cs typeface="Cambria"/>
              </a:rPr>
              <a:t>[1.	</a:t>
            </a:r>
            <a:r>
              <a:rPr sz="2250" spc="20" dirty="0">
                <a:latin typeface="Cambria"/>
                <a:cs typeface="Cambria"/>
              </a:rPr>
              <a:t>2.	</a:t>
            </a:r>
            <a:r>
              <a:rPr sz="2250" spc="-45" dirty="0">
                <a:solidFill>
                  <a:srgbClr val="FF0000"/>
                </a:solidFill>
                <a:latin typeface="Cambria"/>
                <a:cs typeface="Cambria"/>
              </a:rPr>
              <a:t>4.</a:t>
            </a:r>
            <a:r>
              <a:rPr sz="2250" spc="-45" dirty="0">
                <a:latin typeface="Cambria"/>
                <a:cs typeface="Cambria"/>
              </a:rPr>
              <a:t>]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473723" y="5437891"/>
            <a:ext cx="1847850" cy="581025"/>
          </a:xfrm>
          <a:custGeom>
            <a:avLst/>
            <a:gdLst/>
            <a:ahLst/>
            <a:cxnLst/>
            <a:rect l="l" t="t" r="r" b="b"/>
            <a:pathLst>
              <a:path w="1847850" h="581025">
                <a:moveTo>
                  <a:pt x="1847849" y="581024"/>
                </a:moveTo>
                <a:lnTo>
                  <a:pt x="0" y="581024"/>
                </a:lnTo>
                <a:lnTo>
                  <a:pt x="0" y="0"/>
                </a:lnTo>
                <a:lnTo>
                  <a:pt x="1847849" y="0"/>
                </a:lnTo>
                <a:lnTo>
                  <a:pt x="1847849" y="581024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053062" y="5720465"/>
            <a:ext cx="168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81649" y="5329940"/>
            <a:ext cx="127127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250" u="sng" spc="-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3 </a:t>
            </a:r>
            <a:r>
              <a:rPr sz="2250" u="sng" spc="5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+</a:t>
            </a:r>
            <a:r>
              <a:rPr sz="2250" spc="500" dirty="0">
                <a:latin typeface="Cambria"/>
                <a:cs typeface="Cambria"/>
              </a:rPr>
              <a:t> </a:t>
            </a:r>
            <a:r>
              <a:rPr sz="2250" u="sng" spc="-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5</a:t>
            </a:r>
            <a:r>
              <a:rPr sz="2250" spc="-125" dirty="0">
                <a:latin typeface="Cambria"/>
                <a:cs typeface="Cambria"/>
              </a:rPr>
              <a:t> </a:t>
            </a:r>
            <a:r>
              <a:rPr sz="2250" spc="-85" dirty="0">
                <a:latin typeface="Cambria"/>
                <a:cs typeface="Cambria"/>
              </a:rPr>
              <a:t> </a:t>
            </a:r>
            <a:r>
              <a:rPr sz="3375" spc="750" baseline="-37037" dirty="0">
                <a:latin typeface="Cambria"/>
                <a:cs typeface="Cambria"/>
              </a:rPr>
              <a:t>=</a:t>
            </a:r>
            <a:r>
              <a:rPr sz="3375" spc="195" baseline="-37037" dirty="0">
                <a:latin typeface="Cambria"/>
                <a:cs typeface="Cambria"/>
              </a:rPr>
              <a:t> </a:t>
            </a:r>
            <a:r>
              <a:rPr sz="3375" spc="-187" baseline="-37037" dirty="0">
                <a:latin typeface="Cambria"/>
                <a:cs typeface="Cambria"/>
              </a:rPr>
              <a:t>4</a:t>
            </a:r>
            <a:endParaRPr sz="3375" baseline="-37037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522750" y="5695071"/>
            <a:ext cx="1085850" cy="114300"/>
            <a:chOff x="5162263" y="5695071"/>
            <a:chExt cx="1085850" cy="114300"/>
          </a:xfrm>
        </p:grpSpPr>
        <p:sp>
          <p:nvSpPr>
            <p:cNvPr id="25" name="object 25"/>
            <p:cNvSpPr/>
            <p:nvPr/>
          </p:nvSpPr>
          <p:spPr>
            <a:xfrm>
              <a:off x="5162263" y="5752216"/>
              <a:ext cx="1029335" cy="0"/>
            </a:xfrm>
            <a:custGeom>
              <a:avLst/>
              <a:gdLst/>
              <a:ahLst/>
              <a:cxnLst/>
              <a:rect l="l" t="t" r="r" b="b"/>
              <a:pathLst>
                <a:path w="1029335">
                  <a:moveTo>
                    <a:pt x="0" y="0"/>
                  </a:moveTo>
                  <a:lnTo>
                    <a:pt x="1028830" y="0"/>
                  </a:lnTo>
                </a:path>
              </a:pathLst>
            </a:custGeom>
            <a:ln w="38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34074" y="5695071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114289"/>
                  </a:moveTo>
                  <a:lnTo>
                    <a:pt x="0" y="0"/>
                  </a:lnTo>
                  <a:lnTo>
                    <a:pt x="114039" y="57144"/>
                  </a:lnTo>
                  <a:lnTo>
                    <a:pt x="0" y="1142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4095799" y="5957102"/>
            <a:ext cx="848360" cy="248920"/>
            <a:chOff x="2735312" y="5957102"/>
            <a:chExt cx="848360" cy="248920"/>
          </a:xfrm>
        </p:grpSpPr>
        <p:sp>
          <p:nvSpPr>
            <p:cNvPr id="28" name="object 28"/>
            <p:cNvSpPr/>
            <p:nvPr/>
          </p:nvSpPr>
          <p:spPr>
            <a:xfrm>
              <a:off x="2754520" y="5999827"/>
              <a:ext cx="773430" cy="186690"/>
            </a:xfrm>
            <a:custGeom>
              <a:avLst/>
              <a:gdLst/>
              <a:ahLst/>
              <a:cxnLst/>
              <a:rect l="l" t="t" r="r" b="b"/>
              <a:pathLst>
                <a:path w="773429" h="186689">
                  <a:moveTo>
                    <a:pt x="0" y="186659"/>
                  </a:moveTo>
                  <a:lnTo>
                    <a:pt x="773293" y="0"/>
                  </a:lnTo>
                </a:path>
              </a:pathLst>
            </a:custGeom>
            <a:ln w="384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459247" y="5957102"/>
              <a:ext cx="124460" cy="112395"/>
            </a:xfrm>
            <a:custGeom>
              <a:avLst/>
              <a:gdLst/>
              <a:ahLst/>
              <a:cxnLst/>
              <a:rect l="l" t="t" r="r" b="b"/>
              <a:pathLst>
                <a:path w="124460" h="112395">
                  <a:moveTo>
                    <a:pt x="26389" y="112183"/>
                  </a:moveTo>
                  <a:lnTo>
                    <a:pt x="0" y="0"/>
                  </a:lnTo>
                  <a:lnTo>
                    <a:pt x="123938" y="29359"/>
                  </a:lnTo>
                  <a:lnTo>
                    <a:pt x="26389" y="1121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121099" y="5986282"/>
            <a:ext cx="199580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#</a:t>
            </a:r>
            <a:r>
              <a:rPr sz="2250" spc="-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-5" dirty="0">
                <a:latin typeface="Microsoft Sans Serif"/>
                <a:cs typeface="Microsoft Sans Serif"/>
              </a:rPr>
              <a:t> neighbours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469084" y="4299653"/>
            <a:ext cx="3400425" cy="762000"/>
          </a:xfrm>
          <a:custGeom>
            <a:avLst/>
            <a:gdLst/>
            <a:ahLst/>
            <a:cxnLst/>
            <a:rect l="l" t="t" r="r" b="b"/>
            <a:pathLst>
              <a:path w="3400425" h="762000">
                <a:moveTo>
                  <a:pt x="3400424" y="761999"/>
                </a:moveTo>
                <a:lnTo>
                  <a:pt x="0" y="761999"/>
                </a:lnTo>
                <a:lnTo>
                  <a:pt x="0" y="0"/>
                </a:lnTo>
                <a:lnTo>
                  <a:pt x="3400424" y="0"/>
                </a:lnTo>
                <a:lnTo>
                  <a:pt x="3400424" y="761999"/>
                </a:lnTo>
                <a:close/>
              </a:path>
            </a:pathLst>
          </a:custGeom>
          <a:solidFill>
            <a:srgbClr val="D9D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484662" y="4248853"/>
            <a:ext cx="3292475" cy="7874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spcBef>
                <a:spcPts val="400"/>
              </a:spcBef>
            </a:pPr>
            <a:r>
              <a:rPr sz="2250" spc="-35" dirty="0">
                <a:latin typeface="Microsoft Sans Serif"/>
                <a:cs typeface="Microsoft Sans Serif"/>
              </a:rPr>
              <a:t>Values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from</a:t>
            </a:r>
            <a:endParaRPr sz="2250">
              <a:latin typeface="Microsoft Sans Serif"/>
              <a:cs typeface="Microsoft Sans Serif"/>
            </a:endParaRPr>
          </a:p>
          <a:p>
            <a:pPr marL="351155">
              <a:spcBef>
                <a:spcPts val="300"/>
              </a:spcBef>
            </a:pPr>
            <a:r>
              <a:rPr sz="2250" spc="-125" dirty="0">
                <a:latin typeface="Cambria"/>
                <a:cs typeface="Cambria"/>
              </a:rPr>
              <a:t>2</a:t>
            </a:r>
            <a:r>
              <a:rPr sz="2250" spc="105" dirty="0">
                <a:latin typeface="Cambria"/>
                <a:cs typeface="Cambr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nearest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neighbours</a:t>
            </a:r>
            <a:endParaRPr sz="225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852769" y="5001157"/>
            <a:ext cx="516255" cy="324485"/>
            <a:chOff x="3492281" y="5001156"/>
            <a:chExt cx="516255" cy="324485"/>
          </a:xfrm>
        </p:grpSpPr>
        <p:sp>
          <p:nvSpPr>
            <p:cNvPr id="34" name="object 34"/>
            <p:cNvSpPr/>
            <p:nvPr/>
          </p:nvSpPr>
          <p:spPr>
            <a:xfrm>
              <a:off x="3531445" y="5020251"/>
              <a:ext cx="247015" cy="263525"/>
            </a:xfrm>
            <a:custGeom>
              <a:avLst/>
              <a:gdLst/>
              <a:ahLst/>
              <a:cxnLst/>
              <a:rect l="l" t="t" r="r" b="b"/>
              <a:pathLst>
                <a:path w="247014" h="263525">
                  <a:moveTo>
                    <a:pt x="246477" y="0"/>
                  </a:moveTo>
                  <a:lnTo>
                    <a:pt x="0" y="263009"/>
                  </a:lnTo>
                </a:path>
              </a:pathLst>
            </a:custGeom>
            <a:ln w="38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92271" y="5201208"/>
              <a:ext cx="119380" cy="124460"/>
            </a:xfrm>
            <a:custGeom>
              <a:avLst/>
              <a:gdLst/>
              <a:ahLst/>
              <a:cxnLst/>
              <a:rect l="l" t="t" r="r" b="b"/>
              <a:pathLst>
                <a:path w="119379" h="124460">
                  <a:moveTo>
                    <a:pt x="118986" y="80530"/>
                  </a:moveTo>
                  <a:lnTo>
                    <a:pt x="37680" y="0"/>
                  </a:lnTo>
                  <a:lnTo>
                    <a:pt x="0" y="123850"/>
                  </a:lnTo>
                  <a:lnTo>
                    <a:pt x="118986" y="805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51016" y="5020251"/>
              <a:ext cx="220345" cy="260985"/>
            </a:xfrm>
            <a:custGeom>
              <a:avLst/>
              <a:gdLst/>
              <a:ahLst/>
              <a:cxnLst/>
              <a:rect l="l" t="t" r="r" b="b"/>
              <a:pathLst>
                <a:path w="220345" h="260985">
                  <a:moveTo>
                    <a:pt x="0" y="0"/>
                  </a:moveTo>
                  <a:lnTo>
                    <a:pt x="220065" y="260866"/>
                  </a:lnTo>
                </a:path>
              </a:pathLst>
            </a:custGeom>
            <a:ln w="381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91070" y="5199272"/>
              <a:ext cx="117475" cy="126364"/>
            </a:xfrm>
            <a:custGeom>
              <a:avLst/>
              <a:gdLst/>
              <a:ahLst/>
              <a:cxnLst/>
              <a:rect l="l" t="t" r="r" b="b"/>
              <a:pathLst>
                <a:path w="117475" h="126364">
                  <a:moveTo>
                    <a:pt x="0" y="75823"/>
                  </a:moveTo>
                  <a:lnTo>
                    <a:pt x="85898" y="0"/>
                  </a:lnTo>
                  <a:lnTo>
                    <a:pt x="117073" y="125779"/>
                  </a:lnTo>
                  <a:lnTo>
                    <a:pt x="0" y="758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/>
          <p:nvPr/>
        </p:nvSpPr>
        <p:spPr>
          <a:xfrm>
            <a:off x="7298953" y="182501"/>
            <a:ext cx="3190875" cy="1381125"/>
          </a:xfrm>
          <a:custGeom>
            <a:avLst/>
            <a:gdLst/>
            <a:ahLst/>
            <a:cxnLst/>
            <a:rect l="l" t="t" r="r" b="b"/>
            <a:pathLst>
              <a:path w="3190875" h="1381125">
                <a:moveTo>
                  <a:pt x="3190874" y="1381124"/>
                </a:moveTo>
                <a:lnTo>
                  <a:pt x="0" y="1381124"/>
                </a:lnTo>
                <a:lnTo>
                  <a:pt x="0" y="0"/>
                </a:lnTo>
                <a:lnTo>
                  <a:pt x="3190874" y="0"/>
                </a:lnTo>
                <a:lnTo>
                  <a:pt x="3190874" y="13811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292034" y="107467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79920" y="569850"/>
            <a:ext cx="7417434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7156450" algn="l"/>
              </a:tabLst>
            </a:pPr>
            <a:r>
              <a:rPr sz="3375" baseline="1234" dirty="0">
                <a:latin typeface="Microsoft Sans Serif"/>
                <a:cs typeface="Microsoft Sans Serif"/>
              </a:rPr>
              <a:t>Let's</a:t>
            </a:r>
            <a:r>
              <a:rPr sz="3375" spc="44" baseline="1234" dirty="0">
                <a:latin typeface="Microsoft Sans Serif"/>
                <a:cs typeface="Microsoft Sans Serif"/>
              </a:rPr>
              <a:t> </a:t>
            </a:r>
            <a:r>
              <a:rPr sz="3375" spc="-15" baseline="1234" dirty="0">
                <a:latin typeface="Microsoft Sans Serif"/>
                <a:cs typeface="Microsoft Sans Serif"/>
              </a:rPr>
              <a:t>ﬁll</a:t>
            </a:r>
            <a:r>
              <a:rPr sz="3375" spc="44" baseline="1234" dirty="0">
                <a:latin typeface="Microsoft Sans Serif"/>
                <a:cs typeface="Microsoft Sans Serif"/>
              </a:rPr>
              <a:t> </a:t>
            </a:r>
            <a:r>
              <a:rPr sz="3375" baseline="1234" dirty="0">
                <a:latin typeface="Microsoft Sans Serif"/>
                <a:cs typeface="Microsoft Sans Serif"/>
              </a:rPr>
              <a:t>the</a:t>
            </a:r>
            <a:r>
              <a:rPr sz="3375" spc="52" baseline="1234" dirty="0">
                <a:latin typeface="Microsoft Sans Serif"/>
                <a:cs typeface="Microsoft Sans Serif"/>
              </a:rPr>
              <a:t> </a:t>
            </a:r>
            <a:r>
              <a:rPr sz="3375" spc="-7" baseline="1234" dirty="0">
                <a:solidFill>
                  <a:srgbClr val="B12121"/>
                </a:solidFill>
                <a:latin typeface="Microsoft Sans Serif"/>
                <a:cs typeface="Microsoft Sans Serif"/>
              </a:rPr>
              <a:t>missing</a:t>
            </a:r>
            <a:r>
              <a:rPr sz="3375" spc="44" baseline="1234" dirty="0">
                <a:solidFill>
                  <a:srgbClr val="B12121"/>
                </a:solidFill>
                <a:latin typeface="Microsoft Sans Serif"/>
                <a:cs typeface="Microsoft Sans Serif"/>
              </a:rPr>
              <a:t> </a:t>
            </a:r>
            <a:r>
              <a:rPr sz="3375" spc="-7" baseline="1234" dirty="0">
                <a:solidFill>
                  <a:srgbClr val="B12121"/>
                </a:solidFill>
                <a:latin typeface="Microsoft Sans Serif"/>
                <a:cs typeface="Microsoft Sans Serif"/>
              </a:rPr>
              <a:t>value</a:t>
            </a:r>
            <a:r>
              <a:rPr sz="3375" spc="52" baseline="1234" dirty="0">
                <a:solidFill>
                  <a:srgbClr val="B12121"/>
                </a:solidFill>
                <a:latin typeface="Microsoft Sans Serif"/>
                <a:cs typeface="Microsoft Sans Serif"/>
              </a:rPr>
              <a:t> </a:t>
            </a:r>
            <a:r>
              <a:rPr sz="3375" spc="-15" baseline="1234" dirty="0">
                <a:latin typeface="Microsoft Sans Serif"/>
                <a:cs typeface="Microsoft Sans Serif"/>
              </a:rPr>
              <a:t>in</a:t>
            </a:r>
            <a:r>
              <a:rPr sz="3375" spc="44" baseline="1234" dirty="0">
                <a:latin typeface="Microsoft Sans Serif"/>
                <a:cs typeface="Microsoft Sans Serif"/>
              </a:rPr>
              <a:t> </a:t>
            </a:r>
            <a:r>
              <a:rPr sz="3375" baseline="1234" dirty="0">
                <a:solidFill>
                  <a:srgbClr val="800080"/>
                </a:solidFill>
                <a:latin typeface="Microsoft Sans Serif"/>
                <a:cs typeface="Microsoft Sans Serif"/>
              </a:rPr>
              <a:t>ﬁrst</a:t>
            </a:r>
            <a:r>
              <a:rPr sz="3375" spc="52" baseline="1234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3375" spc="-7" baseline="1234" dirty="0">
                <a:solidFill>
                  <a:srgbClr val="800080"/>
                </a:solidFill>
                <a:latin typeface="Microsoft Sans Serif"/>
                <a:cs typeface="Microsoft Sans Serif"/>
              </a:rPr>
              <a:t>sample/row</a:t>
            </a:r>
            <a:r>
              <a:rPr sz="3375" spc="-7" baseline="1234" dirty="0">
                <a:latin typeface="Microsoft Sans Serif"/>
                <a:cs typeface="Microsoft Sans Serif"/>
              </a:rPr>
              <a:t>.</a:t>
            </a:r>
            <a:r>
              <a:rPr sz="3375" spc="165" baseline="1234" dirty="0">
                <a:latin typeface="Microsoft Sans Serif"/>
                <a:cs typeface="Microsoft Sans Serif"/>
              </a:rPr>
              <a:t> </a:t>
            </a:r>
            <a:r>
              <a:rPr sz="3375" b="1" spc="165" baseline="-14814" dirty="0">
                <a:latin typeface="Verdana"/>
                <a:cs typeface="Verdana"/>
              </a:rPr>
              <a:t>X</a:t>
            </a:r>
            <a:r>
              <a:rPr sz="2325" spc="165" baseline="-35842" dirty="0">
                <a:latin typeface="Cambria"/>
                <a:cs typeface="Cambria"/>
              </a:rPr>
              <a:t>4×3</a:t>
            </a:r>
            <a:r>
              <a:rPr sz="2325" spc="622" baseline="-35842" dirty="0">
                <a:latin typeface="Cambria"/>
                <a:cs typeface="Cambria"/>
              </a:rPr>
              <a:t> </a:t>
            </a:r>
            <a:r>
              <a:rPr sz="3375" spc="750" baseline="-14814" dirty="0">
                <a:latin typeface="Cambria"/>
                <a:cs typeface="Cambria"/>
              </a:rPr>
              <a:t>=</a:t>
            </a:r>
            <a:r>
              <a:rPr sz="3375" spc="262" baseline="-14814" dirty="0">
                <a:latin typeface="Cambria"/>
                <a:cs typeface="Cambria"/>
              </a:rPr>
              <a:t> </a:t>
            </a:r>
            <a:r>
              <a:rPr sz="2250" spc="710" dirty="0">
                <a:latin typeface="Cambria"/>
                <a:cs typeface="Cambria"/>
              </a:rPr>
              <a:t>⎢	</a:t>
            </a:r>
            <a:r>
              <a:rPr sz="3375" spc="30" baseline="18518" dirty="0">
                <a:latin typeface="Cambria"/>
                <a:cs typeface="Cambria"/>
              </a:rPr>
              <a:t>3.</a:t>
            </a:r>
            <a:endParaRPr sz="3375" baseline="18518">
              <a:latin typeface="Cambria"/>
              <a:cs typeface="Cambr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488041" y="817500"/>
            <a:ext cx="167957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95655" algn="l"/>
                <a:tab pos="1443355" algn="l"/>
              </a:tabLst>
            </a:pPr>
            <a:r>
              <a:rPr sz="2250" i="1" spc="20" dirty="0">
                <a:latin typeface="Georgia"/>
                <a:cs typeface="Georgia"/>
              </a:rPr>
              <a:t>n</a:t>
            </a:r>
            <a:r>
              <a:rPr sz="2250" i="1" spc="-105" dirty="0">
                <a:latin typeface="Georgia"/>
                <a:cs typeface="Georgia"/>
              </a:rPr>
              <a:t>a</a:t>
            </a:r>
            <a:r>
              <a:rPr sz="2250" i="1" spc="20" dirty="0">
                <a:latin typeface="Georgia"/>
                <a:cs typeface="Georgia"/>
              </a:rPr>
              <a:t>n</a:t>
            </a:r>
            <a:r>
              <a:rPr sz="2250" i="1" dirty="0">
                <a:latin typeface="Georgia"/>
                <a:cs typeface="Georgia"/>
              </a:rPr>
              <a:t>	</a:t>
            </a:r>
            <a:r>
              <a:rPr sz="2250" spc="-125" dirty="0">
                <a:latin typeface="Cambria"/>
                <a:cs typeface="Cambria"/>
              </a:rPr>
              <a:t>6</a:t>
            </a:r>
            <a:r>
              <a:rPr sz="2250" spc="160" dirty="0">
                <a:latin typeface="Cambria"/>
                <a:cs typeface="Cambria"/>
              </a:rPr>
              <a:t>.</a:t>
            </a:r>
            <a:r>
              <a:rPr sz="2250" dirty="0">
                <a:latin typeface="Cambria"/>
                <a:cs typeface="Cambria"/>
              </a:rPr>
              <a:t>	</a:t>
            </a:r>
            <a:r>
              <a:rPr sz="2250" spc="-125" dirty="0">
                <a:latin typeface="Cambria"/>
                <a:cs typeface="Cambria"/>
              </a:rPr>
              <a:t>5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 dirty="0">
              <a:latin typeface="Cambria"/>
              <a:cs typeface="Cambria"/>
            </a:endParaRPr>
          </a:p>
          <a:p>
            <a:pPr marL="147955">
              <a:tabLst>
                <a:tab pos="795655" algn="l"/>
                <a:tab pos="1443355" algn="l"/>
              </a:tabLst>
            </a:pPr>
            <a:r>
              <a:rPr sz="2250" spc="-125" dirty="0">
                <a:latin typeface="Cambria"/>
                <a:cs typeface="Cambria"/>
              </a:rPr>
              <a:t>8</a:t>
            </a:r>
            <a:r>
              <a:rPr sz="2250" spc="160" dirty="0">
                <a:latin typeface="Cambria"/>
                <a:cs typeface="Cambria"/>
              </a:rPr>
              <a:t>.	</a:t>
            </a:r>
            <a:r>
              <a:rPr sz="2250" spc="-125" dirty="0">
                <a:latin typeface="Cambria"/>
                <a:cs typeface="Cambria"/>
              </a:rPr>
              <a:t>8</a:t>
            </a:r>
            <a:r>
              <a:rPr sz="2250" spc="160" dirty="0">
                <a:latin typeface="Cambria"/>
                <a:cs typeface="Cambria"/>
              </a:rPr>
              <a:t>.	</a:t>
            </a:r>
            <a:r>
              <a:rPr sz="2250" spc="-125" dirty="0">
                <a:latin typeface="Cambria"/>
                <a:cs typeface="Cambria"/>
              </a:rPr>
              <a:t>7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 dirty="0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282759" y="107467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271621" y="474600"/>
            <a:ext cx="1227455" cy="46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25"/>
              </a:lnSpc>
              <a:spcBef>
                <a:spcPts val="100"/>
              </a:spcBef>
              <a:tabLst>
                <a:tab pos="659765" algn="l"/>
              </a:tabLst>
            </a:pPr>
            <a:r>
              <a:rPr sz="2250" spc="20" dirty="0">
                <a:latin typeface="Cambria"/>
                <a:cs typeface="Cambria"/>
              </a:rPr>
              <a:t>4.	3.</a:t>
            </a:r>
            <a:endParaRPr sz="2250" dirty="0">
              <a:latin typeface="Cambria"/>
              <a:cs typeface="Cambria"/>
            </a:endParaRPr>
          </a:p>
          <a:p>
            <a:pPr marR="5080" algn="r">
              <a:lnSpc>
                <a:spcPts val="1725"/>
              </a:lnSpc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 dirty="0">
              <a:latin typeface="Cambria"/>
              <a:cs typeface="Cambri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8279333" y="131700"/>
            <a:ext cx="22326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  <a:tabLst>
                <a:tab pos="356870" algn="l"/>
                <a:tab pos="1004569" algn="l"/>
                <a:tab pos="1516380" algn="l"/>
              </a:tabLst>
            </a:pPr>
            <a:r>
              <a:rPr sz="3375" spc="1064" baseline="-17283" dirty="0">
                <a:solidFill>
                  <a:srgbClr val="000000"/>
                </a:solidFill>
                <a:latin typeface="Cambria"/>
                <a:cs typeface="Cambria"/>
              </a:rPr>
              <a:t>⎡	</a:t>
            </a:r>
            <a:r>
              <a:rPr spc="20" dirty="0">
                <a:solidFill>
                  <a:srgbClr val="000000"/>
                </a:solidFill>
                <a:latin typeface="Cambria"/>
                <a:cs typeface="Cambria"/>
              </a:rPr>
              <a:t>1.	2.	</a:t>
            </a:r>
            <a:r>
              <a:rPr i="1" spc="170" dirty="0">
                <a:solidFill>
                  <a:srgbClr val="000000"/>
                </a:solidFill>
                <a:latin typeface="Georgia"/>
                <a:cs typeface="Georgia"/>
              </a:rPr>
              <a:t>nan</a:t>
            </a:r>
            <a:r>
              <a:rPr sz="3375" spc="254" baseline="-17283" dirty="0">
                <a:solidFill>
                  <a:srgbClr val="000000"/>
                </a:solidFill>
                <a:latin typeface="Cambria"/>
                <a:cs typeface="Cambria"/>
              </a:rPr>
              <a:t>⎤</a:t>
            </a:r>
            <a:endParaRPr sz="3375" baseline="-17283">
              <a:latin typeface="Cambria"/>
              <a:cs typeface="Cambri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817936" y="3162300"/>
            <a:ext cx="3867150" cy="523875"/>
          </a:xfrm>
          <a:custGeom>
            <a:avLst/>
            <a:gdLst/>
            <a:ahLst/>
            <a:cxnLst/>
            <a:rect l="l" t="t" r="r" b="b"/>
            <a:pathLst>
              <a:path w="3867150" h="523875">
                <a:moveTo>
                  <a:pt x="3867149" y="523874"/>
                </a:moveTo>
                <a:lnTo>
                  <a:pt x="0" y="523874"/>
                </a:lnTo>
                <a:lnTo>
                  <a:pt x="0" y="0"/>
                </a:lnTo>
                <a:lnTo>
                  <a:pt x="3867149" y="0"/>
                </a:lnTo>
                <a:lnTo>
                  <a:pt x="3867149" y="523874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4140893" y="3397251"/>
            <a:ext cx="11303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845280" y="3174733"/>
            <a:ext cx="1410970" cy="494030"/>
          </a:xfrm>
          <a:custGeom>
            <a:avLst/>
            <a:gdLst/>
            <a:ahLst/>
            <a:cxnLst/>
            <a:rect l="l" t="t" r="r" b="b"/>
            <a:pathLst>
              <a:path w="1410970" h="494029">
                <a:moveTo>
                  <a:pt x="401269" y="263791"/>
                </a:moveTo>
                <a:lnTo>
                  <a:pt x="296494" y="263791"/>
                </a:lnTo>
                <a:lnTo>
                  <a:pt x="296494" y="273316"/>
                </a:lnTo>
                <a:lnTo>
                  <a:pt x="401269" y="273316"/>
                </a:lnTo>
                <a:lnTo>
                  <a:pt x="401269" y="263791"/>
                </a:lnTo>
                <a:close/>
              </a:path>
              <a:path w="1410970" h="494029">
                <a:moveTo>
                  <a:pt x="1410919" y="0"/>
                </a:moveTo>
                <a:lnTo>
                  <a:pt x="249224" y="0"/>
                </a:lnTo>
                <a:lnTo>
                  <a:pt x="247015" y="0"/>
                </a:lnTo>
                <a:lnTo>
                  <a:pt x="245351" y="901"/>
                </a:lnTo>
                <a:lnTo>
                  <a:pt x="228638" y="50927"/>
                </a:lnTo>
                <a:lnTo>
                  <a:pt x="144551" y="315747"/>
                </a:lnTo>
                <a:lnTo>
                  <a:pt x="115404" y="407123"/>
                </a:lnTo>
                <a:lnTo>
                  <a:pt x="103060" y="445592"/>
                </a:lnTo>
                <a:lnTo>
                  <a:pt x="55854" y="282892"/>
                </a:lnTo>
                <a:lnTo>
                  <a:pt x="45593" y="247497"/>
                </a:lnTo>
                <a:lnTo>
                  <a:pt x="37858" y="256273"/>
                </a:lnTo>
                <a:lnTo>
                  <a:pt x="26187" y="269836"/>
                </a:lnTo>
                <a:lnTo>
                  <a:pt x="21005" y="275958"/>
                </a:lnTo>
                <a:lnTo>
                  <a:pt x="15684" y="282321"/>
                </a:lnTo>
                <a:lnTo>
                  <a:pt x="10223" y="288925"/>
                </a:lnTo>
                <a:lnTo>
                  <a:pt x="0" y="293865"/>
                </a:lnTo>
                <a:lnTo>
                  <a:pt x="6629" y="300443"/>
                </a:lnTo>
                <a:lnTo>
                  <a:pt x="9118" y="302831"/>
                </a:lnTo>
                <a:lnTo>
                  <a:pt x="10782" y="304292"/>
                </a:lnTo>
                <a:lnTo>
                  <a:pt x="16306" y="297434"/>
                </a:lnTo>
                <a:lnTo>
                  <a:pt x="22936" y="289750"/>
                </a:lnTo>
                <a:lnTo>
                  <a:pt x="25971" y="286181"/>
                </a:lnTo>
                <a:lnTo>
                  <a:pt x="28740" y="282892"/>
                </a:lnTo>
                <a:lnTo>
                  <a:pt x="49110" y="352856"/>
                </a:lnTo>
                <a:lnTo>
                  <a:pt x="65760" y="410210"/>
                </a:lnTo>
                <a:lnTo>
                  <a:pt x="78676" y="454926"/>
                </a:lnTo>
                <a:lnTo>
                  <a:pt x="87871" y="487032"/>
                </a:lnTo>
                <a:lnTo>
                  <a:pt x="88773" y="490677"/>
                </a:lnTo>
                <a:lnTo>
                  <a:pt x="89446" y="492975"/>
                </a:lnTo>
                <a:lnTo>
                  <a:pt x="89801" y="493890"/>
                </a:lnTo>
                <a:lnTo>
                  <a:pt x="96240" y="493890"/>
                </a:lnTo>
                <a:lnTo>
                  <a:pt x="114604" y="445592"/>
                </a:lnTo>
                <a:lnTo>
                  <a:pt x="212064" y="139230"/>
                </a:lnTo>
                <a:lnTo>
                  <a:pt x="234810" y="67360"/>
                </a:lnTo>
                <a:lnTo>
                  <a:pt x="252564" y="10972"/>
                </a:lnTo>
                <a:lnTo>
                  <a:pt x="1410919" y="10972"/>
                </a:lnTo>
                <a:lnTo>
                  <a:pt x="14109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102793" y="3216274"/>
            <a:ext cx="3621404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2772410" algn="l"/>
              </a:tabLst>
            </a:pPr>
            <a:r>
              <a:rPr sz="2325" spc="-112" baseline="32258" dirty="0">
                <a:latin typeface="Cambria"/>
                <a:cs typeface="Cambria"/>
              </a:rPr>
              <a:t>3</a:t>
            </a:r>
            <a:r>
              <a:rPr sz="2325" spc="-82" baseline="32258" dirty="0">
                <a:latin typeface="Cambria"/>
                <a:cs typeface="Cambria"/>
              </a:rPr>
              <a:t> </a:t>
            </a:r>
            <a:r>
              <a:rPr sz="2250" spc="-55" dirty="0">
                <a:latin typeface="Cambria"/>
                <a:cs typeface="Cambria"/>
              </a:rPr>
              <a:t>(2</a:t>
            </a:r>
            <a:r>
              <a:rPr sz="2250" spc="5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−</a:t>
            </a:r>
            <a:r>
              <a:rPr sz="2250" spc="5" dirty="0">
                <a:latin typeface="Cambria"/>
                <a:cs typeface="Cambria"/>
              </a:rPr>
              <a:t> </a:t>
            </a:r>
            <a:r>
              <a:rPr sz="2250" spc="-65" dirty="0">
                <a:latin typeface="Cambria"/>
                <a:cs typeface="Cambria"/>
              </a:rPr>
              <a:t>6)</a:t>
            </a:r>
            <a:r>
              <a:rPr sz="2325" spc="-97" baseline="23297" dirty="0">
                <a:latin typeface="Cambria"/>
                <a:cs typeface="Cambria"/>
              </a:rPr>
              <a:t>2	</a:t>
            </a:r>
            <a:r>
              <a:rPr sz="2250" spc="500" dirty="0">
                <a:latin typeface="Cambria"/>
                <a:cs typeface="Cambria"/>
              </a:rPr>
              <a:t>≈</a:t>
            </a:r>
            <a:r>
              <a:rPr sz="2250" spc="75" dirty="0">
                <a:latin typeface="Cambria"/>
                <a:cs typeface="Cambria"/>
              </a:rPr>
              <a:t> </a:t>
            </a:r>
            <a:r>
              <a:rPr sz="2250" spc="-55" dirty="0">
                <a:latin typeface="Cambria"/>
                <a:cs typeface="Cambria"/>
              </a:rPr>
              <a:t>6.92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16</a:t>
            </a:fld>
            <a:endParaRPr spc="-85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7802E3-AD53-F98E-B986-D4C1049C5AB7}"/>
              </a:ext>
            </a:extLst>
          </p:cNvPr>
          <p:cNvSpPr txBox="1"/>
          <p:nvPr/>
        </p:nvSpPr>
        <p:spPr>
          <a:xfrm>
            <a:off x="3002577" y="1535767"/>
            <a:ext cx="4879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X=[[3, 2, 1],[</a:t>
            </a:r>
            <a:r>
              <a:rPr lang="en-IN" sz="2800" dirty="0" err="1"/>
              <a:t>np.nan</a:t>
            </a:r>
            <a:r>
              <a:rPr lang="en-IN" sz="2800" dirty="0"/>
              <a:t>, 2,5],[2,4,5]]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87752" y="2057493"/>
            <a:ext cx="2886075" cy="1381125"/>
          </a:xfrm>
          <a:custGeom>
            <a:avLst/>
            <a:gdLst/>
            <a:ahLst/>
            <a:cxnLst/>
            <a:rect l="l" t="t" r="r" b="b"/>
            <a:pathLst>
              <a:path w="2886075" h="1381125">
                <a:moveTo>
                  <a:pt x="2886074" y="1381124"/>
                </a:moveTo>
                <a:lnTo>
                  <a:pt x="0" y="1381124"/>
                </a:lnTo>
                <a:lnTo>
                  <a:pt x="0" y="0"/>
                </a:lnTo>
                <a:lnTo>
                  <a:pt x="2886074" y="0"/>
                </a:lnTo>
                <a:lnTo>
                  <a:pt x="2886074" y="1381124"/>
                </a:lnTo>
                <a:close/>
              </a:path>
            </a:pathLst>
          </a:custGeom>
          <a:solidFill>
            <a:srgbClr val="E9D0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66557" y="2949668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49949" y="2568668"/>
            <a:ext cx="1659889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b="1" spc="345" baseline="8641" dirty="0">
                <a:latin typeface="Verdana"/>
                <a:cs typeface="Verdana"/>
              </a:rPr>
              <a:t>X</a:t>
            </a:r>
            <a:r>
              <a:rPr sz="2325" b="1" spc="-7" baseline="43010" dirty="0">
                <a:latin typeface="Verdana"/>
                <a:cs typeface="Verdana"/>
              </a:rPr>
              <a:t>′</a:t>
            </a:r>
            <a:r>
              <a:rPr sz="2325" b="1" spc="-600" baseline="43010" dirty="0">
                <a:latin typeface="Verdana"/>
                <a:cs typeface="Verdana"/>
              </a:rPr>
              <a:t> </a:t>
            </a:r>
            <a:r>
              <a:rPr sz="1550" spc="-75" dirty="0">
                <a:latin typeface="Cambria"/>
                <a:cs typeface="Cambria"/>
              </a:rPr>
              <a:t>4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4</a:t>
            </a:r>
            <a:r>
              <a:rPr sz="1550" dirty="0">
                <a:latin typeface="Cambria"/>
                <a:cs typeface="Cambria"/>
              </a:rPr>
              <a:t> </a:t>
            </a:r>
            <a:r>
              <a:rPr sz="1550" spc="65" dirty="0">
                <a:latin typeface="Cambria"/>
                <a:cs typeface="Cambria"/>
              </a:rPr>
              <a:t> </a:t>
            </a:r>
            <a:r>
              <a:rPr sz="3375" spc="750" baseline="8641" dirty="0">
                <a:latin typeface="Cambria"/>
                <a:cs typeface="Cambria"/>
              </a:rPr>
              <a:t>=</a:t>
            </a:r>
            <a:r>
              <a:rPr sz="3375" spc="247" baseline="8641" dirty="0">
                <a:latin typeface="Cambria"/>
                <a:cs typeface="Cambria"/>
              </a:rPr>
              <a:t> </a:t>
            </a:r>
            <a:r>
              <a:rPr sz="3375" spc="1064" baseline="23456" dirty="0">
                <a:latin typeface="Cambria"/>
                <a:cs typeface="Cambria"/>
              </a:rPr>
              <a:t>⎢</a:t>
            </a:r>
            <a:r>
              <a:rPr sz="3375" spc="187" baseline="23456" dirty="0">
                <a:latin typeface="Cambria"/>
                <a:cs typeface="Cambria"/>
              </a:rPr>
              <a:t> </a:t>
            </a:r>
            <a:r>
              <a:rPr sz="3375" spc="-187" baseline="41975" dirty="0">
                <a:latin typeface="Cambria"/>
                <a:cs typeface="Cambria"/>
              </a:rPr>
              <a:t>3</a:t>
            </a:r>
            <a:r>
              <a:rPr sz="3375" spc="240" baseline="41975" dirty="0">
                <a:latin typeface="Cambria"/>
                <a:cs typeface="Cambria"/>
              </a:rPr>
              <a:t>.</a:t>
            </a:r>
            <a:endParaRPr sz="3375" baseline="41975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65092" y="2692493"/>
            <a:ext cx="14198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669290" algn="l"/>
                <a:tab pos="1183640" algn="l"/>
              </a:tabLst>
            </a:pPr>
            <a:r>
              <a:rPr sz="2250" spc="-125" dirty="0">
                <a:solidFill>
                  <a:srgbClr val="FF0000"/>
                </a:solidFill>
                <a:latin typeface="Cambria"/>
                <a:cs typeface="Cambria"/>
              </a:rPr>
              <a:t>5</a:t>
            </a:r>
            <a:r>
              <a:rPr sz="2250" spc="155" dirty="0">
                <a:solidFill>
                  <a:srgbClr val="FF0000"/>
                </a:solidFill>
                <a:latin typeface="Cambria"/>
                <a:cs typeface="Cambria"/>
              </a:rPr>
              <a:t>.</a:t>
            </a:r>
            <a:r>
              <a:rPr sz="2250" spc="-125" dirty="0">
                <a:solidFill>
                  <a:srgbClr val="FF0000"/>
                </a:solidFill>
                <a:latin typeface="Cambria"/>
                <a:cs typeface="Cambria"/>
              </a:rPr>
              <a:t>5</a:t>
            </a:r>
            <a:r>
              <a:rPr sz="22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250" spc="-125" dirty="0">
                <a:latin typeface="Cambria"/>
                <a:cs typeface="Cambria"/>
              </a:rPr>
              <a:t>6</a:t>
            </a:r>
            <a:r>
              <a:rPr sz="2250" spc="160" dirty="0">
                <a:latin typeface="Cambria"/>
                <a:cs typeface="Cambria"/>
              </a:rPr>
              <a:t>.</a:t>
            </a:r>
            <a:r>
              <a:rPr sz="2250" dirty="0">
                <a:latin typeface="Cambria"/>
                <a:cs typeface="Cambria"/>
              </a:rPr>
              <a:t>	</a:t>
            </a:r>
            <a:r>
              <a:rPr sz="2250" spc="-125" dirty="0">
                <a:latin typeface="Cambria"/>
                <a:cs typeface="Cambria"/>
              </a:rPr>
              <a:t>5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36531" y="3035393"/>
            <a:ext cx="134810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598170" algn="l"/>
                <a:tab pos="1112520" algn="l"/>
              </a:tabLst>
            </a:pPr>
            <a:r>
              <a:rPr sz="2250" spc="-125" dirty="0">
                <a:latin typeface="Cambria"/>
                <a:cs typeface="Cambria"/>
              </a:rPr>
              <a:t>8</a:t>
            </a:r>
            <a:r>
              <a:rPr sz="2250" spc="160" dirty="0">
                <a:latin typeface="Cambria"/>
                <a:cs typeface="Cambria"/>
              </a:rPr>
              <a:t>.	</a:t>
            </a:r>
            <a:r>
              <a:rPr sz="2250" spc="-125" dirty="0">
                <a:latin typeface="Cambria"/>
                <a:cs typeface="Cambria"/>
              </a:rPr>
              <a:t>8</a:t>
            </a:r>
            <a:r>
              <a:rPr sz="2250" spc="160" dirty="0">
                <a:latin typeface="Cambria"/>
                <a:cs typeface="Cambria"/>
              </a:rPr>
              <a:t>.	</a:t>
            </a:r>
            <a:r>
              <a:rPr sz="2250" spc="-125" dirty="0">
                <a:latin typeface="Cambria"/>
                <a:cs typeface="Cambria"/>
              </a:rPr>
              <a:t>7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66757" y="2949668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96918" y="2349593"/>
            <a:ext cx="10115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551815" algn="l"/>
              </a:tabLst>
            </a:pPr>
            <a:r>
              <a:rPr sz="2250" spc="20" dirty="0">
                <a:latin typeface="Cambria"/>
                <a:cs typeface="Cambria"/>
              </a:rPr>
              <a:t>4.	</a:t>
            </a:r>
            <a:r>
              <a:rPr sz="2250" spc="270" dirty="0">
                <a:latin typeface="Cambria"/>
                <a:cs typeface="Cambria"/>
              </a:rPr>
              <a:t>3.</a:t>
            </a:r>
            <a:r>
              <a:rPr sz="3375" spc="405" baseline="-18518" dirty="0">
                <a:latin typeface="Cambria"/>
                <a:cs typeface="Cambria"/>
              </a:rPr>
              <a:t>⎥</a:t>
            </a:r>
            <a:endParaRPr sz="3375" baseline="-18518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28457" y="2006693"/>
            <a:ext cx="18929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spcBef>
                <a:spcPts val="100"/>
              </a:spcBef>
              <a:tabLst>
                <a:tab pos="906144" algn="l"/>
                <a:tab pos="1420495" algn="l"/>
              </a:tabLst>
            </a:pPr>
            <a:r>
              <a:rPr sz="3375" spc="1064" baseline="-17283" dirty="0">
                <a:latin typeface="Cambria"/>
                <a:cs typeface="Cambria"/>
              </a:rPr>
              <a:t>⎡</a:t>
            </a:r>
            <a:r>
              <a:rPr sz="3375" spc="187" baseline="-17283" dirty="0">
                <a:latin typeface="Cambria"/>
                <a:cs typeface="Cambria"/>
              </a:rPr>
              <a:t> </a:t>
            </a:r>
            <a:r>
              <a:rPr sz="2250" spc="20" dirty="0">
                <a:latin typeface="Cambria"/>
                <a:cs typeface="Cambria"/>
              </a:rPr>
              <a:t>1.	2.	</a:t>
            </a:r>
            <a:r>
              <a:rPr sz="2250" spc="270" dirty="0">
                <a:solidFill>
                  <a:srgbClr val="FF0000"/>
                </a:solidFill>
                <a:latin typeface="Cambria"/>
                <a:cs typeface="Cambria"/>
              </a:rPr>
              <a:t>4.</a:t>
            </a:r>
            <a:r>
              <a:rPr sz="3375" spc="405" baseline="-17283" dirty="0">
                <a:latin typeface="Cambria"/>
                <a:cs typeface="Cambria"/>
              </a:rPr>
              <a:t>⎤</a:t>
            </a:r>
            <a:endParaRPr sz="3375" baseline="-17283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29247" y="2123089"/>
            <a:ext cx="3276600" cy="1381125"/>
          </a:xfrm>
          <a:custGeom>
            <a:avLst/>
            <a:gdLst/>
            <a:ahLst/>
            <a:cxnLst/>
            <a:rect l="l" t="t" r="r" b="b"/>
            <a:pathLst>
              <a:path w="3276600" h="1381125">
                <a:moveTo>
                  <a:pt x="3276599" y="1381124"/>
                </a:moveTo>
                <a:lnTo>
                  <a:pt x="0" y="1381124"/>
                </a:lnTo>
                <a:lnTo>
                  <a:pt x="0" y="0"/>
                </a:lnTo>
                <a:lnTo>
                  <a:pt x="3276599" y="0"/>
                </a:lnTo>
                <a:lnTo>
                  <a:pt x="3276599" y="13811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16845" y="2586639"/>
            <a:ext cx="27432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b="1" spc="235" dirty="0">
                <a:latin typeface="Verdana"/>
                <a:cs typeface="Verdana"/>
              </a:rPr>
              <a:t>X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65090" y="2719989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4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4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22328" y="3015263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795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22328" y="2691413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18334" y="2758088"/>
            <a:ext cx="17221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95655" algn="l"/>
                <a:tab pos="1486535" algn="l"/>
              </a:tabLst>
            </a:pPr>
            <a:r>
              <a:rPr sz="2250" i="1" spc="20" dirty="0">
                <a:latin typeface="Georgia"/>
                <a:cs typeface="Georgia"/>
              </a:rPr>
              <a:t>n</a:t>
            </a:r>
            <a:r>
              <a:rPr sz="2250" i="1" spc="-105" dirty="0">
                <a:latin typeface="Georgia"/>
                <a:cs typeface="Georgia"/>
              </a:rPr>
              <a:t>a</a:t>
            </a:r>
            <a:r>
              <a:rPr sz="2250" i="1" spc="20" dirty="0">
                <a:latin typeface="Georgia"/>
                <a:cs typeface="Georgia"/>
              </a:rPr>
              <a:t>n</a:t>
            </a:r>
            <a:r>
              <a:rPr sz="2250" i="1" dirty="0">
                <a:latin typeface="Georgia"/>
                <a:cs typeface="Georgia"/>
              </a:rPr>
              <a:t>	</a:t>
            </a:r>
            <a:r>
              <a:rPr sz="2250" spc="-125" dirty="0">
                <a:latin typeface="Cambria"/>
                <a:cs typeface="Cambria"/>
              </a:rPr>
              <a:t>6</a:t>
            </a:r>
            <a:r>
              <a:rPr sz="2250" spc="160" dirty="0">
                <a:latin typeface="Cambria"/>
                <a:cs typeface="Cambria"/>
              </a:rPr>
              <a:t>.</a:t>
            </a:r>
            <a:r>
              <a:rPr sz="2250" dirty="0">
                <a:latin typeface="Cambria"/>
                <a:cs typeface="Cambria"/>
              </a:rPr>
              <a:t>	</a:t>
            </a:r>
            <a:r>
              <a:rPr sz="2250" spc="-125" dirty="0">
                <a:latin typeface="Cambria"/>
                <a:cs typeface="Cambria"/>
              </a:rPr>
              <a:t>5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>
              <a:latin typeface="Cambria"/>
              <a:cs typeface="Cambria"/>
            </a:endParaRPr>
          </a:p>
          <a:p>
            <a:pPr marL="147955">
              <a:tabLst>
                <a:tab pos="795655" algn="l"/>
                <a:tab pos="1486535" algn="l"/>
              </a:tabLst>
            </a:pPr>
            <a:r>
              <a:rPr sz="2250" spc="-125" dirty="0">
                <a:latin typeface="Cambria"/>
                <a:cs typeface="Cambria"/>
              </a:rPr>
              <a:t>8</a:t>
            </a:r>
            <a:r>
              <a:rPr sz="2250" spc="160" dirty="0">
                <a:latin typeface="Cambria"/>
                <a:cs typeface="Cambria"/>
              </a:rPr>
              <a:t>.	</a:t>
            </a:r>
            <a:r>
              <a:rPr sz="2250" spc="-125" dirty="0">
                <a:latin typeface="Cambria"/>
                <a:cs typeface="Cambria"/>
              </a:rPr>
              <a:t>8</a:t>
            </a:r>
            <a:r>
              <a:rPr sz="2250" spc="160" dirty="0">
                <a:latin typeface="Cambria"/>
                <a:cs typeface="Cambria"/>
              </a:rPr>
              <a:t>.	</a:t>
            </a:r>
            <a:r>
              <a:rPr sz="2250" spc="-125" dirty="0">
                <a:latin typeface="Cambria"/>
                <a:cs typeface="Cambria"/>
              </a:rPr>
              <a:t>7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98778" y="3015263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98778" y="2691413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795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65091" y="2415189"/>
            <a:ext cx="26879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spcBef>
                <a:spcPts val="100"/>
              </a:spcBef>
              <a:tabLst>
                <a:tab pos="701675" algn="l"/>
                <a:tab pos="1349375" algn="l"/>
                <a:tab pos="2039620" algn="l"/>
                <a:tab pos="2446020" algn="l"/>
              </a:tabLst>
            </a:pPr>
            <a:r>
              <a:rPr sz="3375" spc="750" baseline="-33333" dirty="0">
                <a:latin typeface="Cambria"/>
                <a:cs typeface="Cambria"/>
              </a:rPr>
              <a:t>=</a:t>
            </a:r>
            <a:r>
              <a:rPr sz="3375" spc="247" baseline="-33333" dirty="0">
                <a:latin typeface="Cambria"/>
                <a:cs typeface="Cambria"/>
              </a:rPr>
              <a:t> </a:t>
            </a:r>
            <a:r>
              <a:rPr sz="3375" spc="1064" baseline="-18518" dirty="0">
                <a:latin typeface="Cambria"/>
                <a:cs typeface="Cambria"/>
              </a:rPr>
              <a:t>⎢	</a:t>
            </a:r>
            <a:r>
              <a:rPr sz="2250" spc="20" dirty="0">
                <a:latin typeface="Cambria"/>
                <a:cs typeface="Cambria"/>
              </a:rPr>
              <a:t>3.	4.	3.	</a:t>
            </a:r>
            <a:r>
              <a:rPr sz="3375" spc="1064" baseline="-18518" dirty="0">
                <a:latin typeface="Cambria"/>
                <a:cs typeface="Cambria"/>
              </a:rPr>
              <a:t>⎥</a:t>
            </a:r>
            <a:endParaRPr sz="3375" baseline="-18518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84228" y="2072289"/>
            <a:ext cx="23691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spcBef>
                <a:spcPts val="100"/>
              </a:spcBef>
              <a:tabLst>
                <a:tab pos="382270" algn="l"/>
                <a:tab pos="1029969" algn="l"/>
                <a:tab pos="1544955" algn="l"/>
              </a:tabLst>
            </a:pPr>
            <a:r>
              <a:rPr sz="3375" spc="1064" baseline="-17283" dirty="0">
                <a:latin typeface="Cambria"/>
                <a:cs typeface="Cambria"/>
              </a:rPr>
              <a:t>⎡	</a:t>
            </a:r>
            <a:r>
              <a:rPr sz="2250" spc="20" dirty="0">
                <a:latin typeface="Cambria"/>
                <a:cs typeface="Cambria"/>
              </a:rPr>
              <a:t>1.	2.	</a:t>
            </a:r>
            <a:r>
              <a:rPr sz="2250" i="1" spc="175" dirty="0">
                <a:latin typeface="Georgia"/>
                <a:cs typeface="Georgia"/>
              </a:rPr>
              <a:t>nan</a:t>
            </a:r>
            <a:r>
              <a:rPr sz="2250" spc="175" dirty="0">
                <a:latin typeface="Cambria"/>
                <a:cs typeface="Cambria"/>
              </a:rPr>
              <a:t>.</a:t>
            </a:r>
            <a:r>
              <a:rPr sz="3375" spc="262" baseline="-17283" dirty="0">
                <a:latin typeface="Cambria"/>
                <a:cs typeface="Cambria"/>
              </a:rPr>
              <a:t>⎤</a:t>
            </a:r>
            <a:endParaRPr sz="3375" baseline="-17283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74054" y="4499698"/>
            <a:ext cx="6096000" cy="561975"/>
          </a:xfrm>
          <a:custGeom>
            <a:avLst/>
            <a:gdLst/>
            <a:ahLst/>
            <a:cxnLst/>
            <a:rect l="l" t="t" r="r" b="b"/>
            <a:pathLst>
              <a:path w="6096000" h="561975">
                <a:moveTo>
                  <a:pt x="6062951" y="561974"/>
                </a:moveTo>
                <a:lnTo>
                  <a:pt x="33047" y="561974"/>
                </a:lnTo>
                <a:lnTo>
                  <a:pt x="28187" y="561008"/>
                </a:lnTo>
                <a:lnTo>
                  <a:pt x="966" y="533787"/>
                </a:lnTo>
                <a:lnTo>
                  <a:pt x="0" y="528927"/>
                </a:lnTo>
                <a:lnTo>
                  <a:pt x="0" y="5238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062951" y="0"/>
                </a:lnTo>
                <a:lnTo>
                  <a:pt x="6095032" y="28187"/>
                </a:lnTo>
                <a:lnTo>
                  <a:pt x="6095998" y="33047"/>
                </a:lnTo>
                <a:lnTo>
                  <a:pt x="6095998" y="528927"/>
                </a:lnTo>
                <a:lnTo>
                  <a:pt x="6067811" y="561008"/>
                </a:lnTo>
                <a:lnTo>
                  <a:pt x="6062951" y="561974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808980" y="4498428"/>
            <a:ext cx="4689475" cy="462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knni</a:t>
            </a:r>
            <a:r>
              <a:rPr sz="1200" b="1" spc="3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3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KNNImputer(n_neighbors=2,</a:t>
            </a:r>
            <a:r>
              <a:rPr sz="1200" b="1" spc="3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weights=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"uniform"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) </a:t>
            </a:r>
            <a:r>
              <a:rPr sz="1200" b="1" spc="-70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knni.fit_transform(X)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334229" y="3637562"/>
            <a:ext cx="5380355" cy="886460"/>
            <a:chOff x="1973741" y="3637562"/>
            <a:chExt cx="5380355" cy="886460"/>
          </a:xfrm>
        </p:grpSpPr>
        <p:sp>
          <p:nvSpPr>
            <p:cNvPr id="23" name="object 23"/>
            <p:cNvSpPr/>
            <p:nvPr/>
          </p:nvSpPr>
          <p:spPr>
            <a:xfrm>
              <a:off x="1992792" y="3656613"/>
              <a:ext cx="677545" cy="804545"/>
            </a:xfrm>
            <a:custGeom>
              <a:avLst/>
              <a:gdLst/>
              <a:ahLst/>
              <a:cxnLst/>
              <a:rect l="l" t="t" r="r" b="b"/>
              <a:pathLst>
                <a:path w="677544" h="804545">
                  <a:moveTo>
                    <a:pt x="0" y="0"/>
                  </a:moveTo>
                  <a:lnTo>
                    <a:pt x="677451" y="80395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89987" y="4379569"/>
              <a:ext cx="117475" cy="125095"/>
            </a:xfrm>
            <a:custGeom>
              <a:avLst/>
              <a:gdLst/>
              <a:ahLst/>
              <a:cxnLst/>
              <a:rect l="l" t="t" r="r" b="b"/>
              <a:pathLst>
                <a:path w="117475" h="125095">
                  <a:moveTo>
                    <a:pt x="117132" y="124777"/>
                  </a:moveTo>
                  <a:lnTo>
                    <a:pt x="86728" y="0"/>
                  </a:lnTo>
                  <a:lnTo>
                    <a:pt x="0" y="74460"/>
                  </a:lnTo>
                  <a:lnTo>
                    <a:pt x="117132" y="1247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82545" y="3690232"/>
              <a:ext cx="1125220" cy="814705"/>
            </a:xfrm>
            <a:custGeom>
              <a:avLst/>
              <a:gdLst/>
              <a:ahLst/>
              <a:cxnLst/>
              <a:rect l="l" t="t" r="r" b="b"/>
              <a:pathLst>
                <a:path w="1125220" h="814704">
                  <a:moveTo>
                    <a:pt x="0" y="814105"/>
                  </a:moveTo>
                  <a:lnTo>
                    <a:pt x="1125073" y="0"/>
                  </a:lnTo>
                </a:path>
              </a:pathLst>
            </a:custGeom>
            <a:ln w="382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227642" y="3656613"/>
              <a:ext cx="127000" cy="114300"/>
            </a:xfrm>
            <a:custGeom>
              <a:avLst/>
              <a:gdLst/>
              <a:ahLst/>
              <a:cxnLst/>
              <a:rect l="l" t="t" r="r" b="b"/>
              <a:pathLst>
                <a:path w="127000" h="114300">
                  <a:moveTo>
                    <a:pt x="67030" y="113842"/>
                  </a:moveTo>
                  <a:lnTo>
                    <a:pt x="0" y="20634"/>
                  </a:lnTo>
                  <a:lnTo>
                    <a:pt x="126435" y="0"/>
                  </a:lnTo>
                  <a:lnTo>
                    <a:pt x="67030" y="1138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490772" y="1395506"/>
            <a:ext cx="1724025" cy="571951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085"/>
              </a:lnSpc>
            </a:pPr>
            <a:r>
              <a:rPr spc="-105" dirty="0">
                <a:latin typeface="Verdana"/>
                <a:cs typeface="Verdana"/>
              </a:rPr>
              <a:t>Original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25" dirty="0">
                <a:latin typeface="Verdana"/>
                <a:cs typeface="Verdana"/>
              </a:rPr>
              <a:t>feature</a:t>
            </a:r>
            <a:endParaRPr>
              <a:latin typeface="Verdana"/>
              <a:cs typeface="Verdana"/>
            </a:endParaRPr>
          </a:p>
          <a:p>
            <a:pPr marL="635" algn="ctr">
              <a:spcBef>
                <a:spcPts val="240"/>
              </a:spcBef>
            </a:pPr>
            <a:r>
              <a:rPr spc="-165" dirty="0">
                <a:latin typeface="Verdana"/>
                <a:cs typeface="Verdana"/>
              </a:rPr>
              <a:t>matrix</a:t>
            </a:r>
            <a:r>
              <a:rPr spc="-150" dirty="0">
                <a:latin typeface="Verdana"/>
                <a:cs typeface="Verdana"/>
              </a:rPr>
              <a:t> </a:t>
            </a:r>
            <a:r>
              <a:rPr b="1" spc="185" dirty="0">
                <a:latin typeface="Verdana"/>
                <a:cs typeface="Verdana"/>
              </a:rPr>
              <a:t>X</a:t>
            </a:r>
            <a:endParaRPr>
              <a:latin typeface="Verdana"/>
              <a:cs typeface="Verdan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17</a:t>
            </a:fld>
            <a:endParaRPr spc="-85" dirty="0"/>
          </a:p>
        </p:txBody>
      </p:sp>
      <p:sp>
        <p:nvSpPr>
          <p:cNvPr id="28" name="object 28"/>
          <p:cNvSpPr txBox="1"/>
          <p:nvPr/>
        </p:nvSpPr>
        <p:spPr>
          <a:xfrm>
            <a:off x="7679029" y="1333500"/>
            <a:ext cx="2066925" cy="571951"/>
          </a:xfrm>
          <a:prstGeom prst="rect">
            <a:avLst/>
          </a:prstGeom>
          <a:solidFill>
            <a:srgbClr val="C8D9F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085"/>
              </a:lnSpc>
            </a:pPr>
            <a:r>
              <a:rPr spc="-80" dirty="0">
                <a:latin typeface="Verdana"/>
                <a:cs typeface="Verdana"/>
              </a:rPr>
              <a:t>T</a:t>
            </a:r>
            <a:r>
              <a:rPr spc="-130" dirty="0">
                <a:latin typeface="Verdana"/>
                <a:cs typeface="Verdana"/>
              </a:rPr>
              <a:t>ransformed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25" dirty="0">
                <a:latin typeface="Verdana"/>
                <a:cs typeface="Verdana"/>
              </a:rPr>
              <a:t>feature</a:t>
            </a:r>
            <a:endParaRPr>
              <a:latin typeface="Verdana"/>
              <a:cs typeface="Verdana"/>
            </a:endParaRPr>
          </a:p>
          <a:p>
            <a:pPr marR="5715" algn="ctr">
              <a:spcBef>
                <a:spcPts val="240"/>
              </a:spcBef>
            </a:pPr>
            <a:r>
              <a:rPr spc="-165" dirty="0">
                <a:latin typeface="Verdana"/>
                <a:cs typeface="Verdana"/>
              </a:rPr>
              <a:t>matrix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b="1" spc="180" dirty="0">
                <a:latin typeface="Verdana"/>
                <a:cs typeface="Verdana"/>
              </a:rPr>
              <a:t>X</a:t>
            </a:r>
            <a:r>
              <a:rPr sz="1875" b="1" spc="-15" baseline="28888" dirty="0">
                <a:latin typeface="Verdana"/>
                <a:cs typeface="Verdana"/>
              </a:rPr>
              <a:t>′</a:t>
            </a:r>
            <a:endParaRPr sz="1875" baseline="28888">
              <a:latin typeface="Verdana"/>
              <a:cs typeface="Verdan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1983711" y="654050"/>
            <a:ext cx="789813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In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this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45" dirty="0">
                <a:solidFill>
                  <a:srgbClr val="000000"/>
                </a:solidFill>
              </a:rPr>
              <a:t>way,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we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can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ﬁll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up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missing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values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with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15" dirty="0">
                <a:solidFill>
                  <a:srgbClr val="0000CC"/>
                </a:solidFill>
              </a:rPr>
              <a:t>KNNImputer.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8233" y="1068387"/>
            <a:ext cx="3948429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70" dirty="0">
                <a:solidFill>
                  <a:srgbClr val="000000"/>
                </a:solidFill>
                <a:latin typeface="Verdana"/>
                <a:cs typeface="Verdana"/>
              </a:rPr>
              <a:t>Marking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220" dirty="0">
                <a:solidFill>
                  <a:srgbClr val="000000"/>
                </a:solidFill>
                <a:latin typeface="Verdana"/>
                <a:cs typeface="Verdana"/>
              </a:rPr>
              <a:t>imputed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50" dirty="0">
                <a:solidFill>
                  <a:srgbClr val="000000"/>
                </a:solidFill>
                <a:latin typeface="Verdana"/>
                <a:cs typeface="Verdana"/>
              </a:rPr>
              <a:t>values</a:t>
            </a:r>
            <a:endParaRPr sz="29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3" y="2162174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3" y="2905124"/>
            <a:ext cx="85725" cy="857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741608" y="335280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5469" y="3786188"/>
            <a:ext cx="95250" cy="95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38407" y="1958976"/>
            <a:ext cx="6998334" cy="2397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It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useful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indicate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presence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of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missing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values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dataset.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spcBef>
                <a:spcPts val="225"/>
              </a:spcBef>
            </a:pPr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4"/>
              </a:rPr>
              <a:t>MissingIndicator</a:t>
            </a:r>
            <a:r>
              <a:rPr sz="2250" spc="20" dirty="0">
                <a:solidFill>
                  <a:srgbClr val="0F6ACC"/>
                </a:solidFill>
                <a:latin typeface="Microsoft Sans Serif"/>
                <a:cs typeface="Microsoft Sans Serif"/>
                <a:hlinkClick r:id="rId4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helps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us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get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those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indications.</a:t>
            </a:r>
            <a:endParaRPr sz="2250">
              <a:latin typeface="Microsoft Sans Serif"/>
              <a:cs typeface="Microsoft Sans Serif"/>
            </a:endParaRPr>
          </a:p>
          <a:p>
            <a:pPr marL="440690">
              <a:spcBef>
                <a:spcPts val="825"/>
              </a:spcBef>
            </a:pPr>
            <a:r>
              <a:rPr sz="2250" dirty="0">
                <a:latin typeface="Microsoft Sans Serif"/>
                <a:cs typeface="Microsoft Sans Serif"/>
              </a:rPr>
              <a:t>It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returns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binary</a:t>
            </a:r>
            <a:r>
              <a:rPr sz="2250" spc="10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matrix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endParaRPr sz="2250">
              <a:latin typeface="Microsoft Sans Serif"/>
              <a:cs typeface="Microsoft Sans Serif"/>
            </a:endParaRPr>
          </a:p>
          <a:p>
            <a:pPr marL="869315" marR="524510">
              <a:lnSpc>
                <a:spcPct val="108300"/>
              </a:lnSpc>
              <a:spcBef>
                <a:spcPts val="525"/>
              </a:spcBef>
            </a:pPr>
            <a:r>
              <a:rPr sz="2250" spc="-25" dirty="0">
                <a:solidFill>
                  <a:srgbClr val="0000CC"/>
                </a:solidFill>
                <a:latin typeface="Microsoft Sans Serif"/>
                <a:cs typeface="Microsoft Sans Serif"/>
              </a:rPr>
              <a:t>True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values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correspond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missing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entrie</a:t>
            </a:r>
            <a:r>
              <a:rPr sz="2250" spc="-5" dirty="0">
                <a:latin typeface="Microsoft Sans Serif"/>
                <a:cs typeface="Microsoft Sans Serif"/>
              </a:rPr>
              <a:t>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original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dataset.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18</a:t>
            </a:fld>
            <a:endParaRPr spc="-8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19</a:t>
            </a:fld>
            <a:endParaRPr spc="-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4584" y="2301434"/>
            <a:ext cx="421640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229" dirty="0">
                <a:solidFill>
                  <a:srgbClr val="0000FF"/>
                </a:solidFill>
                <a:latin typeface="Verdana"/>
                <a:cs typeface="Verdana"/>
              </a:rPr>
              <a:t>1.2</a:t>
            </a:r>
            <a:r>
              <a:rPr sz="2900" spc="-2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175" dirty="0">
                <a:solidFill>
                  <a:srgbClr val="0000FF"/>
                </a:solidFill>
                <a:latin typeface="Verdana"/>
                <a:cs typeface="Verdana"/>
              </a:rPr>
              <a:t>Numeric</a:t>
            </a:r>
            <a:r>
              <a:rPr sz="2900" spc="-2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200" dirty="0">
                <a:solidFill>
                  <a:srgbClr val="0000FF"/>
                </a:solidFill>
                <a:latin typeface="Verdana"/>
                <a:cs typeface="Verdana"/>
              </a:rPr>
              <a:t>transformers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9266" y="3170909"/>
            <a:ext cx="4143375" cy="1114425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 marL="635635" indent="-322580">
              <a:buAutoNum type="arabicPeriod"/>
              <a:tabLst>
                <a:tab pos="636270" algn="l"/>
              </a:tabLst>
            </a:pP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-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scaling</a:t>
            </a:r>
            <a:endParaRPr sz="2250">
              <a:latin typeface="Microsoft Sans Serif"/>
              <a:cs typeface="Microsoft Sans Serif"/>
            </a:endParaRPr>
          </a:p>
          <a:p>
            <a:pPr marL="635635" indent="-322580">
              <a:spcBef>
                <a:spcPts val="225"/>
              </a:spcBef>
              <a:buAutoNum type="arabicPeriod"/>
              <a:tabLst>
                <a:tab pos="636270" algn="l"/>
              </a:tabLst>
            </a:pPr>
            <a:r>
              <a:rPr sz="2250" spc="-5" dirty="0">
                <a:latin typeface="Microsoft Sans Serif"/>
                <a:cs typeface="Microsoft Sans Serif"/>
              </a:rPr>
              <a:t>Polynomial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transformation</a:t>
            </a:r>
            <a:endParaRPr sz="2250">
              <a:latin typeface="Microsoft Sans Serif"/>
              <a:cs typeface="Microsoft Sans Serif"/>
            </a:endParaRPr>
          </a:p>
          <a:p>
            <a:pPr marL="635635" indent="-322580">
              <a:spcBef>
                <a:spcPts val="225"/>
              </a:spcBef>
              <a:buAutoNum type="arabicPeriod"/>
              <a:tabLst>
                <a:tab pos="636270" algn="l"/>
              </a:tabLst>
            </a:pPr>
            <a:r>
              <a:rPr sz="2250" spc="-5" dirty="0">
                <a:latin typeface="Microsoft Sans Serif"/>
                <a:cs typeface="Microsoft Sans Serif"/>
              </a:rPr>
              <a:t>Discretization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20</a:t>
            </a:fld>
            <a:endParaRPr spc="-85" dirty="0"/>
          </a:p>
        </p:txBody>
      </p:sp>
      <p:sp>
        <p:nvSpPr>
          <p:cNvPr id="2" name="object 2"/>
          <p:cNvSpPr txBox="1"/>
          <p:nvPr/>
        </p:nvSpPr>
        <p:spPr>
          <a:xfrm>
            <a:off x="2109787" y="642740"/>
            <a:ext cx="7020559" cy="4231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spcBef>
                <a:spcPts val="100"/>
              </a:spcBef>
            </a:pP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Feature</a:t>
            </a:r>
            <a:r>
              <a:rPr sz="2250" spc="-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scaling</a:t>
            </a:r>
            <a:endParaRPr sz="2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200">
              <a:latin typeface="Microsoft Sans Serif"/>
              <a:cs typeface="Microsoft Sans Serif"/>
            </a:endParaRPr>
          </a:p>
          <a:p>
            <a:pPr marL="12700" marR="33020">
              <a:lnSpc>
                <a:spcPct val="108300"/>
              </a:lnSpc>
              <a:spcBef>
                <a:spcPts val="1295"/>
              </a:spcBef>
            </a:pP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Numerical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features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different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scales</a:t>
            </a:r>
            <a:r>
              <a:rPr sz="2250" spc="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leads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B12121"/>
                </a:solidFill>
                <a:latin typeface="Microsoft Sans Serif"/>
                <a:cs typeface="Microsoft Sans Serif"/>
              </a:rPr>
              <a:t>slower </a:t>
            </a:r>
            <a:r>
              <a:rPr sz="2250" spc="-580" dirty="0">
                <a:solidFill>
                  <a:srgbClr val="B12121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B12121"/>
                </a:solidFill>
                <a:latin typeface="Microsoft Sans Serif"/>
                <a:cs typeface="Microsoft Sans Serif"/>
              </a:rPr>
              <a:t>convergence</a:t>
            </a:r>
            <a:r>
              <a:rPr sz="2250" spc="20" dirty="0">
                <a:solidFill>
                  <a:srgbClr val="B12121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iterative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optimization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procedures.</a:t>
            </a:r>
            <a:endParaRPr sz="2250">
              <a:latin typeface="Microsoft Sans Serif"/>
              <a:cs typeface="Microsoft Sans Serif"/>
            </a:endParaRPr>
          </a:p>
          <a:p>
            <a:pPr marL="31115" marR="71755">
              <a:lnSpc>
                <a:spcPct val="108300"/>
              </a:lnSpc>
              <a:spcBef>
                <a:spcPts val="1730"/>
              </a:spcBef>
            </a:pPr>
            <a:r>
              <a:rPr sz="2250" dirty="0">
                <a:latin typeface="Microsoft Sans Serif"/>
                <a:cs typeface="Microsoft Sans Serif"/>
              </a:rPr>
              <a:t>It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good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practice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scale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numerical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features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that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all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them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same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scale.</a:t>
            </a:r>
            <a:endParaRPr sz="2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050">
              <a:latin typeface="Microsoft Sans Serif"/>
              <a:cs typeface="Microsoft Sans Serif"/>
            </a:endParaRPr>
          </a:p>
          <a:p>
            <a:pPr marL="12700" marR="5080">
              <a:lnSpc>
                <a:spcPct val="108300"/>
              </a:lnSpc>
              <a:spcBef>
                <a:spcPts val="5"/>
              </a:spcBef>
            </a:pPr>
            <a:r>
              <a:rPr sz="2250" dirty="0">
                <a:latin typeface="Microsoft Sans Serif"/>
                <a:cs typeface="Microsoft Sans Serif"/>
              </a:rPr>
              <a:t>Let's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learn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how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scale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numerical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features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sklearn </a:t>
            </a:r>
            <a:r>
              <a:rPr sz="2250" spc="-58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API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 marL="637540">
              <a:spcBef>
                <a:spcPts val="1860"/>
              </a:spcBef>
            </a:pPr>
            <a:r>
              <a:rPr sz="2250" dirty="0">
                <a:latin typeface="Microsoft Sans Serif"/>
                <a:cs typeface="Microsoft Sans Serif"/>
              </a:rPr>
              <a:t>Three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scaling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APIs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available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sklearn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6302" y="5094387"/>
            <a:ext cx="2428875" cy="34624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 marL="293370"/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MaxAbsScaler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30285" y="5094387"/>
            <a:ext cx="2209800" cy="346249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 marL="200660"/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3"/>
              </a:rPr>
              <a:t>MinMaxScaler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2487" y="5094387"/>
            <a:ext cx="252412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 marL="275590"/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4"/>
              </a:rPr>
              <a:t>StandardScaler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2487" y="666750"/>
            <a:ext cx="214312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-5" dirty="0">
                <a:solidFill>
                  <a:srgbClr val="0F6ACC"/>
                </a:solidFill>
                <a:hlinkClick r:id="rId2"/>
              </a:rPr>
              <a:t>StandardScaler</a:t>
            </a:r>
          </a:p>
        </p:txBody>
      </p:sp>
      <p:sp>
        <p:nvSpPr>
          <p:cNvPr id="3" name="object 3"/>
          <p:cNvSpPr/>
          <p:nvPr/>
        </p:nvSpPr>
        <p:spPr>
          <a:xfrm>
            <a:off x="4140272" y="2166696"/>
            <a:ext cx="3048000" cy="561975"/>
          </a:xfrm>
          <a:custGeom>
            <a:avLst/>
            <a:gdLst/>
            <a:ahLst/>
            <a:cxnLst/>
            <a:rect l="l" t="t" r="r" b="b"/>
            <a:pathLst>
              <a:path w="3048000" h="561975">
                <a:moveTo>
                  <a:pt x="3047999" y="561974"/>
                </a:moveTo>
                <a:lnTo>
                  <a:pt x="0" y="561974"/>
                </a:lnTo>
                <a:lnTo>
                  <a:pt x="0" y="0"/>
                </a:lnTo>
                <a:lnTo>
                  <a:pt x="3047999" y="0"/>
                </a:lnTo>
                <a:lnTo>
                  <a:pt x="3047999" y="561974"/>
                </a:lnTo>
                <a:close/>
              </a:path>
            </a:pathLst>
          </a:custGeom>
          <a:solidFill>
            <a:srgbClr val="D9D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88135" y="2230195"/>
            <a:ext cx="2482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24298" y="2125420"/>
            <a:ext cx="31877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b="1" spc="-112" baseline="-20987" dirty="0">
                <a:latin typeface="Verdana"/>
                <a:cs typeface="Verdana"/>
              </a:rPr>
              <a:t>x</a:t>
            </a:r>
            <a:r>
              <a:rPr sz="1550" b="1" spc="-75" dirty="0">
                <a:latin typeface="Verdana"/>
                <a:cs typeface="Verdana"/>
              </a:rPr>
              <a:t>′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5084" y="2430220"/>
            <a:ext cx="18859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i="1" dirty="0">
                <a:latin typeface="Georgia"/>
                <a:cs typeface="Georgia"/>
              </a:rPr>
              <a:t>σ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24485" y="2039695"/>
            <a:ext cx="72009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b="1" u="sng" spc="-14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x</a:t>
            </a:r>
            <a:r>
              <a:rPr sz="2250" b="1" u="sng" spc="-27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250" u="sng" spc="5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−</a:t>
            </a:r>
            <a:r>
              <a:rPr sz="225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250" i="1" u="sng" spc="6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μ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9787" y="1320800"/>
            <a:ext cx="72726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85" dirty="0">
                <a:latin typeface="Microsoft Sans Serif"/>
                <a:cs typeface="Microsoft Sans Serif"/>
              </a:rPr>
              <a:t>T</a:t>
            </a:r>
            <a:r>
              <a:rPr sz="2250" dirty="0">
                <a:latin typeface="Microsoft Sans Serif"/>
                <a:cs typeface="Microsoft Sans Serif"/>
              </a:rPr>
              <a:t>ransforms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original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vector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b="1" spc="-140" dirty="0">
                <a:latin typeface="Verdana"/>
                <a:cs typeface="Verdana"/>
              </a:rPr>
              <a:t>x</a:t>
            </a:r>
            <a:r>
              <a:rPr sz="2250" b="1" spc="-145" dirty="0">
                <a:latin typeface="Verdana"/>
                <a:cs typeface="Verdana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new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84387" y="1701800"/>
            <a:ext cx="41789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vector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b="1" spc="-75" dirty="0">
                <a:latin typeface="Verdana"/>
                <a:cs typeface="Verdana"/>
              </a:rPr>
              <a:t>x</a:t>
            </a:r>
            <a:r>
              <a:rPr sz="2325" b="1" spc="-112" baseline="28673" dirty="0">
                <a:latin typeface="Verdana"/>
                <a:cs typeface="Verdana"/>
              </a:rPr>
              <a:t>′</a:t>
            </a:r>
            <a:r>
              <a:rPr sz="2325" b="1" spc="315" baseline="28673" dirty="0">
                <a:latin typeface="Verdana"/>
                <a:cs typeface="Verdana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using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following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formula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22486" y="2795346"/>
            <a:ext cx="1466850" cy="1724025"/>
          </a:xfrm>
          <a:custGeom>
            <a:avLst/>
            <a:gdLst/>
            <a:ahLst/>
            <a:cxnLst/>
            <a:rect l="l" t="t" r="r" b="b"/>
            <a:pathLst>
              <a:path w="1466850" h="1724025">
                <a:moveTo>
                  <a:pt x="1466849" y="1724024"/>
                </a:moveTo>
                <a:lnTo>
                  <a:pt x="0" y="1724024"/>
                </a:lnTo>
                <a:lnTo>
                  <a:pt x="0" y="0"/>
                </a:lnTo>
                <a:lnTo>
                  <a:pt x="1466849" y="0"/>
                </a:lnTo>
                <a:lnTo>
                  <a:pt x="1466849" y="17240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248819" y="2744545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4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48819" y="3087445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3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48819" y="3773245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5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48819" y="4116145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6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53407" y="4030420"/>
            <a:ext cx="5467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342265" algn="l"/>
              </a:tabLst>
            </a:pPr>
            <a:r>
              <a:rPr sz="2250" spc="710" dirty="0">
                <a:latin typeface="Cambria"/>
                <a:cs typeface="Cambria"/>
              </a:rPr>
              <a:t>⎣	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97384" y="3430345"/>
            <a:ext cx="152781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sz="2250" b="1" spc="15" dirty="0">
                <a:latin typeface="Verdana"/>
                <a:cs typeface="Verdana"/>
              </a:rPr>
              <a:t>x</a:t>
            </a:r>
            <a:r>
              <a:rPr sz="2325" spc="22" baseline="-14336" dirty="0">
                <a:latin typeface="Cambria"/>
                <a:cs typeface="Cambria"/>
              </a:rPr>
              <a:t>5×1 </a:t>
            </a:r>
            <a:r>
              <a:rPr sz="2325" spc="30" baseline="-14336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spc="135" dirty="0">
                <a:latin typeface="Cambria"/>
                <a:cs typeface="Cambria"/>
              </a:rPr>
              <a:t> </a:t>
            </a:r>
            <a:r>
              <a:rPr sz="3375" spc="682" baseline="-20987" dirty="0">
                <a:latin typeface="Cambria"/>
                <a:cs typeface="Cambria"/>
              </a:rPr>
              <a:t>⎢</a:t>
            </a:r>
            <a:r>
              <a:rPr sz="2250" spc="455" dirty="0">
                <a:latin typeface="Cambria"/>
                <a:cs typeface="Cambria"/>
              </a:rPr>
              <a:t>2</a:t>
            </a:r>
            <a:r>
              <a:rPr sz="3375" spc="682" baseline="-20987" dirty="0">
                <a:latin typeface="Cambria"/>
                <a:cs typeface="Cambria"/>
              </a:rPr>
              <a:t>⎥</a:t>
            </a:r>
            <a:endParaRPr sz="3375" baseline="-20987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53407" y="3182695"/>
            <a:ext cx="5467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342265" algn="l"/>
              </a:tabLst>
            </a:pPr>
            <a:r>
              <a:rPr sz="2250" spc="710" dirty="0">
                <a:latin typeface="Cambria"/>
                <a:cs typeface="Cambria"/>
              </a:rPr>
              <a:t>⎢	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39267" y="4654550"/>
            <a:ext cx="178435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628139" algn="l"/>
              </a:tabLst>
            </a:pPr>
            <a:r>
              <a:rPr sz="2250" i="1" spc="60" dirty="0">
                <a:latin typeface="Georgia"/>
                <a:cs typeface="Georgia"/>
              </a:rPr>
              <a:t>μ</a:t>
            </a:r>
            <a:r>
              <a:rPr sz="2250" i="1" spc="80" dirty="0">
                <a:latin typeface="Georgia"/>
                <a:cs typeface="Georgia"/>
              </a:rPr>
              <a:t> </a:t>
            </a: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spc="130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4</a:t>
            </a:r>
            <a:r>
              <a:rPr sz="2250" spc="160" dirty="0">
                <a:latin typeface="Cambria"/>
                <a:cs typeface="Cambria"/>
              </a:rPr>
              <a:t>,</a:t>
            </a:r>
            <a:r>
              <a:rPr sz="2250" spc="-125" dirty="0">
                <a:latin typeface="Cambria"/>
                <a:cs typeface="Cambria"/>
              </a:rPr>
              <a:t> </a:t>
            </a:r>
            <a:r>
              <a:rPr sz="2250" i="1" dirty="0">
                <a:latin typeface="Georgia"/>
                <a:cs typeface="Georgia"/>
              </a:rPr>
              <a:t>σ</a:t>
            </a:r>
            <a:r>
              <a:rPr sz="2250" i="1" spc="160" dirty="0">
                <a:latin typeface="Georgia"/>
                <a:cs typeface="Georgia"/>
              </a:rPr>
              <a:t> </a:t>
            </a: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dirty="0">
                <a:latin typeface="Cambria"/>
                <a:cs typeface="Cambria"/>
              </a:rPr>
              <a:t>	</a:t>
            </a:r>
            <a:r>
              <a:rPr sz="2250" spc="-125" dirty="0"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48004" y="4708878"/>
            <a:ext cx="360680" cy="282575"/>
          </a:xfrm>
          <a:custGeom>
            <a:avLst/>
            <a:gdLst/>
            <a:ahLst/>
            <a:cxnLst/>
            <a:rect l="l" t="t" r="r" b="b"/>
            <a:pathLst>
              <a:path w="360680" h="282575">
                <a:moveTo>
                  <a:pt x="105437" y="247508"/>
                </a:moveTo>
                <a:lnTo>
                  <a:pt x="92841" y="247508"/>
                </a:lnTo>
                <a:lnTo>
                  <a:pt x="94808" y="243751"/>
                </a:lnTo>
                <a:lnTo>
                  <a:pt x="100412" y="232480"/>
                </a:lnTo>
                <a:lnTo>
                  <a:pt x="109657" y="213695"/>
                </a:lnTo>
                <a:lnTo>
                  <a:pt x="134834" y="162277"/>
                </a:lnTo>
                <a:lnTo>
                  <a:pt x="146679" y="138006"/>
                </a:lnTo>
                <a:lnTo>
                  <a:pt x="203930" y="20245"/>
                </a:lnTo>
                <a:lnTo>
                  <a:pt x="209742" y="8374"/>
                </a:lnTo>
                <a:lnTo>
                  <a:pt x="211965" y="3951"/>
                </a:lnTo>
                <a:lnTo>
                  <a:pt x="213479" y="1326"/>
                </a:lnTo>
                <a:lnTo>
                  <a:pt x="215393" y="0"/>
                </a:lnTo>
                <a:lnTo>
                  <a:pt x="217678" y="0"/>
                </a:lnTo>
                <a:lnTo>
                  <a:pt x="217678" y="11288"/>
                </a:lnTo>
                <a:lnTo>
                  <a:pt x="220898" y="11288"/>
                </a:lnTo>
                <a:lnTo>
                  <a:pt x="158571" y="138937"/>
                </a:lnTo>
                <a:lnTo>
                  <a:pt x="105437" y="247508"/>
                </a:lnTo>
                <a:close/>
              </a:path>
              <a:path w="360680" h="282575">
                <a:moveTo>
                  <a:pt x="360431" y="11288"/>
                </a:moveTo>
                <a:lnTo>
                  <a:pt x="217678" y="11288"/>
                </a:lnTo>
                <a:lnTo>
                  <a:pt x="217678" y="0"/>
                </a:lnTo>
                <a:lnTo>
                  <a:pt x="360431" y="0"/>
                </a:lnTo>
                <a:lnTo>
                  <a:pt x="360431" y="11288"/>
                </a:lnTo>
                <a:close/>
              </a:path>
              <a:path w="360680" h="282575">
                <a:moveTo>
                  <a:pt x="6570" y="175542"/>
                </a:moveTo>
                <a:lnTo>
                  <a:pt x="5799" y="175542"/>
                </a:lnTo>
                <a:lnTo>
                  <a:pt x="4522" y="174780"/>
                </a:lnTo>
                <a:lnTo>
                  <a:pt x="2713" y="173284"/>
                </a:lnTo>
                <a:lnTo>
                  <a:pt x="1056" y="171788"/>
                </a:lnTo>
                <a:lnTo>
                  <a:pt x="0" y="170462"/>
                </a:lnTo>
                <a:lnTo>
                  <a:pt x="85" y="168401"/>
                </a:lnTo>
                <a:lnTo>
                  <a:pt x="285" y="168204"/>
                </a:lnTo>
                <a:lnTo>
                  <a:pt x="657" y="167442"/>
                </a:lnTo>
                <a:lnTo>
                  <a:pt x="7205" y="162277"/>
                </a:lnTo>
                <a:lnTo>
                  <a:pt x="32194" y="143566"/>
                </a:lnTo>
                <a:lnTo>
                  <a:pt x="38365" y="138768"/>
                </a:lnTo>
                <a:lnTo>
                  <a:pt x="38936" y="138204"/>
                </a:lnTo>
                <a:lnTo>
                  <a:pt x="39422" y="138006"/>
                </a:lnTo>
                <a:lnTo>
                  <a:pt x="41336" y="138006"/>
                </a:lnTo>
                <a:lnTo>
                  <a:pt x="42478" y="138937"/>
                </a:lnTo>
                <a:lnTo>
                  <a:pt x="43421" y="140828"/>
                </a:lnTo>
                <a:lnTo>
                  <a:pt x="53384" y="162277"/>
                </a:lnTo>
                <a:lnTo>
                  <a:pt x="25138" y="162277"/>
                </a:lnTo>
                <a:lnTo>
                  <a:pt x="6570" y="175542"/>
                </a:lnTo>
                <a:close/>
              </a:path>
              <a:path w="360680" h="282575">
                <a:moveTo>
                  <a:pt x="86842" y="282222"/>
                </a:moveTo>
                <a:lnTo>
                  <a:pt x="82272" y="282222"/>
                </a:lnTo>
                <a:lnTo>
                  <a:pt x="81129" y="281939"/>
                </a:lnTo>
                <a:lnTo>
                  <a:pt x="80558" y="281375"/>
                </a:lnTo>
                <a:lnTo>
                  <a:pt x="71657" y="262528"/>
                </a:lnTo>
                <a:lnTo>
                  <a:pt x="25138" y="162277"/>
                </a:lnTo>
                <a:lnTo>
                  <a:pt x="53384" y="162277"/>
                </a:lnTo>
                <a:lnTo>
                  <a:pt x="92841" y="247508"/>
                </a:lnTo>
                <a:lnTo>
                  <a:pt x="105437" y="247508"/>
                </a:lnTo>
                <a:lnTo>
                  <a:pt x="89413" y="280246"/>
                </a:lnTo>
                <a:lnTo>
                  <a:pt x="88642" y="281573"/>
                </a:lnTo>
                <a:lnTo>
                  <a:pt x="86842" y="2822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41560" y="2795346"/>
            <a:ext cx="2305050" cy="1800225"/>
          </a:xfrm>
          <a:custGeom>
            <a:avLst/>
            <a:gdLst/>
            <a:ahLst/>
            <a:cxnLst/>
            <a:rect l="l" t="t" r="r" b="b"/>
            <a:pathLst>
              <a:path w="2305050" h="1800225">
                <a:moveTo>
                  <a:pt x="2305049" y="1800224"/>
                </a:moveTo>
                <a:lnTo>
                  <a:pt x="0" y="1800224"/>
                </a:lnTo>
                <a:lnTo>
                  <a:pt x="0" y="0"/>
                </a:lnTo>
                <a:lnTo>
                  <a:pt x="2305049" y="0"/>
                </a:lnTo>
                <a:lnTo>
                  <a:pt x="2305049" y="1800224"/>
                </a:lnTo>
                <a:close/>
              </a:path>
            </a:pathLst>
          </a:custGeom>
          <a:solidFill>
            <a:srgbClr val="D0DF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729157" y="3468445"/>
            <a:ext cx="19939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b="1" spc="-140" dirty="0">
                <a:solidFill>
                  <a:srgbClr val="321A70"/>
                </a:solidFill>
                <a:latin typeface="Verdana"/>
                <a:cs typeface="Verdana"/>
              </a:rPr>
              <a:t>x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02543" y="3449396"/>
            <a:ext cx="9461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b="1" spc="-5" dirty="0">
                <a:solidFill>
                  <a:srgbClr val="321A70"/>
                </a:solidFill>
                <a:latin typeface="Verdana"/>
                <a:cs typeface="Verdana"/>
              </a:rPr>
              <a:t>′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88267" y="3601796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solidFill>
                  <a:srgbClr val="321A70"/>
                </a:solidFill>
                <a:latin typeface="Cambria"/>
                <a:cs typeface="Cambria"/>
              </a:rPr>
              <a:t>5</a:t>
            </a:r>
            <a:r>
              <a:rPr sz="1550" spc="360" dirty="0">
                <a:solidFill>
                  <a:srgbClr val="321A70"/>
                </a:solidFill>
                <a:latin typeface="Cambria"/>
                <a:cs typeface="Cambria"/>
              </a:rPr>
              <a:t>×</a:t>
            </a:r>
            <a:r>
              <a:rPr sz="1550" spc="-75" dirty="0">
                <a:solidFill>
                  <a:srgbClr val="321A70"/>
                </a:solidFill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45506" y="406852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45506" y="340177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45506" y="322079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45506" y="286837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⎡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17155" y="2744545"/>
            <a:ext cx="168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371850" y="3152013"/>
            <a:ext cx="474980" cy="1015365"/>
          </a:xfrm>
          <a:custGeom>
            <a:avLst/>
            <a:gdLst/>
            <a:ahLst/>
            <a:cxnLst/>
            <a:rect l="l" t="t" r="r" b="b"/>
            <a:pathLst>
              <a:path w="474979" h="1015364">
                <a:moveTo>
                  <a:pt x="360426" y="723900"/>
                </a:moveTo>
                <a:lnTo>
                  <a:pt x="217678" y="723900"/>
                </a:lnTo>
                <a:lnTo>
                  <a:pt x="215392" y="723900"/>
                </a:lnTo>
                <a:lnTo>
                  <a:pt x="213474" y="725258"/>
                </a:lnTo>
                <a:lnTo>
                  <a:pt x="211963" y="727976"/>
                </a:lnTo>
                <a:lnTo>
                  <a:pt x="209740" y="732536"/>
                </a:lnTo>
                <a:lnTo>
                  <a:pt x="203923" y="744778"/>
                </a:lnTo>
                <a:lnTo>
                  <a:pt x="146672" y="866216"/>
                </a:lnTo>
                <a:lnTo>
                  <a:pt x="134835" y="891247"/>
                </a:lnTo>
                <a:lnTo>
                  <a:pt x="109651" y="944270"/>
                </a:lnTo>
                <a:lnTo>
                  <a:pt x="100406" y="963637"/>
                </a:lnTo>
                <a:lnTo>
                  <a:pt x="94805" y="975271"/>
                </a:lnTo>
                <a:lnTo>
                  <a:pt x="92837" y="979144"/>
                </a:lnTo>
                <a:lnTo>
                  <a:pt x="53378" y="891247"/>
                </a:lnTo>
                <a:lnTo>
                  <a:pt x="43421" y="869124"/>
                </a:lnTo>
                <a:lnTo>
                  <a:pt x="42481" y="867181"/>
                </a:lnTo>
                <a:lnTo>
                  <a:pt x="41338" y="866216"/>
                </a:lnTo>
                <a:lnTo>
                  <a:pt x="39420" y="866216"/>
                </a:lnTo>
                <a:lnTo>
                  <a:pt x="38938" y="866419"/>
                </a:lnTo>
                <a:lnTo>
                  <a:pt x="38366" y="867003"/>
                </a:lnTo>
                <a:lnTo>
                  <a:pt x="32194" y="871943"/>
                </a:lnTo>
                <a:lnTo>
                  <a:pt x="7200" y="891247"/>
                </a:lnTo>
                <a:lnTo>
                  <a:pt x="647" y="896569"/>
                </a:lnTo>
                <a:lnTo>
                  <a:pt x="279" y="897356"/>
                </a:lnTo>
                <a:lnTo>
                  <a:pt x="76" y="897559"/>
                </a:lnTo>
                <a:lnTo>
                  <a:pt x="5791" y="904925"/>
                </a:lnTo>
                <a:lnTo>
                  <a:pt x="6565" y="904925"/>
                </a:lnTo>
                <a:lnTo>
                  <a:pt x="25133" y="891247"/>
                </a:lnTo>
                <a:lnTo>
                  <a:pt x="71653" y="994625"/>
                </a:lnTo>
                <a:lnTo>
                  <a:pt x="80556" y="1014069"/>
                </a:lnTo>
                <a:lnTo>
                  <a:pt x="81127" y="1014653"/>
                </a:lnTo>
                <a:lnTo>
                  <a:pt x="82270" y="1014933"/>
                </a:lnTo>
                <a:lnTo>
                  <a:pt x="86842" y="1014933"/>
                </a:lnTo>
                <a:lnTo>
                  <a:pt x="105435" y="979144"/>
                </a:lnTo>
                <a:lnTo>
                  <a:pt x="158572" y="867181"/>
                </a:lnTo>
                <a:lnTo>
                  <a:pt x="220891" y="735533"/>
                </a:lnTo>
                <a:lnTo>
                  <a:pt x="360426" y="735533"/>
                </a:lnTo>
                <a:lnTo>
                  <a:pt x="360426" y="723900"/>
                </a:lnTo>
                <a:close/>
              </a:path>
              <a:path w="474979" h="1015364">
                <a:moveTo>
                  <a:pt x="474726" y="361950"/>
                </a:moveTo>
                <a:lnTo>
                  <a:pt x="331978" y="361950"/>
                </a:lnTo>
                <a:lnTo>
                  <a:pt x="329692" y="361950"/>
                </a:lnTo>
                <a:lnTo>
                  <a:pt x="327774" y="363308"/>
                </a:lnTo>
                <a:lnTo>
                  <a:pt x="326263" y="366026"/>
                </a:lnTo>
                <a:lnTo>
                  <a:pt x="324040" y="370586"/>
                </a:lnTo>
                <a:lnTo>
                  <a:pt x="318223" y="382828"/>
                </a:lnTo>
                <a:lnTo>
                  <a:pt x="260972" y="504266"/>
                </a:lnTo>
                <a:lnTo>
                  <a:pt x="249135" y="529297"/>
                </a:lnTo>
                <a:lnTo>
                  <a:pt x="223951" y="582320"/>
                </a:lnTo>
                <a:lnTo>
                  <a:pt x="214706" y="601687"/>
                </a:lnTo>
                <a:lnTo>
                  <a:pt x="209105" y="613321"/>
                </a:lnTo>
                <a:lnTo>
                  <a:pt x="207137" y="617194"/>
                </a:lnTo>
                <a:lnTo>
                  <a:pt x="167678" y="529297"/>
                </a:lnTo>
                <a:lnTo>
                  <a:pt x="157721" y="507174"/>
                </a:lnTo>
                <a:lnTo>
                  <a:pt x="156781" y="505231"/>
                </a:lnTo>
                <a:lnTo>
                  <a:pt x="155638" y="504266"/>
                </a:lnTo>
                <a:lnTo>
                  <a:pt x="153720" y="504266"/>
                </a:lnTo>
                <a:lnTo>
                  <a:pt x="153238" y="504469"/>
                </a:lnTo>
                <a:lnTo>
                  <a:pt x="152666" y="505053"/>
                </a:lnTo>
                <a:lnTo>
                  <a:pt x="146494" y="509993"/>
                </a:lnTo>
                <a:lnTo>
                  <a:pt x="121500" y="529297"/>
                </a:lnTo>
                <a:lnTo>
                  <a:pt x="114947" y="534619"/>
                </a:lnTo>
                <a:lnTo>
                  <a:pt x="114579" y="535406"/>
                </a:lnTo>
                <a:lnTo>
                  <a:pt x="114376" y="535609"/>
                </a:lnTo>
                <a:lnTo>
                  <a:pt x="120091" y="542975"/>
                </a:lnTo>
                <a:lnTo>
                  <a:pt x="120865" y="542975"/>
                </a:lnTo>
                <a:lnTo>
                  <a:pt x="139433" y="529297"/>
                </a:lnTo>
                <a:lnTo>
                  <a:pt x="185953" y="632675"/>
                </a:lnTo>
                <a:lnTo>
                  <a:pt x="194856" y="652119"/>
                </a:lnTo>
                <a:lnTo>
                  <a:pt x="195427" y="652703"/>
                </a:lnTo>
                <a:lnTo>
                  <a:pt x="196570" y="652983"/>
                </a:lnTo>
                <a:lnTo>
                  <a:pt x="201142" y="652983"/>
                </a:lnTo>
                <a:lnTo>
                  <a:pt x="219735" y="617194"/>
                </a:lnTo>
                <a:lnTo>
                  <a:pt x="272872" y="505231"/>
                </a:lnTo>
                <a:lnTo>
                  <a:pt x="335191" y="373583"/>
                </a:lnTo>
                <a:lnTo>
                  <a:pt x="474726" y="373583"/>
                </a:lnTo>
                <a:lnTo>
                  <a:pt x="474726" y="361950"/>
                </a:lnTo>
                <a:close/>
              </a:path>
              <a:path w="474979" h="1015364">
                <a:moveTo>
                  <a:pt x="474726" y="0"/>
                </a:moveTo>
                <a:lnTo>
                  <a:pt x="331978" y="0"/>
                </a:lnTo>
                <a:lnTo>
                  <a:pt x="329692" y="0"/>
                </a:lnTo>
                <a:lnTo>
                  <a:pt x="327774" y="1358"/>
                </a:lnTo>
                <a:lnTo>
                  <a:pt x="326263" y="4076"/>
                </a:lnTo>
                <a:lnTo>
                  <a:pt x="324040" y="8636"/>
                </a:lnTo>
                <a:lnTo>
                  <a:pt x="318223" y="20878"/>
                </a:lnTo>
                <a:lnTo>
                  <a:pt x="260972" y="142316"/>
                </a:lnTo>
                <a:lnTo>
                  <a:pt x="249135" y="167347"/>
                </a:lnTo>
                <a:lnTo>
                  <a:pt x="223951" y="220370"/>
                </a:lnTo>
                <a:lnTo>
                  <a:pt x="214706" y="239737"/>
                </a:lnTo>
                <a:lnTo>
                  <a:pt x="209105" y="251371"/>
                </a:lnTo>
                <a:lnTo>
                  <a:pt x="207137" y="255244"/>
                </a:lnTo>
                <a:lnTo>
                  <a:pt x="167678" y="167347"/>
                </a:lnTo>
                <a:lnTo>
                  <a:pt x="157721" y="145224"/>
                </a:lnTo>
                <a:lnTo>
                  <a:pt x="156781" y="143281"/>
                </a:lnTo>
                <a:lnTo>
                  <a:pt x="155638" y="142316"/>
                </a:lnTo>
                <a:lnTo>
                  <a:pt x="153720" y="142316"/>
                </a:lnTo>
                <a:lnTo>
                  <a:pt x="153238" y="142519"/>
                </a:lnTo>
                <a:lnTo>
                  <a:pt x="152666" y="143103"/>
                </a:lnTo>
                <a:lnTo>
                  <a:pt x="146494" y="148043"/>
                </a:lnTo>
                <a:lnTo>
                  <a:pt x="121500" y="167347"/>
                </a:lnTo>
                <a:lnTo>
                  <a:pt x="114947" y="172669"/>
                </a:lnTo>
                <a:lnTo>
                  <a:pt x="114579" y="173456"/>
                </a:lnTo>
                <a:lnTo>
                  <a:pt x="114376" y="173659"/>
                </a:lnTo>
                <a:lnTo>
                  <a:pt x="120091" y="181025"/>
                </a:lnTo>
                <a:lnTo>
                  <a:pt x="120865" y="181025"/>
                </a:lnTo>
                <a:lnTo>
                  <a:pt x="139433" y="167347"/>
                </a:lnTo>
                <a:lnTo>
                  <a:pt x="185953" y="270725"/>
                </a:lnTo>
                <a:lnTo>
                  <a:pt x="194856" y="290169"/>
                </a:lnTo>
                <a:lnTo>
                  <a:pt x="195427" y="290753"/>
                </a:lnTo>
                <a:lnTo>
                  <a:pt x="196570" y="291033"/>
                </a:lnTo>
                <a:lnTo>
                  <a:pt x="201142" y="291033"/>
                </a:lnTo>
                <a:lnTo>
                  <a:pt x="219735" y="255244"/>
                </a:lnTo>
                <a:lnTo>
                  <a:pt x="272872" y="143281"/>
                </a:lnTo>
                <a:lnTo>
                  <a:pt x="335191" y="11633"/>
                </a:lnTo>
                <a:lnTo>
                  <a:pt x="474726" y="11633"/>
                </a:lnTo>
                <a:lnTo>
                  <a:pt x="474726" y="0"/>
                </a:lnTo>
                <a:close/>
              </a:path>
            </a:pathLst>
          </a:custGeom>
          <a:solidFill>
            <a:srgbClr val="321A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439069" y="3087446"/>
            <a:ext cx="1419225" cy="1493999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R="5080" algn="r">
              <a:spcBef>
                <a:spcPts val="250"/>
              </a:spcBef>
              <a:tabLst>
                <a:tab pos="745490" algn="l"/>
              </a:tabLst>
            </a:pPr>
            <a:r>
              <a:rPr sz="2250" spc="130" dirty="0">
                <a:solidFill>
                  <a:srgbClr val="321A70"/>
                </a:solidFill>
                <a:latin typeface="Cambria"/>
                <a:cs typeface="Cambria"/>
              </a:rPr>
              <a:t>−1/	</a:t>
            </a: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  <a:p>
            <a:pPr marR="5080" algn="r">
              <a:spcBef>
                <a:spcPts val="150"/>
              </a:spcBef>
              <a:tabLst>
                <a:tab pos="504825" algn="l"/>
                <a:tab pos="1250315" algn="l"/>
              </a:tabLst>
            </a:pPr>
            <a:r>
              <a:rPr sz="2250" spc="500" dirty="0">
                <a:solidFill>
                  <a:srgbClr val="321A70"/>
                </a:solidFill>
                <a:latin typeface="Cambria"/>
                <a:cs typeface="Cambria"/>
              </a:rPr>
              <a:t>=	</a:t>
            </a:r>
            <a:r>
              <a:rPr sz="2250" spc="495" dirty="0">
                <a:solidFill>
                  <a:srgbClr val="321A70"/>
                </a:solidFill>
                <a:latin typeface="Cambria"/>
                <a:cs typeface="Cambria"/>
              </a:rPr>
              <a:t>−</a:t>
            </a: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2</a:t>
            </a:r>
            <a:r>
              <a:rPr sz="2250" spc="20" dirty="0">
                <a:solidFill>
                  <a:srgbClr val="321A70"/>
                </a:solidFill>
                <a:latin typeface="Cambria"/>
                <a:cs typeface="Cambria"/>
              </a:rPr>
              <a:t>/</a:t>
            </a:r>
            <a:r>
              <a:rPr sz="2250" dirty="0">
                <a:solidFill>
                  <a:srgbClr val="321A70"/>
                </a:solidFill>
                <a:latin typeface="Cambria"/>
                <a:cs typeface="Cambria"/>
              </a:rPr>
              <a:t>	</a:t>
            </a: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  <a:p>
            <a:pPr marL="628650">
              <a:spcBef>
                <a:spcPts val="150"/>
              </a:spcBef>
              <a:tabLst>
                <a:tab pos="1151890" algn="l"/>
              </a:tabLst>
            </a:pPr>
            <a:r>
              <a:rPr sz="2250" spc="-50" dirty="0">
                <a:solidFill>
                  <a:srgbClr val="321A70"/>
                </a:solidFill>
                <a:latin typeface="Cambria"/>
                <a:cs typeface="Cambria"/>
              </a:rPr>
              <a:t>1/	</a:t>
            </a: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  <a:p>
            <a:pPr marL="628650">
              <a:spcBef>
                <a:spcPts val="150"/>
              </a:spcBef>
              <a:tabLst>
                <a:tab pos="1151890" algn="l"/>
              </a:tabLst>
            </a:pPr>
            <a:r>
              <a:rPr sz="2250" spc="-50" dirty="0">
                <a:solidFill>
                  <a:srgbClr val="321A70"/>
                </a:solidFill>
                <a:latin typeface="Cambria"/>
                <a:cs typeface="Cambria"/>
              </a:rPr>
              <a:t>2/	</a:t>
            </a: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348309" y="3454951"/>
            <a:ext cx="5384165" cy="1074420"/>
            <a:chOff x="2987821" y="3454951"/>
            <a:chExt cx="5384165" cy="1074420"/>
          </a:xfrm>
        </p:grpSpPr>
        <p:sp>
          <p:nvSpPr>
            <p:cNvPr id="32" name="object 32"/>
            <p:cNvSpPr/>
            <p:nvPr/>
          </p:nvSpPr>
          <p:spPr>
            <a:xfrm>
              <a:off x="2987821" y="3454951"/>
              <a:ext cx="2628900" cy="552450"/>
            </a:xfrm>
            <a:custGeom>
              <a:avLst/>
              <a:gdLst/>
              <a:ahLst/>
              <a:cxnLst/>
              <a:rect l="l" t="t" r="r" b="b"/>
              <a:pathLst>
                <a:path w="2628900" h="552450">
                  <a:moveTo>
                    <a:pt x="2595851" y="552449"/>
                  </a:moveTo>
                  <a:lnTo>
                    <a:pt x="33047" y="552449"/>
                  </a:lnTo>
                  <a:lnTo>
                    <a:pt x="28187" y="551483"/>
                  </a:lnTo>
                  <a:lnTo>
                    <a:pt x="966" y="524262"/>
                  </a:lnTo>
                  <a:lnTo>
                    <a:pt x="0" y="519402"/>
                  </a:lnTo>
                  <a:lnTo>
                    <a:pt x="0" y="5143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595851" y="0"/>
                  </a:lnTo>
                  <a:lnTo>
                    <a:pt x="2627932" y="28187"/>
                  </a:lnTo>
                  <a:lnTo>
                    <a:pt x="2628899" y="33047"/>
                  </a:lnTo>
                  <a:lnTo>
                    <a:pt x="2628899" y="519402"/>
                  </a:lnTo>
                  <a:lnTo>
                    <a:pt x="2600711" y="551483"/>
                  </a:lnTo>
                  <a:lnTo>
                    <a:pt x="2595851" y="552449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11366" y="4237853"/>
              <a:ext cx="360680" cy="291465"/>
            </a:xfrm>
            <a:custGeom>
              <a:avLst/>
              <a:gdLst/>
              <a:ahLst/>
              <a:cxnLst/>
              <a:rect l="l" t="t" r="r" b="b"/>
              <a:pathLst>
                <a:path w="360679" h="291464">
                  <a:moveTo>
                    <a:pt x="105437" y="255243"/>
                  </a:moveTo>
                  <a:lnTo>
                    <a:pt x="92841" y="255243"/>
                  </a:lnTo>
                  <a:lnTo>
                    <a:pt x="94808" y="251369"/>
                  </a:lnTo>
                  <a:lnTo>
                    <a:pt x="100412" y="239745"/>
                  </a:lnTo>
                  <a:lnTo>
                    <a:pt x="109657" y="220373"/>
                  </a:lnTo>
                  <a:lnTo>
                    <a:pt x="134834" y="167348"/>
                  </a:lnTo>
                  <a:lnTo>
                    <a:pt x="146679" y="142319"/>
                  </a:lnTo>
                  <a:lnTo>
                    <a:pt x="203930" y="20878"/>
                  </a:lnTo>
                  <a:lnTo>
                    <a:pt x="209742" y="8636"/>
                  </a:lnTo>
                  <a:lnTo>
                    <a:pt x="211965" y="4074"/>
                  </a:lnTo>
                  <a:lnTo>
                    <a:pt x="213479" y="1367"/>
                  </a:lnTo>
                  <a:lnTo>
                    <a:pt x="215393" y="0"/>
                  </a:lnTo>
                  <a:lnTo>
                    <a:pt x="217678" y="0"/>
                  </a:lnTo>
                  <a:lnTo>
                    <a:pt x="217678" y="11641"/>
                  </a:lnTo>
                  <a:lnTo>
                    <a:pt x="220898" y="11641"/>
                  </a:lnTo>
                  <a:lnTo>
                    <a:pt x="158571" y="143279"/>
                  </a:lnTo>
                  <a:lnTo>
                    <a:pt x="105437" y="255243"/>
                  </a:lnTo>
                  <a:close/>
                </a:path>
                <a:path w="360679" h="291464">
                  <a:moveTo>
                    <a:pt x="360432" y="11641"/>
                  </a:moveTo>
                  <a:lnTo>
                    <a:pt x="217678" y="11641"/>
                  </a:lnTo>
                  <a:lnTo>
                    <a:pt x="217678" y="0"/>
                  </a:lnTo>
                  <a:lnTo>
                    <a:pt x="360432" y="0"/>
                  </a:lnTo>
                  <a:lnTo>
                    <a:pt x="360432" y="11641"/>
                  </a:lnTo>
                  <a:close/>
                </a:path>
                <a:path w="360679" h="291464">
                  <a:moveTo>
                    <a:pt x="6570" y="181027"/>
                  </a:moveTo>
                  <a:lnTo>
                    <a:pt x="5799" y="181027"/>
                  </a:lnTo>
                  <a:lnTo>
                    <a:pt x="4522" y="180242"/>
                  </a:lnTo>
                  <a:lnTo>
                    <a:pt x="2713" y="178699"/>
                  </a:lnTo>
                  <a:lnTo>
                    <a:pt x="1056" y="177157"/>
                  </a:lnTo>
                  <a:lnTo>
                    <a:pt x="0" y="175789"/>
                  </a:lnTo>
                  <a:lnTo>
                    <a:pt x="85" y="173664"/>
                  </a:lnTo>
                  <a:lnTo>
                    <a:pt x="285" y="173460"/>
                  </a:lnTo>
                  <a:lnTo>
                    <a:pt x="657" y="172675"/>
                  </a:lnTo>
                  <a:lnTo>
                    <a:pt x="7205" y="167348"/>
                  </a:lnTo>
                  <a:lnTo>
                    <a:pt x="32194" y="148052"/>
                  </a:lnTo>
                  <a:lnTo>
                    <a:pt x="38365" y="143105"/>
                  </a:lnTo>
                  <a:lnTo>
                    <a:pt x="38936" y="142523"/>
                  </a:lnTo>
                  <a:lnTo>
                    <a:pt x="39422" y="142319"/>
                  </a:lnTo>
                  <a:lnTo>
                    <a:pt x="41336" y="142319"/>
                  </a:lnTo>
                  <a:lnTo>
                    <a:pt x="42478" y="143279"/>
                  </a:lnTo>
                  <a:lnTo>
                    <a:pt x="43421" y="145229"/>
                  </a:lnTo>
                  <a:lnTo>
                    <a:pt x="53384" y="167348"/>
                  </a:lnTo>
                  <a:lnTo>
                    <a:pt x="25138" y="167348"/>
                  </a:lnTo>
                  <a:lnTo>
                    <a:pt x="6570" y="181027"/>
                  </a:lnTo>
                  <a:close/>
                </a:path>
                <a:path w="360679" h="291464">
                  <a:moveTo>
                    <a:pt x="86842" y="291041"/>
                  </a:moveTo>
                  <a:lnTo>
                    <a:pt x="82272" y="291041"/>
                  </a:lnTo>
                  <a:lnTo>
                    <a:pt x="81129" y="290750"/>
                  </a:lnTo>
                  <a:lnTo>
                    <a:pt x="80558" y="290168"/>
                  </a:lnTo>
                  <a:lnTo>
                    <a:pt x="71657" y="270732"/>
                  </a:lnTo>
                  <a:lnTo>
                    <a:pt x="25138" y="167348"/>
                  </a:lnTo>
                  <a:lnTo>
                    <a:pt x="53384" y="167348"/>
                  </a:lnTo>
                  <a:lnTo>
                    <a:pt x="92841" y="255243"/>
                  </a:lnTo>
                  <a:lnTo>
                    <a:pt x="105437" y="255243"/>
                  </a:lnTo>
                  <a:lnTo>
                    <a:pt x="89413" y="289004"/>
                  </a:lnTo>
                  <a:lnTo>
                    <a:pt x="88642" y="290372"/>
                  </a:lnTo>
                  <a:lnTo>
                    <a:pt x="86842" y="291041"/>
                  </a:lnTo>
                  <a:close/>
                </a:path>
              </a:pathLst>
            </a:custGeom>
            <a:solidFill>
              <a:srgbClr val="321A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840881" y="3401770"/>
            <a:ext cx="21653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  <a:p>
            <a:pPr marL="12700">
              <a:spcBef>
                <a:spcPts val="2550"/>
              </a:spcBef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840881" y="322079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840881" y="286837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⎤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014659" y="4721997"/>
            <a:ext cx="17500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250" i="1" spc="55" dirty="0">
                <a:solidFill>
                  <a:srgbClr val="321A70"/>
                </a:solidFill>
                <a:latin typeface="Georgia"/>
                <a:cs typeface="Georgia"/>
              </a:rPr>
              <a:t>μ</a:t>
            </a:r>
            <a:r>
              <a:rPr sz="2325" spc="44" baseline="28673" dirty="0">
                <a:solidFill>
                  <a:srgbClr val="321A70"/>
                </a:solidFill>
                <a:latin typeface="Cambria"/>
                <a:cs typeface="Cambria"/>
              </a:rPr>
              <a:t>′</a:t>
            </a:r>
            <a:r>
              <a:rPr sz="2325" baseline="28673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2325" spc="157" baseline="28673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2250" spc="500" dirty="0">
                <a:solidFill>
                  <a:srgbClr val="321A70"/>
                </a:solidFill>
                <a:latin typeface="Cambria"/>
                <a:cs typeface="Cambria"/>
              </a:rPr>
              <a:t>=</a:t>
            </a:r>
            <a:r>
              <a:rPr sz="2250" spc="130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0</a:t>
            </a:r>
            <a:r>
              <a:rPr sz="2250" spc="160" dirty="0">
                <a:solidFill>
                  <a:srgbClr val="321A70"/>
                </a:solidFill>
                <a:latin typeface="Cambria"/>
                <a:cs typeface="Cambria"/>
              </a:rPr>
              <a:t>,</a:t>
            </a: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2250" i="1" spc="75" dirty="0">
                <a:solidFill>
                  <a:srgbClr val="321A70"/>
                </a:solidFill>
                <a:latin typeface="Georgia"/>
                <a:cs typeface="Georgia"/>
              </a:rPr>
              <a:t>σ</a:t>
            </a:r>
            <a:r>
              <a:rPr sz="2325" spc="44" baseline="28673" dirty="0">
                <a:solidFill>
                  <a:srgbClr val="321A70"/>
                </a:solidFill>
                <a:latin typeface="Cambria"/>
                <a:cs typeface="Cambria"/>
              </a:rPr>
              <a:t>′</a:t>
            </a:r>
            <a:r>
              <a:rPr sz="2325" baseline="28673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2325" spc="157" baseline="28673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2250" spc="500" dirty="0">
                <a:solidFill>
                  <a:srgbClr val="321A70"/>
                </a:solidFill>
                <a:latin typeface="Cambria"/>
                <a:cs typeface="Cambria"/>
              </a:rPr>
              <a:t>=</a:t>
            </a:r>
            <a:r>
              <a:rPr sz="2250" spc="130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1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83234" y="3453682"/>
            <a:ext cx="1946275" cy="462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ss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StandardScalar()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ss.fit_transform(x)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529881" y="3643077"/>
            <a:ext cx="4212590" cy="123825"/>
            <a:chOff x="2169394" y="3643076"/>
            <a:chExt cx="4212590" cy="123825"/>
          </a:xfrm>
        </p:grpSpPr>
        <p:sp>
          <p:nvSpPr>
            <p:cNvPr id="40" name="object 40"/>
            <p:cNvSpPr/>
            <p:nvPr/>
          </p:nvSpPr>
          <p:spPr>
            <a:xfrm>
              <a:off x="2188444" y="3709745"/>
              <a:ext cx="705485" cy="0"/>
            </a:xfrm>
            <a:custGeom>
              <a:avLst/>
              <a:gdLst/>
              <a:ahLst/>
              <a:cxnLst/>
              <a:rect l="l" t="t" r="r" b="b"/>
              <a:pathLst>
                <a:path w="705485">
                  <a:moveTo>
                    <a:pt x="0" y="0"/>
                  </a:moveTo>
                  <a:lnTo>
                    <a:pt x="705022" y="0"/>
                  </a:lnTo>
                </a:path>
              </a:pathLst>
            </a:custGeom>
            <a:ln w="38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836481" y="365260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3957" y="57137"/>
                  </a:moveTo>
                  <a:lnTo>
                    <a:pt x="0" y="0"/>
                  </a:lnTo>
                  <a:lnTo>
                    <a:pt x="0" y="114287"/>
                  </a:lnTo>
                  <a:lnTo>
                    <a:pt x="113957" y="571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619749" y="3700220"/>
              <a:ext cx="705485" cy="0"/>
            </a:xfrm>
            <a:custGeom>
              <a:avLst/>
              <a:gdLst/>
              <a:ahLst/>
              <a:cxnLst/>
              <a:rect l="l" t="t" r="r" b="b"/>
              <a:pathLst>
                <a:path w="705485">
                  <a:moveTo>
                    <a:pt x="0" y="0"/>
                  </a:moveTo>
                  <a:lnTo>
                    <a:pt x="705022" y="0"/>
                  </a:lnTo>
                </a:path>
              </a:pathLst>
            </a:custGeom>
            <a:ln w="38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267793" y="364307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114289"/>
                  </a:moveTo>
                  <a:lnTo>
                    <a:pt x="0" y="0"/>
                  </a:lnTo>
                  <a:lnTo>
                    <a:pt x="113955" y="57144"/>
                  </a:lnTo>
                  <a:lnTo>
                    <a:pt x="0" y="1142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912490" y="5334000"/>
            <a:ext cx="6038850" cy="73096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dirty="0">
                <a:latin typeface="Microsoft Sans Serif"/>
                <a:cs typeface="Microsoft Sans Serif"/>
              </a:rPr>
              <a:t>Note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that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transformed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vector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b="1" spc="-75" dirty="0">
                <a:latin typeface="Verdana"/>
                <a:cs typeface="Verdana"/>
              </a:rPr>
              <a:t>x</a:t>
            </a:r>
            <a:r>
              <a:rPr sz="2325" b="1" spc="-112" baseline="28673" dirty="0">
                <a:latin typeface="Verdana"/>
                <a:cs typeface="Verdana"/>
              </a:rPr>
              <a:t>′</a:t>
            </a:r>
            <a:r>
              <a:rPr sz="2325" b="1" spc="322" baseline="28673" dirty="0">
                <a:latin typeface="Verdana"/>
                <a:cs typeface="Verdan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has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300"/>
              </a:spcBef>
            </a:pPr>
            <a:r>
              <a:rPr sz="2250" dirty="0">
                <a:latin typeface="Microsoft Sans Serif"/>
                <a:cs typeface="Microsoft Sans Serif"/>
              </a:rPr>
              <a:t>mean</a:t>
            </a:r>
            <a:r>
              <a:rPr sz="2250" spc="15" dirty="0">
                <a:latin typeface="Microsoft Sans Serif"/>
                <a:cs typeface="Microsoft Sans Serif"/>
              </a:rPr>
              <a:t> (</a:t>
            </a:r>
            <a:r>
              <a:rPr sz="2250" i="1" spc="15" dirty="0">
                <a:latin typeface="Georgia"/>
                <a:cs typeface="Georgia"/>
              </a:rPr>
              <a:t>μ</a:t>
            </a:r>
            <a:r>
              <a:rPr sz="2250" spc="15" dirty="0">
                <a:latin typeface="Microsoft Sans Serif"/>
                <a:cs typeface="Microsoft Sans Serif"/>
              </a:rPr>
              <a:t>)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=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0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standard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deviation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25" dirty="0">
                <a:latin typeface="Microsoft Sans Serif"/>
                <a:cs typeface="Microsoft Sans Serif"/>
              </a:rPr>
              <a:t>(</a:t>
            </a:r>
            <a:r>
              <a:rPr sz="2250" i="1" spc="25" dirty="0">
                <a:latin typeface="Georgia"/>
                <a:cs typeface="Georgia"/>
              </a:rPr>
              <a:t>σ</a:t>
            </a:r>
            <a:r>
              <a:rPr sz="2250" spc="25" dirty="0">
                <a:latin typeface="Microsoft Sans Serif"/>
                <a:cs typeface="Microsoft Sans Serif"/>
              </a:rPr>
              <a:t>)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=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1.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56487" y="1919046"/>
            <a:ext cx="2695575" cy="756617"/>
          </a:xfrm>
          <a:prstGeom prst="rect">
            <a:avLst/>
          </a:prstGeom>
          <a:solidFill>
            <a:srgbClr val="D9E9D3"/>
          </a:solidFill>
        </p:spPr>
        <p:txBody>
          <a:bodyPr vert="horz" wrap="square" lIns="0" tIns="0" rIns="0" bIns="0" rtlCol="0">
            <a:spAutoFit/>
          </a:bodyPr>
          <a:lstStyle/>
          <a:p>
            <a:pPr marL="3810" algn="ctr"/>
            <a:r>
              <a:rPr sz="2250" dirty="0">
                <a:latin typeface="Microsoft Sans Serif"/>
                <a:cs typeface="Microsoft Sans Serif"/>
              </a:rPr>
              <a:t>Learns</a:t>
            </a:r>
            <a:r>
              <a:rPr sz="2250" spc="-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parameters</a:t>
            </a:r>
            <a:r>
              <a:rPr sz="2250" spc="-15" dirty="0">
                <a:latin typeface="Microsoft Sans Serif"/>
                <a:cs typeface="Microsoft Sans Serif"/>
              </a:rPr>
              <a:t> </a:t>
            </a:r>
            <a:r>
              <a:rPr sz="2250" i="1" spc="60" dirty="0">
                <a:latin typeface="Georgia"/>
                <a:cs typeface="Georgia"/>
              </a:rPr>
              <a:t>μ</a:t>
            </a:r>
            <a:endParaRPr sz="2250">
              <a:latin typeface="Georgia"/>
              <a:cs typeface="Georgia"/>
            </a:endParaRPr>
          </a:p>
          <a:p>
            <a:pPr marL="3810" algn="ctr">
              <a:spcBef>
                <a:spcPts val="450"/>
              </a:spcBef>
            </a:pP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-20" dirty="0">
                <a:latin typeface="Microsoft Sans Serif"/>
                <a:cs typeface="Microsoft Sans Serif"/>
              </a:rPr>
              <a:t> </a:t>
            </a:r>
            <a:r>
              <a:rPr sz="2250" i="1" spc="40" dirty="0">
                <a:latin typeface="Georgia"/>
                <a:cs typeface="Georgia"/>
              </a:rPr>
              <a:t>σ</a:t>
            </a:r>
            <a:r>
              <a:rPr sz="2250" spc="40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081324" y="2647955"/>
            <a:ext cx="1390650" cy="1085850"/>
            <a:chOff x="4720837" y="2647955"/>
            <a:chExt cx="1390650" cy="1085850"/>
          </a:xfrm>
        </p:grpSpPr>
        <p:sp>
          <p:nvSpPr>
            <p:cNvPr id="47" name="object 47"/>
            <p:cNvSpPr/>
            <p:nvPr/>
          </p:nvSpPr>
          <p:spPr>
            <a:xfrm>
              <a:off x="4765910" y="2667010"/>
              <a:ext cx="1327150" cy="1031875"/>
            </a:xfrm>
            <a:custGeom>
              <a:avLst/>
              <a:gdLst/>
              <a:ahLst/>
              <a:cxnLst/>
              <a:rect l="l" t="t" r="r" b="b"/>
              <a:pathLst>
                <a:path w="1327150" h="1031875">
                  <a:moveTo>
                    <a:pt x="1326527" y="0"/>
                  </a:moveTo>
                  <a:lnTo>
                    <a:pt x="0" y="1031723"/>
                  </a:lnTo>
                </a:path>
              </a:pathLst>
            </a:custGeom>
            <a:ln w="38110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720837" y="3618398"/>
              <a:ext cx="125095" cy="115570"/>
            </a:xfrm>
            <a:custGeom>
              <a:avLst/>
              <a:gdLst/>
              <a:ahLst/>
              <a:cxnLst/>
              <a:rect l="l" t="t" r="r" b="b"/>
              <a:pathLst>
                <a:path w="125095" h="115570">
                  <a:moveTo>
                    <a:pt x="55250" y="0"/>
                  </a:moveTo>
                  <a:lnTo>
                    <a:pt x="125040" y="90559"/>
                  </a:lnTo>
                  <a:lnTo>
                    <a:pt x="0" y="115391"/>
                  </a:lnTo>
                  <a:lnTo>
                    <a:pt x="55250" y="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21</a:t>
            </a:fld>
            <a:endParaRPr spc="-8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2228" y="1824038"/>
            <a:ext cx="3048000" cy="600075"/>
          </a:xfrm>
          <a:custGeom>
            <a:avLst/>
            <a:gdLst/>
            <a:ahLst/>
            <a:cxnLst/>
            <a:rect l="l" t="t" r="r" b="b"/>
            <a:pathLst>
              <a:path w="3048000" h="600075">
                <a:moveTo>
                  <a:pt x="3047999" y="600074"/>
                </a:moveTo>
                <a:lnTo>
                  <a:pt x="0" y="600074"/>
                </a:lnTo>
                <a:lnTo>
                  <a:pt x="0" y="0"/>
                </a:lnTo>
                <a:lnTo>
                  <a:pt x="3047999" y="0"/>
                </a:lnTo>
                <a:lnTo>
                  <a:pt x="3047999" y="600074"/>
                </a:lnTo>
                <a:close/>
              </a:path>
            </a:pathLst>
          </a:custGeom>
          <a:solidFill>
            <a:srgbClr val="D9D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46286" y="844206"/>
            <a:ext cx="7586980" cy="2578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245110">
              <a:lnSpc>
                <a:spcPct val="1111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It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original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vector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b="1" spc="-140" dirty="0">
                <a:latin typeface="Verdana"/>
                <a:cs typeface="Verdana"/>
              </a:rPr>
              <a:t>x</a:t>
            </a:r>
            <a:r>
              <a:rPr sz="2250" b="1" spc="-145" dirty="0">
                <a:latin typeface="Verdana"/>
                <a:cs typeface="Verdana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new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  vector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b="1" spc="-75" dirty="0">
                <a:latin typeface="Verdana"/>
                <a:cs typeface="Verdana"/>
              </a:rPr>
              <a:t>x</a:t>
            </a:r>
            <a:r>
              <a:rPr sz="2325" b="1" spc="-112" baseline="28673" dirty="0">
                <a:latin typeface="Verdana"/>
                <a:cs typeface="Verdana"/>
              </a:rPr>
              <a:t>′</a:t>
            </a:r>
            <a:r>
              <a:rPr sz="2325" b="1" spc="337" baseline="28673" dirty="0">
                <a:latin typeface="Verdana"/>
                <a:cs typeface="Verdan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that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all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fall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range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45" dirty="0">
                <a:latin typeface="Cambria"/>
                <a:cs typeface="Cambria"/>
              </a:rPr>
              <a:t>[0,</a:t>
            </a:r>
            <a:r>
              <a:rPr sz="2250" spc="-5" dirty="0">
                <a:latin typeface="Cambria"/>
                <a:cs typeface="Cambria"/>
              </a:rPr>
              <a:t> </a:t>
            </a:r>
            <a:r>
              <a:rPr sz="2250" spc="-145" dirty="0">
                <a:latin typeface="Cambria"/>
                <a:cs typeface="Cambria"/>
              </a:rPr>
              <a:t>1]</a:t>
            </a:r>
            <a:endParaRPr sz="2250">
              <a:latin typeface="Cambria"/>
              <a:cs typeface="Cambria"/>
            </a:endParaRPr>
          </a:p>
          <a:p>
            <a:pPr marL="282575" algn="ctr">
              <a:spcBef>
                <a:spcPts val="865"/>
              </a:spcBef>
              <a:tabLst>
                <a:tab pos="1280795" algn="l"/>
                <a:tab pos="2903855" algn="l"/>
              </a:tabLst>
            </a:pPr>
            <a:r>
              <a:rPr sz="3375" b="1" spc="-217" baseline="-37037" dirty="0">
                <a:latin typeface="Verdana"/>
                <a:cs typeface="Verdana"/>
              </a:rPr>
              <a:t>x</a:t>
            </a:r>
            <a:r>
              <a:rPr sz="2325" b="1" spc="-7" baseline="-25089" dirty="0">
                <a:latin typeface="Verdana"/>
                <a:cs typeface="Verdana"/>
              </a:rPr>
              <a:t>′</a:t>
            </a:r>
            <a:r>
              <a:rPr sz="2325" b="1" spc="337" baseline="-25089" dirty="0">
                <a:latin typeface="Verdana"/>
                <a:cs typeface="Verdana"/>
              </a:rPr>
              <a:t> </a:t>
            </a:r>
            <a:r>
              <a:rPr sz="3375" spc="750" baseline="-37037" dirty="0">
                <a:latin typeface="Cambria"/>
                <a:cs typeface="Cambria"/>
              </a:rPr>
              <a:t>=</a:t>
            </a:r>
            <a:r>
              <a:rPr sz="3375" baseline="-37037" dirty="0">
                <a:latin typeface="Cambria"/>
                <a:cs typeface="Cambria"/>
              </a:rPr>
              <a:t> </a:t>
            </a:r>
            <a:r>
              <a:rPr sz="3375" spc="-104" baseline="-37037" dirty="0">
                <a:latin typeface="Cambria"/>
                <a:cs typeface="Cambria"/>
              </a:rPr>
              <a:t> </a:t>
            </a:r>
            <a:r>
              <a:rPr sz="22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250" b="1" u="sng" spc="-14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x</a:t>
            </a:r>
            <a:r>
              <a:rPr sz="2250" b="1" u="sng" spc="-27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250" u="sng" spc="5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−</a:t>
            </a:r>
            <a:r>
              <a:rPr sz="225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250" b="1" u="sng" spc="-14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x</a:t>
            </a:r>
            <a:r>
              <a:rPr sz="2250" u="sng" spc="1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.</a:t>
            </a:r>
            <a:r>
              <a:rPr sz="2250" i="1" u="sng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m</a:t>
            </a:r>
            <a:r>
              <a:rPr sz="2250" i="1" u="sng" spc="10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i</a:t>
            </a:r>
            <a:r>
              <a:rPr sz="2250" i="1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n</a:t>
            </a:r>
            <a:r>
              <a:rPr sz="225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endParaRPr sz="2250">
              <a:latin typeface="Georgia"/>
              <a:cs typeface="Georgia"/>
            </a:endParaRPr>
          </a:p>
          <a:p>
            <a:pPr marL="3299460">
              <a:spcBef>
                <a:spcPts val="375"/>
              </a:spcBef>
            </a:pPr>
            <a:r>
              <a:rPr sz="2250" b="1" spc="10" dirty="0">
                <a:latin typeface="Verdana"/>
                <a:cs typeface="Verdana"/>
              </a:rPr>
              <a:t>x</a:t>
            </a:r>
            <a:r>
              <a:rPr sz="2250" spc="10" dirty="0">
                <a:latin typeface="Cambria"/>
                <a:cs typeface="Cambria"/>
              </a:rPr>
              <a:t>.</a:t>
            </a:r>
            <a:r>
              <a:rPr sz="2250" i="1" spc="10" dirty="0">
                <a:latin typeface="Georgia"/>
                <a:cs typeface="Georgia"/>
              </a:rPr>
              <a:t>max</a:t>
            </a:r>
            <a:r>
              <a:rPr sz="2250" i="1" spc="-70" dirty="0">
                <a:latin typeface="Georgia"/>
                <a:cs typeface="Georgia"/>
              </a:rPr>
              <a:t> </a:t>
            </a:r>
            <a:r>
              <a:rPr sz="2250" spc="500" dirty="0">
                <a:latin typeface="Cambria"/>
                <a:cs typeface="Cambria"/>
              </a:rPr>
              <a:t>−</a:t>
            </a:r>
            <a:r>
              <a:rPr sz="2250" spc="-20" dirty="0">
                <a:latin typeface="Cambria"/>
                <a:cs typeface="Cambria"/>
              </a:rPr>
              <a:t> </a:t>
            </a:r>
            <a:r>
              <a:rPr sz="2250" b="1" spc="25" dirty="0">
                <a:latin typeface="Verdana"/>
                <a:cs typeface="Verdana"/>
              </a:rPr>
              <a:t>x</a:t>
            </a:r>
            <a:r>
              <a:rPr sz="2250" spc="25" dirty="0">
                <a:latin typeface="Cambria"/>
                <a:cs typeface="Cambria"/>
              </a:rPr>
              <a:t>.</a:t>
            </a:r>
            <a:r>
              <a:rPr sz="2250" i="1" spc="25" dirty="0">
                <a:latin typeface="Georgia"/>
                <a:cs typeface="Georgia"/>
              </a:rPr>
              <a:t>min</a:t>
            </a:r>
            <a:endParaRPr sz="2250">
              <a:latin typeface="Georgia"/>
              <a:cs typeface="Georgia"/>
            </a:endParaRPr>
          </a:p>
          <a:p>
            <a:pPr marL="139700" marR="17780">
              <a:lnSpc>
                <a:spcPct val="116700"/>
              </a:lnSpc>
              <a:spcBef>
                <a:spcPts val="1160"/>
              </a:spcBef>
            </a:pPr>
            <a:r>
              <a:rPr sz="2250" dirty="0">
                <a:latin typeface="Microsoft Sans Serif"/>
                <a:cs typeface="Microsoft Sans Serif"/>
              </a:rPr>
              <a:t>where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b="1" spc="10" dirty="0">
                <a:solidFill>
                  <a:srgbClr val="0000FF"/>
                </a:solidFill>
                <a:latin typeface="Verdana"/>
                <a:cs typeface="Verdana"/>
              </a:rPr>
              <a:t>x</a:t>
            </a:r>
            <a:r>
              <a:rPr sz="2250" spc="10" dirty="0">
                <a:solidFill>
                  <a:srgbClr val="0000FF"/>
                </a:solidFill>
                <a:latin typeface="Cambria"/>
                <a:cs typeface="Cambria"/>
              </a:rPr>
              <a:t>.</a:t>
            </a:r>
            <a:r>
              <a:rPr sz="2250" i="1" spc="10" dirty="0">
                <a:solidFill>
                  <a:srgbClr val="0000FF"/>
                </a:solidFill>
                <a:latin typeface="Georgia"/>
                <a:cs typeface="Georgia"/>
              </a:rPr>
              <a:t>max</a:t>
            </a:r>
            <a:r>
              <a:rPr sz="2250" i="1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b="1" spc="25" dirty="0">
                <a:solidFill>
                  <a:srgbClr val="A52929"/>
                </a:solidFill>
                <a:latin typeface="Verdana"/>
                <a:cs typeface="Verdana"/>
              </a:rPr>
              <a:t>x</a:t>
            </a:r>
            <a:r>
              <a:rPr sz="2250" spc="25" dirty="0">
                <a:solidFill>
                  <a:srgbClr val="A52929"/>
                </a:solidFill>
                <a:latin typeface="Cambria"/>
                <a:cs typeface="Cambria"/>
              </a:rPr>
              <a:t>.</a:t>
            </a:r>
            <a:r>
              <a:rPr sz="2250" i="1" spc="25" dirty="0">
                <a:solidFill>
                  <a:srgbClr val="A52929"/>
                </a:solidFill>
                <a:latin typeface="Georgia"/>
                <a:cs typeface="Georgia"/>
              </a:rPr>
              <a:t>min</a:t>
            </a:r>
            <a:r>
              <a:rPr sz="2250" i="1" spc="80" dirty="0">
                <a:solidFill>
                  <a:srgbClr val="A52929"/>
                </a:solidFill>
                <a:latin typeface="Georgia"/>
                <a:cs typeface="Georg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largest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smallest</a:t>
            </a:r>
            <a:r>
              <a:rPr sz="2250" spc="2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that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20" dirty="0">
                <a:latin typeface="Microsoft Sans Serif"/>
                <a:cs typeface="Microsoft Sans Serif"/>
              </a:rPr>
              <a:t>respectively,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original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vector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b="1" spc="-70" dirty="0">
                <a:latin typeface="Verdana"/>
                <a:cs typeface="Verdana"/>
              </a:rPr>
              <a:t>x</a:t>
            </a:r>
            <a:r>
              <a:rPr sz="2250" spc="-70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22487" y="419100"/>
            <a:ext cx="197167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-5" dirty="0">
                <a:solidFill>
                  <a:srgbClr val="0F6ACC"/>
                </a:solidFill>
                <a:hlinkClick r:id="rId2"/>
              </a:rPr>
              <a:t>MinMaxScaler</a:t>
            </a:r>
          </a:p>
        </p:txBody>
      </p:sp>
      <p:sp>
        <p:nvSpPr>
          <p:cNvPr id="5" name="object 5"/>
          <p:cNvSpPr/>
          <p:nvPr/>
        </p:nvSpPr>
        <p:spPr>
          <a:xfrm>
            <a:off x="8013442" y="3904432"/>
            <a:ext cx="1924050" cy="1724025"/>
          </a:xfrm>
          <a:custGeom>
            <a:avLst/>
            <a:gdLst/>
            <a:ahLst/>
            <a:cxnLst/>
            <a:rect l="l" t="t" r="r" b="b"/>
            <a:pathLst>
              <a:path w="1924050" h="1724025">
                <a:moveTo>
                  <a:pt x="1924049" y="1724024"/>
                </a:moveTo>
                <a:lnTo>
                  <a:pt x="0" y="1724024"/>
                </a:lnTo>
                <a:lnTo>
                  <a:pt x="0" y="0"/>
                </a:lnTo>
                <a:lnTo>
                  <a:pt x="1924049" y="0"/>
                </a:lnTo>
                <a:lnTo>
                  <a:pt x="1924049" y="1724024"/>
                </a:lnTo>
                <a:close/>
              </a:path>
            </a:pathLst>
          </a:custGeom>
          <a:solidFill>
            <a:srgbClr val="D0DF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01040" y="4539431"/>
            <a:ext cx="19939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b="1" spc="-140" dirty="0">
                <a:solidFill>
                  <a:srgbClr val="321A70"/>
                </a:solidFill>
                <a:latin typeface="Verdana"/>
                <a:cs typeface="Verdana"/>
              </a:rPr>
              <a:t>x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0951" y="4539431"/>
            <a:ext cx="2482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500" dirty="0">
                <a:solidFill>
                  <a:srgbClr val="321A70"/>
                </a:solidFill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74426" y="4520382"/>
            <a:ext cx="9461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b="1" spc="-5" dirty="0">
                <a:solidFill>
                  <a:srgbClr val="321A70"/>
                </a:solidFill>
                <a:latin typeface="Verdana"/>
                <a:cs typeface="Verdana"/>
              </a:rPr>
              <a:t>′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0150" y="4672782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solidFill>
                  <a:srgbClr val="321A70"/>
                </a:solidFill>
                <a:latin typeface="Cambria"/>
                <a:cs typeface="Cambria"/>
              </a:rPr>
              <a:t>5</a:t>
            </a:r>
            <a:r>
              <a:rPr sz="1550" spc="360" dirty="0">
                <a:solidFill>
                  <a:srgbClr val="321A70"/>
                </a:solidFill>
                <a:latin typeface="Cambria"/>
                <a:cs typeface="Cambria"/>
              </a:rPr>
              <a:t>×</a:t>
            </a:r>
            <a:r>
              <a:rPr sz="1550" spc="-75" dirty="0">
                <a:solidFill>
                  <a:srgbClr val="321A70"/>
                </a:solidFill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388" y="4472756"/>
            <a:ext cx="21653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  <a:p>
            <a:pPr marL="12700">
              <a:spcBef>
                <a:spcPts val="2550"/>
              </a:spcBef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388" y="4291781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15923" y="4196531"/>
            <a:ext cx="5334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0</a:t>
            </a:r>
            <a:r>
              <a:rPr sz="2250" spc="155" dirty="0">
                <a:solidFill>
                  <a:srgbClr val="321A70"/>
                </a:solidFill>
                <a:latin typeface="Cambria"/>
                <a:cs typeface="Cambria"/>
              </a:rPr>
              <a:t>.</a:t>
            </a: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35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87362" y="4539431"/>
            <a:ext cx="39052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0</a:t>
            </a:r>
            <a:r>
              <a:rPr sz="2250" spc="155" dirty="0">
                <a:solidFill>
                  <a:srgbClr val="321A70"/>
                </a:solidFill>
                <a:latin typeface="Cambria"/>
                <a:cs typeface="Cambria"/>
              </a:rPr>
              <a:t>.</a:t>
            </a: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5</a:t>
            </a:r>
            <a:endParaRPr sz="2250">
              <a:latin typeface="Cambria"/>
              <a:cs typeface="Cambria"/>
            </a:endParaRPr>
          </a:p>
          <a:p>
            <a:pPr marL="12700"/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0</a:t>
            </a:r>
            <a:r>
              <a:rPr sz="2250" spc="155" dirty="0">
                <a:solidFill>
                  <a:srgbClr val="321A70"/>
                </a:solidFill>
                <a:latin typeface="Cambria"/>
                <a:cs typeface="Cambria"/>
              </a:rPr>
              <a:t>.</a:t>
            </a: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6</a:t>
            </a:r>
            <a:endParaRPr sz="2250">
              <a:latin typeface="Cambria"/>
              <a:cs typeface="Cambria"/>
            </a:endParaRPr>
          </a:p>
          <a:p>
            <a:pPr marL="123825"/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31763" y="4472756"/>
            <a:ext cx="21653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  <a:p>
            <a:pPr marL="12700">
              <a:spcBef>
                <a:spcPts val="2550"/>
              </a:spcBef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31763" y="4291781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91987" y="3939356"/>
            <a:ext cx="98171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419100" algn="l"/>
                <a:tab pos="751840" algn="l"/>
              </a:tabLst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⎡	</a:t>
            </a:r>
            <a:r>
              <a:rPr sz="3375" spc="-187" baseline="16049" dirty="0">
                <a:solidFill>
                  <a:srgbClr val="321A70"/>
                </a:solidFill>
                <a:latin typeface="Cambria"/>
                <a:cs typeface="Cambria"/>
              </a:rPr>
              <a:t>1	</a:t>
            </a: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⎤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22487" y="3904432"/>
            <a:ext cx="1695450" cy="1724025"/>
          </a:xfrm>
          <a:custGeom>
            <a:avLst/>
            <a:gdLst/>
            <a:ahLst/>
            <a:cxnLst/>
            <a:rect l="l" t="t" r="r" b="b"/>
            <a:pathLst>
              <a:path w="1695450" h="1724025">
                <a:moveTo>
                  <a:pt x="1695449" y="1724024"/>
                </a:moveTo>
                <a:lnTo>
                  <a:pt x="0" y="1724024"/>
                </a:lnTo>
                <a:lnTo>
                  <a:pt x="0" y="0"/>
                </a:lnTo>
                <a:lnTo>
                  <a:pt x="1695449" y="0"/>
                </a:lnTo>
                <a:lnTo>
                  <a:pt x="1695449" y="17240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122785" y="4539431"/>
            <a:ext cx="85979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623570" algn="l"/>
              </a:tabLst>
            </a:pPr>
            <a:r>
              <a:rPr sz="2250" b="1" spc="-140" dirty="0">
                <a:latin typeface="Verdana"/>
                <a:cs typeface="Verdana"/>
              </a:rPr>
              <a:t>x	</a:t>
            </a: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96170" y="4672782"/>
            <a:ext cx="3683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5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53408" y="4472756"/>
            <a:ext cx="20383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  <a:p>
            <a:pPr>
              <a:spcBef>
                <a:spcPts val="255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53408" y="4291781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51945" y="3853631"/>
            <a:ext cx="377825" cy="1739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15</a:t>
            </a:r>
            <a:endParaRPr sz="2250">
              <a:latin typeface="Cambria"/>
              <a:cs typeface="Cambria"/>
            </a:endParaRPr>
          </a:p>
          <a:p>
            <a:pPr marL="111125"/>
            <a:r>
              <a:rPr sz="2250" spc="-125" dirty="0"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  <a:p>
            <a:pPr marL="111125"/>
            <a:r>
              <a:rPr sz="2250" spc="-125" dirty="0">
                <a:latin typeface="Cambria"/>
                <a:cs typeface="Cambria"/>
              </a:rPr>
              <a:t>5</a:t>
            </a:r>
            <a:endParaRPr sz="22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r>
              <a:rPr sz="2250" spc="495" dirty="0">
                <a:latin typeface="Cambria"/>
                <a:cs typeface="Cambria"/>
              </a:rPr>
              <a:t>−</a:t>
            </a:r>
            <a:r>
              <a:rPr sz="2250" spc="-125" dirty="0"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r>
              <a:rPr sz="2250" spc="495" dirty="0">
                <a:latin typeface="Cambria"/>
                <a:cs typeface="Cambria"/>
              </a:rPr>
              <a:t>−</a:t>
            </a:r>
            <a:r>
              <a:rPr sz="2250" spc="-125" dirty="0">
                <a:latin typeface="Cambria"/>
                <a:cs typeface="Cambria"/>
              </a:rPr>
              <a:t>5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24908" y="4472756"/>
            <a:ext cx="20383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  <a:p>
            <a:pPr>
              <a:spcBef>
                <a:spcPts val="255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24908" y="4291781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80003" y="4257805"/>
            <a:ext cx="2628900" cy="561975"/>
          </a:xfrm>
          <a:custGeom>
            <a:avLst/>
            <a:gdLst/>
            <a:ahLst/>
            <a:cxnLst/>
            <a:rect l="l" t="t" r="r" b="b"/>
            <a:pathLst>
              <a:path w="2628900" h="561975">
                <a:moveTo>
                  <a:pt x="2595851" y="561974"/>
                </a:moveTo>
                <a:lnTo>
                  <a:pt x="33047" y="561974"/>
                </a:lnTo>
                <a:lnTo>
                  <a:pt x="28187" y="561008"/>
                </a:lnTo>
                <a:lnTo>
                  <a:pt x="966" y="533787"/>
                </a:lnTo>
                <a:lnTo>
                  <a:pt x="0" y="528927"/>
                </a:lnTo>
                <a:lnTo>
                  <a:pt x="0" y="5238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595851" y="0"/>
                </a:lnTo>
                <a:lnTo>
                  <a:pt x="2627932" y="28187"/>
                </a:lnTo>
                <a:lnTo>
                  <a:pt x="2628899" y="33047"/>
                </a:lnTo>
                <a:lnTo>
                  <a:pt x="2628899" y="528927"/>
                </a:lnTo>
                <a:lnTo>
                  <a:pt x="2600711" y="561008"/>
                </a:lnTo>
                <a:lnTo>
                  <a:pt x="2595851" y="561974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614929" y="4256535"/>
            <a:ext cx="1854835" cy="693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mms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MinMaxScalar()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mms.fit_transform(x)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22487" y="5824538"/>
            <a:ext cx="326707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 marL="105410"/>
            <a:r>
              <a:rPr sz="2250" b="1" spc="10" dirty="0">
                <a:latin typeface="Verdana"/>
                <a:cs typeface="Verdana"/>
              </a:rPr>
              <a:t>x</a:t>
            </a:r>
            <a:r>
              <a:rPr sz="2250" spc="10" dirty="0">
                <a:latin typeface="Cambria"/>
                <a:cs typeface="Cambria"/>
              </a:rPr>
              <a:t>.</a:t>
            </a:r>
            <a:r>
              <a:rPr sz="2250" i="1" spc="10" dirty="0">
                <a:latin typeface="Georgia"/>
                <a:cs typeface="Georgia"/>
              </a:rPr>
              <a:t>max</a:t>
            </a:r>
            <a:r>
              <a:rPr sz="2250" i="1" spc="70" dirty="0">
                <a:latin typeface="Georgia"/>
                <a:cs typeface="Georg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=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15,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b="1" spc="25" dirty="0">
                <a:latin typeface="Verdana"/>
                <a:cs typeface="Verdana"/>
              </a:rPr>
              <a:t>x</a:t>
            </a:r>
            <a:r>
              <a:rPr sz="2250" spc="25" dirty="0">
                <a:latin typeface="Cambria"/>
                <a:cs typeface="Cambria"/>
              </a:rPr>
              <a:t>.</a:t>
            </a:r>
            <a:r>
              <a:rPr sz="2250" i="1" spc="25" dirty="0">
                <a:latin typeface="Georgia"/>
                <a:cs typeface="Georgia"/>
              </a:rPr>
              <a:t>min</a:t>
            </a:r>
            <a:r>
              <a:rPr sz="2250" i="1" spc="65" dirty="0">
                <a:latin typeface="Georgia"/>
                <a:cs typeface="Georg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=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-5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32487" y="5762624"/>
            <a:ext cx="4400550" cy="590550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085"/>
              </a:lnSpc>
            </a:pPr>
            <a:r>
              <a:rPr spc="-75" dirty="0">
                <a:latin typeface="Verdana"/>
                <a:cs typeface="Verdana"/>
              </a:rPr>
              <a:t>The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14" dirty="0">
                <a:latin typeface="Verdana"/>
                <a:cs typeface="Verdana"/>
              </a:rPr>
              <a:t>largest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50" dirty="0">
                <a:latin typeface="Verdana"/>
                <a:cs typeface="Verdana"/>
              </a:rPr>
              <a:t>number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70" dirty="0">
                <a:latin typeface="Verdana"/>
                <a:cs typeface="Verdana"/>
              </a:rPr>
              <a:t>is</a:t>
            </a:r>
            <a:r>
              <a:rPr spc="-135" dirty="0">
                <a:latin typeface="Verdana"/>
                <a:cs typeface="Verdana"/>
              </a:rPr>
              <a:t> transformed </a:t>
            </a:r>
            <a:r>
              <a:rPr spc="-155" dirty="0">
                <a:latin typeface="Verdana"/>
                <a:cs typeface="Verdana"/>
              </a:rPr>
              <a:t>to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45" dirty="0">
                <a:latin typeface="Verdana"/>
                <a:cs typeface="Verdana"/>
              </a:rPr>
              <a:t>1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14" dirty="0">
                <a:latin typeface="Verdana"/>
                <a:cs typeface="Verdana"/>
              </a:rPr>
              <a:t>and</a:t>
            </a:r>
            <a:endParaRPr>
              <a:latin typeface="Verdana"/>
              <a:cs typeface="Verdana"/>
            </a:endParaRPr>
          </a:p>
          <a:p>
            <a:pPr algn="ctr">
              <a:spcBef>
                <a:spcPts val="165"/>
              </a:spcBef>
            </a:pPr>
            <a:r>
              <a:rPr spc="-140" dirty="0">
                <a:latin typeface="Verdana"/>
                <a:cs typeface="Verdana"/>
              </a:rPr>
              <a:t>the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10" dirty="0">
                <a:latin typeface="Verdana"/>
                <a:cs typeface="Verdana"/>
              </a:rPr>
              <a:t>smallest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50" dirty="0">
                <a:latin typeface="Verdana"/>
                <a:cs typeface="Verdana"/>
              </a:rPr>
              <a:t>number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70" dirty="0">
                <a:latin typeface="Verdana"/>
                <a:cs typeface="Verdana"/>
              </a:rPr>
              <a:t>is</a:t>
            </a:r>
            <a:r>
              <a:rPr spc="-135" dirty="0">
                <a:latin typeface="Verdana"/>
                <a:cs typeface="Verdana"/>
              </a:rPr>
              <a:t> transformed </a:t>
            </a:r>
            <a:r>
              <a:rPr spc="-155" dirty="0">
                <a:latin typeface="Verdana"/>
                <a:cs typeface="Verdana"/>
              </a:rPr>
              <a:t>to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50" dirty="0">
                <a:latin typeface="Verdana"/>
                <a:cs typeface="Verdana"/>
              </a:rPr>
              <a:t>0.</a:t>
            </a:r>
            <a:endParaRPr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829748" y="4473556"/>
            <a:ext cx="4144645" cy="123825"/>
            <a:chOff x="2469260" y="4473555"/>
            <a:chExt cx="4144645" cy="123825"/>
          </a:xfrm>
        </p:grpSpPr>
        <p:sp>
          <p:nvSpPr>
            <p:cNvPr id="30" name="object 30"/>
            <p:cNvSpPr/>
            <p:nvPr/>
          </p:nvSpPr>
          <p:spPr>
            <a:xfrm>
              <a:off x="2469260" y="4540225"/>
              <a:ext cx="705485" cy="0"/>
            </a:xfrm>
            <a:custGeom>
              <a:avLst/>
              <a:gdLst/>
              <a:ahLst/>
              <a:cxnLst/>
              <a:rect l="l" t="t" r="r" b="b"/>
              <a:pathLst>
                <a:path w="705485">
                  <a:moveTo>
                    <a:pt x="0" y="0"/>
                  </a:moveTo>
                  <a:lnTo>
                    <a:pt x="705022" y="0"/>
                  </a:lnTo>
                </a:path>
              </a:pathLst>
            </a:custGeom>
            <a:ln w="38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17304" y="4483087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3944" y="57150"/>
                  </a:moveTo>
                  <a:lnTo>
                    <a:pt x="0" y="0"/>
                  </a:lnTo>
                  <a:lnTo>
                    <a:pt x="0" y="114287"/>
                  </a:lnTo>
                  <a:lnTo>
                    <a:pt x="113944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51445" y="4530700"/>
              <a:ext cx="705485" cy="0"/>
            </a:xfrm>
            <a:custGeom>
              <a:avLst/>
              <a:gdLst/>
              <a:ahLst/>
              <a:cxnLst/>
              <a:rect l="l" t="t" r="r" b="b"/>
              <a:pathLst>
                <a:path w="705484">
                  <a:moveTo>
                    <a:pt x="0" y="0"/>
                  </a:moveTo>
                  <a:lnTo>
                    <a:pt x="705022" y="0"/>
                  </a:lnTo>
                </a:path>
              </a:pathLst>
            </a:custGeom>
            <a:ln w="38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99489" y="44735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114289"/>
                  </a:moveTo>
                  <a:lnTo>
                    <a:pt x="0" y="0"/>
                  </a:lnTo>
                  <a:lnTo>
                    <a:pt x="113955" y="57144"/>
                  </a:lnTo>
                  <a:lnTo>
                    <a:pt x="0" y="1142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22</a:t>
            </a:fld>
            <a:endParaRPr spc="-8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94161" y="2137637"/>
            <a:ext cx="3429000" cy="523875"/>
          </a:xfrm>
          <a:custGeom>
            <a:avLst/>
            <a:gdLst/>
            <a:ahLst/>
            <a:cxnLst/>
            <a:rect l="l" t="t" r="r" b="b"/>
            <a:pathLst>
              <a:path w="3429000" h="523875">
                <a:moveTo>
                  <a:pt x="3428999" y="523874"/>
                </a:moveTo>
                <a:lnTo>
                  <a:pt x="0" y="523874"/>
                </a:lnTo>
                <a:lnTo>
                  <a:pt x="0" y="0"/>
                </a:lnTo>
                <a:lnTo>
                  <a:pt x="3428999" y="0"/>
                </a:lnTo>
                <a:lnTo>
                  <a:pt x="3428999" y="523874"/>
                </a:lnTo>
                <a:close/>
              </a:path>
            </a:pathLst>
          </a:custGeom>
          <a:solidFill>
            <a:srgbClr val="D9D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34999" y="1111251"/>
            <a:ext cx="7552690" cy="217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68580">
              <a:lnSpc>
                <a:spcPct val="111100"/>
              </a:lnSpc>
              <a:spcBef>
                <a:spcPts val="100"/>
              </a:spcBef>
              <a:tabLst>
                <a:tab pos="4813935" algn="l"/>
              </a:tabLst>
            </a:pPr>
            <a:r>
              <a:rPr sz="2250" dirty="0">
                <a:latin typeface="Microsoft Sans Serif"/>
                <a:cs typeface="Microsoft Sans Serif"/>
              </a:rPr>
              <a:t>It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original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vector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b="1" spc="-140" dirty="0">
                <a:latin typeface="Verdana"/>
                <a:cs typeface="Verdana"/>
              </a:rPr>
              <a:t>x</a:t>
            </a:r>
            <a:r>
              <a:rPr sz="2250" b="1" spc="-145" dirty="0">
                <a:latin typeface="Verdana"/>
                <a:cs typeface="Verdana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new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  vector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b="1" spc="-75" dirty="0">
                <a:latin typeface="Verdana"/>
                <a:cs typeface="Verdana"/>
              </a:rPr>
              <a:t>x</a:t>
            </a:r>
            <a:r>
              <a:rPr sz="2325" b="1" spc="-112" baseline="28673" dirty="0">
                <a:latin typeface="Verdana"/>
                <a:cs typeface="Verdana"/>
              </a:rPr>
              <a:t>′</a:t>
            </a:r>
            <a:r>
              <a:rPr sz="2325" b="1" spc="345" baseline="28673" dirty="0">
                <a:latin typeface="Verdana"/>
                <a:cs typeface="Verdan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so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that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all</a:t>
            </a:r>
            <a:r>
              <a:rPr sz="2250" spc="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values</a:t>
            </a:r>
            <a:r>
              <a:rPr sz="2250" spc="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fall</a:t>
            </a:r>
            <a:r>
              <a:rPr sz="2250" spc="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within	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range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90" dirty="0">
                <a:solidFill>
                  <a:srgbClr val="0000FF"/>
                </a:solidFill>
                <a:latin typeface="Cambria"/>
                <a:cs typeface="Cambria"/>
              </a:rPr>
              <a:t>[−1,</a:t>
            </a:r>
            <a:r>
              <a:rPr sz="2250" spc="43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250" spc="-145" dirty="0">
                <a:solidFill>
                  <a:srgbClr val="0000FF"/>
                </a:solidFill>
                <a:latin typeface="Cambria"/>
                <a:cs typeface="Cambria"/>
              </a:rPr>
              <a:t>1]</a:t>
            </a:r>
            <a:endParaRPr sz="2250">
              <a:latin typeface="Cambria"/>
              <a:cs typeface="Cambria"/>
            </a:endParaRPr>
          </a:p>
          <a:p>
            <a:pPr marL="559435" algn="ctr">
              <a:spcBef>
                <a:spcPts val="780"/>
              </a:spcBef>
              <a:tabLst>
                <a:tab pos="2342515" algn="l"/>
                <a:tab pos="3623310" algn="l"/>
              </a:tabLst>
            </a:pPr>
            <a:r>
              <a:rPr sz="3375" b="1" spc="-112" baseline="-37037" dirty="0">
                <a:latin typeface="Verdana"/>
                <a:cs typeface="Verdana"/>
              </a:rPr>
              <a:t>x</a:t>
            </a:r>
            <a:r>
              <a:rPr sz="2325" b="1" spc="-112" baseline="-25089" dirty="0">
                <a:latin typeface="Verdana"/>
                <a:cs typeface="Verdana"/>
              </a:rPr>
              <a:t>′</a:t>
            </a:r>
            <a:r>
              <a:rPr sz="2325" b="1" spc="337" baseline="-25089" dirty="0">
                <a:latin typeface="Verdana"/>
                <a:cs typeface="Verdana"/>
              </a:rPr>
              <a:t> </a:t>
            </a:r>
            <a:r>
              <a:rPr sz="3375" spc="750" baseline="-37037" dirty="0">
                <a:latin typeface="Cambria"/>
                <a:cs typeface="Cambria"/>
              </a:rPr>
              <a:t>=</a:t>
            </a:r>
            <a:r>
              <a:rPr sz="2250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50" b="1" u="sng" spc="-14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x	</a:t>
            </a:r>
            <a:endParaRPr sz="2250">
              <a:latin typeface="Verdana"/>
              <a:cs typeface="Verdana"/>
            </a:endParaRPr>
          </a:p>
          <a:p>
            <a:pPr marL="3201670">
              <a:spcBef>
                <a:spcPts val="375"/>
              </a:spcBef>
            </a:pPr>
            <a:r>
              <a:rPr sz="2250" spc="50" dirty="0">
                <a:latin typeface="Cambria"/>
                <a:cs typeface="Cambria"/>
              </a:rPr>
              <a:t>MaxAbsoluteValue</a:t>
            </a:r>
            <a:endParaRPr sz="2250">
              <a:latin typeface="Cambria"/>
              <a:cs typeface="Cambria"/>
            </a:endParaRPr>
          </a:p>
          <a:p>
            <a:pPr marL="475615" algn="ctr">
              <a:spcBef>
                <a:spcPts val="1705"/>
              </a:spcBef>
            </a:pPr>
            <a:r>
              <a:rPr sz="2250" dirty="0">
                <a:latin typeface="Microsoft Sans Serif"/>
                <a:cs typeface="Microsoft Sans Serif"/>
              </a:rPr>
              <a:t>where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225" dirty="0">
                <a:latin typeface="Cambria"/>
                <a:cs typeface="Cambria"/>
              </a:rPr>
              <a:t>M</a:t>
            </a:r>
            <a:r>
              <a:rPr sz="2250" spc="60" dirty="0">
                <a:latin typeface="Cambria"/>
                <a:cs typeface="Cambria"/>
              </a:rPr>
              <a:t>ax</a:t>
            </a:r>
            <a:r>
              <a:rPr sz="2250" spc="150" dirty="0">
                <a:latin typeface="Cambria"/>
                <a:cs typeface="Cambria"/>
              </a:rPr>
              <a:t>Ab</a:t>
            </a:r>
            <a:r>
              <a:rPr sz="2250" spc="-85" dirty="0">
                <a:latin typeface="Cambria"/>
                <a:cs typeface="Cambria"/>
              </a:rPr>
              <a:t>s</a:t>
            </a:r>
            <a:r>
              <a:rPr sz="2250" spc="-30" dirty="0">
                <a:latin typeface="Cambria"/>
                <a:cs typeface="Cambria"/>
              </a:rPr>
              <a:t>ol</a:t>
            </a:r>
            <a:r>
              <a:rPr sz="2250" spc="5" dirty="0">
                <a:latin typeface="Cambria"/>
                <a:cs typeface="Cambria"/>
              </a:rPr>
              <a:t>u</a:t>
            </a:r>
            <a:r>
              <a:rPr sz="2250" spc="110" dirty="0">
                <a:latin typeface="Cambria"/>
                <a:cs typeface="Cambria"/>
              </a:rPr>
              <a:t>t</a:t>
            </a:r>
            <a:r>
              <a:rPr sz="2250" spc="-100" dirty="0">
                <a:latin typeface="Cambria"/>
                <a:cs typeface="Cambria"/>
              </a:rPr>
              <a:t>e</a:t>
            </a:r>
            <a:r>
              <a:rPr sz="2250" spc="120" dirty="0">
                <a:latin typeface="Cambria"/>
                <a:cs typeface="Cambria"/>
              </a:rPr>
              <a:t>Val</a:t>
            </a:r>
            <a:r>
              <a:rPr sz="2250" spc="5" dirty="0">
                <a:latin typeface="Cambria"/>
                <a:cs typeface="Cambria"/>
              </a:rPr>
              <a:t>u</a:t>
            </a:r>
            <a:r>
              <a:rPr sz="2250" spc="-100" dirty="0">
                <a:latin typeface="Cambria"/>
                <a:cs typeface="Cambria"/>
              </a:rPr>
              <a:t>e</a:t>
            </a:r>
            <a:r>
              <a:rPr sz="2250" spc="125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spc="130" dirty="0">
                <a:latin typeface="Cambria"/>
                <a:cs typeface="Cambria"/>
              </a:rPr>
              <a:t> </a:t>
            </a:r>
            <a:r>
              <a:rPr sz="2250" dirty="0">
                <a:latin typeface="Cambria"/>
                <a:cs typeface="Cambria"/>
              </a:rPr>
              <a:t>m</a:t>
            </a:r>
            <a:r>
              <a:rPr sz="2250" spc="60" dirty="0">
                <a:latin typeface="Cambria"/>
                <a:cs typeface="Cambria"/>
              </a:rPr>
              <a:t>a</a:t>
            </a:r>
            <a:r>
              <a:rPr sz="2250" spc="55" dirty="0">
                <a:latin typeface="Cambria"/>
                <a:cs typeface="Cambria"/>
              </a:rPr>
              <a:t>x</a:t>
            </a:r>
            <a:r>
              <a:rPr sz="2250" spc="10" dirty="0">
                <a:latin typeface="Cambria"/>
                <a:cs typeface="Cambria"/>
              </a:rPr>
              <a:t>(</a:t>
            </a:r>
            <a:r>
              <a:rPr sz="2250" b="1" spc="-145" dirty="0">
                <a:latin typeface="Verdana"/>
                <a:cs typeface="Verdana"/>
              </a:rPr>
              <a:t>x</a:t>
            </a:r>
            <a:r>
              <a:rPr sz="2250" spc="155" dirty="0">
                <a:latin typeface="Cambria"/>
                <a:cs typeface="Cambria"/>
              </a:rPr>
              <a:t>.</a:t>
            </a:r>
            <a:r>
              <a:rPr sz="2250" i="1" spc="-10" dirty="0">
                <a:latin typeface="Georgia"/>
                <a:cs typeface="Georgia"/>
              </a:rPr>
              <a:t>m</a:t>
            </a:r>
            <a:r>
              <a:rPr sz="2250" i="1" spc="-105" dirty="0">
                <a:latin typeface="Georgia"/>
                <a:cs typeface="Georgia"/>
              </a:rPr>
              <a:t>a</a:t>
            </a:r>
            <a:r>
              <a:rPr sz="2250" i="1" spc="150" dirty="0">
                <a:latin typeface="Georgia"/>
                <a:cs typeface="Georgia"/>
              </a:rPr>
              <a:t>x</a:t>
            </a:r>
            <a:r>
              <a:rPr sz="2250" spc="160" dirty="0">
                <a:latin typeface="Cambria"/>
                <a:cs typeface="Cambria"/>
              </a:rPr>
              <a:t>,</a:t>
            </a:r>
            <a:r>
              <a:rPr sz="2250" spc="-125" dirty="0">
                <a:latin typeface="Cambria"/>
                <a:cs typeface="Cambria"/>
              </a:rPr>
              <a:t> </a:t>
            </a:r>
            <a:r>
              <a:rPr sz="2250" spc="-40" dirty="0">
                <a:latin typeface="Cambria"/>
                <a:cs typeface="Cambria"/>
              </a:rPr>
              <a:t>∣</a:t>
            </a:r>
            <a:r>
              <a:rPr sz="2250" b="1" spc="-145" dirty="0">
                <a:latin typeface="Verdana"/>
                <a:cs typeface="Verdana"/>
              </a:rPr>
              <a:t>x</a:t>
            </a:r>
            <a:r>
              <a:rPr sz="2250" spc="155" dirty="0">
                <a:latin typeface="Cambria"/>
                <a:cs typeface="Cambria"/>
              </a:rPr>
              <a:t>.</a:t>
            </a:r>
            <a:r>
              <a:rPr sz="2250" i="1" spc="-10" dirty="0">
                <a:latin typeface="Georgia"/>
                <a:cs typeface="Georgia"/>
              </a:rPr>
              <a:t>m</a:t>
            </a:r>
            <a:r>
              <a:rPr sz="2250" i="1" spc="100" dirty="0">
                <a:latin typeface="Georgia"/>
                <a:cs typeface="Georgia"/>
              </a:rPr>
              <a:t>i</a:t>
            </a:r>
            <a:r>
              <a:rPr sz="2250" i="1" spc="20" dirty="0">
                <a:latin typeface="Georgia"/>
                <a:cs typeface="Georgia"/>
              </a:rPr>
              <a:t>n</a:t>
            </a:r>
            <a:r>
              <a:rPr sz="2250" spc="-40" dirty="0">
                <a:latin typeface="Cambria"/>
                <a:cs typeface="Cambria"/>
              </a:rPr>
              <a:t>∣</a:t>
            </a:r>
            <a:r>
              <a:rPr sz="2250" spc="15" dirty="0">
                <a:latin typeface="Cambria"/>
                <a:cs typeface="Cambria"/>
              </a:rPr>
              <a:t>)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22487" y="481013"/>
            <a:ext cx="202882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-5" dirty="0">
                <a:solidFill>
                  <a:srgbClr val="0F6ACC"/>
                </a:solidFill>
                <a:hlinkClick r:id="rId2"/>
              </a:rPr>
              <a:t>MaxAbsScaler</a:t>
            </a:r>
          </a:p>
        </p:txBody>
      </p:sp>
      <p:sp>
        <p:nvSpPr>
          <p:cNvPr id="5" name="object 5"/>
          <p:cNvSpPr/>
          <p:nvPr/>
        </p:nvSpPr>
        <p:spPr>
          <a:xfrm>
            <a:off x="8034149" y="3643257"/>
            <a:ext cx="2143125" cy="1724025"/>
          </a:xfrm>
          <a:custGeom>
            <a:avLst/>
            <a:gdLst/>
            <a:ahLst/>
            <a:cxnLst/>
            <a:rect l="l" t="t" r="r" b="b"/>
            <a:pathLst>
              <a:path w="2143125" h="1724025">
                <a:moveTo>
                  <a:pt x="2143124" y="1724024"/>
                </a:moveTo>
                <a:lnTo>
                  <a:pt x="0" y="1724024"/>
                </a:lnTo>
                <a:lnTo>
                  <a:pt x="0" y="0"/>
                </a:lnTo>
                <a:lnTo>
                  <a:pt x="2143124" y="0"/>
                </a:lnTo>
                <a:lnTo>
                  <a:pt x="2143124" y="1724024"/>
                </a:lnTo>
                <a:close/>
              </a:path>
            </a:pathLst>
          </a:custGeom>
          <a:solidFill>
            <a:srgbClr val="D0DF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96346" y="4173481"/>
            <a:ext cx="31877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b="1" spc="-112" baseline="-20987" dirty="0">
                <a:solidFill>
                  <a:srgbClr val="321A70"/>
                </a:solidFill>
                <a:latin typeface="Verdana"/>
                <a:cs typeface="Verdana"/>
              </a:rPr>
              <a:t>x</a:t>
            </a:r>
            <a:r>
              <a:rPr sz="1550" b="1" spc="-75" dirty="0">
                <a:solidFill>
                  <a:srgbClr val="321A70"/>
                </a:solidFill>
                <a:latin typeface="Verdana"/>
                <a:cs typeface="Verdana"/>
              </a:rPr>
              <a:t>′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5141" y="4621156"/>
            <a:ext cx="75565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495" dirty="0">
                <a:solidFill>
                  <a:srgbClr val="321A70"/>
                </a:solidFill>
                <a:latin typeface="Cambria"/>
                <a:cs typeface="Cambria"/>
              </a:rPr>
              <a:t>−</a:t>
            </a: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0</a:t>
            </a:r>
            <a:r>
              <a:rPr sz="2250" spc="155" dirty="0">
                <a:solidFill>
                  <a:srgbClr val="321A70"/>
                </a:solidFill>
                <a:latin typeface="Cambria"/>
                <a:cs typeface="Cambria"/>
              </a:rPr>
              <a:t>.</a:t>
            </a: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02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17606" y="4964056"/>
            <a:ext cx="39052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495" dirty="0">
                <a:solidFill>
                  <a:srgbClr val="321A70"/>
                </a:solidFill>
                <a:latin typeface="Cambria"/>
                <a:cs typeface="Cambria"/>
              </a:rPr>
              <a:t>−</a:t>
            </a:r>
            <a:r>
              <a:rPr sz="2250" spc="-125" dirty="0">
                <a:solidFill>
                  <a:srgbClr val="321A70"/>
                </a:solidFill>
                <a:latin typeface="Cambria"/>
                <a:cs typeface="Cambria"/>
              </a:rPr>
              <a:t>1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38094" y="4878331"/>
            <a:ext cx="11499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945515" algn="l"/>
              </a:tabLst>
            </a:pPr>
            <a:r>
              <a:rPr sz="2250" spc="710" dirty="0">
                <a:solidFill>
                  <a:srgbClr val="321A70"/>
                </a:solidFill>
                <a:latin typeface="Cambria"/>
                <a:cs typeface="Cambria"/>
              </a:rPr>
              <a:t>⎣	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55457" y="4278256"/>
            <a:ext cx="195770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325" spc="104" baseline="-14336" dirty="0">
                <a:solidFill>
                  <a:srgbClr val="321A70"/>
                </a:solidFill>
                <a:latin typeface="Cambria"/>
                <a:cs typeface="Cambria"/>
              </a:rPr>
              <a:t>5×1</a:t>
            </a:r>
            <a:r>
              <a:rPr sz="2325" spc="585" baseline="-14336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2250" spc="500" dirty="0">
                <a:solidFill>
                  <a:srgbClr val="321A70"/>
                </a:solidFill>
                <a:latin typeface="Cambria"/>
                <a:cs typeface="Cambria"/>
              </a:rPr>
              <a:t>=</a:t>
            </a:r>
            <a:r>
              <a:rPr sz="2250" spc="155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3375" spc="1064" baseline="-20987" dirty="0">
                <a:solidFill>
                  <a:srgbClr val="321A70"/>
                </a:solidFill>
                <a:latin typeface="Cambria"/>
                <a:cs typeface="Cambria"/>
              </a:rPr>
              <a:t>⎢</a:t>
            </a:r>
            <a:r>
              <a:rPr sz="3375" spc="615" baseline="-20987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2250" spc="-55" dirty="0">
                <a:solidFill>
                  <a:srgbClr val="321A70"/>
                </a:solidFill>
                <a:latin typeface="Cambria"/>
                <a:cs typeface="Cambria"/>
              </a:rPr>
              <a:t>0.05</a:t>
            </a:r>
            <a:r>
              <a:rPr sz="2250" spc="409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3375" spc="1064" baseline="-20987" dirty="0">
                <a:solidFill>
                  <a:srgbClr val="321A70"/>
                </a:solidFill>
                <a:latin typeface="Cambria"/>
                <a:cs typeface="Cambria"/>
              </a:rPr>
              <a:t>⎥</a:t>
            </a:r>
            <a:endParaRPr sz="3375" baseline="-20987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2694" y="3935356"/>
            <a:ext cx="12007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spc="1064" baseline="-18518" dirty="0">
                <a:solidFill>
                  <a:srgbClr val="321A70"/>
                </a:solidFill>
                <a:latin typeface="Cambria"/>
                <a:cs typeface="Cambria"/>
              </a:rPr>
              <a:t>⎢</a:t>
            </a:r>
            <a:r>
              <a:rPr sz="3375" spc="585" baseline="-18518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2250" spc="-55" dirty="0">
                <a:solidFill>
                  <a:srgbClr val="321A70"/>
                </a:solidFill>
                <a:latin typeface="Cambria"/>
                <a:cs typeface="Cambria"/>
              </a:rPr>
              <a:t>0.02</a:t>
            </a:r>
            <a:r>
              <a:rPr sz="2250" spc="390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3375" spc="1064" baseline="-18518" dirty="0">
                <a:solidFill>
                  <a:srgbClr val="321A70"/>
                </a:solidFill>
                <a:latin typeface="Cambria"/>
                <a:cs typeface="Cambria"/>
              </a:rPr>
              <a:t>⎥</a:t>
            </a:r>
            <a:endParaRPr sz="3375" baseline="-18518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12694" y="3592456"/>
            <a:ext cx="12007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spc="1064" baseline="-17283" dirty="0">
                <a:solidFill>
                  <a:srgbClr val="321A70"/>
                </a:solidFill>
                <a:latin typeface="Cambria"/>
                <a:cs typeface="Cambria"/>
              </a:rPr>
              <a:t>⎡</a:t>
            </a:r>
            <a:r>
              <a:rPr sz="3375" spc="585" baseline="-17283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2250" spc="-55" dirty="0">
                <a:solidFill>
                  <a:srgbClr val="321A70"/>
                </a:solidFill>
                <a:latin typeface="Cambria"/>
                <a:cs typeface="Cambria"/>
              </a:rPr>
              <a:t>0.04</a:t>
            </a:r>
            <a:r>
              <a:rPr sz="2250" spc="390" dirty="0">
                <a:solidFill>
                  <a:srgbClr val="321A70"/>
                </a:solidFill>
                <a:latin typeface="Cambria"/>
                <a:cs typeface="Cambria"/>
              </a:rPr>
              <a:t> </a:t>
            </a:r>
            <a:r>
              <a:rPr sz="3375" spc="1064" baseline="-17283" dirty="0">
                <a:solidFill>
                  <a:srgbClr val="321A70"/>
                </a:solidFill>
                <a:latin typeface="Cambria"/>
                <a:cs typeface="Cambria"/>
              </a:rPr>
              <a:t>⎤</a:t>
            </a:r>
            <a:endParaRPr sz="3375" baseline="-17283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43709" y="3702342"/>
            <a:ext cx="1981200" cy="1724025"/>
          </a:xfrm>
          <a:custGeom>
            <a:avLst/>
            <a:gdLst/>
            <a:ahLst/>
            <a:cxnLst/>
            <a:rect l="l" t="t" r="r" b="b"/>
            <a:pathLst>
              <a:path w="1981200" h="1724025">
                <a:moveTo>
                  <a:pt x="1981199" y="1724024"/>
                </a:moveTo>
                <a:lnTo>
                  <a:pt x="0" y="1724024"/>
                </a:lnTo>
                <a:lnTo>
                  <a:pt x="0" y="0"/>
                </a:lnTo>
                <a:lnTo>
                  <a:pt x="1981199" y="0"/>
                </a:lnTo>
                <a:lnTo>
                  <a:pt x="1981199" y="17240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74630" y="4937416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18606" y="4384966"/>
            <a:ext cx="118491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sz="3375" b="1" spc="22" baseline="8641" dirty="0">
                <a:latin typeface="Verdana"/>
                <a:cs typeface="Verdana"/>
              </a:rPr>
              <a:t>x</a:t>
            </a:r>
            <a:r>
              <a:rPr sz="1550" spc="15" dirty="0">
                <a:latin typeface="Cambria"/>
                <a:cs typeface="Cambria"/>
              </a:rPr>
              <a:t>5×1  </a:t>
            </a:r>
            <a:r>
              <a:rPr sz="3375" spc="750" baseline="8641" dirty="0">
                <a:latin typeface="Cambria"/>
                <a:cs typeface="Cambria"/>
              </a:rPr>
              <a:t>=</a:t>
            </a:r>
            <a:r>
              <a:rPr sz="3375" spc="202" baseline="8641" dirty="0">
                <a:latin typeface="Cambria"/>
                <a:cs typeface="Cambria"/>
              </a:rPr>
              <a:t> </a:t>
            </a:r>
            <a:r>
              <a:rPr sz="3375" spc="1064" baseline="-11111" dirty="0">
                <a:latin typeface="Cambria"/>
                <a:cs typeface="Cambria"/>
              </a:rPr>
              <a:t>⎢</a:t>
            </a:r>
            <a:endParaRPr sz="3375" baseline="-11111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49230" y="3737266"/>
            <a:ext cx="2546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sz="2250" spc="-40" dirty="0">
                <a:latin typeface="Cambria"/>
                <a:cs typeface="Cambria"/>
              </a:rPr>
              <a:t>⎡</a:t>
            </a:r>
            <a:r>
              <a:rPr sz="3375" spc="-60" baseline="-69135" dirty="0">
                <a:latin typeface="Cambria"/>
                <a:cs typeface="Cambria"/>
              </a:rPr>
              <a:t>⎢</a:t>
            </a:r>
            <a:endParaRPr sz="3375" baseline="-69135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73166" y="3651541"/>
            <a:ext cx="663575" cy="1739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45" algn="ctr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4</a:t>
            </a:r>
            <a:endParaRPr sz="2250">
              <a:latin typeface="Cambria"/>
              <a:cs typeface="Cambria"/>
            </a:endParaRPr>
          </a:p>
          <a:p>
            <a:pPr marR="4445" algn="ctr"/>
            <a:r>
              <a:rPr sz="2250" spc="-125" dirty="0"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  <a:p>
            <a:pPr marR="4445" algn="ctr"/>
            <a:r>
              <a:rPr sz="2250" spc="-125" dirty="0">
                <a:latin typeface="Cambria"/>
                <a:cs typeface="Cambria"/>
              </a:rPr>
              <a:t>5</a:t>
            </a:r>
            <a:endParaRPr sz="2250">
              <a:latin typeface="Cambria"/>
              <a:cs typeface="Cambria"/>
            </a:endParaRPr>
          </a:p>
          <a:p>
            <a:pPr marR="5080" algn="ctr"/>
            <a:r>
              <a:rPr sz="2250" spc="185" dirty="0">
                <a:latin typeface="Cambria"/>
                <a:cs typeface="Cambria"/>
              </a:rPr>
              <a:t>−2</a:t>
            </a:r>
            <a:endParaRPr sz="2250">
              <a:latin typeface="Cambria"/>
              <a:cs typeface="Cambria"/>
            </a:endParaRPr>
          </a:p>
          <a:p>
            <a:pPr marR="5080" algn="ctr"/>
            <a:r>
              <a:rPr sz="2250" spc="495" dirty="0">
                <a:latin typeface="Cambria"/>
                <a:cs typeface="Cambria"/>
              </a:rPr>
              <a:t>−</a:t>
            </a:r>
            <a:r>
              <a:rPr sz="2250" spc="-125" dirty="0">
                <a:latin typeface="Cambria"/>
                <a:cs typeface="Cambria"/>
              </a:rPr>
              <a:t>100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31880" y="4937416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31880" y="4442116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06480" y="3737266"/>
            <a:ext cx="2546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sz="2250" spc="-40" dirty="0">
                <a:latin typeface="Cambria"/>
                <a:cs typeface="Cambria"/>
              </a:rPr>
              <a:t>⎤</a:t>
            </a:r>
            <a:r>
              <a:rPr sz="3375" spc="-60" baseline="-69135" dirty="0">
                <a:latin typeface="Cambria"/>
                <a:cs typeface="Cambria"/>
              </a:rPr>
              <a:t>⎥</a:t>
            </a:r>
            <a:endParaRPr sz="3375" baseline="-69135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05235" y="4157606"/>
            <a:ext cx="2628900" cy="552450"/>
          </a:xfrm>
          <a:custGeom>
            <a:avLst/>
            <a:gdLst/>
            <a:ahLst/>
            <a:cxnLst/>
            <a:rect l="l" t="t" r="r" b="b"/>
            <a:pathLst>
              <a:path w="2628900" h="552450">
                <a:moveTo>
                  <a:pt x="2595851" y="552449"/>
                </a:moveTo>
                <a:lnTo>
                  <a:pt x="33047" y="552449"/>
                </a:lnTo>
                <a:lnTo>
                  <a:pt x="28187" y="551483"/>
                </a:lnTo>
                <a:lnTo>
                  <a:pt x="966" y="524262"/>
                </a:lnTo>
                <a:lnTo>
                  <a:pt x="0" y="519402"/>
                </a:lnTo>
                <a:lnTo>
                  <a:pt x="0" y="5143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595851" y="0"/>
                </a:lnTo>
                <a:lnTo>
                  <a:pt x="2627932" y="28187"/>
                </a:lnTo>
                <a:lnTo>
                  <a:pt x="2628899" y="33047"/>
                </a:lnTo>
                <a:lnTo>
                  <a:pt x="2628899" y="519402"/>
                </a:lnTo>
                <a:lnTo>
                  <a:pt x="2600711" y="551483"/>
                </a:lnTo>
                <a:lnTo>
                  <a:pt x="2595851" y="55244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640161" y="4156336"/>
            <a:ext cx="1854835" cy="693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mas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MaxAbsScalar()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mas.fit_transform(x)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05859" y="4345731"/>
            <a:ext cx="4193540" cy="123825"/>
            <a:chOff x="2445372" y="4345730"/>
            <a:chExt cx="4193540" cy="123825"/>
          </a:xfrm>
        </p:grpSpPr>
        <p:sp>
          <p:nvSpPr>
            <p:cNvPr id="24" name="object 24"/>
            <p:cNvSpPr/>
            <p:nvPr/>
          </p:nvSpPr>
          <p:spPr>
            <a:xfrm>
              <a:off x="2445372" y="4412400"/>
              <a:ext cx="705485" cy="0"/>
            </a:xfrm>
            <a:custGeom>
              <a:avLst/>
              <a:gdLst/>
              <a:ahLst/>
              <a:cxnLst/>
              <a:rect l="l" t="t" r="r" b="b"/>
              <a:pathLst>
                <a:path w="705485">
                  <a:moveTo>
                    <a:pt x="0" y="0"/>
                  </a:moveTo>
                  <a:lnTo>
                    <a:pt x="705022" y="0"/>
                  </a:lnTo>
                </a:path>
              </a:pathLst>
            </a:custGeom>
            <a:ln w="38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93415" y="4355261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3944" y="57150"/>
                  </a:moveTo>
                  <a:lnTo>
                    <a:pt x="0" y="0"/>
                  </a:lnTo>
                  <a:lnTo>
                    <a:pt x="0" y="114287"/>
                  </a:lnTo>
                  <a:lnTo>
                    <a:pt x="113944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76676" y="4402875"/>
              <a:ext cx="705485" cy="0"/>
            </a:xfrm>
            <a:custGeom>
              <a:avLst/>
              <a:gdLst/>
              <a:ahLst/>
              <a:cxnLst/>
              <a:rect l="l" t="t" r="r" b="b"/>
              <a:pathLst>
                <a:path w="705484">
                  <a:moveTo>
                    <a:pt x="0" y="0"/>
                  </a:moveTo>
                  <a:lnTo>
                    <a:pt x="705022" y="0"/>
                  </a:lnTo>
                </a:path>
              </a:pathLst>
            </a:custGeom>
            <a:ln w="38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524720" y="434573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114289"/>
                  </a:moveTo>
                  <a:lnTo>
                    <a:pt x="0" y="0"/>
                  </a:lnTo>
                  <a:lnTo>
                    <a:pt x="113955" y="57144"/>
                  </a:lnTo>
                  <a:lnTo>
                    <a:pt x="0" y="1142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258324" y="5714907"/>
            <a:ext cx="5695950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225" dirty="0">
                <a:latin typeface="Cambria"/>
                <a:cs typeface="Cambria"/>
              </a:rPr>
              <a:t>M</a:t>
            </a:r>
            <a:r>
              <a:rPr sz="2250" spc="60" dirty="0">
                <a:latin typeface="Cambria"/>
                <a:cs typeface="Cambria"/>
              </a:rPr>
              <a:t>ax</a:t>
            </a:r>
            <a:r>
              <a:rPr sz="2250" spc="150" dirty="0">
                <a:latin typeface="Cambria"/>
                <a:cs typeface="Cambria"/>
              </a:rPr>
              <a:t>Ab</a:t>
            </a:r>
            <a:r>
              <a:rPr sz="2250" spc="-85" dirty="0">
                <a:latin typeface="Cambria"/>
                <a:cs typeface="Cambria"/>
              </a:rPr>
              <a:t>s</a:t>
            </a:r>
            <a:r>
              <a:rPr sz="2250" spc="-30" dirty="0">
                <a:latin typeface="Cambria"/>
                <a:cs typeface="Cambria"/>
              </a:rPr>
              <a:t>ol</a:t>
            </a:r>
            <a:r>
              <a:rPr sz="2250" spc="5" dirty="0">
                <a:latin typeface="Cambria"/>
                <a:cs typeface="Cambria"/>
              </a:rPr>
              <a:t>u</a:t>
            </a:r>
            <a:r>
              <a:rPr sz="2250" spc="110" dirty="0">
                <a:latin typeface="Cambria"/>
                <a:cs typeface="Cambria"/>
              </a:rPr>
              <a:t>t</a:t>
            </a:r>
            <a:r>
              <a:rPr sz="2250" spc="-100" dirty="0">
                <a:latin typeface="Cambria"/>
                <a:cs typeface="Cambria"/>
              </a:rPr>
              <a:t>e</a:t>
            </a:r>
            <a:r>
              <a:rPr sz="2250" spc="120" dirty="0">
                <a:latin typeface="Cambria"/>
                <a:cs typeface="Cambria"/>
              </a:rPr>
              <a:t>Val</a:t>
            </a:r>
            <a:r>
              <a:rPr sz="2250" spc="5" dirty="0">
                <a:latin typeface="Cambria"/>
                <a:cs typeface="Cambria"/>
              </a:rPr>
              <a:t>u</a:t>
            </a:r>
            <a:r>
              <a:rPr sz="2250" spc="-100" dirty="0">
                <a:latin typeface="Cambria"/>
                <a:cs typeface="Cambria"/>
              </a:rPr>
              <a:t>e</a:t>
            </a:r>
            <a:r>
              <a:rPr sz="2250" spc="125" dirty="0">
                <a:latin typeface="Cambria"/>
                <a:cs typeface="Cambr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=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Cambria"/>
                <a:cs typeface="Cambria"/>
              </a:rPr>
              <a:t>m</a:t>
            </a:r>
            <a:r>
              <a:rPr sz="2250" spc="60" dirty="0">
                <a:latin typeface="Cambria"/>
                <a:cs typeface="Cambria"/>
              </a:rPr>
              <a:t>a</a:t>
            </a:r>
            <a:r>
              <a:rPr sz="2250" spc="55" dirty="0">
                <a:latin typeface="Cambria"/>
                <a:cs typeface="Cambria"/>
              </a:rPr>
              <a:t>x</a:t>
            </a:r>
            <a:r>
              <a:rPr sz="2250" spc="10" dirty="0">
                <a:latin typeface="Cambria"/>
                <a:cs typeface="Cambria"/>
              </a:rPr>
              <a:t>(</a:t>
            </a:r>
            <a:r>
              <a:rPr sz="2250" spc="-125" dirty="0">
                <a:latin typeface="Cambria"/>
                <a:cs typeface="Cambria"/>
              </a:rPr>
              <a:t>5</a:t>
            </a:r>
            <a:r>
              <a:rPr sz="2250" spc="160" dirty="0">
                <a:latin typeface="Cambria"/>
                <a:cs typeface="Cambria"/>
              </a:rPr>
              <a:t>,</a:t>
            </a:r>
            <a:r>
              <a:rPr sz="2250" spc="-125" dirty="0">
                <a:latin typeface="Cambria"/>
                <a:cs typeface="Cambria"/>
              </a:rPr>
              <a:t> </a:t>
            </a:r>
            <a:r>
              <a:rPr sz="2250" spc="-35" dirty="0">
                <a:latin typeface="Cambria"/>
                <a:cs typeface="Cambria"/>
              </a:rPr>
              <a:t>∣</a:t>
            </a:r>
            <a:r>
              <a:rPr sz="2250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−</a:t>
            </a:r>
            <a:r>
              <a:rPr sz="2250" spc="10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100</a:t>
            </a:r>
            <a:r>
              <a:rPr sz="2250" spc="-40" dirty="0">
                <a:latin typeface="Cambria"/>
                <a:cs typeface="Cambria"/>
              </a:rPr>
              <a:t>∣</a:t>
            </a:r>
            <a:r>
              <a:rPr sz="2250" spc="15" dirty="0">
                <a:latin typeface="Cambria"/>
                <a:cs typeface="Cambria"/>
              </a:rPr>
              <a:t>)</a:t>
            </a:r>
            <a:r>
              <a:rPr sz="2250" spc="125" dirty="0">
                <a:latin typeface="Cambria"/>
                <a:cs typeface="Cambria"/>
              </a:rPr>
              <a:t> </a:t>
            </a: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spc="130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100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23</a:t>
            </a:fld>
            <a:endParaRPr spc="-8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864974" cy="66732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183929"/>
            <a:ext cx="711897" cy="655376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2910" y="597468"/>
            <a:ext cx="10614916" cy="18432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F32621-710D-7BC3-E4EB-C02CE179D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637" y="788150"/>
            <a:ext cx="9676024" cy="1512740"/>
          </a:xfrm>
        </p:spPr>
        <p:txBody>
          <a:bodyPr anchor="ctr">
            <a:normAutofit/>
          </a:bodyPr>
          <a:lstStyle/>
          <a:p>
            <a:r>
              <a:rPr lang="en-IN" sz="4700" dirty="0" err="1"/>
              <a:t>RobustScaler</a:t>
            </a:r>
            <a:r>
              <a:rPr lang="en-IN" sz="4700" dirty="0"/>
              <a:t>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EAED98A7-BA8F-FA1F-2E45-E488B6BE211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016997" y="2936495"/>
                <a:ext cx="9674664" cy="3040756"/>
              </a:xfrm>
            </p:spPr>
            <p:txBody>
              <a:bodyPr anchor="ctr"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300" dirty="0"/>
                  <a:t>Scale features using statistics that are robust to outliers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3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3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3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IN" sz="23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3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3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300" b="0" i="1" smtClean="0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  <m:r>
                          <a:rPr lang="en-IN" sz="23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3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300" b="0" i="1" smtClean="0">
                            <a:latin typeface="Cambria Math" panose="02040503050406030204" pitchFamily="18" charset="0"/>
                          </a:rPr>
                          <m:t>2(</m:t>
                        </m:r>
                        <m:r>
                          <a:rPr lang="en-IN" sz="23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3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3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IN" sz="2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3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3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3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300" b="0" i="1" smtClean="0">
                            <a:latin typeface="Cambria Math" panose="02040503050406030204" pitchFamily="18" charset="0"/>
                          </a:rPr>
                          <m:t>1(</m:t>
                        </m:r>
                        <m:r>
                          <a:rPr lang="en-IN" sz="23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3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sz="23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000" b="0">
                    <a:solidFill>
                      <a:srgbClr val="000000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[[</a:t>
                </a:r>
                <a:r>
                  <a:rPr lang="en-IN" sz="2000" b="0">
                    <a:solidFill>
                      <a:srgbClr val="116644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5</a:t>
                </a:r>
                <a:r>
                  <a:rPr lang="en-IN" sz="2000" b="0">
                    <a:solidFill>
                      <a:srgbClr val="000000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], [</a:t>
                </a:r>
                <a:r>
                  <a:rPr lang="en-IN" sz="2000" b="0">
                    <a:solidFill>
                      <a:srgbClr val="116644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10</a:t>
                </a:r>
                <a:r>
                  <a:rPr lang="en-IN" sz="2000" b="0">
                    <a:solidFill>
                      <a:srgbClr val="000000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], [</a:t>
                </a:r>
                <a:r>
                  <a:rPr lang="en-IN" sz="2000" b="0">
                    <a:solidFill>
                      <a:srgbClr val="116644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12</a:t>
                </a:r>
                <a:r>
                  <a:rPr lang="en-IN" sz="2000" b="0">
                    <a:solidFill>
                      <a:srgbClr val="000000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],[</a:t>
                </a:r>
                <a:r>
                  <a:rPr lang="en-IN" sz="2000" b="0">
                    <a:solidFill>
                      <a:srgbClr val="116644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14</a:t>
                </a:r>
                <a:r>
                  <a:rPr lang="en-IN" sz="2000" b="0">
                    <a:solidFill>
                      <a:srgbClr val="000000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], [</a:t>
                </a:r>
                <a:r>
                  <a:rPr lang="en-IN" sz="2000" b="0">
                    <a:solidFill>
                      <a:srgbClr val="116644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18</a:t>
                </a:r>
                <a:r>
                  <a:rPr lang="en-IN" sz="2000" b="0">
                    <a:solidFill>
                      <a:srgbClr val="000000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],[</a:t>
                </a:r>
                <a:r>
                  <a:rPr lang="en-IN" sz="2000" b="0">
                    <a:solidFill>
                      <a:srgbClr val="116644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23</a:t>
                </a:r>
                <a:r>
                  <a:rPr lang="en-IN" sz="2000" b="0">
                    <a:solidFill>
                      <a:srgbClr val="000000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],[</a:t>
                </a:r>
                <a:r>
                  <a:rPr lang="en-IN" sz="2000" b="0">
                    <a:solidFill>
                      <a:srgbClr val="116644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49</a:t>
                </a:r>
                <a:r>
                  <a:rPr lang="en-IN" sz="2000" b="0">
                    <a:solidFill>
                      <a:srgbClr val="000000"/>
                    </a:solidFill>
                    <a:effectLst/>
                    <a:highlight>
                      <a:srgbClr val="F7F7F7"/>
                    </a:highlight>
                    <a:latin typeface="Courier New" panose="02070309020205020404" pitchFamily="49" charset="0"/>
                  </a:rPr>
                  <a:t>]]</a:t>
                </a:r>
              </a:p>
              <a:p>
                <a:endParaRPr lang="en-IN" sz="2300" dirty="0"/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EAED98A7-BA8F-FA1F-2E45-E488B6BE21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16997" y="2936495"/>
                <a:ext cx="9674664" cy="3040756"/>
              </a:xfrm>
              <a:blipFill>
                <a:blip r:embed="rId2"/>
                <a:stretch>
                  <a:fillRect l="-17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15717" y="6311170"/>
            <a:ext cx="1023354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066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95500" y="1587500"/>
            <a:ext cx="7522845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Constructs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transformed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by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applying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user</a:t>
            </a:r>
            <a:r>
              <a:rPr sz="225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deﬁned </a:t>
            </a:r>
            <a:r>
              <a:rPr sz="2250" spc="-58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function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8200" y="962025"/>
            <a:ext cx="280987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-10" dirty="0">
                <a:solidFill>
                  <a:srgbClr val="0F6ACC"/>
                </a:solidFill>
                <a:hlinkClick r:id="rId2"/>
              </a:rPr>
              <a:t>FunctionTransformer</a:t>
            </a:r>
          </a:p>
        </p:txBody>
      </p:sp>
      <p:sp>
        <p:nvSpPr>
          <p:cNvPr id="4" name="object 4"/>
          <p:cNvSpPr/>
          <p:nvPr/>
        </p:nvSpPr>
        <p:spPr>
          <a:xfrm>
            <a:off x="8005774" y="2667000"/>
            <a:ext cx="2057400" cy="1381125"/>
          </a:xfrm>
          <a:custGeom>
            <a:avLst/>
            <a:gdLst/>
            <a:ahLst/>
            <a:cxnLst/>
            <a:rect l="l" t="t" r="r" b="b"/>
            <a:pathLst>
              <a:path w="2057400" h="1381125">
                <a:moveTo>
                  <a:pt x="2057399" y="1381124"/>
                </a:moveTo>
                <a:lnTo>
                  <a:pt x="0" y="1381124"/>
                </a:lnTo>
                <a:lnTo>
                  <a:pt x="0" y="0"/>
                </a:lnTo>
                <a:lnTo>
                  <a:pt x="2057399" y="0"/>
                </a:lnTo>
                <a:lnTo>
                  <a:pt x="2057399" y="1381124"/>
                </a:lnTo>
                <a:close/>
              </a:path>
            </a:pathLst>
          </a:custGeom>
          <a:solidFill>
            <a:srgbClr val="E9D0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84580" y="355917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7972" y="3178174"/>
            <a:ext cx="150622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b="1" spc="345" baseline="8641" dirty="0">
                <a:latin typeface="Verdana"/>
                <a:cs typeface="Verdana"/>
              </a:rPr>
              <a:t>X</a:t>
            </a:r>
            <a:r>
              <a:rPr sz="2325" b="1" spc="-7" baseline="43010" dirty="0">
                <a:latin typeface="Verdana"/>
                <a:cs typeface="Verdana"/>
              </a:rPr>
              <a:t>′</a:t>
            </a:r>
            <a:r>
              <a:rPr sz="2325" b="1" spc="-600" baseline="43010" dirty="0">
                <a:latin typeface="Verdana"/>
                <a:cs typeface="Verdana"/>
              </a:rPr>
              <a:t> </a:t>
            </a:r>
            <a:r>
              <a:rPr sz="1550" spc="-75" dirty="0">
                <a:latin typeface="Cambria"/>
                <a:cs typeface="Cambria"/>
              </a:rPr>
              <a:t>4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2</a:t>
            </a:r>
            <a:r>
              <a:rPr sz="1550" dirty="0">
                <a:latin typeface="Cambria"/>
                <a:cs typeface="Cambria"/>
              </a:rPr>
              <a:t> </a:t>
            </a:r>
            <a:r>
              <a:rPr sz="1550" spc="65" dirty="0">
                <a:latin typeface="Cambria"/>
                <a:cs typeface="Cambria"/>
              </a:rPr>
              <a:t> </a:t>
            </a:r>
            <a:r>
              <a:rPr sz="3375" spc="750" baseline="8641" dirty="0">
                <a:latin typeface="Cambria"/>
                <a:cs typeface="Cambria"/>
              </a:rPr>
              <a:t>=</a:t>
            </a:r>
            <a:r>
              <a:rPr sz="3375" spc="247" baseline="8641" dirty="0">
                <a:latin typeface="Cambria"/>
                <a:cs typeface="Cambria"/>
              </a:rPr>
              <a:t> </a:t>
            </a:r>
            <a:r>
              <a:rPr sz="3375" spc="1117" baseline="24691" dirty="0">
                <a:latin typeface="Cambria"/>
                <a:cs typeface="Cambria"/>
              </a:rPr>
              <a:t>⎢</a:t>
            </a:r>
            <a:r>
              <a:rPr sz="3375" spc="-187" baseline="43209" dirty="0">
                <a:latin typeface="Cambria"/>
                <a:cs typeface="Cambria"/>
              </a:rPr>
              <a:t>1</a:t>
            </a:r>
            <a:endParaRPr sz="3375" baseline="43209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79991" y="3302000"/>
            <a:ext cx="5969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</a:tabLst>
            </a:pPr>
            <a:r>
              <a:rPr sz="2250" spc="-125" dirty="0">
                <a:latin typeface="Cambria"/>
                <a:cs typeface="Cambria"/>
              </a:rPr>
              <a:t>2	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79991" y="3644900"/>
            <a:ext cx="5969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</a:tabLst>
            </a:pPr>
            <a:r>
              <a:rPr sz="2250" spc="-125" dirty="0">
                <a:latin typeface="Cambria"/>
                <a:cs typeface="Cambria"/>
              </a:rPr>
              <a:t>9	6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56105" y="355917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83217" y="2959099"/>
            <a:ext cx="4146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250" spc="310" dirty="0">
                <a:latin typeface="Cambria"/>
                <a:cs typeface="Cambria"/>
              </a:rPr>
              <a:t>8</a:t>
            </a:r>
            <a:r>
              <a:rPr sz="3375" spc="465" baseline="-18518" dirty="0">
                <a:latin typeface="Cambria"/>
                <a:cs typeface="Cambria"/>
              </a:rPr>
              <a:t>⎥</a:t>
            </a:r>
            <a:endParaRPr sz="3375" baseline="-18518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83217" y="2616200"/>
            <a:ext cx="4146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250" spc="310" dirty="0">
                <a:latin typeface="Cambria"/>
                <a:cs typeface="Cambria"/>
              </a:rPr>
              <a:t>1</a:t>
            </a:r>
            <a:r>
              <a:rPr sz="3375" spc="465" baseline="-17283" dirty="0">
                <a:latin typeface="Cambria"/>
                <a:cs typeface="Cambria"/>
              </a:rPr>
              <a:t>⎤</a:t>
            </a:r>
            <a:endParaRPr sz="3375" baseline="-17283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74917" y="2667000"/>
            <a:ext cx="2543175" cy="1381125"/>
          </a:xfrm>
          <a:custGeom>
            <a:avLst/>
            <a:gdLst/>
            <a:ahLst/>
            <a:cxnLst/>
            <a:rect l="l" t="t" r="r" b="b"/>
            <a:pathLst>
              <a:path w="2543175" h="1381125">
                <a:moveTo>
                  <a:pt x="2543174" y="1381124"/>
                </a:moveTo>
                <a:lnTo>
                  <a:pt x="0" y="1381124"/>
                </a:lnTo>
                <a:lnTo>
                  <a:pt x="0" y="0"/>
                </a:lnTo>
                <a:lnTo>
                  <a:pt x="2543174" y="0"/>
                </a:lnTo>
                <a:lnTo>
                  <a:pt x="2543174" y="13811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62514" y="3130549"/>
            <a:ext cx="9467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11200" algn="l"/>
              </a:tabLst>
            </a:pPr>
            <a:r>
              <a:rPr sz="2250" b="1" spc="235" dirty="0">
                <a:latin typeface="Verdana"/>
                <a:cs typeface="Verdana"/>
              </a:rPr>
              <a:t>X	</a:t>
            </a: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10759" y="3263901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4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67997" y="355917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67997" y="32353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67997" y="3054349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29897" y="2616200"/>
            <a:ext cx="128460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spcBef>
                <a:spcPts val="100"/>
              </a:spcBef>
              <a:tabLst>
                <a:tab pos="1102995" algn="l"/>
              </a:tabLst>
            </a:pPr>
            <a:r>
              <a:rPr sz="3375" spc="142" baseline="-17283" dirty="0">
                <a:latin typeface="Cambria"/>
                <a:cs typeface="Cambria"/>
              </a:rPr>
              <a:t>⎡</a:t>
            </a:r>
            <a:r>
              <a:rPr sz="2250" spc="95" dirty="0">
                <a:latin typeface="Cambria"/>
                <a:cs typeface="Cambria"/>
              </a:rPr>
              <a:t>128	</a:t>
            </a:r>
            <a:r>
              <a:rPr sz="2250" spc="-125" dirty="0"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63407" y="2959099"/>
            <a:ext cx="116840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940">
              <a:spcBef>
                <a:spcPts val="100"/>
              </a:spcBef>
              <a:tabLst>
                <a:tab pos="726440" algn="l"/>
              </a:tabLst>
            </a:pPr>
            <a:r>
              <a:rPr sz="2250" spc="-125" dirty="0">
                <a:latin typeface="Cambria"/>
                <a:cs typeface="Cambria"/>
              </a:rPr>
              <a:t>2	256</a:t>
            </a:r>
            <a:endParaRPr sz="2250">
              <a:latin typeface="Cambria"/>
              <a:cs typeface="Cambria"/>
            </a:endParaRPr>
          </a:p>
          <a:p>
            <a:pPr marL="154940">
              <a:tabLst>
                <a:tab pos="869315" algn="l"/>
              </a:tabLst>
            </a:pPr>
            <a:r>
              <a:rPr sz="2250" spc="-125" dirty="0">
                <a:latin typeface="Cambria"/>
                <a:cs typeface="Cambria"/>
              </a:rPr>
              <a:t>4	1</a:t>
            </a:r>
            <a:endParaRPr sz="2250">
              <a:latin typeface="Cambria"/>
              <a:cs typeface="Cambria"/>
            </a:endParaRPr>
          </a:p>
          <a:p>
            <a:pPr marL="12700">
              <a:tabLst>
                <a:tab pos="798195" algn="l"/>
              </a:tabLst>
            </a:pPr>
            <a:r>
              <a:rPr sz="2250" spc="-125" dirty="0">
                <a:latin typeface="Cambria"/>
                <a:cs typeface="Cambria"/>
              </a:rPr>
              <a:t>512	64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11022" y="2911474"/>
            <a:ext cx="216535" cy="10160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spcBef>
                <a:spcPts val="1300"/>
              </a:spcBef>
            </a:pPr>
            <a:r>
              <a:rPr sz="2250" spc="-795" dirty="0">
                <a:latin typeface="Cambria"/>
                <a:cs typeface="Cambria"/>
              </a:rPr>
              <a:t>⎥</a:t>
            </a:r>
            <a:r>
              <a:rPr sz="3375" spc="1064" baseline="1234" dirty="0">
                <a:latin typeface="Cambria"/>
                <a:cs typeface="Cambria"/>
              </a:rPr>
              <a:t>⎥</a:t>
            </a:r>
            <a:endParaRPr sz="3375" baseline="1234">
              <a:latin typeface="Cambria"/>
              <a:cs typeface="Cambria"/>
            </a:endParaRPr>
          </a:p>
          <a:p>
            <a:pPr marL="12700">
              <a:spcBef>
                <a:spcPts val="12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85622" y="2701925"/>
            <a:ext cx="51885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4811395" algn="l"/>
              </a:tabLst>
            </a:pPr>
            <a:r>
              <a:rPr sz="2250" spc="710" dirty="0">
                <a:latin typeface="Cambria"/>
                <a:cs typeface="Cambria"/>
              </a:rPr>
              <a:t>⎤	</a:t>
            </a:r>
            <a:r>
              <a:rPr sz="2250" spc="310" dirty="0">
                <a:latin typeface="Cambria"/>
                <a:cs typeface="Cambria"/>
              </a:rPr>
              <a:t>⎡</a:t>
            </a:r>
            <a:r>
              <a:rPr sz="3375" spc="465" baseline="16049" dirty="0">
                <a:latin typeface="Cambria"/>
                <a:cs typeface="Cambria"/>
              </a:rPr>
              <a:t>7</a:t>
            </a:r>
            <a:endParaRPr sz="3375" baseline="16049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132116" y="4019572"/>
            <a:ext cx="5893435" cy="1438275"/>
            <a:chOff x="1771628" y="4019571"/>
            <a:chExt cx="5893435" cy="1438275"/>
          </a:xfrm>
        </p:grpSpPr>
        <p:sp>
          <p:nvSpPr>
            <p:cNvPr id="23" name="object 23"/>
            <p:cNvSpPr/>
            <p:nvPr/>
          </p:nvSpPr>
          <p:spPr>
            <a:xfrm>
              <a:off x="6645287" y="4068602"/>
              <a:ext cx="970915" cy="598805"/>
            </a:xfrm>
            <a:custGeom>
              <a:avLst/>
              <a:gdLst/>
              <a:ahLst/>
              <a:cxnLst/>
              <a:rect l="l" t="t" r="r" b="b"/>
              <a:pathLst>
                <a:path w="970915" h="598804">
                  <a:moveTo>
                    <a:pt x="0" y="598646"/>
                  </a:moveTo>
                  <a:lnTo>
                    <a:pt x="970533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37170" y="4038612"/>
              <a:ext cx="127635" cy="109220"/>
            </a:xfrm>
            <a:custGeom>
              <a:avLst/>
              <a:gdLst/>
              <a:ahLst/>
              <a:cxnLst/>
              <a:rect l="l" t="t" r="r" b="b"/>
              <a:pathLst>
                <a:path w="127634" h="109220">
                  <a:moveTo>
                    <a:pt x="127292" y="0"/>
                  </a:moveTo>
                  <a:lnTo>
                    <a:pt x="0" y="11353"/>
                  </a:lnTo>
                  <a:lnTo>
                    <a:pt x="60007" y="108635"/>
                  </a:lnTo>
                  <a:lnTo>
                    <a:pt x="1272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90699" y="4038643"/>
              <a:ext cx="914400" cy="597535"/>
            </a:xfrm>
            <a:custGeom>
              <a:avLst/>
              <a:gdLst/>
              <a:ahLst/>
              <a:cxnLst/>
              <a:rect l="l" t="t" r="r" b="b"/>
              <a:pathLst>
                <a:path w="914400" h="597535">
                  <a:moveTo>
                    <a:pt x="0" y="0"/>
                  </a:moveTo>
                  <a:lnTo>
                    <a:pt x="914047" y="597216"/>
                  </a:lnTo>
                </a:path>
              </a:pathLst>
            </a:custGeom>
            <a:ln w="38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25292" y="4556735"/>
              <a:ext cx="127635" cy="110489"/>
            </a:xfrm>
            <a:custGeom>
              <a:avLst/>
              <a:gdLst/>
              <a:ahLst/>
              <a:cxnLst/>
              <a:rect l="l" t="t" r="r" b="b"/>
              <a:pathLst>
                <a:path w="127635" h="110489">
                  <a:moveTo>
                    <a:pt x="0" y="95552"/>
                  </a:moveTo>
                  <a:lnTo>
                    <a:pt x="62957" y="0"/>
                  </a:lnTo>
                  <a:lnTo>
                    <a:pt x="127432" y="110470"/>
                  </a:lnTo>
                  <a:lnTo>
                    <a:pt x="0" y="95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05963" y="4667249"/>
              <a:ext cx="4248150" cy="790575"/>
            </a:xfrm>
            <a:custGeom>
              <a:avLst/>
              <a:gdLst/>
              <a:ahLst/>
              <a:cxnLst/>
              <a:rect l="l" t="t" r="r" b="b"/>
              <a:pathLst>
                <a:path w="4248150" h="790575">
                  <a:moveTo>
                    <a:pt x="4215102" y="790574"/>
                  </a:moveTo>
                  <a:lnTo>
                    <a:pt x="33047" y="790574"/>
                  </a:lnTo>
                  <a:lnTo>
                    <a:pt x="28187" y="789608"/>
                  </a:lnTo>
                  <a:lnTo>
                    <a:pt x="966" y="762387"/>
                  </a:lnTo>
                  <a:lnTo>
                    <a:pt x="0" y="757527"/>
                  </a:lnTo>
                  <a:lnTo>
                    <a:pt x="0" y="75247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4215102" y="0"/>
                  </a:lnTo>
                  <a:lnTo>
                    <a:pt x="4247182" y="28187"/>
                  </a:lnTo>
                  <a:lnTo>
                    <a:pt x="4248149" y="33047"/>
                  </a:lnTo>
                  <a:lnTo>
                    <a:pt x="4248149" y="757527"/>
                  </a:lnTo>
                  <a:lnTo>
                    <a:pt x="4219961" y="789608"/>
                  </a:lnTo>
                  <a:lnTo>
                    <a:pt x="4215102" y="790574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01376" y="4665979"/>
            <a:ext cx="3317875" cy="693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ft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FunctionTransformer(numpy.log2)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ft.fit_transform(X)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25</a:t>
            </a:fld>
            <a:endParaRPr spc="-85" dirty="0"/>
          </a:p>
        </p:txBody>
      </p:sp>
      <p:sp>
        <p:nvSpPr>
          <p:cNvPr id="29" name="object 29"/>
          <p:cNvSpPr txBox="1"/>
          <p:nvPr/>
        </p:nvSpPr>
        <p:spPr>
          <a:xfrm>
            <a:off x="3572307" y="5776913"/>
            <a:ext cx="4867275" cy="346249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 marL="153035"/>
            <a:r>
              <a:rPr sz="2250" spc="-5" dirty="0">
                <a:latin typeface="Microsoft Sans Serif"/>
                <a:cs typeface="Microsoft Sans Serif"/>
              </a:rPr>
              <a:t>Applies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30" dirty="0">
                <a:latin typeface="Cambria"/>
                <a:cs typeface="Cambria"/>
              </a:rPr>
              <a:t>log</a:t>
            </a:r>
            <a:r>
              <a:rPr sz="2325" spc="-44" baseline="-17921" dirty="0">
                <a:latin typeface="Cambria"/>
                <a:cs typeface="Cambria"/>
              </a:rPr>
              <a:t>2</a:t>
            </a:r>
            <a:r>
              <a:rPr sz="2325" spc="112" baseline="-17921" dirty="0">
                <a:latin typeface="Cambria"/>
                <a:cs typeface="Cambria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function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1219199"/>
            <a:ext cx="85725" cy="857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38411" y="1016001"/>
            <a:ext cx="6983730" cy="113982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spcBef>
                <a:spcPts val="325"/>
              </a:spcBef>
            </a:pP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Divides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B12121"/>
                </a:solidFill>
                <a:latin typeface="Microsoft Sans Serif"/>
                <a:cs typeface="Microsoft Sans Serif"/>
              </a:rPr>
              <a:t>continuous</a:t>
            </a:r>
            <a:r>
              <a:rPr sz="2250" spc="20" dirty="0">
                <a:solidFill>
                  <a:srgbClr val="B12121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B12121"/>
                </a:solidFill>
                <a:latin typeface="Microsoft Sans Serif"/>
                <a:cs typeface="Microsoft Sans Serif"/>
              </a:rPr>
              <a:t>variable</a:t>
            </a:r>
            <a:r>
              <a:rPr sz="2250" spc="20" dirty="0">
                <a:solidFill>
                  <a:srgbClr val="B12121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B12121"/>
                </a:solidFill>
                <a:latin typeface="Microsoft Sans Serif"/>
                <a:cs typeface="Microsoft Sans Serif"/>
              </a:rPr>
              <a:t>into</a:t>
            </a:r>
            <a:r>
              <a:rPr sz="2250" spc="20" dirty="0">
                <a:solidFill>
                  <a:srgbClr val="B12121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B12121"/>
                </a:solidFill>
                <a:latin typeface="Microsoft Sans Serif"/>
                <a:cs typeface="Microsoft Sans Serif"/>
              </a:rPr>
              <a:t>bins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 marL="12700" marR="5080">
              <a:lnSpc>
                <a:spcPct val="108300"/>
              </a:lnSpc>
            </a:pP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One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hot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encoding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ordinal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encoding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further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applied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bin</a:t>
            </a:r>
            <a:r>
              <a:rPr sz="2250" spc="2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labels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1590674"/>
            <a:ext cx="85725" cy="857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148680" y="2376302"/>
            <a:ext cx="1981200" cy="3095625"/>
          </a:xfrm>
          <a:custGeom>
            <a:avLst/>
            <a:gdLst/>
            <a:ahLst/>
            <a:cxnLst/>
            <a:rect l="l" t="t" r="r" b="b"/>
            <a:pathLst>
              <a:path w="1981200" h="3095625">
                <a:moveTo>
                  <a:pt x="1981199" y="3095624"/>
                </a:moveTo>
                <a:lnTo>
                  <a:pt x="0" y="3095624"/>
                </a:lnTo>
                <a:lnTo>
                  <a:pt x="0" y="0"/>
                </a:lnTo>
                <a:lnTo>
                  <a:pt x="1981199" y="0"/>
                </a:lnTo>
                <a:lnTo>
                  <a:pt x="1981199" y="30956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48978" y="3697101"/>
            <a:ext cx="85979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623570" algn="l"/>
              </a:tabLst>
            </a:pPr>
            <a:r>
              <a:rPr sz="2250" b="1" spc="-140" dirty="0">
                <a:latin typeface="Verdana"/>
                <a:cs typeface="Verdana"/>
              </a:rPr>
              <a:t>x	</a:t>
            </a: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22363" y="3830452"/>
            <a:ext cx="3683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9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9601" y="4144776"/>
            <a:ext cx="203835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  <a:p>
            <a:pPr>
              <a:spcBef>
                <a:spcPts val="39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9601" y="3630426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79601" y="2954151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4201" y="2411226"/>
            <a:ext cx="2546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sz="2250" spc="-40" dirty="0">
                <a:latin typeface="Cambria"/>
                <a:cs typeface="Cambria"/>
              </a:rPr>
              <a:t>⎡</a:t>
            </a:r>
            <a:r>
              <a:rPr sz="3375" spc="-60" baseline="-67901" dirty="0">
                <a:latin typeface="Cambria"/>
                <a:cs typeface="Cambria"/>
              </a:rPr>
              <a:t>⎢</a:t>
            </a:r>
            <a:endParaRPr sz="3375" baseline="-67901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78138" y="2325501"/>
            <a:ext cx="663575" cy="311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45" algn="ctr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0</a:t>
            </a:r>
            <a:endParaRPr sz="2250">
              <a:latin typeface="Cambria"/>
              <a:cs typeface="Cambria"/>
            </a:endParaRPr>
          </a:p>
          <a:p>
            <a:pPr marR="5080" algn="ctr"/>
            <a:r>
              <a:rPr sz="2250" spc="-125" dirty="0">
                <a:latin typeface="Cambria"/>
                <a:cs typeface="Cambria"/>
              </a:rPr>
              <a:t>0</a:t>
            </a:r>
            <a:r>
              <a:rPr sz="2250" spc="155" dirty="0">
                <a:latin typeface="Cambria"/>
                <a:cs typeface="Cambria"/>
              </a:rPr>
              <a:t>.</a:t>
            </a:r>
            <a:r>
              <a:rPr sz="2250" spc="-125" dirty="0">
                <a:latin typeface="Cambria"/>
                <a:cs typeface="Cambria"/>
              </a:rPr>
              <a:t>125</a:t>
            </a:r>
            <a:endParaRPr sz="2250">
              <a:latin typeface="Cambria"/>
              <a:cs typeface="Cambria"/>
            </a:endParaRPr>
          </a:p>
          <a:p>
            <a:pPr marR="5715" algn="ctr"/>
            <a:r>
              <a:rPr sz="2250" spc="-55" dirty="0">
                <a:latin typeface="Cambria"/>
                <a:cs typeface="Cambria"/>
              </a:rPr>
              <a:t>0.25</a:t>
            </a:r>
            <a:endParaRPr sz="2250">
              <a:latin typeface="Cambria"/>
              <a:cs typeface="Cambria"/>
            </a:endParaRPr>
          </a:p>
          <a:p>
            <a:pPr marR="5080" algn="ctr"/>
            <a:r>
              <a:rPr sz="2250" spc="-125" dirty="0">
                <a:latin typeface="Cambria"/>
                <a:cs typeface="Cambria"/>
              </a:rPr>
              <a:t>0</a:t>
            </a:r>
            <a:r>
              <a:rPr sz="2250" spc="155" dirty="0">
                <a:latin typeface="Cambria"/>
                <a:cs typeface="Cambria"/>
              </a:rPr>
              <a:t>.</a:t>
            </a:r>
            <a:r>
              <a:rPr sz="2250" spc="-125" dirty="0">
                <a:latin typeface="Cambria"/>
                <a:cs typeface="Cambria"/>
              </a:rPr>
              <a:t>375</a:t>
            </a:r>
            <a:endParaRPr sz="2250">
              <a:latin typeface="Cambria"/>
              <a:cs typeface="Cambria"/>
            </a:endParaRPr>
          </a:p>
          <a:p>
            <a:pPr marR="5080" algn="ctr"/>
            <a:r>
              <a:rPr sz="2250" spc="-30" dirty="0">
                <a:latin typeface="Cambria"/>
                <a:cs typeface="Cambria"/>
              </a:rPr>
              <a:t>0.5</a:t>
            </a:r>
            <a:endParaRPr sz="2250">
              <a:latin typeface="Cambria"/>
              <a:cs typeface="Cambria"/>
            </a:endParaRPr>
          </a:p>
          <a:p>
            <a:pPr marR="5080" algn="ctr"/>
            <a:r>
              <a:rPr sz="2250" spc="-125" dirty="0">
                <a:latin typeface="Cambria"/>
                <a:cs typeface="Cambria"/>
              </a:rPr>
              <a:t>0</a:t>
            </a:r>
            <a:r>
              <a:rPr sz="2250" spc="155" dirty="0">
                <a:latin typeface="Cambria"/>
                <a:cs typeface="Cambria"/>
              </a:rPr>
              <a:t>.</a:t>
            </a:r>
            <a:r>
              <a:rPr sz="2250" spc="-125" dirty="0">
                <a:latin typeface="Cambria"/>
                <a:cs typeface="Cambria"/>
              </a:rPr>
              <a:t>675</a:t>
            </a:r>
            <a:endParaRPr sz="2250">
              <a:latin typeface="Cambria"/>
              <a:cs typeface="Cambria"/>
            </a:endParaRPr>
          </a:p>
          <a:p>
            <a:pPr marR="5715" algn="ctr"/>
            <a:r>
              <a:rPr sz="2250" spc="-55" dirty="0">
                <a:latin typeface="Cambria"/>
                <a:cs typeface="Cambria"/>
              </a:rPr>
              <a:t>0.75</a:t>
            </a:r>
            <a:endParaRPr sz="2250">
              <a:latin typeface="Cambria"/>
              <a:cs typeface="Cambria"/>
            </a:endParaRPr>
          </a:p>
          <a:p>
            <a:pPr marR="5080" algn="ctr"/>
            <a:r>
              <a:rPr sz="2250" spc="-125" dirty="0">
                <a:latin typeface="Cambria"/>
                <a:cs typeface="Cambria"/>
              </a:rPr>
              <a:t>0</a:t>
            </a:r>
            <a:r>
              <a:rPr sz="2250" spc="155" dirty="0">
                <a:latin typeface="Cambria"/>
                <a:cs typeface="Cambria"/>
              </a:rPr>
              <a:t>.</a:t>
            </a:r>
            <a:r>
              <a:rPr sz="2250" spc="-125" dirty="0">
                <a:latin typeface="Cambria"/>
                <a:cs typeface="Cambria"/>
              </a:rPr>
              <a:t>875</a:t>
            </a:r>
            <a:endParaRPr sz="2250">
              <a:latin typeface="Cambria"/>
              <a:cs typeface="Cambria"/>
            </a:endParaRPr>
          </a:p>
          <a:p>
            <a:pPr marR="5080" algn="ctr"/>
            <a:r>
              <a:rPr sz="2250" spc="-30" dirty="0">
                <a:latin typeface="Cambria"/>
                <a:cs typeface="Cambria"/>
              </a:rPr>
              <a:t>1.0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36851" y="4144776"/>
            <a:ext cx="203835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  <a:p>
            <a:pPr>
              <a:spcBef>
                <a:spcPts val="39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6851" y="3630426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6851" y="2954151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1451" y="2411226"/>
            <a:ext cx="2546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sz="2250" spc="-40" dirty="0">
                <a:latin typeface="Cambria"/>
                <a:cs typeface="Cambria"/>
              </a:rPr>
              <a:t>⎤</a:t>
            </a:r>
            <a:r>
              <a:rPr sz="3375" spc="-60" baseline="-67901" dirty="0">
                <a:latin typeface="Cambria"/>
                <a:cs typeface="Cambria"/>
              </a:rPr>
              <a:t>⎥</a:t>
            </a:r>
            <a:endParaRPr sz="3375" baseline="-67901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110830" y="2960302"/>
            <a:ext cx="3272154" cy="1123950"/>
            <a:chOff x="2750343" y="2960302"/>
            <a:chExt cx="3272154" cy="1123950"/>
          </a:xfrm>
        </p:grpSpPr>
        <p:sp>
          <p:nvSpPr>
            <p:cNvPr id="18" name="object 18"/>
            <p:cNvSpPr/>
            <p:nvPr/>
          </p:nvSpPr>
          <p:spPr>
            <a:xfrm>
              <a:off x="2750343" y="3524063"/>
              <a:ext cx="581025" cy="0"/>
            </a:xfrm>
            <a:custGeom>
              <a:avLst/>
              <a:gdLst/>
              <a:ahLst/>
              <a:cxnLst/>
              <a:rect l="l" t="t" r="r" b="b"/>
              <a:pathLst>
                <a:path w="581025">
                  <a:moveTo>
                    <a:pt x="0" y="0"/>
                  </a:moveTo>
                  <a:lnTo>
                    <a:pt x="580595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73359" y="3466913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114299"/>
                  </a:moveTo>
                  <a:lnTo>
                    <a:pt x="0" y="0"/>
                  </a:lnTo>
                  <a:lnTo>
                    <a:pt x="115159" y="57149"/>
                  </a:lnTo>
                  <a:lnTo>
                    <a:pt x="0" y="114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83756" y="2960302"/>
              <a:ext cx="2638425" cy="1123950"/>
            </a:xfrm>
            <a:custGeom>
              <a:avLst/>
              <a:gdLst/>
              <a:ahLst/>
              <a:cxnLst/>
              <a:rect l="l" t="t" r="r" b="b"/>
              <a:pathLst>
                <a:path w="2638425" h="1123950">
                  <a:moveTo>
                    <a:pt x="2605377" y="1123949"/>
                  </a:moveTo>
                  <a:lnTo>
                    <a:pt x="33047" y="1123949"/>
                  </a:lnTo>
                  <a:lnTo>
                    <a:pt x="28187" y="1122983"/>
                  </a:lnTo>
                  <a:lnTo>
                    <a:pt x="966" y="1095762"/>
                  </a:lnTo>
                  <a:lnTo>
                    <a:pt x="0" y="1090902"/>
                  </a:lnTo>
                  <a:lnTo>
                    <a:pt x="0" y="10858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605377" y="0"/>
                  </a:lnTo>
                  <a:lnTo>
                    <a:pt x="2637458" y="28187"/>
                  </a:lnTo>
                  <a:lnTo>
                    <a:pt x="2638424" y="33047"/>
                  </a:lnTo>
                  <a:lnTo>
                    <a:pt x="2638424" y="1090902"/>
                  </a:lnTo>
                  <a:lnTo>
                    <a:pt x="2610237" y="1122983"/>
                  </a:lnTo>
                  <a:lnTo>
                    <a:pt x="2605377" y="1123949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7480680" y="2376302"/>
            <a:ext cx="2264410" cy="3095625"/>
            <a:chOff x="6120193" y="2376301"/>
            <a:chExt cx="2264410" cy="3095625"/>
          </a:xfrm>
        </p:grpSpPr>
        <p:sp>
          <p:nvSpPr>
            <p:cNvPr id="22" name="object 22"/>
            <p:cNvSpPr/>
            <p:nvPr/>
          </p:nvSpPr>
          <p:spPr>
            <a:xfrm>
              <a:off x="6120193" y="3524063"/>
              <a:ext cx="562610" cy="0"/>
            </a:xfrm>
            <a:custGeom>
              <a:avLst/>
              <a:gdLst/>
              <a:ahLst/>
              <a:cxnLst/>
              <a:rect l="l" t="t" r="r" b="b"/>
              <a:pathLst>
                <a:path w="562609">
                  <a:moveTo>
                    <a:pt x="0" y="0"/>
                  </a:moveTo>
                  <a:lnTo>
                    <a:pt x="562153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25374" y="346691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114299"/>
                  </a:moveTo>
                  <a:lnTo>
                    <a:pt x="0" y="0"/>
                  </a:lnTo>
                  <a:lnTo>
                    <a:pt x="113943" y="57149"/>
                  </a:lnTo>
                  <a:lnTo>
                    <a:pt x="0" y="114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46081" y="2376301"/>
              <a:ext cx="1638300" cy="3095625"/>
            </a:xfrm>
            <a:custGeom>
              <a:avLst/>
              <a:gdLst/>
              <a:ahLst/>
              <a:cxnLst/>
              <a:rect l="l" t="t" r="r" b="b"/>
              <a:pathLst>
                <a:path w="1638300" h="3095625">
                  <a:moveTo>
                    <a:pt x="1638299" y="3095624"/>
                  </a:moveTo>
                  <a:lnTo>
                    <a:pt x="0" y="3095624"/>
                  </a:lnTo>
                  <a:lnTo>
                    <a:pt x="0" y="0"/>
                  </a:lnTo>
                  <a:lnTo>
                    <a:pt x="1638299" y="0"/>
                  </a:lnTo>
                  <a:lnTo>
                    <a:pt x="1638299" y="3095624"/>
                  </a:lnTo>
                  <a:close/>
                </a:path>
              </a:pathLst>
            </a:custGeom>
            <a:solidFill>
              <a:srgbClr val="E9D0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122486" y="481013"/>
            <a:ext cx="2286000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-5" dirty="0">
                <a:solidFill>
                  <a:srgbClr val="0F6ACC"/>
                </a:solidFill>
                <a:hlinkClick r:id="rId3"/>
              </a:rPr>
              <a:t>KBinsDiscretizer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26</a:t>
            </a:fld>
            <a:endParaRPr spc="-85" dirty="0"/>
          </a:p>
        </p:txBody>
      </p:sp>
      <p:sp>
        <p:nvSpPr>
          <p:cNvPr id="26" name="object 26"/>
          <p:cNvSpPr txBox="1"/>
          <p:nvPr/>
        </p:nvSpPr>
        <p:spPr>
          <a:xfrm>
            <a:off x="8094165" y="3697101"/>
            <a:ext cx="19939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b="1" spc="-140" dirty="0">
                <a:latin typeface="Verdana"/>
                <a:cs typeface="Verdana"/>
              </a:rPr>
              <a:t>x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67551" y="3678052"/>
            <a:ext cx="9461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b="1" spc="-5" dirty="0">
                <a:latin typeface="Verdana"/>
                <a:cs typeface="Verdana"/>
              </a:rPr>
              <a:t>′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53275" y="3830452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9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309050" y="2668401"/>
            <a:ext cx="2482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0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309050" y="3011301"/>
            <a:ext cx="2482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1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09050" y="3354201"/>
            <a:ext cx="2482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1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804076" y="3697101"/>
            <a:ext cx="75311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517525" algn="l"/>
              </a:tabLst>
            </a:pPr>
            <a:r>
              <a:rPr sz="2250" spc="500" dirty="0">
                <a:latin typeface="Cambria"/>
                <a:cs typeface="Cambria"/>
              </a:rPr>
              <a:t>=	</a:t>
            </a:r>
            <a:r>
              <a:rPr sz="2250" spc="-125" dirty="0">
                <a:latin typeface="Cambria"/>
                <a:cs typeface="Cambria"/>
              </a:rPr>
              <a:t>2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309050" y="4725801"/>
            <a:ext cx="2482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4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309050" y="5068701"/>
            <a:ext cx="2482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4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10513" y="4982976"/>
            <a:ext cx="6451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</a:tabLst>
            </a:pPr>
            <a:r>
              <a:rPr sz="2250" spc="710" dirty="0">
                <a:latin typeface="Cambria"/>
                <a:cs typeface="Cambria"/>
              </a:rPr>
              <a:t>⎣	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85113" y="4382901"/>
            <a:ext cx="6959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spc="592" baseline="-20987" dirty="0">
                <a:latin typeface="Cambria"/>
                <a:cs typeface="Cambria"/>
              </a:rPr>
              <a:t>⎢</a:t>
            </a:r>
            <a:r>
              <a:rPr sz="2250" spc="395" dirty="0">
                <a:latin typeface="Cambria"/>
                <a:cs typeface="Cambria"/>
              </a:rPr>
              <a:t>3.</a:t>
            </a:r>
            <a:r>
              <a:rPr sz="3375" spc="592" baseline="-20987" dirty="0">
                <a:latin typeface="Cambria"/>
                <a:cs typeface="Cambria"/>
              </a:rPr>
              <a:t>⎥</a:t>
            </a:r>
            <a:endParaRPr sz="3375" baseline="-20987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085113" y="4040001"/>
            <a:ext cx="6959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spc="592" baseline="-20987" dirty="0">
                <a:latin typeface="Cambria"/>
                <a:cs typeface="Cambria"/>
              </a:rPr>
              <a:t>⎢</a:t>
            </a:r>
            <a:r>
              <a:rPr sz="2250" spc="395" dirty="0">
                <a:latin typeface="Cambria"/>
                <a:cs typeface="Cambria"/>
              </a:rPr>
              <a:t>3.</a:t>
            </a:r>
            <a:r>
              <a:rPr sz="3375" spc="592" baseline="-20987" dirty="0">
                <a:latin typeface="Cambria"/>
                <a:cs typeface="Cambria"/>
              </a:rPr>
              <a:t>⎥</a:t>
            </a:r>
            <a:endParaRPr sz="3375" baseline="-20987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110513" y="3630426"/>
            <a:ext cx="6451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</a:tabLst>
            </a:pPr>
            <a:r>
              <a:rPr sz="2250" spc="710" dirty="0">
                <a:latin typeface="Cambria"/>
                <a:cs typeface="Cambria"/>
              </a:rPr>
              <a:t>⎢	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110513" y="3125601"/>
            <a:ext cx="6451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</a:tabLst>
            </a:pPr>
            <a:r>
              <a:rPr sz="2250" spc="710" dirty="0">
                <a:latin typeface="Cambria"/>
                <a:cs typeface="Cambria"/>
              </a:rPr>
              <a:t>⎢	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10513" y="2954151"/>
            <a:ext cx="6451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</a:tabLst>
            </a:pPr>
            <a:r>
              <a:rPr sz="2250" spc="710" dirty="0">
                <a:latin typeface="Cambria"/>
                <a:cs typeface="Cambria"/>
              </a:rPr>
              <a:t>⎢	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110513" y="2763651"/>
            <a:ext cx="6451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</a:tabLst>
            </a:pPr>
            <a:r>
              <a:rPr sz="2250" spc="710" dirty="0">
                <a:latin typeface="Cambria"/>
                <a:cs typeface="Cambria"/>
              </a:rPr>
              <a:t>⎢	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085113" y="2325501"/>
            <a:ext cx="6959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spc="592" baseline="-17283" dirty="0">
                <a:latin typeface="Cambria"/>
                <a:cs typeface="Cambria"/>
              </a:rPr>
              <a:t>⎡</a:t>
            </a:r>
            <a:r>
              <a:rPr sz="2250" spc="395" dirty="0">
                <a:latin typeface="Cambria"/>
                <a:cs typeface="Cambria"/>
              </a:rPr>
              <a:t>0.</a:t>
            </a:r>
            <a:r>
              <a:rPr sz="3375" spc="592" baseline="-17283" dirty="0">
                <a:latin typeface="Cambria"/>
                <a:cs typeface="Cambria"/>
              </a:rPr>
              <a:t>⎤</a:t>
            </a:r>
            <a:endParaRPr sz="3375" baseline="-17283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79169" y="2959033"/>
            <a:ext cx="19462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5080" indent="-183515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KBinsDiscretizer( </a:t>
            </a:r>
            <a:r>
              <a:rPr sz="1200" b="1" spc="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n_bins=5,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strategy=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'uniform'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 encode</a:t>
            </a:r>
            <a:r>
              <a:rPr sz="1200" b="1" spc="-3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3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'ordinal'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27</a:t>
            </a:fld>
            <a:endParaRPr spc="-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6489" y="2301422"/>
            <a:ext cx="4712335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229" dirty="0">
                <a:solidFill>
                  <a:srgbClr val="0000FF"/>
                </a:solidFill>
                <a:latin typeface="Verdana"/>
                <a:cs typeface="Verdana"/>
              </a:rPr>
              <a:t>1.2</a:t>
            </a:r>
            <a:r>
              <a:rPr sz="2900" spc="-2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140" dirty="0">
                <a:solidFill>
                  <a:srgbClr val="0000FF"/>
                </a:solidFill>
                <a:latin typeface="Verdana"/>
                <a:cs typeface="Verdana"/>
              </a:rPr>
              <a:t>Categorical</a:t>
            </a:r>
            <a:r>
              <a:rPr sz="2900" spc="-2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200" dirty="0">
                <a:solidFill>
                  <a:srgbClr val="0000FF"/>
                </a:solidFill>
                <a:latin typeface="Verdana"/>
                <a:cs typeface="Verdana"/>
              </a:rPr>
              <a:t>transformers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21265" y="3257549"/>
            <a:ext cx="2838450" cy="742950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 marL="519430" indent="-320675">
              <a:buAutoNum type="arabicPeriod"/>
              <a:tabLst>
                <a:tab pos="520065" algn="l"/>
              </a:tabLst>
            </a:pP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-5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encoding</a:t>
            </a:r>
            <a:endParaRPr sz="2250">
              <a:latin typeface="Microsoft Sans Serif"/>
              <a:cs typeface="Microsoft Sans Serif"/>
            </a:endParaRPr>
          </a:p>
          <a:p>
            <a:pPr marL="519430" indent="-320675">
              <a:spcBef>
                <a:spcPts val="225"/>
              </a:spcBef>
              <a:buAutoNum type="arabicPeriod"/>
              <a:tabLst>
                <a:tab pos="520065" algn="l"/>
              </a:tabLst>
            </a:pPr>
            <a:r>
              <a:rPr sz="2250" spc="-5" dirty="0">
                <a:latin typeface="Microsoft Sans Serif"/>
                <a:cs typeface="Microsoft Sans Serif"/>
              </a:rPr>
              <a:t>Label</a:t>
            </a:r>
            <a:r>
              <a:rPr sz="2250" spc="-4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encoding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2486" y="666750"/>
            <a:ext cx="2286000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dirty="0">
                <a:solidFill>
                  <a:srgbClr val="0F6ACC"/>
                </a:solidFill>
                <a:hlinkClick r:id="rId2"/>
              </a:rPr>
              <a:t>OneHotEncoder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987" y="1495424"/>
            <a:ext cx="85725" cy="85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38412" y="1292226"/>
            <a:ext cx="7134859" cy="153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49605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Encodes </a:t>
            </a:r>
            <a:r>
              <a:rPr sz="2250" b="1" dirty="0">
                <a:solidFill>
                  <a:srgbClr val="0000FF"/>
                </a:solidFill>
                <a:latin typeface="Arial"/>
                <a:cs typeface="Arial"/>
              </a:rPr>
              <a:t>categorical feature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or </a:t>
            </a:r>
            <a:r>
              <a:rPr sz="2250" b="1" dirty="0">
                <a:solidFill>
                  <a:srgbClr val="0000FF"/>
                </a:solidFill>
                <a:latin typeface="Arial"/>
                <a:cs typeface="Arial"/>
              </a:rPr>
              <a:t>label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as a </a:t>
            </a:r>
            <a:r>
              <a:rPr sz="2250" dirty="0">
                <a:solidFill>
                  <a:srgbClr val="B12121"/>
                </a:solidFill>
                <a:latin typeface="Microsoft Sans Serif"/>
                <a:cs typeface="Microsoft Sans Serif"/>
              </a:rPr>
              <a:t>one-hot </a:t>
            </a:r>
            <a:r>
              <a:rPr sz="2250" spc="-585" dirty="0">
                <a:solidFill>
                  <a:srgbClr val="B12121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B12121"/>
                </a:solidFill>
                <a:latin typeface="Microsoft Sans Serif"/>
                <a:cs typeface="Microsoft Sans Serif"/>
              </a:rPr>
              <a:t>numeric</a:t>
            </a:r>
            <a:r>
              <a:rPr sz="2250" spc="20" dirty="0">
                <a:solidFill>
                  <a:srgbClr val="B12121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B12121"/>
                </a:solidFill>
                <a:latin typeface="Microsoft Sans Serif"/>
                <a:cs typeface="Microsoft Sans Serif"/>
              </a:rPr>
              <a:t>array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spcBef>
                <a:spcPts val="225"/>
              </a:spcBef>
            </a:pP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Creates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one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binary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column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for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each</a:t>
            </a:r>
            <a:r>
              <a:rPr sz="2250" spc="2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of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i="1" spc="345" dirty="0">
                <a:solidFill>
                  <a:srgbClr val="800080"/>
                </a:solidFill>
                <a:latin typeface="Georgia"/>
                <a:cs typeface="Georgia"/>
              </a:rPr>
              <a:t>K</a:t>
            </a:r>
            <a:r>
              <a:rPr sz="2250" i="1" spc="235" dirty="0">
                <a:solidFill>
                  <a:srgbClr val="800080"/>
                </a:solidFill>
                <a:latin typeface="Georgia"/>
                <a:cs typeface="Georgia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unique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values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spcBef>
                <a:spcPts val="450"/>
              </a:spcBef>
            </a:pP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Exactly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one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column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has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1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202529"/>
                </a:solidFill>
                <a:latin typeface="Microsoft Sans Serif"/>
                <a:cs typeface="Microsoft Sans Serif"/>
              </a:rPr>
              <a:t>in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202529"/>
                </a:solidFill>
                <a:latin typeface="Microsoft Sans Serif"/>
                <a:cs typeface="Microsoft Sans Serif"/>
              </a:rPr>
              <a:t>it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and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rest</a:t>
            </a:r>
            <a:r>
              <a:rPr sz="2250" spc="2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have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6400"/>
                </a:solidFill>
                <a:latin typeface="Microsoft Sans Serif"/>
                <a:cs typeface="Microsoft Sans Serif"/>
              </a:rPr>
              <a:t>0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987" y="2238374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987" y="2638424"/>
            <a:ext cx="85725" cy="8572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128993" y="3340261"/>
            <a:ext cx="1466850" cy="1381125"/>
          </a:xfrm>
          <a:custGeom>
            <a:avLst/>
            <a:gdLst/>
            <a:ahLst/>
            <a:cxnLst/>
            <a:rect l="l" t="t" r="r" b="b"/>
            <a:pathLst>
              <a:path w="1466850" h="1381125">
                <a:moveTo>
                  <a:pt x="1466849" y="1381124"/>
                </a:moveTo>
                <a:lnTo>
                  <a:pt x="0" y="1381124"/>
                </a:lnTo>
                <a:lnTo>
                  <a:pt x="0" y="0"/>
                </a:lnTo>
                <a:lnTo>
                  <a:pt x="1466849" y="0"/>
                </a:lnTo>
                <a:lnTo>
                  <a:pt x="1466849" y="13811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55325" y="3975261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3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55325" y="4318161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1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59914" y="4232436"/>
            <a:ext cx="5467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342265" algn="l"/>
              </a:tabLst>
            </a:pPr>
            <a:r>
              <a:rPr sz="2250" spc="710" dirty="0">
                <a:latin typeface="Cambria"/>
                <a:cs typeface="Cambria"/>
              </a:rPr>
              <a:t>⎣	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3891" y="3851436"/>
            <a:ext cx="152781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sz="3375" b="1" spc="22" baseline="8641" dirty="0">
                <a:latin typeface="Verdana"/>
                <a:cs typeface="Verdana"/>
              </a:rPr>
              <a:t>x</a:t>
            </a:r>
            <a:r>
              <a:rPr sz="1550" spc="15" dirty="0">
                <a:latin typeface="Cambria"/>
                <a:cs typeface="Cambria"/>
              </a:rPr>
              <a:t>4×1 </a:t>
            </a:r>
            <a:r>
              <a:rPr sz="1550" spc="20" dirty="0">
                <a:latin typeface="Cambria"/>
                <a:cs typeface="Cambria"/>
              </a:rPr>
              <a:t> </a:t>
            </a:r>
            <a:r>
              <a:rPr sz="3375" spc="750" baseline="8641" dirty="0">
                <a:latin typeface="Cambria"/>
                <a:cs typeface="Cambria"/>
              </a:rPr>
              <a:t>=</a:t>
            </a:r>
            <a:r>
              <a:rPr sz="3375" spc="202" baseline="8641" dirty="0">
                <a:latin typeface="Cambria"/>
                <a:cs typeface="Cambria"/>
              </a:rPr>
              <a:t> </a:t>
            </a:r>
            <a:r>
              <a:rPr sz="3375" spc="682" baseline="23456" dirty="0">
                <a:latin typeface="Cambria"/>
                <a:cs typeface="Cambria"/>
              </a:rPr>
              <a:t>⎢</a:t>
            </a:r>
            <a:r>
              <a:rPr sz="3375" spc="682" baseline="41975" dirty="0">
                <a:latin typeface="Cambria"/>
                <a:cs typeface="Cambria"/>
              </a:rPr>
              <a:t>2</a:t>
            </a:r>
            <a:r>
              <a:rPr sz="3375" spc="682" baseline="23456" dirty="0">
                <a:latin typeface="Cambria"/>
                <a:cs typeface="Cambria"/>
              </a:rPr>
              <a:t>⎥</a:t>
            </a:r>
            <a:endParaRPr sz="3375" baseline="23456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34514" y="3375186"/>
            <a:ext cx="597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sz="2250" spc="455" dirty="0">
                <a:latin typeface="Cambria"/>
                <a:cs typeface="Cambria"/>
              </a:rPr>
              <a:t>⎡</a:t>
            </a:r>
            <a:r>
              <a:rPr sz="3375" spc="682" baseline="16049" dirty="0">
                <a:latin typeface="Cambria"/>
                <a:cs typeface="Cambria"/>
              </a:rPr>
              <a:t>1</a:t>
            </a:r>
            <a:r>
              <a:rPr sz="2250" spc="455" dirty="0">
                <a:latin typeface="Cambria"/>
                <a:cs typeface="Cambria"/>
              </a:rPr>
              <a:t>⎤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547099" y="3333750"/>
            <a:ext cx="2486025" cy="1381125"/>
          </a:xfrm>
          <a:custGeom>
            <a:avLst/>
            <a:gdLst/>
            <a:ahLst/>
            <a:cxnLst/>
            <a:rect l="l" t="t" r="r" b="b"/>
            <a:pathLst>
              <a:path w="2486025" h="1381125">
                <a:moveTo>
                  <a:pt x="2486024" y="1381124"/>
                </a:moveTo>
                <a:lnTo>
                  <a:pt x="0" y="1381124"/>
                </a:lnTo>
                <a:lnTo>
                  <a:pt x="0" y="0"/>
                </a:lnTo>
                <a:lnTo>
                  <a:pt x="2486024" y="0"/>
                </a:lnTo>
                <a:lnTo>
                  <a:pt x="2486024" y="1381124"/>
                </a:lnTo>
                <a:close/>
              </a:path>
            </a:pathLst>
          </a:custGeom>
          <a:solidFill>
            <a:srgbClr val="E9D0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319467" y="3797300"/>
            <a:ext cx="2482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09295" y="3692525"/>
            <a:ext cx="3937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b="1" spc="165" baseline="-20987" dirty="0">
                <a:latin typeface="Verdana"/>
                <a:cs typeface="Verdana"/>
              </a:rPr>
              <a:t>X</a:t>
            </a:r>
            <a:r>
              <a:rPr sz="1550" b="1" spc="110" dirty="0">
                <a:latin typeface="Verdana"/>
                <a:cs typeface="Verdana"/>
              </a:rPr>
              <a:t>′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68665" y="3930651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4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3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25904" y="422592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25904" y="390207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25904" y="372110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62404" y="3282950"/>
            <a:ext cx="133540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spcBef>
                <a:spcPts val="100"/>
              </a:spcBef>
              <a:tabLst>
                <a:tab pos="699770" algn="l"/>
                <a:tab pos="1128395" algn="l"/>
              </a:tabLst>
            </a:pPr>
            <a:r>
              <a:rPr sz="3375" spc="465" baseline="-17283" dirty="0">
                <a:latin typeface="Cambria"/>
                <a:cs typeface="Cambria"/>
              </a:rPr>
              <a:t>⎡</a:t>
            </a:r>
            <a:r>
              <a:rPr sz="2250" spc="310" dirty="0">
                <a:latin typeface="Cambria"/>
                <a:cs typeface="Cambria"/>
              </a:rPr>
              <a:t>1	</a:t>
            </a:r>
            <a:r>
              <a:rPr sz="2250" spc="-125" dirty="0">
                <a:latin typeface="Cambria"/>
                <a:cs typeface="Cambria"/>
              </a:rPr>
              <a:t>0	0</a:t>
            </a:r>
            <a:endParaRPr sz="2250">
              <a:latin typeface="Cambria"/>
              <a:cs typeface="Cambria"/>
            </a:endParaRPr>
          </a:p>
          <a:p>
            <a:pPr marL="271145">
              <a:tabLst>
                <a:tab pos="699770" algn="l"/>
                <a:tab pos="1128395" algn="l"/>
              </a:tabLst>
            </a:pPr>
            <a:r>
              <a:rPr sz="2250" spc="-125" dirty="0">
                <a:latin typeface="Cambria"/>
                <a:cs typeface="Cambria"/>
              </a:rPr>
              <a:t>0	1	0</a:t>
            </a:r>
            <a:endParaRPr sz="2250">
              <a:latin typeface="Cambria"/>
              <a:cs typeface="Cambria"/>
            </a:endParaRPr>
          </a:p>
          <a:p>
            <a:pPr marL="271145">
              <a:tabLst>
                <a:tab pos="699770" algn="l"/>
                <a:tab pos="1128395" algn="l"/>
              </a:tabLst>
            </a:pPr>
            <a:r>
              <a:rPr sz="2250" spc="-125" dirty="0">
                <a:latin typeface="Cambria"/>
                <a:cs typeface="Cambria"/>
              </a:rPr>
              <a:t>0	0	1</a:t>
            </a:r>
            <a:endParaRPr sz="2250">
              <a:latin typeface="Cambria"/>
              <a:cs typeface="Cambria"/>
            </a:endParaRPr>
          </a:p>
          <a:p>
            <a:pPr marL="271145">
              <a:tabLst>
                <a:tab pos="699770" algn="l"/>
                <a:tab pos="1128395" algn="l"/>
              </a:tabLst>
            </a:pPr>
            <a:r>
              <a:rPr sz="2250" spc="-125" dirty="0">
                <a:latin typeface="Cambria"/>
                <a:cs typeface="Cambria"/>
              </a:rPr>
              <a:t>1	0	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26054" y="422592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26054" y="390207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826054" y="372110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69169" y="4911724"/>
            <a:ext cx="2106930" cy="7874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spcBef>
                <a:spcPts val="400"/>
              </a:spcBef>
            </a:pPr>
            <a:r>
              <a:rPr sz="2250" dirty="0">
                <a:latin typeface="Microsoft Sans Serif"/>
                <a:cs typeface="Microsoft Sans Serif"/>
              </a:rPr>
              <a:t>#</a:t>
            </a:r>
            <a:r>
              <a:rPr sz="2250" spc="-5" dirty="0">
                <a:latin typeface="Microsoft Sans Serif"/>
                <a:cs typeface="Microsoft Sans Serif"/>
              </a:rPr>
              <a:t> unique values:</a:t>
            </a:r>
            <a:endParaRPr sz="2250">
              <a:latin typeface="Microsoft Sans Serif"/>
              <a:cs typeface="Microsoft Sans Serif"/>
            </a:endParaRPr>
          </a:p>
          <a:p>
            <a:pPr marL="699135">
              <a:spcBef>
                <a:spcPts val="300"/>
              </a:spcBef>
            </a:pPr>
            <a:r>
              <a:rPr sz="2250" i="1" spc="345" dirty="0">
                <a:latin typeface="Georgia"/>
                <a:cs typeface="Georgia"/>
              </a:rPr>
              <a:t>K</a:t>
            </a:r>
            <a:r>
              <a:rPr sz="2250" i="1" spc="204" dirty="0">
                <a:latin typeface="Georgia"/>
                <a:cs typeface="Georgia"/>
              </a:rPr>
              <a:t> </a:t>
            </a: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spc="105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3</a:t>
            </a:r>
            <a:endParaRPr sz="2250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572078" y="3617341"/>
            <a:ext cx="3974465" cy="723900"/>
            <a:chOff x="2211590" y="3617341"/>
            <a:chExt cx="3974465" cy="723900"/>
          </a:xfrm>
        </p:grpSpPr>
        <p:sp>
          <p:nvSpPr>
            <p:cNvPr id="26" name="object 26"/>
            <p:cNvSpPr/>
            <p:nvPr/>
          </p:nvSpPr>
          <p:spPr>
            <a:xfrm>
              <a:off x="2211590" y="3978938"/>
              <a:ext cx="781050" cy="0"/>
            </a:xfrm>
            <a:custGeom>
              <a:avLst/>
              <a:gdLst/>
              <a:ahLst/>
              <a:cxnLst/>
              <a:rect l="l" t="t" r="r" b="b"/>
              <a:pathLst>
                <a:path w="781050">
                  <a:moveTo>
                    <a:pt x="0" y="0"/>
                  </a:moveTo>
                  <a:lnTo>
                    <a:pt x="780927" y="4"/>
                  </a:lnTo>
                </a:path>
              </a:pathLst>
            </a:custGeom>
            <a:ln w="38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35236" y="3921810"/>
              <a:ext cx="114935" cy="114300"/>
            </a:xfrm>
            <a:custGeom>
              <a:avLst/>
              <a:gdLst/>
              <a:ahLst/>
              <a:cxnLst/>
              <a:rect l="l" t="t" r="r" b="b"/>
              <a:pathLst>
                <a:path w="114935" h="114300">
                  <a:moveTo>
                    <a:pt x="114541" y="57137"/>
                  </a:moveTo>
                  <a:lnTo>
                    <a:pt x="0" y="0"/>
                  </a:lnTo>
                  <a:lnTo>
                    <a:pt x="0" y="114274"/>
                  </a:lnTo>
                  <a:lnTo>
                    <a:pt x="114541" y="571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28709" y="3978938"/>
              <a:ext cx="600710" cy="0"/>
            </a:xfrm>
            <a:custGeom>
              <a:avLst/>
              <a:gdLst/>
              <a:ahLst/>
              <a:cxnLst/>
              <a:rect l="l" t="t" r="r" b="b"/>
              <a:pathLst>
                <a:path w="600710">
                  <a:moveTo>
                    <a:pt x="0" y="0"/>
                  </a:moveTo>
                  <a:lnTo>
                    <a:pt x="600133" y="4"/>
                  </a:lnTo>
                </a:path>
              </a:pathLst>
            </a:custGeom>
            <a:ln w="380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71752" y="3921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114285"/>
                  </a:moveTo>
                  <a:lnTo>
                    <a:pt x="0" y="0"/>
                  </a:lnTo>
                  <a:lnTo>
                    <a:pt x="114182" y="57142"/>
                  </a:lnTo>
                  <a:lnTo>
                    <a:pt x="0" y="114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47999" y="3617341"/>
              <a:ext cx="2476500" cy="723900"/>
            </a:xfrm>
            <a:custGeom>
              <a:avLst/>
              <a:gdLst/>
              <a:ahLst/>
              <a:cxnLst/>
              <a:rect l="l" t="t" r="r" b="b"/>
              <a:pathLst>
                <a:path w="2476500" h="723900">
                  <a:moveTo>
                    <a:pt x="2443452" y="723899"/>
                  </a:moveTo>
                  <a:lnTo>
                    <a:pt x="33047" y="723899"/>
                  </a:lnTo>
                  <a:lnTo>
                    <a:pt x="28187" y="722933"/>
                  </a:lnTo>
                  <a:lnTo>
                    <a:pt x="966" y="695712"/>
                  </a:lnTo>
                  <a:lnTo>
                    <a:pt x="0" y="690852"/>
                  </a:lnTo>
                  <a:lnTo>
                    <a:pt x="0" y="6857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443452" y="0"/>
                  </a:lnTo>
                  <a:lnTo>
                    <a:pt x="2475532" y="28187"/>
                  </a:lnTo>
                  <a:lnTo>
                    <a:pt x="2476499" y="33047"/>
                  </a:lnTo>
                  <a:lnTo>
                    <a:pt x="2476499" y="690852"/>
                  </a:lnTo>
                  <a:lnTo>
                    <a:pt x="2448311" y="722933"/>
                  </a:lnTo>
                  <a:lnTo>
                    <a:pt x="2443452" y="723899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443412" y="3616071"/>
            <a:ext cx="1854835" cy="693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ohe=OneHotEncoder()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ohe.fit_transform(x)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28</a:t>
            </a:fld>
            <a:endParaRPr spc="-85" dirty="0"/>
          </a:p>
        </p:txBody>
      </p:sp>
      <p:sp>
        <p:nvSpPr>
          <p:cNvPr id="32" name="object 32"/>
          <p:cNvSpPr txBox="1"/>
          <p:nvPr/>
        </p:nvSpPr>
        <p:spPr>
          <a:xfrm>
            <a:off x="7028340" y="4921249"/>
            <a:ext cx="2892425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0555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#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columns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 </a:t>
            </a:r>
            <a:r>
              <a:rPr sz="2250" spc="-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transformed</a:t>
            </a:r>
            <a:r>
              <a:rPr sz="2250" spc="-5" dirty="0">
                <a:latin typeface="Microsoft Sans Serif"/>
                <a:cs typeface="Microsoft Sans Serif"/>
              </a:rPr>
              <a:t> matrix</a:t>
            </a:r>
            <a:r>
              <a:rPr sz="2250" dirty="0">
                <a:latin typeface="Microsoft Sans Serif"/>
                <a:cs typeface="Microsoft Sans Serif"/>
              </a:rPr>
              <a:t> =</a:t>
            </a:r>
            <a:r>
              <a:rPr sz="2250" spc="-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3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51A24B-80E7-16C6-5E21-276EA4F0DA53}"/>
              </a:ext>
            </a:extLst>
          </p:cNvPr>
          <p:cNvSpPr txBox="1"/>
          <p:nvPr/>
        </p:nvSpPr>
        <p:spPr>
          <a:xfrm>
            <a:off x="3253012" y="5841462"/>
            <a:ext cx="6680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[‘Batman’,’Superman’,’</a:t>
            </a:r>
            <a:r>
              <a:rPr lang="en-IN" sz="2400" dirty="0" err="1"/>
              <a:t>Wonderwoman</a:t>
            </a:r>
            <a:r>
              <a:rPr lang="en-IN" sz="2400" dirty="0"/>
              <a:t>’,’spiderman’ 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3925" y="666750"/>
            <a:ext cx="1790700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-5" dirty="0">
                <a:solidFill>
                  <a:srgbClr val="0F6ACC"/>
                </a:solidFill>
                <a:hlinkClick r:id="rId2"/>
              </a:rPr>
              <a:t>LabelEncoder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9786" y="1263650"/>
            <a:ext cx="7849234" cy="8255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spcBef>
                <a:spcPts val="550"/>
              </a:spcBef>
            </a:pP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Encodes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target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labels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between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0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i="1" spc="345" dirty="0">
                <a:solidFill>
                  <a:srgbClr val="800080"/>
                </a:solidFill>
                <a:latin typeface="Georgia"/>
                <a:cs typeface="Georgia"/>
              </a:rPr>
              <a:t>K</a:t>
            </a:r>
            <a:r>
              <a:rPr sz="2250" i="1" spc="110" dirty="0">
                <a:solidFill>
                  <a:srgbClr val="800080"/>
                </a:solidFill>
                <a:latin typeface="Georgia"/>
                <a:cs typeface="Georgia"/>
              </a:rPr>
              <a:t> </a:t>
            </a:r>
            <a:r>
              <a:rPr sz="2250" spc="500" dirty="0">
                <a:solidFill>
                  <a:srgbClr val="800080"/>
                </a:solidFill>
                <a:latin typeface="Cambria"/>
                <a:cs typeface="Cambria"/>
              </a:rPr>
              <a:t>−</a:t>
            </a:r>
            <a:r>
              <a:rPr sz="2250" dirty="0">
                <a:solidFill>
                  <a:srgbClr val="800080"/>
                </a:solidFill>
                <a:latin typeface="Cambria"/>
                <a:cs typeface="Cambria"/>
              </a:rPr>
              <a:t> </a:t>
            </a:r>
            <a:r>
              <a:rPr sz="2250" spc="-65" dirty="0">
                <a:solidFill>
                  <a:srgbClr val="800080"/>
                </a:solidFill>
                <a:latin typeface="Cambria"/>
                <a:cs typeface="Cambria"/>
              </a:rPr>
              <a:t>1</a:t>
            </a:r>
            <a:r>
              <a:rPr sz="2250" spc="-65" dirty="0">
                <a:latin typeface="Microsoft Sans Serif"/>
                <a:cs typeface="Microsoft Sans Serif"/>
              </a:rPr>
              <a:t>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where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spcBef>
                <a:spcPts val="450"/>
              </a:spcBef>
            </a:pPr>
            <a:r>
              <a:rPr sz="2250" i="1" spc="345" dirty="0">
                <a:solidFill>
                  <a:srgbClr val="A52929"/>
                </a:solidFill>
                <a:latin typeface="Georgia"/>
                <a:cs typeface="Georgia"/>
              </a:rPr>
              <a:t>K</a:t>
            </a:r>
            <a:r>
              <a:rPr sz="2250" i="1" spc="225" dirty="0">
                <a:solidFill>
                  <a:srgbClr val="A52929"/>
                </a:solidFill>
                <a:latin typeface="Georgia"/>
                <a:cs typeface="Georgia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number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of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distinct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values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7448" y="4743450"/>
            <a:ext cx="3048000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tabLst>
                <a:tab pos="777875" algn="l"/>
              </a:tabLst>
            </a:pPr>
            <a:r>
              <a:rPr sz="2250" dirty="0">
                <a:latin typeface="Microsoft Sans Serif"/>
                <a:cs typeface="Microsoft Sans Serif"/>
              </a:rPr>
              <a:t>Here	</a:t>
            </a:r>
            <a:r>
              <a:rPr sz="2250" i="1" spc="345" dirty="0">
                <a:latin typeface="Georgia"/>
                <a:cs typeface="Georgia"/>
              </a:rPr>
              <a:t>K</a:t>
            </a:r>
            <a:r>
              <a:rPr sz="2250" i="1" spc="240" dirty="0">
                <a:latin typeface="Georgia"/>
                <a:cs typeface="Georgia"/>
              </a:rPr>
              <a:t> </a:t>
            </a: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spc="130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4</a:t>
            </a:r>
            <a:r>
              <a:rPr sz="2250" dirty="0">
                <a:latin typeface="Microsoft Sans Serif"/>
                <a:cs typeface="Microsoft Sans Serif"/>
              </a:rPr>
              <a:t>: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250" dirty="0">
                <a:latin typeface="Cambria"/>
                <a:cs typeface="Cambria"/>
              </a:rPr>
              <a:t>{</a:t>
            </a:r>
            <a:r>
              <a:rPr sz="2250" spc="-125" dirty="0">
                <a:latin typeface="Cambria"/>
                <a:cs typeface="Cambria"/>
              </a:rPr>
              <a:t>1</a:t>
            </a:r>
            <a:r>
              <a:rPr sz="2250" spc="160" dirty="0">
                <a:latin typeface="Cambria"/>
                <a:cs typeface="Cambria"/>
              </a:rPr>
              <a:t>,</a:t>
            </a:r>
            <a:r>
              <a:rPr sz="2250" spc="-125" dirty="0">
                <a:latin typeface="Cambria"/>
                <a:cs typeface="Cambria"/>
              </a:rPr>
              <a:t> 2</a:t>
            </a:r>
            <a:r>
              <a:rPr sz="2250" spc="160" dirty="0">
                <a:latin typeface="Cambria"/>
                <a:cs typeface="Cambria"/>
              </a:rPr>
              <a:t>,</a:t>
            </a:r>
            <a:r>
              <a:rPr sz="2250" spc="-125" dirty="0">
                <a:latin typeface="Cambria"/>
                <a:cs typeface="Cambria"/>
              </a:rPr>
              <a:t> 6</a:t>
            </a:r>
            <a:r>
              <a:rPr sz="2250" spc="160" dirty="0">
                <a:latin typeface="Cambria"/>
                <a:cs typeface="Cambria"/>
              </a:rPr>
              <a:t>,</a:t>
            </a:r>
            <a:r>
              <a:rPr sz="2250" spc="-125" dirty="0">
                <a:latin typeface="Cambria"/>
                <a:cs typeface="Cambria"/>
              </a:rPr>
              <a:t> 8</a:t>
            </a:r>
            <a:r>
              <a:rPr sz="2250" spc="250" dirty="0">
                <a:latin typeface="Cambria"/>
                <a:cs typeface="Cambria"/>
              </a:rPr>
              <a:t>}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83758" y="2609850"/>
            <a:ext cx="1476375" cy="2066925"/>
          </a:xfrm>
          <a:custGeom>
            <a:avLst/>
            <a:gdLst/>
            <a:ahLst/>
            <a:cxnLst/>
            <a:rect l="l" t="t" r="r" b="b"/>
            <a:pathLst>
              <a:path w="1476375" h="2066925">
                <a:moveTo>
                  <a:pt x="1476374" y="2066924"/>
                </a:moveTo>
                <a:lnTo>
                  <a:pt x="0" y="2066924"/>
                </a:lnTo>
                <a:lnTo>
                  <a:pt x="0" y="0"/>
                </a:lnTo>
                <a:lnTo>
                  <a:pt x="1476374" y="0"/>
                </a:lnTo>
                <a:lnTo>
                  <a:pt x="1476374" y="20669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84056" y="3416300"/>
            <a:ext cx="8642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628015" algn="l"/>
              </a:tabLst>
            </a:pPr>
            <a:r>
              <a:rPr sz="2250" b="1" spc="-100" dirty="0">
                <a:latin typeface="Verdana"/>
                <a:cs typeface="Verdana"/>
              </a:rPr>
              <a:t>y	</a:t>
            </a: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61904" y="3549651"/>
            <a:ext cx="3683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6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4554" y="2559050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1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4554" y="2901949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14554" y="3244849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6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14554" y="3587750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1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4554" y="3930650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8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4554" y="4273550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6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9143" y="4187825"/>
            <a:ext cx="5467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342265" algn="l"/>
              </a:tabLst>
            </a:pPr>
            <a:r>
              <a:rPr sz="2250" spc="710" dirty="0">
                <a:latin typeface="Cambria"/>
                <a:cs typeface="Cambria"/>
              </a:rPr>
              <a:t>⎣	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19143" y="3349625"/>
            <a:ext cx="5467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342265" algn="l"/>
              </a:tabLst>
            </a:pPr>
            <a:r>
              <a:rPr sz="2250" spc="710" dirty="0">
                <a:latin typeface="Cambria"/>
                <a:cs typeface="Cambria"/>
              </a:rPr>
              <a:t>⎢	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9143" y="2997199"/>
            <a:ext cx="5467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342265" algn="l"/>
              </a:tabLst>
            </a:pPr>
            <a:r>
              <a:rPr sz="2250" spc="710" dirty="0">
                <a:latin typeface="Cambria"/>
                <a:cs typeface="Cambria"/>
              </a:rPr>
              <a:t>⎢	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66741" y="2609850"/>
            <a:ext cx="1562100" cy="2066925"/>
          </a:xfrm>
          <a:custGeom>
            <a:avLst/>
            <a:gdLst/>
            <a:ahLst/>
            <a:cxnLst/>
            <a:rect l="l" t="t" r="r" b="b"/>
            <a:pathLst>
              <a:path w="1562100" h="2066925">
                <a:moveTo>
                  <a:pt x="1562099" y="2066924"/>
                </a:moveTo>
                <a:lnTo>
                  <a:pt x="0" y="2066924"/>
                </a:lnTo>
                <a:lnTo>
                  <a:pt x="0" y="0"/>
                </a:lnTo>
                <a:lnTo>
                  <a:pt x="1562099" y="0"/>
                </a:lnTo>
                <a:lnTo>
                  <a:pt x="1562099" y="2066924"/>
                </a:lnTo>
                <a:close/>
              </a:path>
            </a:pathLst>
          </a:custGeom>
          <a:solidFill>
            <a:srgbClr val="E9D0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668714" y="3416300"/>
            <a:ext cx="2482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28939" y="3311525"/>
            <a:ext cx="32321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b="1" spc="-60" baseline="-20987" dirty="0">
                <a:latin typeface="Verdana"/>
                <a:cs typeface="Verdana"/>
              </a:rPr>
              <a:t>y</a:t>
            </a:r>
            <a:r>
              <a:rPr sz="1550" b="1" spc="-40" dirty="0">
                <a:latin typeface="Verdana"/>
                <a:cs typeface="Verdana"/>
              </a:rPr>
              <a:t>′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17913" y="3568701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6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70563" y="3244849"/>
            <a:ext cx="168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70563" y="3587750"/>
            <a:ext cx="168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70563" y="3930650"/>
            <a:ext cx="168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3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70563" y="4273550"/>
            <a:ext cx="168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2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75151" y="4187825"/>
            <a:ext cx="5594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54965" algn="l"/>
              </a:tabLst>
            </a:pPr>
            <a:r>
              <a:rPr sz="2250" spc="710" dirty="0">
                <a:latin typeface="Cambria"/>
                <a:cs typeface="Cambria"/>
              </a:rPr>
              <a:t>⎣	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975151" y="3521075"/>
            <a:ext cx="5594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54965" algn="l"/>
              </a:tabLst>
            </a:pPr>
            <a:r>
              <a:rPr sz="2250" spc="710" dirty="0">
                <a:latin typeface="Cambria"/>
                <a:cs typeface="Cambria"/>
              </a:rPr>
              <a:t>⎢	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75151" y="3349625"/>
            <a:ext cx="5594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54965" algn="l"/>
              </a:tabLst>
            </a:pPr>
            <a:r>
              <a:rPr sz="2250" spc="710" dirty="0">
                <a:latin typeface="Cambria"/>
                <a:cs typeface="Cambria"/>
              </a:rPr>
              <a:t>⎢	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49751" y="2997199"/>
            <a:ext cx="6102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250" spc="455" dirty="0">
                <a:latin typeface="Cambria"/>
                <a:cs typeface="Cambria"/>
              </a:rPr>
              <a:t>⎢</a:t>
            </a:r>
            <a:r>
              <a:rPr sz="3375" spc="682" baseline="18518" dirty="0">
                <a:latin typeface="Cambria"/>
                <a:cs typeface="Cambria"/>
              </a:rPr>
              <a:t>1</a:t>
            </a:r>
            <a:r>
              <a:rPr sz="2250" spc="455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949751" y="2644775"/>
            <a:ext cx="6102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250" spc="455" dirty="0">
                <a:latin typeface="Cambria"/>
                <a:cs typeface="Cambria"/>
              </a:rPr>
              <a:t>⎡</a:t>
            </a:r>
            <a:r>
              <a:rPr sz="3375" spc="682" baseline="16049" dirty="0">
                <a:latin typeface="Cambria"/>
                <a:cs typeface="Cambria"/>
              </a:rPr>
              <a:t>0</a:t>
            </a:r>
            <a:r>
              <a:rPr sz="2250" spc="455" dirty="0">
                <a:latin typeface="Cambria"/>
                <a:cs typeface="Cambria"/>
              </a:rPr>
              <a:t>⎤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691885" y="3277566"/>
            <a:ext cx="2524125" cy="647700"/>
          </a:xfrm>
          <a:custGeom>
            <a:avLst/>
            <a:gdLst/>
            <a:ahLst/>
            <a:cxnLst/>
            <a:rect l="l" t="t" r="r" b="b"/>
            <a:pathLst>
              <a:path w="2524125" h="647700">
                <a:moveTo>
                  <a:pt x="2491077" y="647699"/>
                </a:moveTo>
                <a:lnTo>
                  <a:pt x="33047" y="647699"/>
                </a:lnTo>
                <a:lnTo>
                  <a:pt x="28187" y="646733"/>
                </a:lnTo>
                <a:lnTo>
                  <a:pt x="966" y="619512"/>
                </a:lnTo>
                <a:lnTo>
                  <a:pt x="0" y="614652"/>
                </a:lnTo>
                <a:lnTo>
                  <a:pt x="0" y="609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491077" y="0"/>
                </a:lnTo>
                <a:lnTo>
                  <a:pt x="2523157" y="28187"/>
                </a:lnTo>
                <a:lnTo>
                  <a:pt x="2524124" y="33047"/>
                </a:lnTo>
                <a:lnTo>
                  <a:pt x="2524124" y="614652"/>
                </a:lnTo>
                <a:lnTo>
                  <a:pt x="2495936" y="646733"/>
                </a:lnTo>
                <a:lnTo>
                  <a:pt x="2491077" y="64769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26810" y="3276297"/>
            <a:ext cx="1763395" cy="693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le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LabelEncoder()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le.fit_transform(y)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65462" y="5391150"/>
            <a:ext cx="5734050" cy="346249"/>
          </a:xfrm>
          <a:prstGeom prst="rect">
            <a:avLst/>
          </a:prstGeom>
          <a:solidFill>
            <a:srgbClr val="D0DFE3"/>
          </a:solidFill>
        </p:spPr>
        <p:txBody>
          <a:bodyPr vert="horz" wrap="square" lIns="0" tIns="0" rIns="0" bIns="0" rtlCol="0">
            <a:spAutoFit/>
          </a:bodyPr>
          <a:lstStyle/>
          <a:p>
            <a:pPr marL="23495"/>
            <a:r>
              <a:rPr sz="2250" dirty="0">
                <a:latin typeface="Microsoft Sans Serif"/>
                <a:cs typeface="Microsoft Sans Serif"/>
              </a:rPr>
              <a:t>1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encoded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0,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2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1,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6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2,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8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3.</a:t>
            </a:r>
            <a:endParaRPr sz="225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841082" y="3524253"/>
            <a:ext cx="4046854" cy="122555"/>
            <a:chOff x="2480595" y="3524252"/>
            <a:chExt cx="4046854" cy="122555"/>
          </a:xfrm>
        </p:grpSpPr>
        <p:sp>
          <p:nvSpPr>
            <p:cNvPr id="34" name="object 34"/>
            <p:cNvSpPr/>
            <p:nvPr/>
          </p:nvSpPr>
          <p:spPr>
            <a:xfrm>
              <a:off x="2480595" y="3581400"/>
              <a:ext cx="762000" cy="635"/>
            </a:xfrm>
            <a:custGeom>
              <a:avLst/>
              <a:gdLst/>
              <a:ahLst/>
              <a:cxnLst/>
              <a:rect l="l" t="t" r="r" b="b"/>
              <a:pathLst>
                <a:path w="762000" h="635">
                  <a:moveTo>
                    <a:pt x="0" y="7"/>
                  </a:moveTo>
                  <a:lnTo>
                    <a:pt x="761666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84766" y="3524262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114973" y="57137"/>
                  </a:moveTo>
                  <a:lnTo>
                    <a:pt x="0" y="0"/>
                  </a:lnTo>
                  <a:lnTo>
                    <a:pt x="12" y="114300"/>
                  </a:lnTo>
                  <a:lnTo>
                    <a:pt x="114973" y="571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17415" y="3581400"/>
              <a:ext cx="553085" cy="8890"/>
            </a:xfrm>
            <a:custGeom>
              <a:avLst/>
              <a:gdLst/>
              <a:ahLst/>
              <a:cxnLst/>
              <a:rect l="l" t="t" r="r" b="b"/>
              <a:pathLst>
                <a:path w="553085" h="8889">
                  <a:moveTo>
                    <a:pt x="0" y="0"/>
                  </a:moveTo>
                  <a:lnTo>
                    <a:pt x="552581" y="8633"/>
                  </a:lnTo>
                </a:path>
              </a:pathLst>
            </a:custGeom>
            <a:ln w="38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412089" y="3532013"/>
              <a:ext cx="114935" cy="114300"/>
            </a:xfrm>
            <a:custGeom>
              <a:avLst/>
              <a:gdLst/>
              <a:ahLst/>
              <a:cxnLst/>
              <a:rect l="l" t="t" r="r" b="b"/>
              <a:pathLst>
                <a:path w="114934" h="114300">
                  <a:moveTo>
                    <a:pt x="0" y="114259"/>
                  </a:moveTo>
                  <a:lnTo>
                    <a:pt x="1777" y="0"/>
                  </a:lnTo>
                  <a:lnTo>
                    <a:pt x="114925" y="58910"/>
                  </a:lnTo>
                  <a:lnTo>
                    <a:pt x="0" y="1142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29</a:t>
            </a:fld>
            <a:endParaRPr spc="-8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2486" y="666750"/>
            <a:ext cx="2286000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-5" dirty="0">
                <a:solidFill>
                  <a:srgbClr val="0F6ACC"/>
                </a:solidFill>
                <a:hlinkClick r:id="rId2"/>
              </a:rPr>
              <a:t>OrdinalEncoder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9787" y="1282700"/>
            <a:ext cx="7014845" cy="7874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spcBef>
                <a:spcPts val="400"/>
              </a:spcBef>
            </a:pP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Encodes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categorical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value</a:t>
            </a:r>
            <a:r>
              <a:rPr sz="2250" spc="1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between</a:t>
            </a:r>
            <a:r>
              <a:rPr sz="2250" spc="20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0</a:t>
            </a:r>
            <a:r>
              <a:rPr sz="2250" spc="1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and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spcBef>
                <a:spcPts val="300"/>
              </a:spcBef>
            </a:pPr>
            <a:r>
              <a:rPr sz="2250" i="1" spc="345" dirty="0">
                <a:solidFill>
                  <a:srgbClr val="A52929"/>
                </a:solidFill>
                <a:latin typeface="Georgia"/>
                <a:cs typeface="Georgia"/>
              </a:rPr>
              <a:t>K</a:t>
            </a:r>
            <a:r>
              <a:rPr sz="2250" i="1" spc="110" dirty="0">
                <a:solidFill>
                  <a:srgbClr val="A52929"/>
                </a:solidFill>
                <a:latin typeface="Georgia"/>
                <a:cs typeface="Georgia"/>
              </a:rPr>
              <a:t> </a:t>
            </a:r>
            <a:r>
              <a:rPr sz="2250" spc="500" dirty="0">
                <a:solidFill>
                  <a:srgbClr val="A52929"/>
                </a:solidFill>
                <a:latin typeface="Cambria"/>
                <a:cs typeface="Cambria"/>
              </a:rPr>
              <a:t>−</a:t>
            </a:r>
            <a:r>
              <a:rPr sz="2250" dirty="0">
                <a:solidFill>
                  <a:srgbClr val="A52929"/>
                </a:solidFill>
                <a:latin typeface="Cambria"/>
                <a:cs typeface="Cambria"/>
              </a:rPr>
              <a:t> </a:t>
            </a:r>
            <a:r>
              <a:rPr sz="2250" spc="-65" dirty="0">
                <a:solidFill>
                  <a:srgbClr val="A52929"/>
                </a:solidFill>
                <a:latin typeface="Cambria"/>
                <a:cs typeface="Cambria"/>
              </a:rPr>
              <a:t>1</a:t>
            </a:r>
            <a:r>
              <a:rPr sz="2250" spc="-65" dirty="0">
                <a:latin typeface="Microsoft Sans Serif"/>
                <a:cs typeface="Microsoft Sans Serif"/>
              </a:rPr>
              <a:t>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where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i="1" spc="345" dirty="0">
                <a:solidFill>
                  <a:srgbClr val="800080"/>
                </a:solidFill>
                <a:latin typeface="Georgia"/>
                <a:cs typeface="Georgia"/>
              </a:rPr>
              <a:t>K</a:t>
            </a:r>
            <a:r>
              <a:rPr sz="2250" i="1" spc="235" dirty="0">
                <a:solidFill>
                  <a:srgbClr val="800080"/>
                </a:solidFill>
                <a:latin typeface="Georgia"/>
                <a:cs typeface="Georgia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number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of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distinct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values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5513" y="4921249"/>
            <a:ext cx="7331709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OrdinalEncoder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operate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800080"/>
                </a:solidFill>
                <a:latin typeface="Microsoft Sans Serif"/>
                <a:cs typeface="Microsoft Sans Serif"/>
              </a:rPr>
              <a:t>multi</a:t>
            </a:r>
            <a:r>
              <a:rPr sz="2250" spc="3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dimensional</a:t>
            </a:r>
            <a:r>
              <a:rPr sz="2250" spc="3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data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while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LabelEncoder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only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1D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data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9587" y="2543175"/>
            <a:ext cx="2914650" cy="2066925"/>
          </a:xfrm>
          <a:custGeom>
            <a:avLst/>
            <a:gdLst/>
            <a:ahLst/>
            <a:cxnLst/>
            <a:rect l="l" t="t" r="r" b="b"/>
            <a:pathLst>
              <a:path w="2914650" h="2066925">
                <a:moveTo>
                  <a:pt x="2914649" y="2066924"/>
                </a:moveTo>
                <a:lnTo>
                  <a:pt x="0" y="2066924"/>
                </a:lnTo>
                <a:lnTo>
                  <a:pt x="0" y="0"/>
                </a:lnTo>
                <a:lnTo>
                  <a:pt x="2914649" y="0"/>
                </a:lnTo>
                <a:lnTo>
                  <a:pt x="2914649" y="20669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79885" y="3349625"/>
            <a:ext cx="9340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698500" algn="l"/>
              </a:tabLst>
            </a:pPr>
            <a:r>
              <a:rPr sz="2250" b="1" spc="235" dirty="0">
                <a:latin typeface="Verdana"/>
                <a:cs typeface="Verdana"/>
              </a:rPr>
              <a:t>X	</a:t>
            </a: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8129" y="3482976"/>
            <a:ext cx="3683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6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85368" y="3454400"/>
            <a:ext cx="20383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  <a:p>
            <a:pPr>
              <a:spcBef>
                <a:spcPts val="255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5368" y="3111499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47267" y="2492375"/>
            <a:ext cx="16256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814069" algn="l"/>
              </a:tabLst>
            </a:pPr>
            <a:r>
              <a:rPr sz="3375" spc="465" baseline="-17283" dirty="0">
                <a:latin typeface="Cambria"/>
                <a:cs typeface="Cambria"/>
              </a:rPr>
              <a:t>⎡</a:t>
            </a:r>
            <a:r>
              <a:rPr sz="2250" spc="310" dirty="0">
                <a:latin typeface="Cambria"/>
                <a:cs typeface="Cambria"/>
              </a:rPr>
              <a:t>1	</a:t>
            </a:r>
            <a:r>
              <a:rPr sz="2250" spc="15" dirty="0">
                <a:latin typeface="Cambria"/>
                <a:cs typeface="Cambria"/>
              </a:rPr>
              <a:t>‘</a:t>
            </a:r>
            <a:r>
              <a:rPr sz="2250" i="1" spc="15" dirty="0">
                <a:latin typeface="Georgia"/>
                <a:cs typeface="Georgia"/>
              </a:rPr>
              <a:t>male</a:t>
            </a:r>
            <a:r>
              <a:rPr sz="2325" spc="22" baseline="37634" dirty="0">
                <a:latin typeface="Cambria"/>
                <a:cs typeface="Cambria"/>
              </a:rPr>
              <a:t>′</a:t>
            </a:r>
            <a:endParaRPr sz="2325" baseline="37634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80778" y="2835275"/>
            <a:ext cx="14503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428625" algn="l"/>
              </a:tabLst>
            </a:pPr>
            <a:r>
              <a:rPr sz="2250" spc="-125" dirty="0">
                <a:latin typeface="Cambria"/>
                <a:cs typeface="Cambria"/>
              </a:rPr>
              <a:t>2	</a:t>
            </a:r>
            <a:r>
              <a:rPr sz="2250" spc="90" dirty="0">
                <a:latin typeface="Cambria"/>
                <a:cs typeface="Cambria"/>
              </a:rPr>
              <a:t>‘</a:t>
            </a:r>
            <a:r>
              <a:rPr sz="2250" i="1" spc="90" dirty="0">
                <a:latin typeface="Georgia"/>
                <a:cs typeface="Georgia"/>
              </a:rPr>
              <a:t>female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18310" y="2787651"/>
            <a:ext cx="6794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550" spc="30" dirty="0">
                <a:latin typeface="Cambria"/>
                <a:cs typeface="Cambria"/>
              </a:rPr>
              <a:t>′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55379" y="3178174"/>
            <a:ext cx="156908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  <a:tabLst>
                <a:tab pos="454025" algn="l"/>
              </a:tabLst>
            </a:pPr>
            <a:r>
              <a:rPr sz="2250" spc="-125" dirty="0">
                <a:latin typeface="Cambria"/>
                <a:cs typeface="Cambria"/>
              </a:rPr>
              <a:t>6	</a:t>
            </a:r>
            <a:r>
              <a:rPr sz="2250" spc="85" dirty="0">
                <a:latin typeface="Cambria"/>
                <a:cs typeface="Cambria"/>
              </a:rPr>
              <a:t>‘</a:t>
            </a:r>
            <a:r>
              <a:rPr sz="2250" i="1" spc="85" dirty="0">
                <a:latin typeface="Georgia"/>
                <a:cs typeface="Georgia"/>
              </a:rPr>
              <a:t>female</a:t>
            </a:r>
            <a:r>
              <a:rPr sz="2325" spc="127" baseline="37634" dirty="0">
                <a:latin typeface="Cambria"/>
                <a:cs typeface="Cambria"/>
              </a:rPr>
              <a:t>′</a:t>
            </a:r>
            <a:endParaRPr sz="2325" baseline="37634">
              <a:latin typeface="Cambria"/>
              <a:cs typeface="Cambria"/>
            </a:endParaRPr>
          </a:p>
          <a:p>
            <a:pPr marL="25400">
              <a:tabLst>
                <a:tab pos="605790" algn="l"/>
              </a:tabLst>
            </a:pPr>
            <a:r>
              <a:rPr sz="2250" spc="-125" dirty="0">
                <a:latin typeface="Cambria"/>
                <a:cs typeface="Cambria"/>
              </a:rPr>
              <a:t>1	</a:t>
            </a:r>
            <a:r>
              <a:rPr sz="2250" spc="15" dirty="0">
                <a:latin typeface="Cambria"/>
                <a:cs typeface="Cambria"/>
              </a:rPr>
              <a:t>‘</a:t>
            </a:r>
            <a:r>
              <a:rPr sz="2250" i="1" spc="15" dirty="0">
                <a:latin typeface="Georgia"/>
                <a:cs typeface="Georgia"/>
              </a:rPr>
              <a:t>male</a:t>
            </a:r>
            <a:r>
              <a:rPr sz="2325" spc="22" baseline="37634" dirty="0">
                <a:latin typeface="Cambria"/>
                <a:cs typeface="Cambria"/>
              </a:rPr>
              <a:t>′</a:t>
            </a:r>
            <a:endParaRPr sz="2325" baseline="37634">
              <a:latin typeface="Cambria"/>
              <a:cs typeface="Cambria"/>
            </a:endParaRPr>
          </a:p>
          <a:p>
            <a:pPr marL="25400">
              <a:tabLst>
                <a:tab pos="605790" algn="l"/>
              </a:tabLst>
            </a:pPr>
            <a:r>
              <a:rPr sz="2250" spc="-125" dirty="0">
                <a:latin typeface="Cambria"/>
                <a:cs typeface="Cambria"/>
              </a:rPr>
              <a:t>8	</a:t>
            </a:r>
            <a:r>
              <a:rPr sz="2250" spc="15" dirty="0">
                <a:latin typeface="Cambria"/>
                <a:cs typeface="Cambria"/>
              </a:rPr>
              <a:t>‘</a:t>
            </a:r>
            <a:r>
              <a:rPr sz="2250" i="1" spc="15" dirty="0">
                <a:latin typeface="Georgia"/>
                <a:cs typeface="Georgia"/>
              </a:rPr>
              <a:t>male</a:t>
            </a:r>
            <a:r>
              <a:rPr sz="2325" spc="22" baseline="37634" dirty="0">
                <a:latin typeface="Cambria"/>
                <a:cs typeface="Cambria"/>
              </a:rPr>
              <a:t>′</a:t>
            </a:r>
            <a:endParaRPr sz="2325" baseline="37634">
              <a:latin typeface="Cambria"/>
              <a:cs typeface="Cambria"/>
            </a:endParaRPr>
          </a:p>
          <a:p>
            <a:pPr marL="25400">
              <a:tabLst>
                <a:tab pos="454025" algn="l"/>
              </a:tabLst>
            </a:pPr>
            <a:r>
              <a:rPr sz="2250" spc="-125" dirty="0">
                <a:latin typeface="Cambria"/>
                <a:cs typeface="Cambria"/>
              </a:rPr>
              <a:t>6	</a:t>
            </a:r>
            <a:r>
              <a:rPr sz="2250" spc="85" dirty="0">
                <a:latin typeface="Cambria"/>
                <a:cs typeface="Cambria"/>
              </a:rPr>
              <a:t>‘</a:t>
            </a:r>
            <a:r>
              <a:rPr sz="2250" i="1" spc="85" dirty="0">
                <a:latin typeface="Georgia"/>
                <a:cs typeface="Georgia"/>
              </a:rPr>
              <a:t>female</a:t>
            </a:r>
            <a:r>
              <a:rPr sz="2325" spc="127" baseline="37634" dirty="0">
                <a:latin typeface="Cambria"/>
                <a:cs typeface="Cambria"/>
              </a:rPr>
              <a:t>′</a:t>
            </a:r>
            <a:endParaRPr sz="2325" baseline="37634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99868" y="3111499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99868" y="2578100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⎤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047037" y="2543175"/>
            <a:ext cx="2057400" cy="2066925"/>
          </a:xfrm>
          <a:custGeom>
            <a:avLst/>
            <a:gdLst/>
            <a:ahLst/>
            <a:cxnLst/>
            <a:rect l="l" t="t" r="r" b="b"/>
            <a:pathLst>
              <a:path w="2057400" h="2066925">
                <a:moveTo>
                  <a:pt x="2057399" y="2066924"/>
                </a:moveTo>
                <a:lnTo>
                  <a:pt x="0" y="2066924"/>
                </a:lnTo>
                <a:lnTo>
                  <a:pt x="0" y="0"/>
                </a:lnTo>
                <a:lnTo>
                  <a:pt x="2057399" y="0"/>
                </a:lnTo>
                <a:lnTo>
                  <a:pt x="2057399" y="2066924"/>
                </a:lnTo>
                <a:close/>
              </a:path>
            </a:pathLst>
          </a:custGeom>
          <a:solidFill>
            <a:srgbClr val="E9D0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819406" y="3349625"/>
            <a:ext cx="2482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09234" y="3244849"/>
            <a:ext cx="3937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b="1" spc="165" baseline="-20987" dirty="0">
                <a:latin typeface="Verdana"/>
                <a:cs typeface="Verdana"/>
              </a:rPr>
              <a:t>X</a:t>
            </a:r>
            <a:r>
              <a:rPr sz="1550" b="1" spc="110" dirty="0">
                <a:latin typeface="Verdana"/>
                <a:cs typeface="Verdana"/>
              </a:rPr>
              <a:t>′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68604" y="3482976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6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99867" y="3454400"/>
            <a:ext cx="4842510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  <a:p>
            <a:pPr>
              <a:spcBef>
                <a:spcPts val="2550"/>
              </a:spcBef>
              <a:tabLst>
                <a:tab pos="4638040" algn="l"/>
              </a:tabLst>
            </a:pPr>
            <a:r>
              <a:rPr sz="2250" spc="710" dirty="0">
                <a:latin typeface="Cambria"/>
                <a:cs typeface="Cambria"/>
              </a:rPr>
              <a:t>⎦	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25843" y="379730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25843" y="345440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25843" y="3111499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25843" y="29305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21253" y="2835275"/>
            <a:ext cx="5969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</a:tabLst>
            </a:pPr>
            <a:r>
              <a:rPr sz="2250" spc="-125" dirty="0">
                <a:latin typeface="Cambria"/>
                <a:cs typeface="Cambria"/>
              </a:rPr>
              <a:t>1	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321253" y="3178174"/>
            <a:ext cx="59690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</a:tabLst>
            </a:pPr>
            <a:r>
              <a:rPr sz="2250" spc="-125" dirty="0">
                <a:latin typeface="Cambria"/>
                <a:cs typeface="Cambria"/>
              </a:rPr>
              <a:t>2	0</a:t>
            </a:r>
            <a:endParaRPr sz="2250">
              <a:latin typeface="Cambria"/>
              <a:cs typeface="Cambria"/>
            </a:endParaRPr>
          </a:p>
          <a:p>
            <a:pPr marL="12700">
              <a:tabLst>
                <a:tab pos="440690" algn="l"/>
              </a:tabLst>
            </a:pPr>
            <a:r>
              <a:rPr sz="2250" spc="-125" dirty="0">
                <a:latin typeface="Cambria"/>
                <a:cs typeface="Cambria"/>
              </a:rPr>
              <a:t>0	1</a:t>
            </a:r>
            <a:endParaRPr sz="2250">
              <a:latin typeface="Cambria"/>
              <a:cs typeface="Cambria"/>
            </a:endParaRPr>
          </a:p>
          <a:p>
            <a:pPr marL="12700">
              <a:tabLst>
                <a:tab pos="440690" algn="l"/>
              </a:tabLst>
            </a:pPr>
            <a:r>
              <a:rPr sz="2250" spc="-125" dirty="0">
                <a:latin typeface="Cambria"/>
                <a:cs typeface="Cambria"/>
              </a:rPr>
              <a:t>3	1</a:t>
            </a:r>
            <a:endParaRPr sz="2250">
              <a:latin typeface="Cambria"/>
              <a:cs typeface="Cambria"/>
            </a:endParaRPr>
          </a:p>
          <a:p>
            <a:pPr marL="12700">
              <a:tabLst>
                <a:tab pos="440690" algn="l"/>
              </a:tabLst>
            </a:pPr>
            <a:r>
              <a:rPr sz="2250" spc="-125" dirty="0">
                <a:latin typeface="Cambria"/>
                <a:cs typeface="Cambria"/>
              </a:rPr>
              <a:t>2	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897368" y="412115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897368" y="379730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97368" y="345440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97368" y="3111499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897368" y="29305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087742" y="2492375"/>
            <a:ext cx="10642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spcBef>
                <a:spcPts val="100"/>
              </a:spcBef>
              <a:tabLst>
                <a:tab pos="674370" algn="l"/>
              </a:tabLst>
            </a:pPr>
            <a:r>
              <a:rPr sz="3375" spc="465" baseline="-17283" dirty="0">
                <a:latin typeface="Cambria"/>
                <a:cs typeface="Cambria"/>
              </a:rPr>
              <a:t>⎡</a:t>
            </a:r>
            <a:r>
              <a:rPr sz="2250" spc="310" dirty="0">
                <a:latin typeface="Cambria"/>
                <a:cs typeface="Cambria"/>
              </a:rPr>
              <a:t>0	1</a:t>
            </a:r>
            <a:r>
              <a:rPr sz="3375" spc="465" baseline="-17283" dirty="0">
                <a:latin typeface="Cambria"/>
                <a:cs typeface="Cambria"/>
              </a:rPr>
              <a:t>⎤</a:t>
            </a:r>
            <a:endParaRPr sz="3375" baseline="-17283">
              <a:latin typeface="Cambria"/>
              <a:cs typeface="Cambri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060969" y="3229942"/>
            <a:ext cx="2524125" cy="647700"/>
          </a:xfrm>
          <a:custGeom>
            <a:avLst/>
            <a:gdLst/>
            <a:ahLst/>
            <a:cxnLst/>
            <a:rect l="l" t="t" r="r" b="b"/>
            <a:pathLst>
              <a:path w="2524125" h="647700">
                <a:moveTo>
                  <a:pt x="2491077" y="647699"/>
                </a:moveTo>
                <a:lnTo>
                  <a:pt x="33047" y="647699"/>
                </a:lnTo>
                <a:lnTo>
                  <a:pt x="28187" y="646733"/>
                </a:lnTo>
                <a:lnTo>
                  <a:pt x="966" y="619512"/>
                </a:lnTo>
                <a:lnTo>
                  <a:pt x="0" y="614652"/>
                </a:lnTo>
                <a:lnTo>
                  <a:pt x="0" y="609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491077" y="0"/>
                </a:lnTo>
                <a:lnTo>
                  <a:pt x="2523157" y="28187"/>
                </a:lnTo>
                <a:lnTo>
                  <a:pt x="2524124" y="33047"/>
                </a:lnTo>
                <a:lnTo>
                  <a:pt x="2524124" y="614652"/>
                </a:lnTo>
                <a:lnTo>
                  <a:pt x="2495936" y="646733"/>
                </a:lnTo>
                <a:lnTo>
                  <a:pt x="2491077" y="64769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095894" y="3228673"/>
            <a:ext cx="1946275" cy="462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oe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OrdinalEncoder()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oe.fit_transform(X)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665663" y="3457593"/>
            <a:ext cx="3400425" cy="123825"/>
            <a:chOff x="3305175" y="3457592"/>
            <a:chExt cx="3400425" cy="123825"/>
          </a:xfrm>
        </p:grpSpPr>
        <p:sp>
          <p:nvSpPr>
            <p:cNvPr id="36" name="object 36"/>
            <p:cNvSpPr/>
            <p:nvPr/>
          </p:nvSpPr>
          <p:spPr>
            <a:xfrm>
              <a:off x="3305175" y="3524250"/>
              <a:ext cx="342265" cy="0"/>
            </a:xfrm>
            <a:custGeom>
              <a:avLst/>
              <a:gdLst/>
              <a:ahLst/>
              <a:cxnLst/>
              <a:rect l="l" t="t" r="r" b="b"/>
              <a:pathLst>
                <a:path w="342264">
                  <a:moveTo>
                    <a:pt x="0" y="0"/>
                  </a:moveTo>
                  <a:lnTo>
                    <a:pt x="342214" y="0"/>
                  </a:lnTo>
                </a:path>
              </a:pathLst>
            </a:custGeom>
            <a:ln w="38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89541" y="3467112"/>
              <a:ext cx="116205" cy="114300"/>
            </a:xfrm>
            <a:custGeom>
              <a:avLst/>
              <a:gdLst/>
              <a:ahLst/>
              <a:cxnLst/>
              <a:rect l="l" t="t" r="r" b="b"/>
              <a:pathLst>
                <a:path w="116204" h="114300">
                  <a:moveTo>
                    <a:pt x="115671" y="57150"/>
                  </a:moveTo>
                  <a:lnTo>
                    <a:pt x="0" y="0"/>
                  </a:lnTo>
                  <a:lnTo>
                    <a:pt x="0" y="114287"/>
                  </a:lnTo>
                  <a:lnTo>
                    <a:pt x="115671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38874" y="3514726"/>
              <a:ext cx="409575" cy="0"/>
            </a:xfrm>
            <a:custGeom>
              <a:avLst/>
              <a:gdLst/>
              <a:ahLst/>
              <a:cxnLst/>
              <a:rect l="l" t="t" r="r" b="b"/>
              <a:pathLst>
                <a:path w="409575">
                  <a:moveTo>
                    <a:pt x="0" y="3"/>
                  </a:moveTo>
                  <a:lnTo>
                    <a:pt x="409020" y="0"/>
                  </a:lnTo>
                </a:path>
              </a:pathLst>
            </a:custGeom>
            <a:ln w="38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90190" y="3457592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114268"/>
                  </a:moveTo>
                  <a:lnTo>
                    <a:pt x="0" y="0"/>
                  </a:lnTo>
                  <a:lnTo>
                    <a:pt x="115409" y="57134"/>
                  </a:lnTo>
                  <a:lnTo>
                    <a:pt x="0" y="114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30</a:t>
            </a:fld>
            <a:endParaRPr spc="-8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2486" y="481013"/>
            <a:ext cx="1905000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-5" dirty="0">
                <a:solidFill>
                  <a:srgbClr val="0F6ACC"/>
                </a:solidFill>
                <a:hlinkClick r:id="rId2"/>
              </a:rPr>
              <a:t>LabelBinarizer</a:t>
            </a:r>
          </a:p>
        </p:txBody>
      </p:sp>
      <p:sp>
        <p:nvSpPr>
          <p:cNvPr id="3" name="object 3"/>
          <p:cNvSpPr/>
          <p:nvPr/>
        </p:nvSpPr>
        <p:spPr>
          <a:xfrm>
            <a:off x="2093903" y="3638550"/>
            <a:ext cx="1476375" cy="2066925"/>
          </a:xfrm>
          <a:custGeom>
            <a:avLst/>
            <a:gdLst/>
            <a:ahLst/>
            <a:cxnLst/>
            <a:rect l="l" t="t" r="r" b="b"/>
            <a:pathLst>
              <a:path w="1476375" h="2066925">
                <a:moveTo>
                  <a:pt x="1476374" y="2066924"/>
                </a:moveTo>
                <a:lnTo>
                  <a:pt x="0" y="2066924"/>
                </a:lnTo>
                <a:lnTo>
                  <a:pt x="0" y="0"/>
                </a:lnTo>
                <a:lnTo>
                  <a:pt x="1476374" y="0"/>
                </a:lnTo>
                <a:lnTo>
                  <a:pt x="1476374" y="20669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94201" y="4445000"/>
            <a:ext cx="8642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628015" algn="l"/>
              </a:tabLst>
            </a:pPr>
            <a:r>
              <a:rPr sz="2250" b="1" spc="-100" dirty="0">
                <a:latin typeface="Verdana"/>
                <a:cs typeface="Verdana"/>
              </a:rPr>
              <a:t>y	</a:t>
            </a: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72049" y="4578351"/>
            <a:ext cx="3683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6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4699" y="4273550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6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4699" y="4959349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8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29288" y="5216524"/>
            <a:ext cx="5467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342265" algn="l"/>
              </a:tabLst>
            </a:pPr>
            <a:r>
              <a:rPr sz="2250" spc="710" dirty="0">
                <a:latin typeface="Cambria"/>
                <a:cs typeface="Cambria"/>
              </a:rPr>
              <a:t>⎣	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03888" y="4721225"/>
            <a:ext cx="597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sz="2250" spc="455" dirty="0">
                <a:latin typeface="Cambria"/>
                <a:cs typeface="Cambria"/>
              </a:rPr>
              <a:t>⎢</a:t>
            </a:r>
            <a:r>
              <a:rPr sz="3375" spc="682" baseline="19753" dirty="0">
                <a:latin typeface="Cambria"/>
                <a:cs typeface="Cambria"/>
              </a:rPr>
              <a:t>1</a:t>
            </a:r>
            <a:r>
              <a:rPr sz="2250" spc="455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29288" y="4206875"/>
            <a:ext cx="5467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342265" algn="l"/>
              </a:tabLst>
            </a:pPr>
            <a:r>
              <a:rPr sz="2250" spc="710" dirty="0">
                <a:latin typeface="Cambria"/>
                <a:cs typeface="Cambria"/>
              </a:rPr>
              <a:t>⎢	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29288" y="4025900"/>
            <a:ext cx="5467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342265" algn="l"/>
              </a:tabLst>
            </a:pPr>
            <a:r>
              <a:rPr sz="2250" spc="710" dirty="0">
                <a:latin typeface="Cambria"/>
                <a:cs typeface="Cambria"/>
              </a:rPr>
              <a:t>⎢	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80291" y="3638550"/>
            <a:ext cx="2924175" cy="2066925"/>
          </a:xfrm>
          <a:custGeom>
            <a:avLst/>
            <a:gdLst/>
            <a:ahLst/>
            <a:cxnLst/>
            <a:rect l="l" t="t" r="r" b="b"/>
            <a:pathLst>
              <a:path w="2924175" h="2066925">
                <a:moveTo>
                  <a:pt x="2924174" y="2066924"/>
                </a:moveTo>
                <a:lnTo>
                  <a:pt x="0" y="2066924"/>
                </a:lnTo>
                <a:lnTo>
                  <a:pt x="0" y="0"/>
                </a:lnTo>
                <a:lnTo>
                  <a:pt x="2924174" y="0"/>
                </a:lnTo>
                <a:lnTo>
                  <a:pt x="2924174" y="2066924"/>
                </a:lnTo>
                <a:close/>
              </a:path>
            </a:pathLst>
          </a:custGeom>
          <a:solidFill>
            <a:srgbClr val="E9D0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960845" y="4445000"/>
            <a:ext cx="2482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42488" y="4340225"/>
            <a:ext cx="4019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b="1" spc="262" baseline="-20987" dirty="0">
                <a:latin typeface="Verdana"/>
                <a:cs typeface="Verdana"/>
              </a:rPr>
              <a:t>Y</a:t>
            </a:r>
            <a:r>
              <a:rPr sz="1550" b="1" spc="175" dirty="0">
                <a:latin typeface="Verdana"/>
                <a:cs typeface="Verdana"/>
              </a:rPr>
              <a:t>′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10043" y="4578351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6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4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67282" y="52165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67282" y="420687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67282" y="402590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62694" y="4273550"/>
            <a:ext cx="168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41882" y="4616450"/>
            <a:ext cx="4146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spc="465" baseline="-20987" dirty="0">
                <a:latin typeface="Cambria"/>
                <a:cs typeface="Cambria"/>
              </a:rPr>
              <a:t>⎢</a:t>
            </a:r>
            <a:r>
              <a:rPr sz="2250" spc="310" dirty="0">
                <a:latin typeface="Cambria"/>
                <a:cs typeface="Cambria"/>
              </a:rPr>
              <a:t>1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62694" y="4959349"/>
            <a:ext cx="168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319943" y="4273550"/>
            <a:ext cx="5969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</a:tabLst>
            </a:pPr>
            <a:r>
              <a:rPr sz="2250" spc="-125" dirty="0">
                <a:latin typeface="Cambria"/>
                <a:cs typeface="Cambria"/>
              </a:rPr>
              <a:t>1	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19943" y="4959349"/>
            <a:ext cx="5969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</a:tabLst>
            </a:pPr>
            <a:r>
              <a:rPr sz="2250" spc="-125" dirty="0">
                <a:latin typeface="Cambria"/>
                <a:cs typeface="Cambria"/>
              </a:rPr>
              <a:t>0	1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96057" y="52165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94543" y="4616450"/>
            <a:ext cx="84328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466090" algn="l"/>
              </a:tabLst>
            </a:pPr>
            <a:r>
              <a:rPr sz="2250" spc="-125" dirty="0">
                <a:latin typeface="Cambria"/>
                <a:cs typeface="Cambria"/>
              </a:rPr>
              <a:t>0	</a:t>
            </a:r>
            <a:r>
              <a:rPr sz="2250" spc="310" dirty="0">
                <a:latin typeface="Cambria"/>
                <a:cs typeface="Cambria"/>
              </a:rPr>
              <a:t>0</a:t>
            </a:r>
            <a:r>
              <a:rPr sz="3375" spc="465" baseline="-20987" dirty="0">
                <a:latin typeface="Cambria"/>
                <a:cs typeface="Cambria"/>
              </a:rPr>
              <a:t>⎥</a:t>
            </a:r>
            <a:endParaRPr sz="3375" baseline="-20987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896057" y="420687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896057" y="402590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61199" y="3587750"/>
            <a:ext cx="705294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spcBef>
                <a:spcPts val="100"/>
              </a:spcBef>
              <a:tabLst>
                <a:tab pos="5118100" algn="l"/>
                <a:tab pos="5742305" algn="l"/>
                <a:tab pos="6170930" algn="l"/>
                <a:tab pos="6599555" algn="l"/>
              </a:tabLst>
            </a:pPr>
            <a:r>
              <a:rPr sz="2250" spc="-125" dirty="0">
                <a:latin typeface="Cambria"/>
                <a:cs typeface="Cambria"/>
              </a:rPr>
              <a:t>1	</a:t>
            </a:r>
            <a:r>
              <a:rPr sz="3375" spc="465" baseline="-17283" dirty="0">
                <a:latin typeface="Cambria"/>
                <a:cs typeface="Cambria"/>
              </a:rPr>
              <a:t>⎡</a:t>
            </a:r>
            <a:r>
              <a:rPr sz="2250" spc="310" dirty="0">
                <a:latin typeface="Cambria"/>
                <a:cs typeface="Cambria"/>
              </a:rPr>
              <a:t>1	</a:t>
            </a:r>
            <a:r>
              <a:rPr sz="2250" spc="-125" dirty="0">
                <a:latin typeface="Cambria"/>
                <a:cs typeface="Cambria"/>
              </a:rPr>
              <a:t>0	0	</a:t>
            </a:r>
            <a:r>
              <a:rPr sz="2250" spc="310" dirty="0">
                <a:latin typeface="Cambria"/>
                <a:cs typeface="Cambria"/>
              </a:rPr>
              <a:t>0</a:t>
            </a:r>
            <a:r>
              <a:rPr sz="3375" spc="465" baseline="-17283" dirty="0">
                <a:latin typeface="Cambria"/>
                <a:cs typeface="Cambria"/>
              </a:rPr>
              <a:t>⎤</a:t>
            </a:r>
            <a:endParaRPr sz="3375" baseline="-17283">
              <a:latin typeface="Cambria"/>
              <a:cs typeface="Cambria"/>
            </a:endParaRPr>
          </a:p>
          <a:p>
            <a:pPr marL="63500">
              <a:tabLst>
                <a:tab pos="5313680" algn="l"/>
                <a:tab pos="5742305" algn="l"/>
                <a:tab pos="6170930" algn="l"/>
                <a:tab pos="6599555" algn="l"/>
              </a:tabLst>
            </a:pPr>
            <a:r>
              <a:rPr sz="2250" spc="-125" dirty="0">
                <a:latin typeface="Cambria"/>
                <a:cs typeface="Cambria"/>
              </a:rPr>
              <a:t>2	0	1	0	0</a:t>
            </a:r>
            <a:endParaRPr sz="2250">
              <a:latin typeface="Cambria"/>
              <a:cs typeface="Cambria"/>
            </a:endParaRPr>
          </a:p>
          <a:p>
            <a:pPr marR="1158875" algn="r"/>
            <a:r>
              <a:rPr sz="2250" spc="-125" dirty="0">
                <a:latin typeface="Cambria"/>
                <a:cs typeface="Cambria"/>
              </a:rPr>
              <a:t>0</a:t>
            </a:r>
            <a:endParaRPr sz="2250">
              <a:latin typeface="Cambria"/>
              <a:cs typeface="Cambria"/>
            </a:endParaRPr>
          </a:p>
          <a:p>
            <a:pPr marR="1158875" algn="r"/>
            <a:r>
              <a:rPr sz="2250" spc="-125" dirty="0">
                <a:latin typeface="Cambria"/>
                <a:cs typeface="Cambria"/>
              </a:rPr>
              <a:t>0</a:t>
            </a:r>
            <a:endParaRPr sz="2250">
              <a:latin typeface="Cambria"/>
              <a:cs typeface="Cambria"/>
            </a:endParaRPr>
          </a:p>
          <a:p>
            <a:pPr marR="1158875" algn="r"/>
            <a:r>
              <a:rPr sz="2250" spc="-125" dirty="0">
                <a:latin typeface="Cambria"/>
                <a:cs typeface="Cambria"/>
              </a:rPr>
              <a:t>0</a:t>
            </a:r>
            <a:endParaRPr sz="2250">
              <a:latin typeface="Cambria"/>
              <a:cs typeface="Cambria"/>
            </a:endParaRPr>
          </a:p>
          <a:p>
            <a:pPr marL="63500">
              <a:tabLst>
                <a:tab pos="5313680" algn="l"/>
                <a:tab pos="5742305" algn="l"/>
                <a:tab pos="6170930" algn="l"/>
                <a:tab pos="6599555" algn="l"/>
              </a:tabLst>
            </a:pPr>
            <a:r>
              <a:rPr sz="2250" spc="-125" dirty="0">
                <a:latin typeface="Cambria"/>
                <a:cs typeface="Cambria"/>
              </a:rPr>
              <a:t>6	0	0	1	0</a:t>
            </a:r>
            <a:endParaRPr sz="2250">
              <a:latin typeface="Cambria"/>
              <a:cs typeface="Cambr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51227" y="4261804"/>
            <a:ext cx="3634104" cy="590550"/>
            <a:chOff x="2190740" y="4261804"/>
            <a:chExt cx="3634104" cy="590550"/>
          </a:xfrm>
        </p:grpSpPr>
        <p:sp>
          <p:nvSpPr>
            <p:cNvPr id="30" name="object 30"/>
            <p:cNvSpPr/>
            <p:nvPr/>
          </p:nvSpPr>
          <p:spPr>
            <a:xfrm>
              <a:off x="2190740" y="4570884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599" y="0"/>
                  </a:lnTo>
                </a:path>
              </a:pathLst>
            </a:custGeom>
            <a:ln w="38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43187" y="4513757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37"/>
                  </a:moveTo>
                  <a:lnTo>
                    <a:pt x="0" y="0"/>
                  </a:lnTo>
                  <a:lnTo>
                    <a:pt x="0" y="114274"/>
                  </a:lnTo>
                  <a:lnTo>
                    <a:pt x="114300" y="571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72077" y="4557712"/>
              <a:ext cx="495300" cy="0"/>
            </a:xfrm>
            <a:custGeom>
              <a:avLst/>
              <a:gdLst/>
              <a:ahLst/>
              <a:cxnLst/>
              <a:rect l="l" t="t" r="r" b="b"/>
              <a:pathLst>
                <a:path w="495300">
                  <a:moveTo>
                    <a:pt x="0" y="0"/>
                  </a:moveTo>
                  <a:lnTo>
                    <a:pt x="494806" y="3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09242" y="4500569"/>
              <a:ext cx="115570" cy="114300"/>
            </a:xfrm>
            <a:custGeom>
              <a:avLst/>
              <a:gdLst/>
              <a:ahLst/>
              <a:cxnLst/>
              <a:rect l="l" t="t" r="r" b="b"/>
              <a:pathLst>
                <a:path w="115570" h="114300">
                  <a:moveTo>
                    <a:pt x="0" y="114292"/>
                  </a:moveTo>
                  <a:lnTo>
                    <a:pt x="0" y="0"/>
                  </a:lnTo>
                  <a:lnTo>
                    <a:pt x="115285" y="57146"/>
                  </a:lnTo>
                  <a:lnTo>
                    <a:pt x="0" y="114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57490" y="4261804"/>
              <a:ext cx="2419350" cy="590550"/>
            </a:xfrm>
            <a:custGeom>
              <a:avLst/>
              <a:gdLst/>
              <a:ahLst/>
              <a:cxnLst/>
              <a:rect l="l" t="t" r="r" b="b"/>
              <a:pathLst>
                <a:path w="2419350" h="590550">
                  <a:moveTo>
                    <a:pt x="2386301" y="590549"/>
                  </a:moveTo>
                  <a:lnTo>
                    <a:pt x="33047" y="590549"/>
                  </a:lnTo>
                  <a:lnTo>
                    <a:pt x="28187" y="589583"/>
                  </a:lnTo>
                  <a:lnTo>
                    <a:pt x="966" y="562362"/>
                  </a:lnTo>
                  <a:lnTo>
                    <a:pt x="0" y="557502"/>
                  </a:lnTo>
                  <a:lnTo>
                    <a:pt x="0" y="5524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386301" y="0"/>
                  </a:lnTo>
                  <a:lnTo>
                    <a:pt x="2418382" y="28187"/>
                  </a:lnTo>
                  <a:lnTo>
                    <a:pt x="2419349" y="33047"/>
                  </a:lnTo>
                  <a:lnTo>
                    <a:pt x="2419349" y="557502"/>
                  </a:lnTo>
                  <a:lnTo>
                    <a:pt x="2391162" y="589583"/>
                  </a:lnTo>
                  <a:lnTo>
                    <a:pt x="2386301" y="590549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252903" y="4260534"/>
            <a:ext cx="1763395" cy="9246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lb=LabelBinarizer()  lb.fit_transform(y)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31</a:t>
            </a:fld>
            <a:endParaRPr spc="-85" dirty="0"/>
          </a:p>
        </p:txBody>
      </p:sp>
      <p:sp>
        <p:nvSpPr>
          <p:cNvPr id="36" name="object 36"/>
          <p:cNvSpPr txBox="1"/>
          <p:nvPr/>
        </p:nvSpPr>
        <p:spPr>
          <a:xfrm>
            <a:off x="2109786" y="1054100"/>
            <a:ext cx="7713980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Several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regression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binary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classiﬁcation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extended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multi-class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setup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one-vs-all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fashion.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22487" y="2066925"/>
            <a:ext cx="793432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-5" dirty="0">
                <a:latin typeface="Microsoft Sans Serif"/>
                <a:cs typeface="Microsoft Sans Serif"/>
              </a:rPr>
              <a:t>This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involves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training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single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regressor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classiﬁer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per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class.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09786" y="2625725"/>
            <a:ext cx="7887334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this,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convert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multi-class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labels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to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binary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labels, </a:t>
            </a:r>
            <a:r>
              <a:rPr sz="2250" spc="-58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LabelBinarizer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performs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this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task.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31983" y="5924550"/>
            <a:ext cx="8515350" cy="346249"/>
          </a:xfrm>
          <a:prstGeom prst="rect">
            <a:avLst/>
          </a:prstGeom>
          <a:solidFill>
            <a:srgbClr val="C8D9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dirty="0">
                <a:latin typeface="Microsoft Sans Serif"/>
                <a:cs typeface="Microsoft Sans Serif"/>
              </a:rPr>
              <a:t>If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estimator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supports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multiclass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LabelBinarizer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not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needed.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98837" y="996950"/>
            <a:ext cx="7025640" cy="18542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3495">
              <a:spcBef>
                <a:spcPts val="400"/>
              </a:spcBef>
            </a:pPr>
            <a:r>
              <a:rPr sz="2250" dirty="0">
                <a:latin typeface="Microsoft Sans Serif"/>
                <a:cs typeface="Microsoft Sans Serif"/>
              </a:rPr>
              <a:t>Encodes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categorical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features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between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0</a:t>
            </a:r>
            <a:r>
              <a:rPr sz="2250" spc="1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endParaRPr sz="2250">
              <a:latin typeface="Microsoft Sans Serif"/>
              <a:cs typeface="Microsoft Sans Serif"/>
            </a:endParaRPr>
          </a:p>
          <a:p>
            <a:pPr marL="23495">
              <a:spcBef>
                <a:spcPts val="300"/>
              </a:spcBef>
            </a:pPr>
            <a:r>
              <a:rPr sz="2250" i="1" spc="345" dirty="0">
                <a:solidFill>
                  <a:srgbClr val="800080"/>
                </a:solidFill>
                <a:latin typeface="Georgia"/>
                <a:cs typeface="Georgia"/>
              </a:rPr>
              <a:t>K</a:t>
            </a:r>
            <a:r>
              <a:rPr sz="2250" i="1" spc="105" dirty="0">
                <a:solidFill>
                  <a:srgbClr val="800080"/>
                </a:solidFill>
                <a:latin typeface="Georgia"/>
                <a:cs typeface="Georgia"/>
              </a:rPr>
              <a:t> </a:t>
            </a:r>
            <a:r>
              <a:rPr sz="2250" spc="500" dirty="0">
                <a:solidFill>
                  <a:srgbClr val="800080"/>
                </a:solidFill>
                <a:latin typeface="Cambria"/>
                <a:cs typeface="Cambria"/>
              </a:rPr>
              <a:t>−</a:t>
            </a:r>
            <a:r>
              <a:rPr sz="2250" spc="5" dirty="0">
                <a:solidFill>
                  <a:srgbClr val="800080"/>
                </a:solidFill>
                <a:latin typeface="Cambria"/>
                <a:cs typeface="Cambria"/>
              </a:rPr>
              <a:t> </a:t>
            </a:r>
            <a:r>
              <a:rPr sz="2250" spc="-65" dirty="0">
                <a:solidFill>
                  <a:srgbClr val="800080"/>
                </a:solidFill>
                <a:latin typeface="Cambria"/>
                <a:cs typeface="Cambria"/>
              </a:rPr>
              <a:t>1</a:t>
            </a:r>
            <a:r>
              <a:rPr sz="2250" spc="-65" dirty="0">
                <a:latin typeface="Microsoft Sans Serif"/>
                <a:cs typeface="Microsoft Sans Serif"/>
              </a:rPr>
              <a:t>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where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i="1" spc="345" dirty="0">
                <a:solidFill>
                  <a:srgbClr val="800080"/>
                </a:solidFill>
                <a:latin typeface="Georgia"/>
                <a:cs typeface="Georgia"/>
              </a:rPr>
              <a:t>K</a:t>
            </a:r>
            <a:r>
              <a:rPr sz="2250" i="1" spc="229" dirty="0">
                <a:solidFill>
                  <a:srgbClr val="800080"/>
                </a:solidFill>
                <a:latin typeface="Georgia"/>
                <a:cs typeface="Georgia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number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classes.</a:t>
            </a:r>
            <a:endParaRPr sz="2250">
              <a:latin typeface="Microsoft Sans Serif"/>
              <a:cs typeface="Microsoft Sans Serif"/>
            </a:endParaRPr>
          </a:p>
          <a:p>
            <a:pPr marL="12700" marR="71755">
              <a:lnSpc>
                <a:spcPct val="116700"/>
              </a:lnSpc>
              <a:spcBef>
                <a:spcPts val="2100"/>
              </a:spcBef>
            </a:pPr>
            <a:r>
              <a:rPr sz="2250" dirty="0">
                <a:latin typeface="Microsoft Sans Serif"/>
                <a:cs typeface="Microsoft Sans Serif"/>
              </a:rPr>
              <a:t>In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this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example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i="1" spc="345" dirty="0">
                <a:latin typeface="Georgia"/>
                <a:cs typeface="Georgia"/>
              </a:rPr>
              <a:t>K</a:t>
            </a:r>
            <a:r>
              <a:rPr sz="2250" i="1" spc="235" dirty="0">
                <a:latin typeface="Georgia"/>
                <a:cs typeface="Georgia"/>
              </a:rPr>
              <a:t> </a:t>
            </a:r>
            <a:r>
              <a:rPr sz="2250" spc="500" dirty="0">
                <a:latin typeface="Cambria"/>
                <a:cs typeface="Cambria"/>
              </a:rPr>
              <a:t>=</a:t>
            </a:r>
            <a:r>
              <a:rPr sz="2250" spc="130" dirty="0">
                <a:latin typeface="Cambria"/>
                <a:cs typeface="Cambria"/>
              </a:rPr>
              <a:t> </a:t>
            </a:r>
            <a:r>
              <a:rPr sz="2250" spc="-65" dirty="0">
                <a:latin typeface="Cambria"/>
                <a:cs typeface="Cambria"/>
              </a:rPr>
              <a:t>4</a:t>
            </a:r>
            <a:r>
              <a:rPr sz="2250" spc="-65" dirty="0">
                <a:latin typeface="Microsoft Sans Serif"/>
                <a:cs typeface="Microsoft Sans Serif"/>
              </a:rPr>
              <a:t>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since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only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25" dirty="0">
                <a:latin typeface="Cambria"/>
                <a:cs typeface="Cambria"/>
              </a:rPr>
              <a:t>4</a:t>
            </a:r>
            <a:r>
              <a:rPr sz="2250" spc="125" dirty="0">
                <a:latin typeface="Cambria"/>
                <a:cs typeface="Cambr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genres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movies.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1537" y="481013"/>
            <a:ext cx="2571750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-5" dirty="0">
                <a:solidFill>
                  <a:srgbClr val="0F6ACC"/>
                </a:solidFill>
                <a:hlinkClick r:id="rId2"/>
              </a:rPr>
              <a:t>MultiLabelBinarizer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11538" y="3086100"/>
            <a:ext cx="4295775" cy="2143125"/>
          </a:xfrm>
          <a:prstGeom prst="rect">
            <a:avLst/>
          </a:prstGeom>
          <a:solidFill>
            <a:srgbClr val="D9E9D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-5" dirty="0">
                <a:latin typeface="Microsoft Sans Serif"/>
                <a:cs typeface="Microsoft Sans Serif"/>
              </a:rPr>
              <a:t>movie_genres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=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825"/>
              </a:spcBef>
            </a:pPr>
            <a:r>
              <a:rPr sz="2250" spc="-5" dirty="0">
                <a:latin typeface="Microsoft Sans Serif"/>
                <a:cs typeface="Microsoft Sans Serif"/>
              </a:rPr>
              <a:t>[{'action',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'comedy'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},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750"/>
              </a:spcBef>
            </a:pPr>
            <a:r>
              <a:rPr sz="2250" dirty="0">
                <a:latin typeface="Microsoft Sans Serif"/>
                <a:cs typeface="Microsoft Sans Serif"/>
              </a:rPr>
              <a:t>{'comedy'},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825"/>
              </a:spcBef>
            </a:pPr>
            <a:r>
              <a:rPr sz="2250" spc="-5" dirty="0">
                <a:latin typeface="Microsoft Sans Serif"/>
                <a:cs typeface="Microsoft Sans Serif"/>
              </a:rPr>
              <a:t>{'action',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'thriller'},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750"/>
              </a:spcBef>
            </a:pPr>
            <a:r>
              <a:rPr sz="2250" spc="-5" dirty="0">
                <a:latin typeface="Microsoft Sans Serif"/>
                <a:cs typeface="Microsoft Sans Serif"/>
              </a:rPr>
              <a:t>{'science-ﬁction',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'action',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'thriller'}]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44084" y="3935412"/>
            <a:ext cx="27432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b="1" spc="235" dirty="0">
                <a:latin typeface="Verdana"/>
                <a:cs typeface="Verdana"/>
              </a:rPr>
              <a:t>X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28856" y="3935412"/>
            <a:ext cx="2482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92330" y="3916363"/>
            <a:ext cx="9461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b="1" spc="-5" dirty="0">
                <a:latin typeface="Verdana"/>
                <a:cs typeface="Verdana"/>
              </a:rPr>
              <a:t>′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8054" y="4068763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4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4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35293" y="4040187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35293" y="3859212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35293" y="3506787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795" dirty="0">
                <a:latin typeface="Cambria"/>
                <a:cs typeface="Cambria"/>
              </a:rPr>
              <a:t>⎡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30704" y="3421062"/>
            <a:ext cx="16827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1</a:t>
            </a:r>
            <a:endParaRPr sz="2250">
              <a:latin typeface="Cambria"/>
              <a:cs typeface="Cambria"/>
            </a:endParaRPr>
          </a:p>
          <a:p>
            <a:pPr marL="12700"/>
            <a:r>
              <a:rPr sz="2250" spc="-125" dirty="0">
                <a:latin typeface="Cambria"/>
                <a:cs typeface="Cambria"/>
              </a:rPr>
              <a:t>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09893" y="4106862"/>
            <a:ext cx="4146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spc="465" baseline="-50617" dirty="0">
                <a:latin typeface="Cambria"/>
                <a:cs typeface="Cambria"/>
              </a:rPr>
              <a:t>⎣</a:t>
            </a:r>
            <a:r>
              <a:rPr sz="2250" spc="310" dirty="0">
                <a:latin typeface="Cambria"/>
                <a:cs typeface="Cambria"/>
              </a:rPr>
              <a:t>1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16579" y="3421062"/>
            <a:ext cx="16827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0</a:t>
            </a:r>
            <a:endParaRPr sz="2250">
              <a:latin typeface="Cambria"/>
              <a:cs typeface="Cambria"/>
            </a:endParaRPr>
          </a:p>
          <a:p>
            <a:pPr marL="12700"/>
            <a:r>
              <a:rPr sz="2250" spc="-125" dirty="0">
                <a:latin typeface="Cambria"/>
                <a:cs typeface="Cambria"/>
              </a:rPr>
              <a:t>0</a:t>
            </a:r>
            <a:endParaRPr sz="2250">
              <a:latin typeface="Cambria"/>
              <a:cs typeface="Cambria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456486" y="3471863"/>
          <a:ext cx="2914650" cy="13811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2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374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tc>
                  <a:txBody>
                    <a:bodyPr/>
                    <a:lstStyle/>
                    <a:p>
                      <a:pPr marR="135890" algn="r">
                        <a:lnSpc>
                          <a:spcPts val="2400"/>
                        </a:lnSpc>
                      </a:pPr>
                      <a:r>
                        <a:rPr sz="2250" dirty="0">
                          <a:latin typeface="Cambria"/>
                          <a:cs typeface="Cambria"/>
                        </a:rPr>
                        <a:t>1</a:t>
                      </a:r>
                      <a:endParaRPr sz="22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</a:pPr>
                      <a:r>
                        <a:rPr sz="2250" dirty="0">
                          <a:latin typeface="Cambria"/>
                          <a:cs typeface="Cambria"/>
                        </a:rPr>
                        <a:t>0</a:t>
                      </a:r>
                      <a:endParaRPr sz="22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8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tc>
                  <a:txBody>
                    <a:bodyPr/>
                    <a:lstStyle/>
                    <a:p>
                      <a:pPr marR="135890" algn="r">
                        <a:lnSpc>
                          <a:spcPts val="2505"/>
                        </a:lnSpc>
                      </a:pPr>
                      <a:r>
                        <a:rPr sz="2250" dirty="0">
                          <a:latin typeface="Cambria"/>
                          <a:cs typeface="Cambria"/>
                        </a:rPr>
                        <a:t>1</a:t>
                      </a:r>
                      <a:endParaRPr sz="22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5"/>
                        </a:lnSpc>
                      </a:pPr>
                      <a:r>
                        <a:rPr sz="2250" dirty="0">
                          <a:latin typeface="Cambria"/>
                          <a:cs typeface="Cambria"/>
                        </a:rPr>
                        <a:t>0</a:t>
                      </a:r>
                      <a:endParaRPr sz="22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8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tc>
                  <a:txBody>
                    <a:bodyPr/>
                    <a:lstStyle/>
                    <a:p>
                      <a:pPr marR="135890" algn="r">
                        <a:lnSpc>
                          <a:spcPts val="2505"/>
                        </a:lnSpc>
                      </a:pPr>
                      <a:r>
                        <a:rPr sz="2250" dirty="0">
                          <a:latin typeface="Cambria"/>
                          <a:cs typeface="Cambria"/>
                        </a:rPr>
                        <a:t>0</a:t>
                      </a:r>
                      <a:endParaRPr sz="22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5"/>
                        </a:lnSpc>
                      </a:pPr>
                      <a:r>
                        <a:rPr sz="2250" dirty="0">
                          <a:latin typeface="Cambria"/>
                          <a:cs typeface="Cambria"/>
                        </a:rPr>
                        <a:t>0</a:t>
                      </a:r>
                      <a:endParaRPr sz="22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50">
                <a:tc>
                  <a:txBody>
                    <a:bodyPr/>
                    <a:lstStyle/>
                    <a:p>
                      <a:pPr marR="135255" algn="r">
                        <a:lnSpc>
                          <a:spcPts val="2505"/>
                        </a:lnSpc>
                      </a:pPr>
                      <a:r>
                        <a:rPr sz="2250" dirty="0">
                          <a:latin typeface="Cambria"/>
                          <a:cs typeface="Cambria"/>
                        </a:rPr>
                        <a:t>1</a:t>
                      </a:r>
                      <a:endParaRPr sz="22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tc>
                  <a:txBody>
                    <a:bodyPr/>
                    <a:lstStyle/>
                    <a:p>
                      <a:pPr marR="135890" algn="r">
                        <a:lnSpc>
                          <a:spcPts val="2505"/>
                        </a:lnSpc>
                      </a:pPr>
                      <a:r>
                        <a:rPr sz="2250" dirty="0">
                          <a:latin typeface="Cambria"/>
                          <a:cs typeface="Cambria"/>
                        </a:rPr>
                        <a:t>0</a:t>
                      </a:r>
                      <a:endParaRPr sz="22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5"/>
                        </a:lnSpc>
                      </a:pPr>
                      <a:r>
                        <a:rPr sz="2250" dirty="0">
                          <a:latin typeface="Cambria"/>
                          <a:cs typeface="Cambria"/>
                        </a:rPr>
                        <a:t>1</a:t>
                      </a:r>
                      <a:endParaRPr sz="22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ts val="2505"/>
                        </a:lnSpc>
                      </a:pPr>
                      <a:r>
                        <a:rPr sz="2250" dirty="0">
                          <a:latin typeface="Cambria"/>
                          <a:cs typeface="Cambria"/>
                        </a:rPr>
                        <a:t>1</a:t>
                      </a:r>
                      <a:endParaRPr sz="22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E9D0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9991179" y="4106862"/>
            <a:ext cx="4146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250" spc="310" dirty="0">
                <a:latin typeface="Cambria"/>
                <a:cs typeface="Cambria"/>
              </a:rPr>
              <a:t>1</a:t>
            </a:r>
            <a:r>
              <a:rPr sz="3375" spc="465" baseline="-50617" dirty="0">
                <a:latin typeface="Cambria"/>
                <a:cs typeface="Cambria"/>
              </a:rPr>
              <a:t>⎦</a:t>
            </a:r>
            <a:endParaRPr sz="3375" baseline="-50617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64068" y="4040187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64068" y="3859212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164068" y="3506787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795" dirty="0">
                <a:latin typeface="Cambria"/>
                <a:cs typeface="Cambria"/>
              </a:rPr>
              <a:t>⎤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32702" y="5546489"/>
            <a:ext cx="3981450" cy="609600"/>
          </a:xfrm>
          <a:custGeom>
            <a:avLst/>
            <a:gdLst/>
            <a:ahLst/>
            <a:cxnLst/>
            <a:rect l="l" t="t" r="r" b="b"/>
            <a:pathLst>
              <a:path w="3981450" h="609600">
                <a:moveTo>
                  <a:pt x="3948401" y="609599"/>
                </a:moveTo>
                <a:lnTo>
                  <a:pt x="33047" y="609599"/>
                </a:lnTo>
                <a:lnTo>
                  <a:pt x="28187" y="608633"/>
                </a:lnTo>
                <a:lnTo>
                  <a:pt x="966" y="581412"/>
                </a:lnTo>
                <a:lnTo>
                  <a:pt x="0" y="576552"/>
                </a:lnTo>
                <a:lnTo>
                  <a:pt x="0" y="5714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948401" y="0"/>
                </a:lnTo>
                <a:lnTo>
                  <a:pt x="3980482" y="28187"/>
                </a:lnTo>
                <a:lnTo>
                  <a:pt x="3981449" y="33047"/>
                </a:lnTo>
                <a:lnTo>
                  <a:pt x="3981449" y="576552"/>
                </a:lnTo>
                <a:lnTo>
                  <a:pt x="3953261" y="608633"/>
                </a:lnTo>
                <a:lnTo>
                  <a:pt x="3948401" y="60959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567628" y="5545219"/>
            <a:ext cx="2860675" cy="693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mlb = MultiLabelBinarizer() </a:t>
            </a:r>
            <a:r>
              <a:rPr sz="1200" b="1" spc="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mlb.fit_transform(movie_genres)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589927" y="4843481"/>
            <a:ext cx="5628640" cy="1028700"/>
            <a:chOff x="2229440" y="4843481"/>
            <a:chExt cx="5628640" cy="1028700"/>
          </a:xfrm>
        </p:grpSpPr>
        <p:sp>
          <p:nvSpPr>
            <p:cNvPr id="23" name="object 23"/>
            <p:cNvSpPr/>
            <p:nvPr/>
          </p:nvSpPr>
          <p:spPr>
            <a:xfrm>
              <a:off x="2248392" y="5229224"/>
              <a:ext cx="876935" cy="588010"/>
            </a:xfrm>
            <a:custGeom>
              <a:avLst/>
              <a:gdLst/>
              <a:ahLst/>
              <a:cxnLst/>
              <a:rect l="l" t="t" r="r" b="b"/>
              <a:pathLst>
                <a:path w="876935" h="588010">
                  <a:moveTo>
                    <a:pt x="0" y="0"/>
                  </a:moveTo>
                  <a:lnTo>
                    <a:pt x="876363" y="587384"/>
                  </a:lnTo>
                </a:path>
              </a:pathLst>
            </a:custGeom>
            <a:ln w="37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45422" y="5737859"/>
              <a:ext cx="127000" cy="111125"/>
            </a:xfrm>
            <a:custGeom>
              <a:avLst/>
              <a:gdLst/>
              <a:ahLst/>
              <a:cxnLst/>
              <a:rect l="l" t="t" r="r" b="b"/>
              <a:pathLst>
                <a:path w="127000" h="111125">
                  <a:moveTo>
                    <a:pt x="126682" y="110502"/>
                  </a:moveTo>
                  <a:lnTo>
                    <a:pt x="63944" y="0"/>
                  </a:lnTo>
                  <a:lnTo>
                    <a:pt x="0" y="94030"/>
                  </a:lnTo>
                  <a:lnTo>
                    <a:pt x="126682" y="110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52883" y="4890267"/>
              <a:ext cx="672465" cy="963294"/>
            </a:xfrm>
            <a:custGeom>
              <a:avLst/>
              <a:gdLst/>
              <a:ahLst/>
              <a:cxnLst/>
              <a:rect l="l" t="t" r="r" b="b"/>
              <a:pathLst>
                <a:path w="672465" h="963295">
                  <a:moveTo>
                    <a:pt x="0" y="962825"/>
                  </a:moveTo>
                  <a:lnTo>
                    <a:pt x="672186" y="0"/>
                  </a:lnTo>
                </a:path>
              </a:pathLst>
            </a:custGeom>
            <a:ln w="379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45860" y="4843481"/>
              <a:ext cx="112395" cy="127000"/>
            </a:xfrm>
            <a:custGeom>
              <a:avLst/>
              <a:gdLst/>
              <a:ahLst/>
              <a:cxnLst/>
              <a:rect l="l" t="t" r="r" b="b"/>
              <a:pathLst>
                <a:path w="112395" h="127000">
                  <a:moveTo>
                    <a:pt x="93093" y="126404"/>
                  </a:moveTo>
                  <a:lnTo>
                    <a:pt x="0" y="60740"/>
                  </a:lnTo>
                  <a:lnTo>
                    <a:pt x="111874" y="0"/>
                  </a:lnTo>
                  <a:lnTo>
                    <a:pt x="93093" y="1264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32</a:t>
            </a:fld>
            <a:endParaRPr spc="-8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6925" y="962025"/>
            <a:ext cx="2781300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dirty="0">
                <a:solidFill>
                  <a:srgbClr val="0F6ACC"/>
                </a:solidFill>
                <a:hlinkClick r:id="rId2"/>
              </a:rPr>
              <a:t>add_dummy_feature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9787" y="1711325"/>
            <a:ext cx="6855459" cy="7326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Augments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dataset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a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column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vector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each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column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vector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65" dirty="0">
                <a:solidFill>
                  <a:srgbClr val="A52929"/>
                </a:solidFill>
                <a:latin typeface="Cambria"/>
                <a:cs typeface="Cambria"/>
              </a:rPr>
              <a:t>1</a:t>
            </a:r>
            <a:r>
              <a:rPr sz="2250" spc="-6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86779" y="3295650"/>
            <a:ext cx="1971675" cy="1381125"/>
          </a:xfrm>
          <a:custGeom>
            <a:avLst/>
            <a:gdLst/>
            <a:ahLst/>
            <a:cxnLst/>
            <a:rect l="l" t="t" r="r" b="b"/>
            <a:pathLst>
              <a:path w="1971675" h="1381125">
                <a:moveTo>
                  <a:pt x="1971674" y="1381124"/>
                </a:moveTo>
                <a:lnTo>
                  <a:pt x="0" y="1381124"/>
                </a:lnTo>
                <a:lnTo>
                  <a:pt x="0" y="0"/>
                </a:lnTo>
                <a:lnTo>
                  <a:pt x="1971674" y="0"/>
                </a:lnTo>
                <a:lnTo>
                  <a:pt x="1971674" y="13811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92560" y="4187825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1677" y="3806825"/>
            <a:ext cx="140779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spcBef>
                <a:spcPts val="100"/>
              </a:spcBef>
            </a:pPr>
            <a:r>
              <a:rPr sz="3375" b="1" spc="165" baseline="8641" dirty="0">
                <a:latin typeface="Verdana"/>
                <a:cs typeface="Verdana"/>
              </a:rPr>
              <a:t>X</a:t>
            </a:r>
            <a:r>
              <a:rPr sz="1550" spc="110" dirty="0">
                <a:latin typeface="Cambria"/>
                <a:cs typeface="Cambria"/>
              </a:rPr>
              <a:t>4×2</a:t>
            </a:r>
            <a:r>
              <a:rPr sz="1550" spc="370" dirty="0">
                <a:latin typeface="Cambria"/>
                <a:cs typeface="Cambria"/>
              </a:rPr>
              <a:t> </a:t>
            </a:r>
            <a:r>
              <a:rPr sz="3375" spc="750" baseline="8641" dirty="0">
                <a:latin typeface="Cambria"/>
                <a:cs typeface="Cambria"/>
              </a:rPr>
              <a:t>=</a:t>
            </a:r>
            <a:r>
              <a:rPr sz="3375" spc="202" baseline="8641" dirty="0">
                <a:latin typeface="Cambria"/>
                <a:cs typeface="Cambria"/>
              </a:rPr>
              <a:t> </a:t>
            </a:r>
            <a:r>
              <a:rPr sz="3375" spc="-82" baseline="23456" dirty="0">
                <a:latin typeface="Cambria"/>
                <a:cs typeface="Cambria"/>
              </a:rPr>
              <a:t>⎢</a:t>
            </a:r>
            <a:r>
              <a:rPr sz="3375" spc="-82" baseline="-11111" dirty="0">
                <a:latin typeface="Cambria"/>
                <a:cs typeface="Cambria"/>
              </a:rPr>
              <a:t>⎢</a:t>
            </a:r>
            <a:r>
              <a:rPr sz="3375" spc="-82" baseline="41975" dirty="0">
                <a:latin typeface="Cambria"/>
                <a:cs typeface="Cambria"/>
              </a:rPr>
              <a:t>1</a:t>
            </a:r>
            <a:endParaRPr sz="3375" baseline="41975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16596" y="3587750"/>
            <a:ext cx="1555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8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87970" y="3930650"/>
            <a:ext cx="5842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  <a:tabLst>
                <a:tab pos="427990" algn="l"/>
              </a:tabLst>
            </a:pPr>
            <a:r>
              <a:rPr sz="2250" spc="-125" dirty="0">
                <a:latin typeface="Cambria"/>
                <a:cs typeface="Cambria"/>
              </a:rPr>
              <a:t>2	0</a:t>
            </a:r>
            <a:endParaRPr sz="2250">
              <a:latin typeface="Cambria"/>
              <a:cs typeface="Cambria"/>
            </a:endParaRPr>
          </a:p>
          <a:p>
            <a:pPr>
              <a:tabLst>
                <a:tab pos="427990" algn="l"/>
              </a:tabLst>
            </a:pPr>
            <a:r>
              <a:rPr sz="2250" spc="-125" dirty="0">
                <a:latin typeface="Cambria"/>
                <a:cs typeface="Cambria"/>
              </a:rPr>
              <a:t>9	6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64085" y="3863975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54459" y="3244849"/>
            <a:ext cx="10515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661670" algn="l"/>
              </a:tabLst>
            </a:pPr>
            <a:r>
              <a:rPr sz="3375" spc="465" baseline="-17283" dirty="0">
                <a:latin typeface="Cambria"/>
                <a:cs typeface="Cambria"/>
              </a:rPr>
              <a:t>⎡</a:t>
            </a:r>
            <a:r>
              <a:rPr sz="2250" spc="310" dirty="0">
                <a:latin typeface="Cambria"/>
                <a:cs typeface="Cambria"/>
              </a:rPr>
              <a:t>7	1</a:t>
            </a:r>
            <a:r>
              <a:rPr sz="3375" spc="465" baseline="-17283" dirty="0">
                <a:latin typeface="Cambria"/>
                <a:cs typeface="Cambria"/>
              </a:rPr>
              <a:t>⎤</a:t>
            </a:r>
            <a:endParaRPr sz="3375" baseline="-17283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03363" y="3295650"/>
            <a:ext cx="2486025" cy="1381125"/>
          </a:xfrm>
          <a:custGeom>
            <a:avLst/>
            <a:gdLst/>
            <a:ahLst/>
            <a:cxnLst/>
            <a:rect l="l" t="t" r="r" b="b"/>
            <a:pathLst>
              <a:path w="2486025" h="1381125">
                <a:moveTo>
                  <a:pt x="2486024" y="1381124"/>
                </a:moveTo>
                <a:lnTo>
                  <a:pt x="0" y="1381124"/>
                </a:lnTo>
                <a:lnTo>
                  <a:pt x="0" y="0"/>
                </a:lnTo>
                <a:lnTo>
                  <a:pt x="2486024" y="0"/>
                </a:lnTo>
                <a:lnTo>
                  <a:pt x="2486024" y="1381124"/>
                </a:lnTo>
                <a:close/>
              </a:path>
            </a:pathLst>
          </a:custGeom>
          <a:solidFill>
            <a:srgbClr val="E9D0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65559" y="3654425"/>
            <a:ext cx="3937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b="1" spc="165" baseline="-20987" dirty="0">
                <a:latin typeface="Verdana"/>
                <a:cs typeface="Verdana"/>
              </a:rPr>
              <a:t>X</a:t>
            </a:r>
            <a:r>
              <a:rPr sz="1550" b="1" spc="110" dirty="0">
                <a:latin typeface="Verdana"/>
                <a:cs typeface="Verdana"/>
              </a:rPr>
              <a:t>′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24930" y="3892551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4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3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82168" y="418782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82168" y="3863975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795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77580" y="3930650"/>
            <a:ext cx="102552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  <a:tab pos="869315" algn="l"/>
              </a:tabLst>
            </a:pPr>
            <a:r>
              <a:rPr sz="2250" spc="-125" dirty="0">
                <a:latin typeface="Cambria"/>
                <a:cs typeface="Cambria"/>
              </a:rPr>
              <a:t>1	2	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77580" y="4273550"/>
            <a:ext cx="102552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40690" algn="l"/>
                <a:tab pos="869315" algn="l"/>
              </a:tabLst>
            </a:pPr>
            <a:r>
              <a:rPr sz="2250" spc="-125" dirty="0">
                <a:latin typeface="Cambria"/>
                <a:cs typeface="Cambria"/>
              </a:rPr>
              <a:t>1	9	6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882318" y="418782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82318" y="3863975"/>
            <a:ext cx="2038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795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37631" y="3587750"/>
            <a:ext cx="17989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spcBef>
                <a:spcPts val="100"/>
              </a:spcBef>
              <a:tabLst>
                <a:tab pos="981075" algn="l"/>
                <a:tab pos="1409700" algn="l"/>
              </a:tabLst>
            </a:pPr>
            <a:r>
              <a:rPr sz="3375" spc="750" baseline="-33333" dirty="0">
                <a:latin typeface="Cambria"/>
                <a:cs typeface="Cambria"/>
              </a:rPr>
              <a:t>=</a:t>
            </a:r>
            <a:r>
              <a:rPr sz="3375" spc="247" baseline="-33333" dirty="0">
                <a:latin typeface="Cambria"/>
                <a:cs typeface="Cambria"/>
              </a:rPr>
              <a:t> </a:t>
            </a:r>
            <a:r>
              <a:rPr sz="3375" spc="465" baseline="-18518" dirty="0">
                <a:latin typeface="Cambria"/>
                <a:cs typeface="Cambria"/>
              </a:rPr>
              <a:t>⎢</a:t>
            </a:r>
            <a:r>
              <a:rPr sz="2250" spc="310" dirty="0">
                <a:latin typeface="Cambria"/>
                <a:cs typeface="Cambria"/>
              </a:rPr>
              <a:t>1	</a:t>
            </a:r>
            <a:r>
              <a:rPr sz="2250" spc="-125" dirty="0">
                <a:latin typeface="Cambria"/>
                <a:cs typeface="Cambria"/>
              </a:rPr>
              <a:t>1	</a:t>
            </a:r>
            <a:r>
              <a:rPr sz="2250" spc="310" dirty="0">
                <a:latin typeface="Cambria"/>
                <a:cs typeface="Cambria"/>
              </a:rPr>
              <a:t>8</a:t>
            </a:r>
            <a:r>
              <a:rPr sz="3375" spc="465" baseline="-18518" dirty="0">
                <a:latin typeface="Cambria"/>
                <a:cs typeface="Cambria"/>
              </a:rPr>
              <a:t>⎥</a:t>
            </a:r>
            <a:endParaRPr sz="3375" baseline="-18518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44068" y="3244849"/>
            <a:ext cx="14928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spcBef>
                <a:spcPts val="100"/>
              </a:spcBef>
              <a:tabLst>
                <a:tab pos="674370" algn="l"/>
                <a:tab pos="1102995" algn="l"/>
              </a:tabLst>
            </a:pPr>
            <a:r>
              <a:rPr sz="3375" spc="465" baseline="-17283" dirty="0">
                <a:latin typeface="Cambria"/>
                <a:cs typeface="Cambria"/>
              </a:rPr>
              <a:t>⎡</a:t>
            </a:r>
            <a:r>
              <a:rPr sz="2250" spc="310" dirty="0">
                <a:latin typeface="Cambria"/>
                <a:cs typeface="Cambria"/>
              </a:rPr>
              <a:t>1	</a:t>
            </a:r>
            <a:r>
              <a:rPr sz="2250" spc="-125" dirty="0">
                <a:latin typeface="Cambria"/>
                <a:cs typeface="Cambria"/>
              </a:rPr>
              <a:t>7	</a:t>
            </a:r>
            <a:r>
              <a:rPr sz="2250" spc="310" dirty="0">
                <a:latin typeface="Cambria"/>
                <a:cs typeface="Cambria"/>
              </a:rPr>
              <a:t>1</a:t>
            </a:r>
            <a:r>
              <a:rPr sz="3375" spc="465" baseline="-17283" dirty="0">
                <a:latin typeface="Cambria"/>
                <a:cs typeface="Cambria"/>
              </a:rPr>
              <a:t>⎤</a:t>
            </a:r>
            <a:endParaRPr sz="3375" baseline="-17283">
              <a:latin typeface="Cambria"/>
              <a:cs typeface="Cambr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41837" y="3665506"/>
            <a:ext cx="2428875" cy="342900"/>
          </a:xfrm>
          <a:custGeom>
            <a:avLst/>
            <a:gdLst/>
            <a:ahLst/>
            <a:cxnLst/>
            <a:rect l="l" t="t" r="r" b="b"/>
            <a:pathLst>
              <a:path w="2428875" h="342900">
                <a:moveTo>
                  <a:pt x="2395826" y="342899"/>
                </a:moveTo>
                <a:lnTo>
                  <a:pt x="33047" y="342899"/>
                </a:lnTo>
                <a:lnTo>
                  <a:pt x="28187" y="341933"/>
                </a:lnTo>
                <a:lnTo>
                  <a:pt x="966" y="314712"/>
                </a:lnTo>
                <a:lnTo>
                  <a:pt x="0" y="309852"/>
                </a:lnTo>
                <a:lnTo>
                  <a:pt x="0" y="3047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395826" y="0"/>
                </a:lnTo>
                <a:lnTo>
                  <a:pt x="2427907" y="28187"/>
                </a:lnTo>
                <a:lnTo>
                  <a:pt x="2428874" y="33047"/>
                </a:lnTo>
                <a:lnTo>
                  <a:pt x="2428874" y="309852"/>
                </a:lnTo>
                <a:lnTo>
                  <a:pt x="2400687" y="341933"/>
                </a:lnTo>
                <a:lnTo>
                  <a:pt x="2395826" y="34289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576762" y="3709956"/>
            <a:ext cx="18548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add_dummy_feature(X)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939409" y="3752851"/>
            <a:ext cx="3665854" cy="114300"/>
            <a:chOff x="2578922" y="3752851"/>
            <a:chExt cx="3665854" cy="114300"/>
          </a:xfrm>
        </p:grpSpPr>
        <p:sp>
          <p:nvSpPr>
            <p:cNvPr id="25" name="object 25"/>
            <p:cNvSpPr/>
            <p:nvPr/>
          </p:nvSpPr>
          <p:spPr>
            <a:xfrm>
              <a:off x="2578922" y="3810001"/>
              <a:ext cx="543560" cy="0"/>
            </a:xfrm>
            <a:custGeom>
              <a:avLst/>
              <a:gdLst/>
              <a:ahLst/>
              <a:cxnLst/>
              <a:rect l="l" t="t" r="r" b="b"/>
              <a:pathLst>
                <a:path w="543560">
                  <a:moveTo>
                    <a:pt x="0" y="0"/>
                  </a:moveTo>
                  <a:lnTo>
                    <a:pt x="543148" y="0"/>
                  </a:lnTo>
                </a:path>
              </a:pathLst>
            </a:custGeom>
            <a:ln w="380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65132" y="375286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3855" y="57150"/>
                  </a:moveTo>
                  <a:lnTo>
                    <a:pt x="0" y="0"/>
                  </a:lnTo>
                  <a:lnTo>
                    <a:pt x="0" y="114287"/>
                  </a:lnTo>
                  <a:lnTo>
                    <a:pt x="113855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06319" y="3809999"/>
              <a:ext cx="581025" cy="0"/>
            </a:xfrm>
            <a:custGeom>
              <a:avLst/>
              <a:gdLst/>
              <a:ahLst/>
              <a:cxnLst/>
              <a:rect l="l" t="t" r="r" b="b"/>
              <a:pathLst>
                <a:path w="581025">
                  <a:moveTo>
                    <a:pt x="0" y="0"/>
                  </a:moveTo>
                  <a:lnTo>
                    <a:pt x="580879" y="0"/>
                  </a:lnTo>
                </a:path>
              </a:pathLst>
            </a:custGeom>
            <a:ln w="38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29903" y="3752851"/>
              <a:ext cx="114935" cy="114300"/>
            </a:xfrm>
            <a:custGeom>
              <a:avLst/>
              <a:gdLst/>
              <a:ahLst/>
              <a:cxnLst/>
              <a:rect l="l" t="t" r="r" b="b"/>
              <a:pathLst>
                <a:path w="114935" h="114300">
                  <a:moveTo>
                    <a:pt x="0" y="114296"/>
                  </a:moveTo>
                  <a:lnTo>
                    <a:pt x="0" y="0"/>
                  </a:lnTo>
                  <a:lnTo>
                    <a:pt x="114590" y="57148"/>
                  </a:lnTo>
                  <a:lnTo>
                    <a:pt x="0" y="1142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33</a:t>
            </a:fld>
            <a:endParaRPr spc="-8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22275">
              <a:spcBef>
                <a:spcPts val="125"/>
              </a:spcBef>
            </a:pPr>
            <a:r>
              <a:rPr spc="-195" dirty="0"/>
              <a:t>Part</a:t>
            </a:r>
            <a:r>
              <a:rPr spc="-310" dirty="0"/>
              <a:t> </a:t>
            </a:r>
            <a:r>
              <a:rPr spc="-535" dirty="0"/>
              <a:t>2:</a:t>
            </a:r>
            <a:r>
              <a:rPr spc="-310" dirty="0"/>
              <a:t> </a:t>
            </a:r>
            <a:r>
              <a:rPr spc="-215" dirty="0"/>
              <a:t>Feature</a:t>
            </a:r>
            <a:r>
              <a:rPr spc="-310" dirty="0"/>
              <a:t> </a:t>
            </a:r>
            <a:r>
              <a:rPr spc="-215" dirty="0"/>
              <a:t>selection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8537" y="4162424"/>
            <a:ext cx="85725" cy="85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31134" y="3959224"/>
            <a:ext cx="1974214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Filter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based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Wrapper</a:t>
            </a:r>
            <a:r>
              <a:rPr sz="2250" spc="-4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based</a:t>
            </a:r>
            <a:endParaRPr sz="225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8537" y="4533899"/>
            <a:ext cx="85725" cy="857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34</a:t>
            </a:fld>
            <a:endParaRPr spc="-8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864975" cy="667385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2233C7-2DD8-1ED6-C4D0-E41B32BD2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345" y="567681"/>
            <a:ext cx="6968295" cy="40529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742950" indent="-742950" algn="l" rtl="0"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Most relevant features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1166" y="567681"/>
            <a:ext cx="135310" cy="135305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0323" y="790819"/>
            <a:ext cx="88693" cy="88690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6043" y="1009218"/>
            <a:ext cx="124288" cy="124285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3150" y="3408969"/>
            <a:ext cx="0" cy="3256241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45760" y="5485324"/>
            <a:ext cx="147471" cy="147467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43546" y="5933049"/>
            <a:ext cx="105711" cy="105708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71191" y="6070526"/>
            <a:ext cx="93190" cy="93188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E7B00D-A3BB-59E3-5ACF-7F04A479D1EC}"/>
              </a:ext>
            </a:extLst>
          </p:cNvPr>
          <p:cNvSpPr txBox="1"/>
          <p:nvPr/>
        </p:nvSpPr>
        <p:spPr>
          <a:xfrm>
            <a:off x="358555" y="1158565"/>
            <a:ext cx="4190999" cy="5078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5400" dirty="0"/>
              <a:t>Height, weight, BMI, Address, State name,</a:t>
            </a:r>
          </a:p>
          <a:p>
            <a:r>
              <a:rPr lang="en-IN" sz="5400" dirty="0"/>
              <a:t>Passport address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669225-FEFC-53F0-DAE9-7D096D2DCACB}"/>
              </a:ext>
            </a:extLst>
          </p:cNvPr>
          <p:cNvSpPr txBox="1"/>
          <p:nvPr/>
        </p:nvSpPr>
        <p:spPr>
          <a:xfrm>
            <a:off x="6281029" y="2959901"/>
            <a:ext cx="476074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3600" dirty="0"/>
              <a:t>BMI, Address, </a:t>
            </a:r>
          </a:p>
        </p:txBody>
      </p:sp>
    </p:spTree>
    <p:extLst>
      <p:ext uri="{BB962C8B-B14F-4D97-AF65-F5344CB8AC3E}">
        <p14:creationId xmlns:p14="http://schemas.microsoft.com/office/powerpoint/2010/main" val="4068155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864678" cy="6673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" y="0"/>
            <a:ext cx="11864679" cy="667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E04C89-6D9D-7A05-48B7-8002C5E4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951" y="630536"/>
            <a:ext cx="9569784" cy="587418"/>
          </a:xfrm>
        </p:spPr>
        <p:txBody>
          <a:bodyPr anchor="b">
            <a:normAutofit/>
          </a:bodyPr>
          <a:lstStyle/>
          <a:p>
            <a:pPr algn="ctr"/>
            <a:r>
              <a:rPr lang="en-IN" sz="3500" dirty="0">
                <a:solidFill>
                  <a:schemeClr val="tx2"/>
                </a:solidFill>
              </a:rPr>
              <a:t>Feature Selection in ML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256348" cy="2443443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CE4410-6D99-8E19-3FDD-D9C2C6A99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687" y="1508125"/>
            <a:ext cx="10042692" cy="4123430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Adding unnecessary features while training the model leads-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to </a:t>
            </a:r>
            <a:r>
              <a:rPr lang="en-US" sz="2800" dirty="0">
                <a:solidFill>
                  <a:srgbClr val="FF0000"/>
                </a:solidFill>
              </a:rPr>
              <a:t>reduce the overall accuracy </a:t>
            </a:r>
            <a:r>
              <a:rPr lang="en-US" sz="2800" dirty="0">
                <a:solidFill>
                  <a:schemeClr val="tx2"/>
                </a:solidFill>
              </a:rPr>
              <a:t>of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increase the complexity</a:t>
            </a:r>
            <a:r>
              <a:rPr lang="en-US" sz="2800" dirty="0">
                <a:solidFill>
                  <a:schemeClr val="tx2"/>
                </a:solidFill>
              </a:rPr>
              <a:t> of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decrease the generalization </a:t>
            </a:r>
            <a:r>
              <a:rPr lang="en-US" sz="2800" dirty="0">
                <a:solidFill>
                  <a:schemeClr val="tx2"/>
                </a:solidFill>
              </a:rPr>
              <a:t>capability of the model and </a:t>
            </a:r>
            <a:r>
              <a:rPr lang="en-US" sz="2800" dirty="0">
                <a:solidFill>
                  <a:srgbClr val="FF0000"/>
                </a:solidFill>
              </a:rPr>
              <a:t>makes the model biased</a:t>
            </a:r>
          </a:p>
          <a:p>
            <a:r>
              <a:rPr lang="en-US" sz="2800" dirty="0">
                <a:solidFill>
                  <a:schemeClr val="tx2"/>
                </a:solidFill>
              </a:rPr>
              <a:t>Some popular techniques of feature selection in machine learning are:</a:t>
            </a:r>
          </a:p>
          <a:p>
            <a:endParaRPr lang="en-US" sz="28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Filter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Wrapper methods</a:t>
            </a:r>
            <a:endParaRPr lang="en-IN" sz="2800" dirty="0">
              <a:solidFill>
                <a:srgbClr val="FF0000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8829478" y="3634030"/>
            <a:ext cx="3774515" cy="2305125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1629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964E1-397E-D031-0CDC-B72C58F98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D1BC2-0812-CCF1-2041-2FE7BD6B8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7E4592A-3E76-BD3B-7DCA-C9C9FD585F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9497854"/>
              </p:ext>
            </p:extLst>
          </p:nvPr>
        </p:nvGraphicFramePr>
        <p:xfrm>
          <a:off x="1977496" y="700264"/>
          <a:ext cx="7909983" cy="5273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6141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964E1-397E-D031-0CDC-B72C58F98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D1BC2-0812-CCF1-2041-2FE7BD6B8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7E4592A-3E76-BD3B-7DCA-C9C9FD585F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6686326"/>
              </p:ext>
            </p:extLst>
          </p:nvPr>
        </p:nvGraphicFramePr>
        <p:xfrm>
          <a:off x="522288" y="700264"/>
          <a:ext cx="9365192" cy="5273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rrow: Curved Left 4">
            <a:extLst>
              <a:ext uri="{FF2B5EF4-FFF2-40B4-BE49-F238E27FC236}">
                <a16:creationId xmlns:a16="http://schemas.microsoft.com/office/drawing/2014/main" id="{69242C97-C536-5C2C-AE3F-82B9CF383B20}"/>
              </a:ext>
            </a:extLst>
          </p:cNvPr>
          <p:cNvSpPr/>
          <p:nvPr/>
        </p:nvSpPr>
        <p:spPr>
          <a:xfrm rot="5400000">
            <a:off x="5313023" y="3721718"/>
            <a:ext cx="1752600" cy="3296327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1126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864975" cy="667385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1864974" cy="1533637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910817" y="0"/>
            <a:ext cx="3954158" cy="153408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65430" y="-5165431"/>
            <a:ext cx="1534116" cy="1186497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DF24FA-079D-8DBB-898E-C5DEE9C1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806" y="339497"/>
            <a:ext cx="9774613" cy="854160"/>
          </a:xfrm>
        </p:spPr>
        <p:txBody>
          <a:bodyPr anchor="ctr">
            <a:normAutofit/>
          </a:bodyPr>
          <a:lstStyle/>
          <a:p>
            <a:r>
              <a:rPr lang="en-IN" sz="3900">
                <a:solidFill>
                  <a:srgbClr val="FFFFFF"/>
                </a:solidFill>
              </a:rPr>
              <a:t>Filter Methods</a:t>
            </a:r>
          </a:p>
        </p:txBody>
      </p:sp>
      <p:graphicFrame>
        <p:nvGraphicFramePr>
          <p:cNvPr id="26" name="Text Placeholder 4">
            <a:extLst>
              <a:ext uri="{FF2B5EF4-FFF2-40B4-BE49-F238E27FC236}">
                <a16:creationId xmlns:a16="http://schemas.microsoft.com/office/drawing/2014/main" id="{E7EEFD8E-2F64-917C-D49C-994097DDD0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6358656"/>
              </p:ext>
            </p:extLst>
          </p:nvPr>
        </p:nvGraphicFramePr>
        <p:xfrm>
          <a:off x="293687" y="1703650"/>
          <a:ext cx="10639707" cy="4800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90059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864975" cy="667385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1864974" cy="1533637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910817" y="0"/>
            <a:ext cx="3954158" cy="153408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65430" y="-5165431"/>
            <a:ext cx="1534116" cy="1186497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DF24FA-079D-8DBB-898E-C5DEE9C1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806" y="339497"/>
            <a:ext cx="9774613" cy="854160"/>
          </a:xfrm>
        </p:spPr>
        <p:txBody>
          <a:bodyPr anchor="ctr">
            <a:normAutofit/>
          </a:bodyPr>
          <a:lstStyle/>
          <a:p>
            <a:r>
              <a:rPr lang="en-IN" sz="3900">
                <a:solidFill>
                  <a:srgbClr val="FFFFFF"/>
                </a:solidFill>
              </a:rPr>
              <a:t>Filter Methods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E8DE78D-875F-2F79-9721-3DFA5B64EB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3750998"/>
              </p:ext>
            </p:extLst>
          </p:nvPr>
        </p:nvGraphicFramePr>
        <p:xfrm>
          <a:off x="407987" y="-625475"/>
          <a:ext cx="11048999" cy="6019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667E8E-9253-EC6B-9974-B0B7A580633D}"/>
                  </a:ext>
                </a:extLst>
              </p:cNvPr>
              <p:cNvSpPr txBox="1"/>
              <p:nvPr/>
            </p:nvSpPr>
            <p:spPr>
              <a:xfrm>
                <a:off x="3654650" y="4154942"/>
                <a:ext cx="4555671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800" dirty="0"/>
                  <a:t>Techniques for filter methods: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800" dirty="0"/>
                  <a:t> test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Variance Threshold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Correlation Coefficient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667E8E-9253-EC6B-9974-B0B7A5806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650" y="4154942"/>
                <a:ext cx="4555671" cy="1815882"/>
              </a:xfrm>
              <a:prstGeom prst="rect">
                <a:avLst/>
              </a:prstGeom>
              <a:blipFill>
                <a:blip r:embed="rId7"/>
                <a:stretch>
                  <a:fillRect l="-2811" t="-3367" r="-1606" b="-9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53976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864678" cy="6673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" y="0"/>
            <a:ext cx="11864679" cy="667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5D6D0558-D8BF-DE95-33AA-04D48042D16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47595" y="1551886"/>
                <a:ext cx="9569784" cy="1289969"/>
              </a:xfrm>
            </p:spPr>
            <p:txBody>
              <a:bodyPr anchor="b"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𝜒</m:t>
                        </m:r>
                      </m:e>
                      <m:sup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I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test</a:t>
                </a:r>
                <a:endParaRPr lang="en-IN" sz="35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5D6D0558-D8BF-DE95-33AA-04D48042D1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47595" y="1551886"/>
                <a:ext cx="9569784" cy="1289969"/>
              </a:xfrm>
              <a:blipFill>
                <a:blip r:embed="rId2"/>
                <a:stretch>
                  <a:fillRect b="-175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256348" cy="2443443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9450D-26C2-B215-D097-93EBC5711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7595" y="3240269"/>
            <a:ext cx="9569784" cy="239128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Chi-square method (X2) is generally used to test the relationship </a:t>
            </a:r>
            <a:r>
              <a:rPr lang="en-US" sz="2400">
                <a:solidFill>
                  <a:schemeClr val="tx2"/>
                </a:solidFill>
              </a:rPr>
              <a:t>between variables</a:t>
            </a:r>
            <a:r>
              <a:rPr lang="en-US" sz="2400" dirty="0">
                <a:solidFill>
                  <a:schemeClr val="tx2"/>
                </a:solidFill>
              </a:rPr>
              <a:t>. It compares the observed values from different attributes of the dataset to its expected value.</a:t>
            </a:r>
          </a:p>
          <a:p>
            <a:endParaRPr lang="en-IN" sz="2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8829478" y="3634030"/>
            <a:ext cx="3774515" cy="2305125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5A6FF48-2210-9150-D019-3AD31D280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352" y="4621899"/>
            <a:ext cx="6542171" cy="1657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42180D-BA1A-AB8E-312C-71E3E77FD31B}"/>
              </a:ext>
            </a:extLst>
          </p:cNvPr>
          <p:cNvSpPr txBox="1"/>
          <p:nvPr/>
        </p:nvSpPr>
        <p:spPr>
          <a:xfrm>
            <a:off x="2518804" y="6029969"/>
            <a:ext cx="7786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Feature Selection Techniques in Machine Learning - </a:t>
            </a:r>
            <a:r>
              <a:rPr lang="en-US" dirty="0" err="1">
                <a:hlinkClick r:id="rId4"/>
              </a:rPr>
              <a:t>GeeksforGeeks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78433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864678" cy="6673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" y="0"/>
            <a:ext cx="11864679" cy="667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A27B7F-4712-80E9-740A-2A4FBEB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007" y="304889"/>
            <a:ext cx="9569784" cy="478803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IN" sz="3500" dirty="0">
                <a:solidFill>
                  <a:schemeClr val="tx2"/>
                </a:solidFill>
              </a:rPr>
              <a:t>Wrapper-based methods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256348" cy="2443443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F8252-F0A7-CDB3-F890-22590FE0F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7487" y="1013472"/>
            <a:ext cx="11253199" cy="503286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Wrapper methods, also referred to as greedy algorithms train the algorithm by using a subset of features in an iterative manner.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Based on the conclusions made from training in prior to the model, addition and removal of features takes place.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main advantage of wrapper methods over the filter methods is that t</a:t>
            </a:r>
            <a:r>
              <a:rPr lang="en-US" sz="2400" dirty="0">
                <a:solidFill>
                  <a:srgbClr val="FF0000"/>
                </a:solidFill>
              </a:rPr>
              <a:t>hey provide an optimal set of features for training the model, thus resulting in better accuracy than the filter methods but are computationally more expensive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  <a:endParaRPr lang="en-IN" sz="2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8829478" y="3634030"/>
            <a:ext cx="3774515" cy="2305125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A34F1E0-4138-871A-680B-D404B177B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92" y="4561534"/>
            <a:ext cx="11076694" cy="195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45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864678" cy="6673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" y="0"/>
            <a:ext cx="11864679" cy="667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7E4718-C857-6A19-22F4-26BF173E3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7" y="136525"/>
            <a:ext cx="9569784" cy="643881"/>
          </a:xfrm>
        </p:spPr>
        <p:txBody>
          <a:bodyPr anchor="b">
            <a:normAutofit/>
          </a:bodyPr>
          <a:lstStyle/>
          <a:p>
            <a:pPr algn="ctr"/>
            <a:r>
              <a:rPr lang="en-IN" sz="3500" dirty="0">
                <a:solidFill>
                  <a:schemeClr val="tx2"/>
                </a:solidFill>
              </a:rPr>
              <a:t>Wrapper-based methods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256348" cy="2443443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7EDAE5-DFEB-B0EF-5006-CD9C9EAAC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7488" y="916930"/>
            <a:ext cx="11646970" cy="575691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Forward selection </a:t>
            </a:r>
            <a:r>
              <a:rPr lang="en-US" sz="2400" dirty="0">
                <a:solidFill>
                  <a:schemeClr val="tx2"/>
                </a:solidFill>
              </a:rPr>
              <a:t>–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 iterative approach where we </a:t>
            </a:r>
            <a:r>
              <a:rPr lang="en-US" sz="2400" dirty="0">
                <a:solidFill>
                  <a:srgbClr val="FF0000"/>
                </a:solidFill>
              </a:rPr>
              <a:t>initially start with an empty set of features and keep adding a feature which best improves our model after each iteration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stopping criterion is till the addition of a new variable does not improve the performance of the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Backward elimination </a:t>
            </a:r>
            <a:r>
              <a:rPr lang="en-US" sz="2400" dirty="0">
                <a:solidFill>
                  <a:schemeClr val="tx2"/>
                </a:solidFill>
              </a:rPr>
              <a:t>–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method is also an </a:t>
            </a:r>
            <a:r>
              <a:rPr lang="en-US" sz="2400" dirty="0">
                <a:solidFill>
                  <a:srgbClr val="FF0000"/>
                </a:solidFill>
              </a:rPr>
              <a:t>iterative approach where we initially start with all features and after each iteration, we remove the least significant feature.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stopping criterion is till no improvement in the performance of the model is observed after the feature is removed.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Bi-directional elimination </a:t>
            </a:r>
            <a:r>
              <a:rPr lang="en-US" sz="2400" dirty="0">
                <a:solidFill>
                  <a:schemeClr val="tx2"/>
                </a:solidFill>
              </a:rPr>
              <a:t>–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method </a:t>
            </a:r>
            <a:r>
              <a:rPr lang="en-US" sz="2400" dirty="0">
                <a:solidFill>
                  <a:srgbClr val="FF0000"/>
                </a:solidFill>
              </a:rPr>
              <a:t>uses both forward selection and backward elimination technique simultaneously to reach one unique solution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8829478" y="3634030"/>
            <a:ext cx="3774515" cy="2305125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7589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864678" cy="6673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" y="0"/>
            <a:ext cx="11864679" cy="667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7E4718-C857-6A19-22F4-26BF173E3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7" y="136525"/>
            <a:ext cx="9569784" cy="643881"/>
          </a:xfrm>
        </p:spPr>
        <p:txBody>
          <a:bodyPr anchor="b">
            <a:normAutofit/>
          </a:bodyPr>
          <a:lstStyle/>
          <a:p>
            <a:pPr algn="ctr"/>
            <a:r>
              <a:rPr lang="en-IN" sz="3500" dirty="0">
                <a:solidFill>
                  <a:schemeClr val="tx2"/>
                </a:solidFill>
              </a:rPr>
              <a:t>Wrapper-based methods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256348" cy="2443443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7EDAE5-DFEB-B0EF-5006-CD9C9EAAC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7488" y="1812924"/>
            <a:ext cx="11646970" cy="486092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Exhaustive selection </a:t>
            </a:r>
            <a:r>
              <a:rPr lang="en-US" sz="2400" dirty="0">
                <a:solidFill>
                  <a:schemeClr val="tx2"/>
                </a:solidFill>
              </a:rPr>
              <a:t>–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technique is considered as the </a:t>
            </a:r>
            <a:r>
              <a:rPr lang="en-US" sz="2400" dirty="0">
                <a:solidFill>
                  <a:srgbClr val="FF0000"/>
                </a:solidFill>
              </a:rPr>
              <a:t>brute force approach </a:t>
            </a:r>
            <a:r>
              <a:rPr lang="en-US" sz="2400" dirty="0">
                <a:solidFill>
                  <a:schemeClr val="tx2"/>
                </a:solidFill>
              </a:rPr>
              <a:t>for the evaluation of feature subsets.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 It </a:t>
            </a:r>
            <a:r>
              <a:rPr lang="en-US" sz="2400" dirty="0">
                <a:solidFill>
                  <a:srgbClr val="FF0000"/>
                </a:solidFill>
              </a:rPr>
              <a:t>creates all possible subsets and builds a learning algorithm for each subset and selects the subset whose model’s performance is best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8829478" y="3634030"/>
            <a:ext cx="3774515" cy="2305125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56160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672" y="676274"/>
            <a:ext cx="85724" cy="857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5236" y="318771"/>
            <a:ext cx="9875474" cy="887293"/>
          </a:xfrm>
          <a:prstGeom prst="rect">
            <a:avLst/>
          </a:prstGeom>
        </p:spPr>
        <p:txBody>
          <a:bodyPr vert="horz" wrap="square" lIns="0" tIns="167004" rIns="0" bIns="0" rtlCol="0">
            <a:spAutoFit/>
          </a:bodyPr>
          <a:lstStyle/>
          <a:p>
            <a:pPr marL="423545" marR="5080">
              <a:lnSpc>
                <a:spcPct val="108300"/>
              </a:lnSpc>
              <a:spcBef>
                <a:spcPts val="100"/>
              </a:spcBef>
            </a:pPr>
            <a:r>
              <a:rPr spc="-5" dirty="0">
                <a:solidFill>
                  <a:srgbClr val="000000"/>
                </a:solidFill>
              </a:rPr>
              <a:t>Sometimes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in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real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world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dataset,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10" dirty="0"/>
              <a:t>all</a:t>
            </a:r>
            <a:r>
              <a:rPr spc="20" dirty="0"/>
              <a:t> </a:t>
            </a:r>
            <a:r>
              <a:rPr dirty="0"/>
              <a:t>features</a:t>
            </a:r>
            <a:r>
              <a:rPr spc="25" dirty="0"/>
              <a:t> </a:t>
            </a:r>
            <a:r>
              <a:rPr dirty="0"/>
              <a:t>do</a:t>
            </a:r>
            <a:r>
              <a:rPr spc="20" dirty="0"/>
              <a:t> </a:t>
            </a:r>
            <a:r>
              <a:rPr dirty="0"/>
              <a:t>not </a:t>
            </a:r>
            <a:r>
              <a:rPr spc="-585" dirty="0"/>
              <a:t> </a:t>
            </a:r>
            <a:r>
              <a:rPr spc="-5" dirty="0"/>
              <a:t>contribute</a:t>
            </a:r>
            <a:r>
              <a:rPr spc="20" dirty="0"/>
              <a:t> </a:t>
            </a:r>
            <a:r>
              <a:rPr spc="-10" dirty="0"/>
              <a:t>well</a:t>
            </a:r>
            <a:r>
              <a:rPr spc="25" dirty="0"/>
              <a:t> </a:t>
            </a:r>
            <a:r>
              <a:rPr dirty="0"/>
              <a:t>enough</a:t>
            </a:r>
            <a:r>
              <a:rPr spc="25" dirty="0"/>
              <a:t> </a:t>
            </a:r>
            <a:r>
              <a:rPr dirty="0"/>
              <a:t>towards</a:t>
            </a:r>
            <a:r>
              <a:rPr spc="25" dirty="0"/>
              <a:t> </a:t>
            </a:r>
            <a:r>
              <a:rPr spc="-5" dirty="0"/>
              <a:t>ﬁtting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5" dirty="0"/>
              <a:t>model</a:t>
            </a:r>
            <a:r>
              <a:rPr spc="-5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672" y="1419224"/>
            <a:ext cx="85724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672" y="2533649"/>
            <a:ext cx="85724" cy="857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550797" y="2447924"/>
            <a:ext cx="3429000" cy="266700"/>
          </a:xfrm>
          <a:custGeom>
            <a:avLst/>
            <a:gdLst/>
            <a:ahLst/>
            <a:cxnLst/>
            <a:rect l="l" t="t" r="r" b="b"/>
            <a:pathLst>
              <a:path w="3429000" h="266700">
                <a:moveTo>
                  <a:pt x="339595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395952" y="0"/>
                </a:lnTo>
                <a:lnTo>
                  <a:pt x="3428032" y="28187"/>
                </a:lnTo>
                <a:lnTo>
                  <a:pt x="3428999" y="33047"/>
                </a:lnTo>
                <a:lnTo>
                  <a:pt x="3428999" y="233652"/>
                </a:lnTo>
                <a:lnTo>
                  <a:pt x="3400811" y="265733"/>
                </a:lnTo>
                <a:lnTo>
                  <a:pt x="339595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38097" y="1216026"/>
            <a:ext cx="7125970" cy="188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  <a:tabLst>
                <a:tab pos="1362075" algn="l"/>
              </a:tabLst>
            </a:pP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that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not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contribute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20" dirty="0">
                <a:latin typeface="Microsoft Sans Serif"/>
                <a:cs typeface="Microsoft Sans Serif"/>
              </a:rPr>
              <a:t>signiﬁcantly,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removed.	It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leads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decrease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in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size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of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the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dataset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hence,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computation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cost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ﬁtting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model.</a:t>
            </a:r>
            <a:endParaRPr sz="2250">
              <a:latin typeface="Microsoft Sans Serif"/>
              <a:cs typeface="Microsoft Sans Serif"/>
            </a:endParaRPr>
          </a:p>
          <a:p>
            <a:pPr marL="12700" marR="737235">
              <a:lnSpc>
                <a:spcPct val="108300"/>
              </a:lnSpc>
            </a:pPr>
            <a:r>
              <a:rPr b="1" dirty="0">
                <a:latin typeface="Courier New"/>
                <a:cs typeface="Courier New"/>
              </a:rPr>
              <a:t>sklearn.feature_selection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provides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many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APIs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  </a:t>
            </a:r>
            <a:r>
              <a:rPr sz="2250" spc="-5" dirty="0">
                <a:latin typeface="Microsoft Sans Serif"/>
                <a:cs typeface="Microsoft Sans Serif"/>
              </a:rPr>
              <a:t>accomplish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this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task.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45</a:t>
            </a:fld>
            <a:endParaRPr spc="-85" dirty="0"/>
          </a:p>
        </p:txBody>
      </p:sp>
      <p:sp>
        <p:nvSpPr>
          <p:cNvPr id="8" name="object 8"/>
          <p:cNvSpPr txBox="1"/>
          <p:nvPr/>
        </p:nvSpPr>
        <p:spPr>
          <a:xfrm>
            <a:off x="6293808" y="3848099"/>
            <a:ext cx="3448050" cy="1485900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dirty="0">
                <a:solidFill>
                  <a:srgbClr val="0F6ACC"/>
                </a:solidFill>
                <a:latin typeface="Microsoft Sans Serif"/>
                <a:cs typeface="Microsoft Sans Serif"/>
                <a:hlinkClick r:id="rId3"/>
              </a:rPr>
              <a:t>RFE</a:t>
            </a:r>
            <a:endParaRPr sz="2250">
              <a:latin typeface="Microsoft Sans Serif"/>
              <a:cs typeface="Microsoft Sans Serif"/>
            </a:endParaRPr>
          </a:p>
          <a:p>
            <a:pPr algn="ctr">
              <a:spcBef>
                <a:spcPts val="225"/>
              </a:spcBef>
            </a:pPr>
            <a:r>
              <a:rPr sz="2250" dirty="0">
                <a:solidFill>
                  <a:srgbClr val="0F6ACC"/>
                </a:solidFill>
                <a:latin typeface="Microsoft Sans Serif"/>
                <a:cs typeface="Microsoft Sans Serif"/>
                <a:hlinkClick r:id="rId4"/>
              </a:rPr>
              <a:t>RFECV</a:t>
            </a:r>
            <a:endParaRPr sz="2250">
              <a:latin typeface="Microsoft Sans Serif"/>
              <a:cs typeface="Microsoft Sans Serif"/>
            </a:endParaRPr>
          </a:p>
          <a:p>
            <a:pPr marL="32384" marR="24130" indent="-635" algn="ctr">
              <a:lnSpc>
                <a:spcPct val="108300"/>
              </a:lnSpc>
            </a:pPr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5"/>
              </a:rPr>
              <a:t>SelectFromModel </a:t>
            </a:r>
            <a:r>
              <a:rPr sz="2250" dirty="0">
                <a:solidFill>
                  <a:srgbClr val="0F6A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6"/>
              </a:rPr>
              <a:t>SequentialFeatureSelector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1697" y="3819525"/>
            <a:ext cx="3448050" cy="1514475"/>
          </a:xfrm>
          <a:prstGeom prst="rect">
            <a:avLst/>
          </a:prstGeom>
          <a:solidFill>
            <a:srgbClr val="D9E9D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spc="-135" dirty="0">
                <a:solidFill>
                  <a:srgbClr val="0F6ACC"/>
                </a:solidFill>
                <a:latin typeface="Verdana"/>
                <a:cs typeface="Verdana"/>
                <a:hlinkClick r:id="rId7"/>
              </a:rPr>
              <a:t>VarianceThreshold</a:t>
            </a:r>
            <a:endParaRPr sz="2400">
              <a:latin typeface="Verdana"/>
              <a:cs typeface="Verdana"/>
            </a:endParaRPr>
          </a:p>
          <a:p>
            <a:pPr marL="183515" marR="175260" indent="-635" algn="ctr">
              <a:lnSpc>
                <a:spcPct val="108300"/>
              </a:lnSpc>
              <a:spcBef>
                <a:spcPts val="45"/>
              </a:spcBef>
            </a:pPr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8"/>
              </a:rPr>
              <a:t>SelectKBest </a:t>
            </a:r>
            <a:r>
              <a:rPr sz="2250" dirty="0">
                <a:solidFill>
                  <a:srgbClr val="0F6A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</a:rPr>
              <a:t>SelectPercentile </a:t>
            </a:r>
            <a:r>
              <a:rPr sz="2250" dirty="0">
                <a:solidFill>
                  <a:srgbClr val="0F6A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9"/>
              </a:rPr>
              <a:t>GenericUnivariateSelect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3348" y="5657533"/>
            <a:ext cx="6459855" cy="584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100"/>
              </a:spcBef>
            </a:pPr>
            <a:r>
              <a:rPr spc="-150" dirty="0">
                <a:latin typeface="Verdana"/>
                <a:cs typeface="Verdana"/>
              </a:rPr>
              <a:t>Note: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00" dirty="0">
                <a:latin typeface="Verdana"/>
                <a:cs typeface="Verdana"/>
              </a:rPr>
              <a:t>Tree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90" dirty="0">
                <a:latin typeface="Verdana"/>
                <a:cs typeface="Verdana"/>
              </a:rPr>
              <a:t>based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14" dirty="0">
                <a:latin typeface="Verdana"/>
                <a:cs typeface="Verdana"/>
              </a:rPr>
              <a:t>and</a:t>
            </a:r>
            <a:r>
              <a:rPr spc="-130" dirty="0">
                <a:latin typeface="Verdana"/>
                <a:cs typeface="Verdana"/>
              </a:rPr>
              <a:t> </a:t>
            </a:r>
            <a:r>
              <a:rPr spc="-120" dirty="0">
                <a:latin typeface="Verdana"/>
                <a:cs typeface="Verdana"/>
              </a:rPr>
              <a:t>kernel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90" dirty="0">
                <a:latin typeface="Verdana"/>
                <a:cs typeface="Verdana"/>
              </a:rPr>
              <a:t>based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25" dirty="0">
                <a:latin typeface="Verdana"/>
                <a:cs typeface="Verdana"/>
              </a:rPr>
              <a:t>feature</a:t>
            </a:r>
            <a:r>
              <a:rPr spc="-130" dirty="0">
                <a:latin typeface="Verdana"/>
                <a:cs typeface="Verdana"/>
              </a:rPr>
              <a:t> </a:t>
            </a:r>
            <a:r>
              <a:rPr spc="-95" dirty="0">
                <a:latin typeface="Verdana"/>
                <a:cs typeface="Verdana"/>
              </a:rPr>
              <a:t>selection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30" dirty="0">
                <a:latin typeface="Verdana"/>
                <a:cs typeface="Verdana"/>
              </a:rPr>
              <a:t>algorithms </a:t>
            </a:r>
            <a:r>
              <a:rPr spc="-620" dirty="0">
                <a:latin typeface="Verdana"/>
                <a:cs typeface="Verdana"/>
              </a:rPr>
              <a:t> </a:t>
            </a:r>
            <a:r>
              <a:rPr spc="-114" dirty="0">
                <a:latin typeface="Verdana"/>
                <a:cs typeface="Verdana"/>
              </a:rPr>
              <a:t>will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00" dirty="0">
                <a:latin typeface="Verdana"/>
                <a:cs typeface="Verdana"/>
              </a:rPr>
              <a:t>be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05" dirty="0">
                <a:latin typeface="Verdana"/>
                <a:cs typeface="Verdana"/>
              </a:rPr>
              <a:t>covered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20" dirty="0">
                <a:latin typeface="Verdana"/>
                <a:cs typeface="Verdana"/>
              </a:rPr>
              <a:t>in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25" dirty="0">
                <a:latin typeface="Verdana"/>
                <a:cs typeface="Verdana"/>
              </a:rPr>
              <a:t>later</a:t>
            </a:r>
            <a:r>
              <a:rPr spc="-135" dirty="0">
                <a:latin typeface="Verdana"/>
                <a:cs typeface="Verdana"/>
              </a:rPr>
              <a:t> </a:t>
            </a:r>
            <a:r>
              <a:rPr spc="-114" dirty="0">
                <a:latin typeface="Verdana"/>
                <a:cs typeface="Verdana"/>
              </a:rPr>
              <a:t>weeks.</a:t>
            </a:r>
            <a:endParaRPr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79762" y="3333750"/>
            <a:ext cx="1352550" cy="346249"/>
          </a:xfrm>
          <a:prstGeom prst="rect">
            <a:avLst/>
          </a:prstGeom>
          <a:solidFill>
            <a:srgbClr val="D9E9D3"/>
          </a:solidFill>
        </p:spPr>
        <p:txBody>
          <a:bodyPr vert="horz" wrap="square" lIns="0" tIns="0" rIns="0" bIns="0" rtlCol="0">
            <a:spAutoFit/>
          </a:bodyPr>
          <a:lstStyle/>
          <a:p>
            <a:pPr marL="358775"/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Filter</a:t>
            </a:r>
            <a:endParaRPr sz="2250" dirty="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99336" y="3333750"/>
            <a:ext cx="1352550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 marL="130810"/>
            <a:r>
              <a:rPr sz="225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Wrapper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46</a:t>
            </a:fld>
            <a:endParaRPr spc="-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4816" y="2800031"/>
            <a:ext cx="4795520" cy="93217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84655" marR="5080" indent="-1672589">
              <a:lnSpc>
                <a:spcPct val="107800"/>
              </a:lnSpc>
              <a:spcBef>
                <a:spcPts val="90"/>
              </a:spcBef>
            </a:pPr>
            <a:r>
              <a:rPr sz="2900" spc="-145" dirty="0">
                <a:solidFill>
                  <a:srgbClr val="0000FF"/>
                </a:solidFill>
                <a:latin typeface="Verdana"/>
                <a:cs typeface="Verdana"/>
              </a:rPr>
              <a:t>Filter</a:t>
            </a:r>
            <a:r>
              <a:rPr sz="2900" spc="-2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125" dirty="0">
                <a:solidFill>
                  <a:srgbClr val="0000FF"/>
                </a:solidFill>
                <a:latin typeface="Verdana"/>
                <a:cs typeface="Verdana"/>
              </a:rPr>
              <a:t>based</a:t>
            </a:r>
            <a:r>
              <a:rPr sz="2900" spc="-2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190" dirty="0">
                <a:solidFill>
                  <a:srgbClr val="0000FF"/>
                </a:solidFill>
                <a:latin typeface="Verdana"/>
                <a:cs typeface="Verdana"/>
              </a:rPr>
              <a:t>feature</a:t>
            </a:r>
            <a:r>
              <a:rPr sz="2900" spc="-2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135" dirty="0">
                <a:solidFill>
                  <a:srgbClr val="0000FF"/>
                </a:solidFill>
                <a:latin typeface="Verdana"/>
                <a:cs typeface="Verdana"/>
              </a:rPr>
              <a:t>selection  </a:t>
            </a:r>
            <a:r>
              <a:rPr sz="2900" spc="-200" dirty="0">
                <a:solidFill>
                  <a:srgbClr val="0000FF"/>
                </a:solidFill>
                <a:latin typeface="Verdana"/>
                <a:cs typeface="Verdana"/>
              </a:rPr>
              <a:t>methods</a:t>
            </a:r>
            <a:endParaRPr sz="2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47</a:t>
            </a:fld>
            <a:endParaRPr spc="-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005" y="1068387"/>
            <a:ext cx="6075045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65" dirty="0">
                <a:solidFill>
                  <a:srgbClr val="000000"/>
                </a:solidFill>
                <a:latin typeface="Verdana"/>
                <a:cs typeface="Verdana"/>
              </a:rPr>
              <a:t>Removing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75" dirty="0">
                <a:solidFill>
                  <a:srgbClr val="000000"/>
                </a:solidFill>
                <a:latin typeface="Verdana"/>
                <a:cs typeface="Verdana"/>
              </a:rPr>
              <a:t>features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240" dirty="0">
                <a:solidFill>
                  <a:srgbClr val="000000"/>
                </a:solidFill>
                <a:latin typeface="Verdana"/>
                <a:cs typeface="Verdana"/>
              </a:rPr>
              <a:t>with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85" dirty="0">
                <a:solidFill>
                  <a:srgbClr val="000000"/>
                </a:solidFill>
                <a:latin typeface="Verdana"/>
                <a:cs typeface="Verdana"/>
              </a:rPr>
              <a:t>low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60" dirty="0">
                <a:solidFill>
                  <a:srgbClr val="000000"/>
                </a:solidFill>
                <a:latin typeface="Verdana"/>
                <a:cs typeface="Verdana"/>
              </a:rPr>
              <a:t>variance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8571" y="2261394"/>
            <a:ext cx="6360160" cy="183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35" dirty="0">
                <a:solidFill>
                  <a:srgbClr val="0F6ACC"/>
                </a:solidFill>
                <a:latin typeface="Verdana"/>
                <a:cs typeface="Verdana"/>
                <a:hlinkClick r:id="rId2"/>
              </a:rPr>
              <a:t>VarianceThreshold</a:t>
            </a:r>
            <a:endParaRPr sz="2400">
              <a:latin typeface="Verdana"/>
              <a:cs typeface="Verdana"/>
            </a:endParaRPr>
          </a:p>
          <a:p>
            <a:pPr>
              <a:spcBef>
                <a:spcPts val="5"/>
              </a:spcBef>
            </a:pPr>
            <a:endParaRPr sz="2100">
              <a:latin typeface="Verdana"/>
              <a:cs typeface="Verdana"/>
            </a:endParaRPr>
          </a:p>
          <a:p>
            <a:pPr marL="851535" marR="5080">
              <a:lnSpc>
                <a:spcPct val="108300"/>
              </a:lnSpc>
            </a:pP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Removes</a:t>
            </a:r>
            <a:r>
              <a:rPr sz="2250" spc="1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all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variance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below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a </a:t>
            </a:r>
            <a:r>
              <a:rPr sz="2250" spc="-58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certain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threshold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speciﬁed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endParaRPr sz="2250">
              <a:latin typeface="Microsoft Sans Serif"/>
              <a:cs typeface="Microsoft Sans Serif"/>
            </a:endParaRPr>
          </a:p>
          <a:p>
            <a:pPr marL="851535">
              <a:spcBef>
                <a:spcPts val="225"/>
              </a:spcBef>
            </a:pPr>
            <a:r>
              <a:rPr sz="2250" spc="-25" dirty="0">
                <a:latin typeface="Microsoft Sans Serif"/>
                <a:cs typeface="Microsoft Sans Serif"/>
              </a:rPr>
              <a:t>user,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from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input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matrix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661" y="4474368"/>
            <a:ext cx="5867400" cy="742950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dirty="0">
                <a:latin typeface="Microsoft Sans Serif"/>
                <a:cs typeface="Microsoft Sans Serif"/>
              </a:rPr>
              <a:t>By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default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removes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which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has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same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225"/>
              </a:spcBef>
            </a:pPr>
            <a:r>
              <a:rPr sz="2250" spc="-5" dirty="0">
                <a:latin typeface="Microsoft Sans Serif"/>
                <a:cs typeface="Microsoft Sans Serif"/>
              </a:rPr>
              <a:t>value,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i.e.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zero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variance.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48</a:t>
            </a:fld>
            <a:endParaRPr spc="-85" dirty="0"/>
          </a:p>
        </p:txBody>
      </p:sp>
      <p:sp>
        <p:nvSpPr>
          <p:cNvPr id="2" name="object 2"/>
          <p:cNvSpPr txBox="1"/>
          <p:nvPr/>
        </p:nvSpPr>
        <p:spPr>
          <a:xfrm>
            <a:off x="4364692" y="4481513"/>
            <a:ext cx="3133725" cy="346249"/>
          </a:xfrm>
          <a:prstGeom prst="rect">
            <a:avLst/>
          </a:prstGeom>
          <a:solidFill>
            <a:srgbClr val="C8D9F7"/>
          </a:solidFill>
        </p:spPr>
        <p:txBody>
          <a:bodyPr vert="horz" wrap="square" lIns="0" tIns="0" rIns="0" bIns="0" rtlCol="0">
            <a:spAutoFit/>
          </a:bodyPr>
          <a:lstStyle/>
          <a:p>
            <a:pPr marL="26670"/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GenericUnivariateSelect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69060" y="401637"/>
            <a:ext cx="4526915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70" dirty="0">
                <a:solidFill>
                  <a:srgbClr val="000000"/>
                </a:solidFill>
                <a:latin typeface="Verdana"/>
                <a:cs typeface="Verdana"/>
              </a:rPr>
              <a:t>Univariate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90" dirty="0">
                <a:solidFill>
                  <a:srgbClr val="000000"/>
                </a:solidFill>
                <a:latin typeface="Verdana"/>
                <a:cs typeface="Verdana"/>
              </a:rPr>
              <a:t>feature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45" dirty="0">
                <a:solidFill>
                  <a:srgbClr val="000000"/>
                </a:solidFill>
                <a:latin typeface="Verdana"/>
                <a:cs typeface="Verdana"/>
              </a:rPr>
              <a:t>selection</a:t>
            </a:r>
            <a:endParaRPr sz="29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436" y="803926"/>
            <a:ext cx="11430000" cy="18630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lang="en-US" sz="2250" spc="-5" dirty="0">
                <a:latin typeface="Microsoft Sans Serif"/>
                <a:cs typeface="Microsoft Sans Serif"/>
              </a:rPr>
              <a:t>In mathematics, a univariate object is an expression, equation, function or polynomial involving only one variable.</a:t>
            </a:r>
            <a:endParaRPr lang="en-IN" sz="2250" spc="-5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Univariate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selects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based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univariate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statistical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tests.</a:t>
            </a:r>
            <a:endParaRPr sz="2250" dirty="0">
              <a:latin typeface="Microsoft Sans Serif"/>
              <a:cs typeface="Microsoft Sans Serif"/>
            </a:endParaRPr>
          </a:p>
          <a:p>
            <a:pPr>
              <a:spcBef>
                <a:spcPts val="20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78740"/>
            <a:r>
              <a:rPr sz="2250" dirty="0">
                <a:latin typeface="Microsoft Sans Serif"/>
                <a:cs typeface="Microsoft Sans Serif"/>
              </a:rPr>
              <a:t>There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three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APIs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univariate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selection:</a:t>
            </a:r>
            <a:endParaRPr sz="225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3012" y="2671763"/>
            <a:ext cx="1771650" cy="34624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3"/>
              </a:rPr>
              <a:t>SelectKBest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55465" y="2667000"/>
            <a:ext cx="2228850" cy="346249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</a:rPr>
              <a:t>SelectPercentile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13012" y="3152775"/>
            <a:ext cx="2552700" cy="1064907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Removes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0000CC"/>
                </a:solidFill>
                <a:latin typeface="Microsoft Sans Serif"/>
                <a:cs typeface="Microsoft Sans Serif"/>
              </a:rPr>
              <a:t>all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but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the</a:t>
            </a:r>
            <a:endParaRPr sz="2250">
              <a:latin typeface="Microsoft Sans Serif"/>
              <a:cs typeface="Microsoft Sans Serif"/>
            </a:endParaRPr>
          </a:p>
          <a:p>
            <a:pPr marR="400685">
              <a:lnSpc>
                <a:spcPct val="108300"/>
              </a:lnSpc>
            </a:pP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k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highest scoring </a:t>
            </a:r>
            <a:r>
              <a:rPr sz="2250" spc="-59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features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94436" y="3152775"/>
            <a:ext cx="3295650" cy="1064907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Removes</a:t>
            </a:r>
            <a:r>
              <a:rPr sz="2250" spc="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all</a:t>
            </a:r>
            <a:r>
              <a:rPr sz="225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but</a:t>
            </a:r>
            <a:r>
              <a:rPr sz="225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a</a:t>
            </a:r>
            <a:r>
              <a:rPr sz="2250" spc="1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user-</a:t>
            </a:r>
            <a:endParaRPr sz="2250">
              <a:latin typeface="Microsoft Sans Serif"/>
              <a:cs typeface="Microsoft Sans Serif"/>
            </a:endParaRPr>
          </a:p>
          <a:p>
            <a:pPr marR="158750">
              <a:lnSpc>
                <a:spcPct val="108300"/>
              </a:lnSpc>
            </a:pP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speciﬁed</a:t>
            </a:r>
            <a:r>
              <a:rPr sz="2250" spc="1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highest</a:t>
            </a:r>
            <a:r>
              <a:rPr sz="225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scoring </a:t>
            </a:r>
            <a:r>
              <a:rPr sz="2250" spc="-58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percentage</a:t>
            </a:r>
            <a:r>
              <a:rPr sz="225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of</a:t>
            </a:r>
            <a:r>
              <a:rPr sz="2250" spc="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features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9750" y="4962525"/>
            <a:ext cx="5705475" cy="1064907"/>
          </a:xfrm>
          <a:prstGeom prst="rect">
            <a:avLst/>
          </a:prstGeom>
          <a:solidFill>
            <a:srgbClr val="C8D9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Performs</a:t>
            </a:r>
            <a:r>
              <a:rPr sz="2250" spc="1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univariate</a:t>
            </a:r>
            <a:r>
              <a:rPr sz="2250" spc="1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feature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selection</a:t>
            </a:r>
            <a:r>
              <a:rPr sz="2250" spc="1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with</a:t>
            </a:r>
            <a:r>
              <a:rPr sz="2250" spc="1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a</a:t>
            </a:r>
            <a:endParaRPr sz="2250">
              <a:latin typeface="Microsoft Sans Serif"/>
              <a:cs typeface="Microsoft Sans Serif"/>
            </a:endParaRPr>
          </a:p>
          <a:p>
            <a:pPr marR="423545">
              <a:lnSpc>
                <a:spcPct val="108300"/>
              </a:lnSpc>
            </a:pP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conﬁgurable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strategy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which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found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via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hyper-parameter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search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49</a:t>
            </a:fld>
            <a:endParaRPr spc="-85" dirty="0"/>
          </a:p>
        </p:txBody>
      </p:sp>
      <p:sp>
        <p:nvSpPr>
          <p:cNvPr id="2" name="object 2"/>
          <p:cNvSpPr txBox="1"/>
          <p:nvPr/>
        </p:nvSpPr>
        <p:spPr>
          <a:xfrm>
            <a:off x="500643" y="746125"/>
            <a:ext cx="10961687" cy="4918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6680">
              <a:lnSpc>
                <a:spcPct val="108300"/>
              </a:lnSpc>
              <a:spcBef>
                <a:spcPts val="100"/>
              </a:spcBef>
            </a:pP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sklearn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provides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more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class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univariate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methods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that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work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common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univariate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statistical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tests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each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feature:</a:t>
            </a:r>
          </a:p>
          <a:p>
            <a:pPr marL="288290" marR="5080">
              <a:lnSpc>
                <a:spcPct val="108300"/>
              </a:lnSpc>
              <a:spcBef>
                <a:spcPts val="1725"/>
              </a:spcBef>
            </a:pP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SelectFpr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based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false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positive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rate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test.</a:t>
            </a:r>
            <a:endParaRPr lang="en-IN" sz="2250" dirty="0">
              <a:latin typeface="Microsoft Sans Serif"/>
              <a:cs typeface="Microsoft Sans Serif"/>
            </a:endParaRPr>
          </a:p>
          <a:p>
            <a:pPr marL="288290" marR="5080">
              <a:lnSpc>
                <a:spcPct val="108300"/>
              </a:lnSpc>
              <a:spcBef>
                <a:spcPts val="1725"/>
              </a:spcBef>
            </a:pPr>
            <a:endParaRPr lang="en-IN" sz="2250" dirty="0">
              <a:latin typeface="Microsoft Sans Serif"/>
              <a:cs typeface="Microsoft Sans Serif"/>
            </a:endParaRPr>
          </a:p>
          <a:p>
            <a:pPr marL="288290" marR="5080">
              <a:lnSpc>
                <a:spcPct val="108300"/>
              </a:lnSpc>
              <a:spcBef>
                <a:spcPts val="1725"/>
              </a:spcBef>
            </a:pPr>
            <a:endParaRPr sz="2250" dirty="0">
              <a:latin typeface="Microsoft Sans Serif"/>
              <a:cs typeface="Microsoft Sans Serif"/>
            </a:endParaRPr>
          </a:p>
          <a:p>
            <a:pPr>
              <a:spcBef>
                <a:spcPts val="5"/>
              </a:spcBef>
            </a:pPr>
            <a:endParaRPr sz="1850" dirty="0">
              <a:latin typeface="Microsoft Sans Serif"/>
              <a:cs typeface="Microsoft Sans Serif"/>
            </a:endParaRPr>
          </a:p>
          <a:p>
            <a:pPr marL="288290" marR="259079">
              <a:lnSpc>
                <a:spcPct val="108300"/>
              </a:lnSpc>
            </a:pP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SelectFdr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based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estimated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false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discovery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rate.</a:t>
            </a:r>
            <a:r>
              <a:rPr lang="en-IN" sz="2250" dirty="0">
                <a:latin typeface="Microsoft Sans Serif"/>
                <a:cs typeface="Microsoft Sans Serif"/>
              </a:rPr>
              <a:t> </a:t>
            </a:r>
          </a:p>
          <a:p>
            <a:pPr marL="288290" marR="259079">
              <a:lnSpc>
                <a:spcPct val="108300"/>
              </a:lnSpc>
            </a:pPr>
            <a:r>
              <a:rPr lang="en-IN" sz="2250" dirty="0">
                <a:latin typeface="Microsoft Sans Serif"/>
                <a:cs typeface="Microsoft Sans Serif"/>
              </a:rPr>
              <a:t>FDR = FP / (FP + TP)</a:t>
            </a:r>
          </a:p>
          <a:p>
            <a:pPr marL="288290" marR="259079">
              <a:lnSpc>
                <a:spcPct val="108300"/>
              </a:lnSpc>
            </a:pPr>
            <a:endParaRPr lang="en-IN" sz="2250" dirty="0">
              <a:latin typeface="Microsoft Sans Serif"/>
              <a:cs typeface="Microsoft Sans Serif"/>
            </a:endParaRPr>
          </a:p>
          <a:p>
            <a:pPr marL="288290" marR="259079">
              <a:lnSpc>
                <a:spcPct val="108300"/>
              </a:lnSpc>
            </a:pPr>
            <a:endParaRPr sz="2250" dirty="0">
              <a:latin typeface="Microsoft Sans Serif"/>
              <a:cs typeface="Microsoft Sans Serif"/>
            </a:endParaRPr>
          </a:p>
          <a:p>
            <a:pPr marL="288290" marR="370840">
              <a:lnSpc>
                <a:spcPct val="108300"/>
              </a:lnSpc>
              <a:spcBef>
                <a:spcPts val="1955"/>
              </a:spcBef>
            </a:pP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SelectFwe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based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family-wise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error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rate.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FF802-F6D1-332D-82CE-4C4BB2D07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887" y="2314575"/>
            <a:ext cx="2007770" cy="5651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4745" y="644525"/>
            <a:ext cx="440309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70" dirty="0">
                <a:solidFill>
                  <a:srgbClr val="000000"/>
                </a:solidFill>
                <a:latin typeface="Verdana"/>
                <a:cs typeface="Verdana"/>
              </a:rPr>
              <a:t>Univariate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50" dirty="0">
                <a:solidFill>
                  <a:srgbClr val="000000"/>
                </a:solidFill>
                <a:latin typeface="Verdana"/>
                <a:cs typeface="Verdana"/>
              </a:rPr>
              <a:t>scoring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90" dirty="0">
                <a:solidFill>
                  <a:srgbClr val="000000"/>
                </a:solidFill>
                <a:latin typeface="Verdana"/>
                <a:cs typeface="Verdana"/>
              </a:rPr>
              <a:t>function</a:t>
            </a:r>
            <a:endParaRPr sz="29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2037" y="1495424"/>
            <a:ext cx="85724" cy="85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56717" y="1320800"/>
            <a:ext cx="7094220" cy="105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Each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API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scoring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function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score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each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feature.</a:t>
            </a:r>
            <a:endParaRPr sz="2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250">
              <a:latin typeface="Microsoft Sans Serif"/>
              <a:cs typeface="Microsoft Sans Serif"/>
            </a:endParaRPr>
          </a:p>
          <a:p>
            <a:pPr marL="31750"/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Three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classes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scoring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functions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proposed: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2538" y="2667000"/>
            <a:ext cx="305752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-5" dirty="0">
                <a:latin typeface="Microsoft Sans Serif"/>
                <a:cs typeface="Microsoft Sans Serif"/>
              </a:rPr>
              <a:t>Mutual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information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(MI)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94387" y="2667000"/>
            <a:ext cx="1600200" cy="346249"/>
          </a:xfrm>
          <a:prstGeom prst="rect">
            <a:avLst/>
          </a:prstGeom>
          <a:solidFill>
            <a:srgbClr val="CFE2F2"/>
          </a:solidFill>
        </p:spPr>
        <p:txBody>
          <a:bodyPr vert="horz" wrap="square" lIns="0" tIns="0" rIns="0" bIns="0" rtlCol="0">
            <a:spAutoFit/>
          </a:bodyPr>
          <a:lstStyle/>
          <a:p>
            <a:pPr marL="100965"/>
            <a:r>
              <a:rPr sz="2250" spc="-5" dirty="0">
                <a:latin typeface="Microsoft Sans Serif"/>
                <a:cs typeface="Microsoft Sans Serif"/>
              </a:rPr>
              <a:t>Chi-square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66062" y="2667000"/>
            <a:ext cx="1543050" cy="34624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 marL="88265"/>
            <a:r>
              <a:rPr sz="2250" spc="-5" dirty="0">
                <a:latin typeface="Microsoft Sans Serif"/>
                <a:cs typeface="Microsoft Sans Serif"/>
              </a:rPr>
              <a:t>F-statistics</a:t>
            </a:r>
            <a:endParaRPr sz="225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1087" y="2162174"/>
            <a:ext cx="85724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3495674"/>
            <a:ext cx="85724" cy="857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38412" y="3292474"/>
            <a:ext cx="7172959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MI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F-statistics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used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both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classiﬁcation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regression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problems.</a:t>
            </a:r>
            <a:endParaRPr sz="225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2512" y="5495924"/>
            <a:ext cx="85724" cy="857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52401" y="5321299"/>
            <a:ext cx="6998334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Chi-square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used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only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classiﬁcation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problems.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50</a:t>
            </a:fld>
            <a:endParaRPr spc="-85" dirty="0"/>
          </a:p>
        </p:txBody>
      </p:sp>
      <p:sp>
        <p:nvSpPr>
          <p:cNvPr id="13" name="object 13"/>
          <p:cNvSpPr txBox="1"/>
          <p:nvPr/>
        </p:nvSpPr>
        <p:spPr>
          <a:xfrm>
            <a:off x="2522538" y="4171950"/>
            <a:ext cx="305752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-5" dirty="0">
                <a:latin typeface="Microsoft Sans Serif"/>
                <a:cs typeface="Microsoft Sans Serif"/>
              </a:rPr>
              <a:t>mutual_info_regression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60662" y="4667250"/>
            <a:ext cx="258127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-5" dirty="0">
                <a:latin typeface="Microsoft Sans Serif"/>
                <a:cs typeface="Microsoft Sans Serif"/>
              </a:rPr>
              <a:t>mutual_info_classif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89737" y="4171950"/>
            <a:ext cx="1724025" cy="34624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250" spc="-5" dirty="0">
                <a:latin typeface="Microsoft Sans Serif"/>
                <a:cs typeface="Microsoft Sans Serif"/>
              </a:rPr>
              <a:t>f_regression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84999" y="4667250"/>
            <a:ext cx="1333500" cy="34624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 marL="150495"/>
            <a:r>
              <a:rPr sz="2250" spc="-5" dirty="0">
                <a:latin typeface="Microsoft Sans Serif"/>
                <a:cs typeface="Microsoft Sans Serif"/>
              </a:rPr>
              <a:t>f_classif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37187" y="5924550"/>
            <a:ext cx="990600" cy="346249"/>
          </a:xfrm>
          <a:prstGeom prst="rect">
            <a:avLst/>
          </a:prstGeom>
          <a:solidFill>
            <a:srgbClr val="CFE2F2"/>
          </a:solidFill>
        </p:spPr>
        <p:txBody>
          <a:bodyPr vert="horz" wrap="square" lIns="0" tIns="0" rIns="0" bIns="0" rtlCol="0">
            <a:spAutoFit/>
          </a:bodyPr>
          <a:lstStyle/>
          <a:p>
            <a:pPr marL="233045"/>
            <a:r>
              <a:rPr sz="2250" spc="-5" dirty="0">
                <a:latin typeface="Microsoft Sans Serif"/>
                <a:cs typeface="Microsoft Sans Serif"/>
              </a:rPr>
              <a:t>chi2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36737" y="1333500"/>
            <a:ext cx="4057650" cy="3114675"/>
            <a:chOff x="476250" y="1333499"/>
            <a:chExt cx="4057650" cy="3114675"/>
          </a:xfrm>
        </p:grpSpPr>
        <p:sp>
          <p:nvSpPr>
            <p:cNvPr id="3" name="object 3"/>
            <p:cNvSpPr/>
            <p:nvPr/>
          </p:nvSpPr>
          <p:spPr>
            <a:xfrm>
              <a:off x="476250" y="1333499"/>
              <a:ext cx="4057650" cy="3114675"/>
            </a:xfrm>
            <a:custGeom>
              <a:avLst/>
              <a:gdLst/>
              <a:ahLst/>
              <a:cxnLst/>
              <a:rect l="l" t="t" r="r" b="b"/>
              <a:pathLst>
                <a:path w="4057650" h="3114675">
                  <a:moveTo>
                    <a:pt x="4057649" y="3114674"/>
                  </a:moveTo>
                  <a:lnTo>
                    <a:pt x="0" y="3114674"/>
                  </a:lnTo>
                  <a:lnTo>
                    <a:pt x="0" y="0"/>
                  </a:lnTo>
                  <a:lnTo>
                    <a:pt x="4057649" y="0"/>
                  </a:lnTo>
                  <a:lnTo>
                    <a:pt x="4057649" y="3114674"/>
                  </a:lnTo>
                  <a:close/>
                </a:path>
              </a:pathLst>
            </a:custGeom>
            <a:solidFill>
              <a:srgbClr val="D9D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1495424"/>
              <a:ext cx="85725" cy="857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2238374"/>
              <a:ext cx="85725" cy="857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95362" y="3057524"/>
              <a:ext cx="85725" cy="828675"/>
            </a:xfrm>
            <a:custGeom>
              <a:avLst/>
              <a:gdLst/>
              <a:ahLst/>
              <a:cxnLst/>
              <a:rect l="l" t="t" r="r" b="b"/>
              <a:pathLst>
                <a:path w="85725" h="828675">
                  <a:moveTo>
                    <a:pt x="85725" y="742950"/>
                  </a:moveTo>
                  <a:lnTo>
                    <a:pt x="0" y="742950"/>
                  </a:lnTo>
                  <a:lnTo>
                    <a:pt x="0" y="828675"/>
                  </a:lnTo>
                  <a:lnTo>
                    <a:pt x="85725" y="828675"/>
                  </a:lnTo>
                  <a:lnTo>
                    <a:pt x="85725" y="742950"/>
                  </a:lnTo>
                  <a:close/>
                </a:path>
                <a:path w="85725" h="828675">
                  <a:moveTo>
                    <a:pt x="85725" y="0"/>
                  </a:moveTo>
                  <a:lnTo>
                    <a:pt x="0" y="0"/>
                  </a:lnTo>
                  <a:lnTo>
                    <a:pt x="0" y="85725"/>
                  </a:lnTo>
                  <a:lnTo>
                    <a:pt x="85725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36737" y="1333500"/>
            <a:ext cx="4057650" cy="311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7990"/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M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easures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dependency</a:t>
            </a:r>
            <a:endParaRPr sz="2250">
              <a:latin typeface="Microsoft Sans Serif"/>
              <a:cs typeface="Microsoft Sans Serif"/>
            </a:endParaRPr>
          </a:p>
          <a:p>
            <a:pPr marL="427990" marR="523875">
              <a:lnSpc>
                <a:spcPct val="108300"/>
              </a:lnSpc>
            </a:pPr>
            <a:r>
              <a:rPr sz="2250" dirty="0">
                <a:latin typeface="Microsoft Sans Serif"/>
                <a:cs typeface="Microsoft Sans Serif"/>
              </a:rPr>
              <a:t>between</a:t>
            </a:r>
            <a:r>
              <a:rPr sz="2250" spc="17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two</a:t>
            </a:r>
            <a:r>
              <a:rPr sz="2250" spc="17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variables. </a:t>
            </a:r>
            <a:r>
              <a:rPr sz="2250" dirty="0">
                <a:latin typeface="Microsoft Sans Serif"/>
                <a:cs typeface="Microsoft Sans Serif"/>
              </a:rPr>
              <a:t> It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returns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non-negative </a:t>
            </a:r>
            <a:r>
              <a:rPr sz="2250" spc="-58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value.</a:t>
            </a:r>
            <a:endParaRPr sz="2250">
              <a:latin typeface="Microsoft Sans Serif"/>
              <a:cs typeface="Microsoft Sans Serif"/>
            </a:endParaRPr>
          </a:p>
          <a:p>
            <a:pPr marL="856615" marR="325120">
              <a:lnSpc>
                <a:spcPct val="108300"/>
              </a:lnSpc>
              <a:spcBef>
                <a:spcPts val="600"/>
              </a:spcBef>
            </a:pP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MI</a:t>
            </a:r>
            <a:r>
              <a:rPr sz="225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=</a:t>
            </a:r>
            <a:r>
              <a:rPr sz="225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0</a:t>
            </a:r>
            <a:r>
              <a:rPr sz="225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independent </a:t>
            </a:r>
            <a:r>
              <a:rPr sz="2250" spc="-58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variables.</a:t>
            </a:r>
            <a:endParaRPr sz="2250">
              <a:latin typeface="Microsoft Sans Serif"/>
              <a:cs typeface="Microsoft Sans Serif"/>
            </a:endParaRPr>
          </a:p>
          <a:p>
            <a:pPr marL="856615" marR="681990">
              <a:lnSpc>
                <a:spcPct val="108300"/>
              </a:lnSpc>
            </a:pP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Higher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 MI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indicates </a:t>
            </a:r>
            <a:r>
              <a:rPr sz="2250" spc="-58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higher</a:t>
            </a:r>
            <a:r>
              <a:rPr sz="2250" spc="-1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dependency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98637" y="666750"/>
            <a:ext cx="4133850" cy="436017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 marL="156845">
              <a:lnSpc>
                <a:spcPts val="3429"/>
              </a:lnSpc>
            </a:pPr>
            <a:r>
              <a:rPr sz="2900" spc="-170" dirty="0">
                <a:solidFill>
                  <a:srgbClr val="000000"/>
                </a:solidFill>
                <a:latin typeface="Verdana"/>
                <a:cs typeface="Verdana"/>
              </a:rPr>
              <a:t>Mutual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information </a:t>
            </a:r>
            <a:r>
              <a:rPr sz="2900" spc="-280" dirty="0">
                <a:solidFill>
                  <a:srgbClr val="000000"/>
                </a:solidFill>
                <a:latin typeface="Verdana"/>
                <a:cs typeface="Verdana"/>
              </a:rPr>
              <a:t>(MI)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18336" y="666750"/>
            <a:ext cx="2514600" cy="436017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 marL="348615">
              <a:lnSpc>
                <a:spcPts val="3429"/>
              </a:lnSpc>
            </a:pPr>
            <a:r>
              <a:rPr sz="2900" spc="-155" dirty="0">
                <a:latin typeface="Verdana"/>
                <a:cs typeface="Verdana"/>
              </a:rPr>
              <a:t>Chi-square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46811" y="1333499"/>
            <a:ext cx="4057650" cy="3714750"/>
            <a:chOff x="4886324" y="1333499"/>
            <a:chExt cx="4057650" cy="3714750"/>
          </a:xfrm>
        </p:grpSpPr>
        <p:sp>
          <p:nvSpPr>
            <p:cNvPr id="11" name="object 11"/>
            <p:cNvSpPr/>
            <p:nvPr/>
          </p:nvSpPr>
          <p:spPr>
            <a:xfrm>
              <a:off x="4886324" y="1333499"/>
              <a:ext cx="4057650" cy="3714750"/>
            </a:xfrm>
            <a:custGeom>
              <a:avLst/>
              <a:gdLst/>
              <a:ahLst/>
              <a:cxnLst/>
              <a:rect l="l" t="t" r="r" b="b"/>
              <a:pathLst>
                <a:path w="4057650" h="3714750">
                  <a:moveTo>
                    <a:pt x="4057649" y="3714749"/>
                  </a:moveTo>
                  <a:lnTo>
                    <a:pt x="0" y="3714749"/>
                  </a:lnTo>
                  <a:lnTo>
                    <a:pt x="0" y="0"/>
                  </a:lnTo>
                  <a:lnTo>
                    <a:pt x="4057649" y="0"/>
                  </a:lnTo>
                  <a:lnTo>
                    <a:pt x="4057649" y="3714749"/>
                  </a:lnTo>
                  <a:close/>
                </a:path>
              </a:pathLst>
            </a:custGeom>
            <a:solidFill>
              <a:srgbClr val="E9D0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6824" y="1495424"/>
              <a:ext cx="85725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6824" y="2238374"/>
              <a:ext cx="85725" cy="85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6824" y="3724274"/>
              <a:ext cx="85725" cy="857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246811" y="1333499"/>
            <a:ext cx="4057650" cy="3714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7990"/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M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easures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dependence</a:t>
            </a:r>
            <a:endParaRPr sz="2250">
              <a:latin typeface="Microsoft Sans Serif"/>
              <a:cs typeface="Microsoft Sans Serif"/>
            </a:endParaRPr>
          </a:p>
          <a:p>
            <a:pPr marL="427990">
              <a:lnSpc>
                <a:spcPct val="108300"/>
              </a:lnSpc>
            </a:pPr>
            <a:r>
              <a:rPr sz="2250" dirty="0">
                <a:latin typeface="Microsoft Sans Serif"/>
                <a:cs typeface="Microsoft Sans Serif"/>
              </a:rPr>
              <a:t>between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two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variables. </a:t>
            </a:r>
            <a:r>
              <a:rPr sz="2250" dirty="0">
                <a:latin typeface="Microsoft Sans Serif"/>
                <a:cs typeface="Microsoft Sans Serif"/>
              </a:rPr>
              <a:t> Computes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chi-square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stats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between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non-negative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 feature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(boolean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or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frequencies)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class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label</a:t>
            </a:r>
            <a:r>
              <a:rPr sz="2250" spc="-10" dirty="0">
                <a:latin typeface="Microsoft Sans Serif"/>
                <a:cs typeface="Microsoft Sans Serif"/>
              </a:rPr>
              <a:t>.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Higher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chi-square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values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indicates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that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features </a:t>
            </a:r>
            <a:r>
              <a:rPr sz="2250" spc="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and</a:t>
            </a:r>
            <a:r>
              <a:rPr sz="2250" spc="1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labels</a:t>
            </a:r>
            <a:r>
              <a:rPr sz="2250" spc="1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are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800080"/>
                </a:solidFill>
                <a:latin typeface="Microsoft Sans Serif"/>
                <a:cs typeface="Microsoft Sans Serif"/>
              </a:rPr>
              <a:t>likely</a:t>
            </a:r>
            <a:r>
              <a:rPr sz="2250" spc="1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to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be </a:t>
            </a:r>
            <a:r>
              <a:rPr sz="2250" spc="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correlated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51</a:t>
            </a:fld>
            <a:endParaRPr spc="-85" dirty="0"/>
          </a:p>
        </p:txBody>
      </p:sp>
      <p:sp>
        <p:nvSpPr>
          <p:cNvPr id="16" name="object 16"/>
          <p:cNvSpPr txBox="1"/>
          <p:nvPr/>
        </p:nvSpPr>
        <p:spPr>
          <a:xfrm>
            <a:off x="2118866" y="5292724"/>
            <a:ext cx="8189595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6345" marR="5080" indent="-3764279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MI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chi-squared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recommended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sparse </a:t>
            </a:r>
            <a:r>
              <a:rPr sz="2250" spc="-58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data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6792" y="423863"/>
            <a:ext cx="174307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-5" dirty="0">
                <a:solidFill>
                  <a:srgbClr val="0000FF"/>
                </a:solidFill>
                <a:hlinkClick r:id="rId2"/>
              </a:rPr>
              <a:t>SelectKBest</a:t>
            </a:r>
          </a:p>
        </p:txBody>
      </p:sp>
      <p:sp>
        <p:nvSpPr>
          <p:cNvPr id="3" name="object 3"/>
          <p:cNvSpPr/>
          <p:nvPr/>
        </p:nvSpPr>
        <p:spPr>
          <a:xfrm>
            <a:off x="2116791" y="1023938"/>
            <a:ext cx="3867150" cy="619125"/>
          </a:xfrm>
          <a:custGeom>
            <a:avLst/>
            <a:gdLst/>
            <a:ahLst/>
            <a:cxnLst/>
            <a:rect l="l" t="t" r="r" b="b"/>
            <a:pathLst>
              <a:path w="3867150" h="619125">
                <a:moveTo>
                  <a:pt x="3834102" y="619124"/>
                </a:moveTo>
                <a:lnTo>
                  <a:pt x="33047" y="619124"/>
                </a:lnTo>
                <a:lnTo>
                  <a:pt x="28187" y="618158"/>
                </a:lnTo>
                <a:lnTo>
                  <a:pt x="966" y="590937"/>
                </a:lnTo>
                <a:lnTo>
                  <a:pt x="0" y="586077"/>
                </a:lnTo>
                <a:lnTo>
                  <a:pt x="0" y="5810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834102" y="0"/>
                </a:lnTo>
                <a:lnTo>
                  <a:pt x="3866182" y="28187"/>
                </a:lnTo>
                <a:lnTo>
                  <a:pt x="3867149" y="33047"/>
                </a:lnTo>
                <a:lnTo>
                  <a:pt x="3867149" y="586077"/>
                </a:lnTo>
                <a:lnTo>
                  <a:pt x="3838961" y="618158"/>
                </a:lnTo>
                <a:lnTo>
                  <a:pt x="3834102" y="619124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51717" y="1022668"/>
            <a:ext cx="2860675" cy="462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skb = SelectKBest(chi2, k=20) </a:t>
            </a:r>
            <a:r>
              <a:rPr sz="1200" b="1" spc="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X_new</a:t>
            </a:r>
            <a:r>
              <a:rPr sz="1200" b="1" spc="-3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3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skb.fit_transform(X,</a:t>
            </a:r>
            <a:r>
              <a:rPr sz="1200" b="1" spc="-3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y)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4092" y="1706562"/>
            <a:ext cx="79203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Selects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20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best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based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chi-square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scoring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function.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16791" y="2807513"/>
            <a:ext cx="5257800" cy="619125"/>
          </a:xfrm>
          <a:custGeom>
            <a:avLst/>
            <a:gdLst/>
            <a:ahLst/>
            <a:cxnLst/>
            <a:rect l="l" t="t" r="r" b="b"/>
            <a:pathLst>
              <a:path w="5257800" h="619125">
                <a:moveTo>
                  <a:pt x="5224751" y="619124"/>
                </a:moveTo>
                <a:lnTo>
                  <a:pt x="33047" y="619124"/>
                </a:lnTo>
                <a:lnTo>
                  <a:pt x="28187" y="618158"/>
                </a:lnTo>
                <a:lnTo>
                  <a:pt x="966" y="590937"/>
                </a:lnTo>
                <a:lnTo>
                  <a:pt x="0" y="586077"/>
                </a:lnTo>
                <a:lnTo>
                  <a:pt x="0" y="5810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224751" y="0"/>
                </a:lnTo>
                <a:lnTo>
                  <a:pt x="5256832" y="28187"/>
                </a:lnTo>
                <a:lnTo>
                  <a:pt x="5257799" y="33047"/>
                </a:lnTo>
                <a:lnTo>
                  <a:pt x="5257799" y="586077"/>
                </a:lnTo>
                <a:lnTo>
                  <a:pt x="5229611" y="618158"/>
                </a:lnTo>
                <a:lnTo>
                  <a:pt x="5224751" y="619124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51717" y="2806241"/>
            <a:ext cx="3866515" cy="693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  <a:tabLst>
                <a:tab pos="652780" algn="l"/>
              </a:tabLst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sp</a:t>
            </a:r>
            <a:r>
              <a:rPr sz="1200" b="1" spc="-1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SelectPercentile(chi2,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percentile=20)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X_new	=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sp.fit_transform(X,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y)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6792" y="2352675"/>
            <a:ext cx="216217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  <a:hlinkClick r:id="rId2"/>
              </a:rPr>
              <a:t>SelectP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ercentile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4091" y="3616325"/>
            <a:ext cx="755523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Selects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top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20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percentile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best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based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chi-square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04092" y="3987800"/>
            <a:ext cx="210629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scoring</a:t>
            </a:r>
            <a:r>
              <a:rPr sz="2250" spc="-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function.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6791" y="4538663"/>
            <a:ext cx="3257550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 marL="78740"/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  <a:hlinkClick r:id="rId3"/>
              </a:rPr>
              <a:t>GenericUnivariateSelect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16791" y="5008848"/>
            <a:ext cx="7981950" cy="657225"/>
          </a:xfrm>
          <a:custGeom>
            <a:avLst/>
            <a:gdLst/>
            <a:ahLst/>
            <a:cxnLst/>
            <a:rect l="l" t="t" r="r" b="b"/>
            <a:pathLst>
              <a:path w="7981950" h="657225">
                <a:moveTo>
                  <a:pt x="7948900" y="657224"/>
                </a:moveTo>
                <a:lnTo>
                  <a:pt x="33047" y="657224"/>
                </a:lnTo>
                <a:lnTo>
                  <a:pt x="28187" y="656258"/>
                </a:lnTo>
                <a:lnTo>
                  <a:pt x="966" y="629037"/>
                </a:lnTo>
                <a:lnTo>
                  <a:pt x="0" y="624177"/>
                </a:lnTo>
                <a:lnTo>
                  <a:pt x="0" y="6191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948900" y="0"/>
                </a:lnTo>
                <a:lnTo>
                  <a:pt x="7980981" y="28187"/>
                </a:lnTo>
                <a:lnTo>
                  <a:pt x="7981948" y="33047"/>
                </a:lnTo>
                <a:lnTo>
                  <a:pt x="7981948" y="624177"/>
                </a:lnTo>
                <a:lnTo>
                  <a:pt x="7953760" y="656258"/>
                </a:lnTo>
                <a:lnTo>
                  <a:pt x="7948900" y="657224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151716" y="5007578"/>
            <a:ext cx="6244590" cy="462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transformer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GenericUnivariateSelect(chi2,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mode=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'k_best'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param=20) </a:t>
            </a:r>
            <a:r>
              <a:rPr sz="1200" b="1" spc="-70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X_new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transformer.fit_transform(X, y)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04092" y="5802312"/>
            <a:ext cx="79203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Selects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20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best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based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chi-square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scoring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function.</a:t>
            </a:r>
            <a:endParaRPr sz="225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22937" y="4000499"/>
            <a:ext cx="4343400" cy="819150"/>
            <a:chOff x="4362450" y="4000499"/>
            <a:chExt cx="4343400" cy="819150"/>
          </a:xfrm>
        </p:grpSpPr>
        <p:sp>
          <p:nvSpPr>
            <p:cNvPr id="16" name="object 16"/>
            <p:cNvSpPr/>
            <p:nvPr/>
          </p:nvSpPr>
          <p:spPr>
            <a:xfrm>
              <a:off x="4362450" y="4000499"/>
              <a:ext cx="4343400" cy="819150"/>
            </a:xfrm>
            <a:custGeom>
              <a:avLst/>
              <a:gdLst/>
              <a:ahLst/>
              <a:cxnLst/>
              <a:rect l="l" t="t" r="r" b="b"/>
              <a:pathLst>
                <a:path w="4343400" h="819150">
                  <a:moveTo>
                    <a:pt x="4343399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4343399" y="0"/>
                  </a:lnTo>
                  <a:lnTo>
                    <a:pt x="4343399" y="819149"/>
                  </a:lnTo>
                  <a:close/>
                </a:path>
              </a:pathLst>
            </a:custGeom>
            <a:solidFill>
              <a:srgbClr val="D9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62437" y="4076699"/>
              <a:ext cx="4029075" cy="714375"/>
            </a:xfrm>
            <a:custGeom>
              <a:avLst/>
              <a:gdLst/>
              <a:ahLst/>
              <a:cxnLst/>
              <a:rect l="l" t="t" r="r" b="b"/>
              <a:pathLst>
                <a:path w="4029075" h="714375">
                  <a:moveTo>
                    <a:pt x="685800" y="480733"/>
                  </a:moveTo>
                  <a:lnTo>
                    <a:pt x="657618" y="448652"/>
                  </a:lnTo>
                  <a:lnTo>
                    <a:pt x="652754" y="447675"/>
                  </a:lnTo>
                  <a:lnTo>
                    <a:pt x="33058" y="447675"/>
                  </a:lnTo>
                  <a:lnTo>
                    <a:pt x="977" y="475869"/>
                  </a:lnTo>
                  <a:lnTo>
                    <a:pt x="0" y="480733"/>
                  </a:lnTo>
                  <a:lnTo>
                    <a:pt x="0" y="676275"/>
                  </a:lnTo>
                  <a:lnTo>
                    <a:pt x="0" y="681329"/>
                  </a:lnTo>
                  <a:lnTo>
                    <a:pt x="28194" y="713409"/>
                  </a:lnTo>
                  <a:lnTo>
                    <a:pt x="33058" y="714375"/>
                  </a:lnTo>
                  <a:lnTo>
                    <a:pt x="652754" y="714375"/>
                  </a:lnTo>
                  <a:lnTo>
                    <a:pt x="684834" y="686193"/>
                  </a:lnTo>
                  <a:lnTo>
                    <a:pt x="685800" y="681329"/>
                  </a:lnTo>
                  <a:lnTo>
                    <a:pt x="685800" y="480733"/>
                  </a:lnTo>
                  <a:close/>
                </a:path>
                <a:path w="4029075" h="714375">
                  <a:moveTo>
                    <a:pt x="1533525" y="480733"/>
                  </a:moveTo>
                  <a:lnTo>
                    <a:pt x="1505343" y="448652"/>
                  </a:lnTo>
                  <a:lnTo>
                    <a:pt x="1500479" y="447675"/>
                  </a:lnTo>
                  <a:lnTo>
                    <a:pt x="880783" y="447675"/>
                  </a:lnTo>
                  <a:lnTo>
                    <a:pt x="848702" y="475869"/>
                  </a:lnTo>
                  <a:lnTo>
                    <a:pt x="847725" y="480733"/>
                  </a:lnTo>
                  <a:lnTo>
                    <a:pt x="847725" y="676275"/>
                  </a:lnTo>
                  <a:lnTo>
                    <a:pt x="847725" y="681329"/>
                  </a:lnTo>
                  <a:lnTo>
                    <a:pt x="875919" y="713409"/>
                  </a:lnTo>
                  <a:lnTo>
                    <a:pt x="880783" y="714375"/>
                  </a:lnTo>
                  <a:lnTo>
                    <a:pt x="1500479" y="714375"/>
                  </a:lnTo>
                  <a:lnTo>
                    <a:pt x="1532559" y="686193"/>
                  </a:lnTo>
                  <a:lnTo>
                    <a:pt x="1533525" y="681329"/>
                  </a:lnTo>
                  <a:lnTo>
                    <a:pt x="1533525" y="480733"/>
                  </a:lnTo>
                  <a:close/>
                </a:path>
                <a:path w="4029075" h="714375">
                  <a:moveTo>
                    <a:pt x="1647825" y="33058"/>
                  </a:moveTo>
                  <a:lnTo>
                    <a:pt x="1619643" y="977"/>
                  </a:lnTo>
                  <a:lnTo>
                    <a:pt x="1614779" y="0"/>
                  </a:lnTo>
                  <a:lnTo>
                    <a:pt x="33058" y="0"/>
                  </a:lnTo>
                  <a:lnTo>
                    <a:pt x="977" y="28194"/>
                  </a:lnTo>
                  <a:lnTo>
                    <a:pt x="0" y="33058"/>
                  </a:lnTo>
                  <a:lnTo>
                    <a:pt x="0" y="228600"/>
                  </a:lnTo>
                  <a:lnTo>
                    <a:pt x="0" y="233654"/>
                  </a:lnTo>
                  <a:lnTo>
                    <a:pt x="28194" y="265734"/>
                  </a:lnTo>
                  <a:lnTo>
                    <a:pt x="33058" y="266700"/>
                  </a:lnTo>
                  <a:lnTo>
                    <a:pt x="1614779" y="266700"/>
                  </a:lnTo>
                  <a:lnTo>
                    <a:pt x="1646859" y="238518"/>
                  </a:lnTo>
                  <a:lnTo>
                    <a:pt x="1647825" y="233654"/>
                  </a:lnTo>
                  <a:lnTo>
                    <a:pt x="1647825" y="33058"/>
                  </a:lnTo>
                  <a:close/>
                </a:path>
                <a:path w="4029075" h="714375">
                  <a:moveTo>
                    <a:pt x="2371725" y="480733"/>
                  </a:moveTo>
                  <a:lnTo>
                    <a:pt x="2343543" y="448652"/>
                  </a:lnTo>
                  <a:lnTo>
                    <a:pt x="2338679" y="447675"/>
                  </a:lnTo>
                  <a:lnTo>
                    <a:pt x="1718983" y="447675"/>
                  </a:lnTo>
                  <a:lnTo>
                    <a:pt x="1686902" y="475869"/>
                  </a:lnTo>
                  <a:lnTo>
                    <a:pt x="1685925" y="480733"/>
                  </a:lnTo>
                  <a:lnTo>
                    <a:pt x="1685925" y="676275"/>
                  </a:lnTo>
                  <a:lnTo>
                    <a:pt x="1685925" y="681329"/>
                  </a:lnTo>
                  <a:lnTo>
                    <a:pt x="1714119" y="713409"/>
                  </a:lnTo>
                  <a:lnTo>
                    <a:pt x="1718983" y="714375"/>
                  </a:lnTo>
                  <a:lnTo>
                    <a:pt x="2338679" y="714375"/>
                  </a:lnTo>
                  <a:lnTo>
                    <a:pt x="2370759" y="686193"/>
                  </a:lnTo>
                  <a:lnTo>
                    <a:pt x="2371725" y="681329"/>
                  </a:lnTo>
                  <a:lnTo>
                    <a:pt x="2371725" y="480733"/>
                  </a:lnTo>
                  <a:close/>
                </a:path>
                <a:path w="4029075" h="714375">
                  <a:moveTo>
                    <a:pt x="4029075" y="33058"/>
                  </a:moveTo>
                  <a:lnTo>
                    <a:pt x="4000893" y="977"/>
                  </a:lnTo>
                  <a:lnTo>
                    <a:pt x="3996029" y="0"/>
                  </a:lnTo>
                  <a:lnTo>
                    <a:pt x="2966758" y="0"/>
                  </a:lnTo>
                  <a:lnTo>
                    <a:pt x="2934678" y="28194"/>
                  </a:lnTo>
                  <a:lnTo>
                    <a:pt x="2933700" y="33058"/>
                  </a:lnTo>
                  <a:lnTo>
                    <a:pt x="2933700" y="228600"/>
                  </a:lnTo>
                  <a:lnTo>
                    <a:pt x="2933700" y="233654"/>
                  </a:lnTo>
                  <a:lnTo>
                    <a:pt x="2961894" y="265734"/>
                  </a:lnTo>
                  <a:lnTo>
                    <a:pt x="2966758" y="266700"/>
                  </a:lnTo>
                  <a:lnTo>
                    <a:pt x="3996029" y="266700"/>
                  </a:lnTo>
                  <a:lnTo>
                    <a:pt x="4028109" y="238518"/>
                  </a:lnTo>
                  <a:lnTo>
                    <a:pt x="4029075" y="233654"/>
                  </a:lnTo>
                  <a:lnTo>
                    <a:pt x="4029075" y="33058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722937" y="4000499"/>
            <a:ext cx="4343400" cy="819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b="1" dirty="0">
                <a:latin typeface="Courier New"/>
                <a:cs typeface="Courier New"/>
              </a:rPr>
              <a:t>'percentile'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(default),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'k_best'</a:t>
            </a:r>
            <a:r>
              <a:rPr sz="2250" dirty="0">
                <a:latin typeface="Microsoft Sans Serif"/>
                <a:cs typeface="Microsoft Sans Serif"/>
              </a:rPr>
              <a:t>,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825"/>
              </a:spcBef>
            </a:pPr>
            <a:r>
              <a:rPr b="1" spc="-5" dirty="0">
                <a:latin typeface="Courier New"/>
                <a:cs typeface="Courier New"/>
              </a:rPr>
              <a:t>'fpr'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b="1" spc="-5" dirty="0">
                <a:latin typeface="Courier New"/>
                <a:cs typeface="Courier New"/>
              </a:rPr>
              <a:t>'fdr'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'fwe'</a:t>
            </a:r>
            <a:endParaRPr>
              <a:latin typeface="Courier New"/>
              <a:cs typeface="Courier New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46836" y="4819651"/>
            <a:ext cx="116258" cy="266699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52</a:t>
            </a:fld>
            <a:endParaRPr spc="-8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4838" y="666750"/>
            <a:ext cx="313372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 marL="26670"/>
            <a:r>
              <a:rPr spc="-5" dirty="0">
                <a:solidFill>
                  <a:srgbClr val="0F6ACC"/>
                </a:solidFill>
                <a:hlinkClick r:id="rId2"/>
              </a:rPr>
              <a:t>GenericUnivariateSelect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5337" y="2762249"/>
            <a:ext cx="85724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5337" y="3505199"/>
            <a:ext cx="85724" cy="857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874961" y="3419474"/>
            <a:ext cx="552450" cy="266700"/>
          </a:xfrm>
          <a:custGeom>
            <a:avLst/>
            <a:gdLst/>
            <a:ahLst/>
            <a:cxnLst/>
            <a:rect l="l" t="t" r="r" b="b"/>
            <a:pathLst>
              <a:path w="552450" h="266700">
                <a:moveTo>
                  <a:pt x="51940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19402" y="0"/>
                </a:lnTo>
                <a:lnTo>
                  <a:pt x="551483" y="28187"/>
                </a:lnTo>
                <a:lnTo>
                  <a:pt x="552449" y="33047"/>
                </a:lnTo>
                <a:lnTo>
                  <a:pt x="552449" y="233652"/>
                </a:lnTo>
                <a:lnTo>
                  <a:pt x="524262" y="265733"/>
                </a:lnTo>
                <a:lnTo>
                  <a:pt x="51940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65662" y="3419474"/>
            <a:ext cx="1647825" cy="266700"/>
          </a:xfrm>
          <a:custGeom>
            <a:avLst/>
            <a:gdLst/>
            <a:ahLst/>
            <a:cxnLst/>
            <a:rect l="l" t="t" r="r" b="b"/>
            <a:pathLst>
              <a:path w="1647825" h="266700">
                <a:moveTo>
                  <a:pt x="161477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614777" y="0"/>
                </a:lnTo>
                <a:lnTo>
                  <a:pt x="1646857" y="28187"/>
                </a:lnTo>
                <a:lnTo>
                  <a:pt x="1647824" y="33047"/>
                </a:lnTo>
                <a:lnTo>
                  <a:pt x="1647824" y="233652"/>
                </a:lnTo>
                <a:lnTo>
                  <a:pt x="1619636" y="265733"/>
                </a:lnTo>
                <a:lnTo>
                  <a:pt x="161477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99361" y="3419474"/>
            <a:ext cx="1095375" cy="266700"/>
          </a:xfrm>
          <a:custGeom>
            <a:avLst/>
            <a:gdLst/>
            <a:ahLst/>
            <a:cxnLst/>
            <a:rect l="l" t="t" r="r" b="b"/>
            <a:pathLst>
              <a:path w="1095375" h="266700">
                <a:moveTo>
                  <a:pt x="1062326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062326" y="0"/>
                </a:lnTo>
                <a:lnTo>
                  <a:pt x="1094408" y="28187"/>
                </a:lnTo>
                <a:lnTo>
                  <a:pt x="1095374" y="33047"/>
                </a:lnTo>
                <a:lnTo>
                  <a:pt x="1095374" y="233652"/>
                </a:lnTo>
                <a:lnTo>
                  <a:pt x="1067187" y="265733"/>
                </a:lnTo>
                <a:lnTo>
                  <a:pt x="1062326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847136" y="3419474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65275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52752" y="0"/>
                </a:lnTo>
                <a:lnTo>
                  <a:pt x="684833" y="28187"/>
                </a:lnTo>
                <a:lnTo>
                  <a:pt x="685799" y="33047"/>
                </a:lnTo>
                <a:lnTo>
                  <a:pt x="685799" y="233652"/>
                </a:lnTo>
                <a:lnTo>
                  <a:pt x="657612" y="265733"/>
                </a:lnTo>
                <a:lnTo>
                  <a:pt x="65275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03462" y="3790949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65275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52752" y="0"/>
                </a:lnTo>
                <a:lnTo>
                  <a:pt x="684833" y="28187"/>
                </a:lnTo>
                <a:lnTo>
                  <a:pt x="685799" y="33047"/>
                </a:lnTo>
                <a:lnTo>
                  <a:pt x="685799" y="233652"/>
                </a:lnTo>
                <a:lnTo>
                  <a:pt x="657612" y="265733"/>
                </a:lnTo>
                <a:lnTo>
                  <a:pt x="65275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51186" y="3790949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65275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52752" y="0"/>
                </a:lnTo>
                <a:lnTo>
                  <a:pt x="684833" y="28187"/>
                </a:lnTo>
                <a:lnTo>
                  <a:pt x="685799" y="33047"/>
                </a:lnTo>
                <a:lnTo>
                  <a:pt x="685799" y="233652"/>
                </a:lnTo>
                <a:lnTo>
                  <a:pt x="657612" y="265733"/>
                </a:lnTo>
                <a:lnTo>
                  <a:pt x="65275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5337" y="4248149"/>
            <a:ext cx="85724" cy="85724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874961" y="4162424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65275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52752" y="0"/>
                </a:lnTo>
                <a:lnTo>
                  <a:pt x="684833" y="28187"/>
                </a:lnTo>
                <a:lnTo>
                  <a:pt x="685799" y="33047"/>
                </a:lnTo>
                <a:lnTo>
                  <a:pt x="685799" y="233652"/>
                </a:lnTo>
                <a:lnTo>
                  <a:pt x="657612" y="265733"/>
                </a:lnTo>
                <a:lnTo>
                  <a:pt x="65275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132886" y="4162424"/>
            <a:ext cx="552450" cy="266700"/>
          </a:xfrm>
          <a:custGeom>
            <a:avLst/>
            <a:gdLst/>
            <a:ahLst/>
            <a:cxnLst/>
            <a:rect l="l" t="t" r="r" b="b"/>
            <a:pathLst>
              <a:path w="552450" h="266700">
                <a:moveTo>
                  <a:pt x="519401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19401" y="0"/>
                </a:lnTo>
                <a:lnTo>
                  <a:pt x="551483" y="28187"/>
                </a:lnTo>
                <a:lnTo>
                  <a:pt x="552449" y="33047"/>
                </a:lnTo>
                <a:lnTo>
                  <a:pt x="552449" y="233652"/>
                </a:lnTo>
                <a:lnTo>
                  <a:pt x="524262" y="265733"/>
                </a:lnTo>
                <a:lnTo>
                  <a:pt x="519401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290762" y="2559051"/>
            <a:ext cx="7486650" cy="188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4625">
              <a:lnSpc>
                <a:spcPct val="108300"/>
              </a:lnSpc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Selects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set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based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mode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scoring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function.</a:t>
            </a:r>
            <a:endParaRPr sz="2250">
              <a:latin typeface="Microsoft Sans Serif"/>
              <a:cs typeface="Microsoft Sans Serif"/>
            </a:endParaRPr>
          </a:p>
          <a:p>
            <a:pPr marL="12700" marR="152400">
              <a:lnSpc>
                <a:spcPct val="108300"/>
              </a:lnSpc>
            </a:pP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mode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could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'percentile'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(default),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'k_best'</a:t>
            </a:r>
            <a:r>
              <a:rPr sz="2250" dirty="0">
                <a:latin typeface="Microsoft Sans Serif"/>
                <a:cs typeface="Microsoft Sans Serif"/>
              </a:rPr>
              <a:t>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'fpr</a:t>
            </a:r>
            <a:r>
              <a:rPr b="1" spc="-5" dirty="0">
                <a:latin typeface="Courier New"/>
                <a:cs typeface="Courier New"/>
              </a:rPr>
              <a:t>'</a:t>
            </a:r>
            <a:r>
              <a:rPr sz="2250" dirty="0">
                <a:latin typeface="Microsoft Sans Serif"/>
                <a:cs typeface="Microsoft Sans Serif"/>
              </a:rPr>
              <a:t>,  </a:t>
            </a:r>
            <a:r>
              <a:rPr b="1" spc="-5" dirty="0">
                <a:latin typeface="Courier New"/>
                <a:cs typeface="Courier New"/>
              </a:rPr>
              <a:t>'fdr'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b="1" spc="-5" dirty="0">
                <a:latin typeface="Courier New"/>
                <a:cs typeface="Courier New"/>
              </a:rPr>
              <a:t>'fwe'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spcBef>
                <a:spcPts val="225"/>
              </a:spcBef>
            </a:pP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param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argument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takes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corresponding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mode</a:t>
            </a:r>
            <a:r>
              <a:rPr sz="2250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74837" y="1597596"/>
            <a:ext cx="7981950" cy="657225"/>
          </a:xfrm>
          <a:custGeom>
            <a:avLst/>
            <a:gdLst/>
            <a:ahLst/>
            <a:cxnLst/>
            <a:rect l="l" t="t" r="r" b="b"/>
            <a:pathLst>
              <a:path w="7981950" h="657225">
                <a:moveTo>
                  <a:pt x="7948900" y="657224"/>
                </a:moveTo>
                <a:lnTo>
                  <a:pt x="33047" y="657224"/>
                </a:lnTo>
                <a:lnTo>
                  <a:pt x="28187" y="656258"/>
                </a:lnTo>
                <a:lnTo>
                  <a:pt x="966" y="629037"/>
                </a:lnTo>
                <a:lnTo>
                  <a:pt x="0" y="624177"/>
                </a:lnTo>
                <a:lnTo>
                  <a:pt x="0" y="6191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948900" y="0"/>
                </a:lnTo>
                <a:lnTo>
                  <a:pt x="7980981" y="28187"/>
                </a:lnTo>
                <a:lnTo>
                  <a:pt x="7981948" y="33047"/>
                </a:lnTo>
                <a:lnTo>
                  <a:pt x="7981948" y="624177"/>
                </a:lnTo>
                <a:lnTo>
                  <a:pt x="7953760" y="656258"/>
                </a:lnTo>
                <a:lnTo>
                  <a:pt x="7948900" y="657224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09762" y="1596326"/>
            <a:ext cx="6244590" cy="462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transformer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GenericUnivariateSelect(chi2,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mode=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'k_best'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param=20) </a:t>
            </a:r>
            <a:r>
              <a:rPr sz="1200" b="1" spc="-70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X_new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transformer.fit_transform(X, y)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53</a:t>
            </a:fld>
            <a:endParaRPr spc="-8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54</a:t>
            </a:fld>
            <a:endParaRPr spc="-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384" y="2178051"/>
            <a:ext cx="5536565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8300"/>
              </a:lnSpc>
              <a:spcBef>
                <a:spcPts val="100"/>
              </a:spcBef>
              <a:tabLst>
                <a:tab pos="4888230" algn="l"/>
              </a:tabLst>
            </a:pPr>
            <a:r>
              <a:rPr dirty="0">
                <a:solidFill>
                  <a:srgbClr val="000000"/>
                </a:solidFill>
              </a:rPr>
              <a:t>Do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not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regression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feature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scoring 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function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with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classiﬁcation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problem.	</a:t>
            </a:r>
            <a:r>
              <a:rPr dirty="0">
                <a:solidFill>
                  <a:srgbClr val="000000"/>
                </a:solidFill>
              </a:rPr>
              <a:t>It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will </a:t>
            </a:r>
            <a:r>
              <a:rPr spc="-59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lead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useless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results.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55</a:t>
            </a:fld>
            <a:endParaRPr spc="-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6058" y="1125537"/>
            <a:ext cx="4933315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65" dirty="0">
                <a:solidFill>
                  <a:srgbClr val="0000FF"/>
                </a:solidFill>
                <a:latin typeface="Verdana"/>
                <a:cs typeface="Verdana"/>
              </a:rPr>
              <a:t>W</a:t>
            </a:r>
            <a:r>
              <a:rPr sz="2900" spc="-185" dirty="0">
                <a:solidFill>
                  <a:srgbClr val="0000FF"/>
                </a:solidFill>
                <a:latin typeface="Verdana"/>
                <a:cs typeface="Verdana"/>
              </a:rPr>
              <a:t>rapper</a:t>
            </a:r>
            <a:r>
              <a:rPr sz="2900" spc="-2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125" dirty="0">
                <a:solidFill>
                  <a:srgbClr val="0000FF"/>
                </a:solidFill>
                <a:latin typeface="Verdana"/>
                <a:cs typeface="Verdana"/>
              </a:rPr>
              <a:t>based</a:t>
            </a:r>
            <a:r>
              <a:rPr sz="2900" spc="-2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240" dirty="0">
                <a:solidFill>
                  <a:srgbClr val="0000FF"/>
                </a:solidFill>
                <a:latin typeface="Verdana"/>
                <a:cs typeface="Verdana"/>
              </a:rPr>
              <a:t>ﬁlter</a:t>
            </a:r>
            <a:r>
              <a:rPr sz="2900" spc="-2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145" dirty="0">
                <a:solidFill>
                  <a:srgbClr val="0000FF"/>
                </a:solidFill>
                <a:latin typeface="Verdana"/>
                <a:cs typeface="Verdana"/>
              </a:rPr>
              <a:t>selection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4987" y="2000250"/>
            <a:ext cx="5715000" cy="1064907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 marL="109220"/>
            <a:r>
              <a:rPr sz="2250" spc="-5" dirty="0">
                <a:latin typeface="Microsoft Sans Serif"/>
                <a:cs typeface="Microsoft Sans Serif"/>
              </a:rPr>
              <a:t>Unlike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ﬁlter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based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methods,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wrapper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based</a:t>
            </a:r>
            <a:endParaRPr sz="2250">
              <a:latin typeface="Microsoft Sans Serif"/>
              <a:cs typeface="Microsoft Sans Serif"/>
            </a:endParaRPr>
          </a:p>
          <a:p>
            <a:pPr marL="1816735" marR="189230" indent="-1620520">
              <a:lnSpc>
                <a:spcPct val="108300"/>
              </a:lnSpc>
            </a:pPr>
            <a:r>
              <a:rPr sz="2250" dirty="0">
                <a:latin typeface="Microsoft Sans Serif"/>
                <a:cs typeface="Microsoft Sans Serif"/>
              </a:rPr>
              <a:t>methods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use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estimator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class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rather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than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scoring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function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450" y="825500"/>
            <a:ext cx="607441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20" dirty="0">
                <a:solidFill>
                  <a:srgbClr val="000000"/>
                </a:solidFill>
                <a:latin typeface="Verdana"/>
                <a:cs typeface="Verdana"/>
              </a:rPr>
              <a:t>Recursive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45" dirty="0">
                <a:solidFill>
                  <a:srgbClr val="000000"/>
                </a:solidFill>
                <a:latin typeface="Verdana"/>
                <a:cs typeface="Verdana"/>
              </a:rPr>
              <a:t>Feature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70" dirty="0">
                <a:solidFill>
                  <a:srgbClr val="000000"/>
                </a:solidFill>
                <a:latin typeface="Verdana"/>
                <a:cs typeface="Verdana"/>
              </a:rPr>
              <a:t>Elimination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350" dirty="0">
                <a:solidFill>
                  <a:srgbClr val="000000"/>
                </a:solidFill>
                <a:latin typeface="Verdana"/>
                <a:cs typeface="Verdana"/>
              </a:rPr>
              <a:t>(</a:t>
            </a:r>
            <a:r>
              <a:rPr sz="2900" spc="110" dirty="0">
                <a:solidFill>
                  <a:srgbClr val="0000FF"/>
                </a:solidFill>
                <a:latin typeface="Verdana"/>
                <a:cs typeface="Verdana"/>
                <a:hlinkClick r:id="rId2"/>
              </a:rPr>
              <a:t>RFE</a:t>
            </a:r>
            <a:r>
              <a:rPr sz="2900" spc="-345" dirty="0">
                <a:solidFill>
                  <a:srgbClr val="000000"/>
                </a:solidFill>
                <a:latin typeface="Verdana"/>
                <a:cs typeface="Verdana"/>
              </a:rPr>
              <a:t>)</a:t>
            </a:r>
            <a:endParaRPr sz="29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7312" y="1866899"/>
            <a:ext cx="85724" cy="857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55938" y="2314575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52736" y="1587501"/>
            <a:ext cx="6427470" cy="247332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spcBef>
                <a:spcPts val="925"/>
              </a:spcBef>
            </a:pPr>
            <a:r>
              <a:rPr sz="2250" dirty="0">
                <a:latin typeface="Microsoft Sans Serif"/>
                <a:cs typeface="Microsoft Sans Serif"/>
              </a:rPr>
              <a:t>Uses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estimator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recursively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remove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features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 marL="440690">
              <a:spcBef>
                <a:spcPts val="825"/>
              </a:spcBef>
            </a:pPr>
            <a:r>
              <a:rPr sz="2250" spc="-10" dirty="0">
                <a:latin typeface="Microsoft Sans Serif"/>
                <a:cs typeface="Microsoft Sans Serif"/>
              </a:rPr>
              <a:t>Initially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ﬁts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estimator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all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features.</a:t>
            </a:r>
            <a:endParaRPr sz="2250">
              <a:latin typeface="Microsoft Sans Serif"/>
              <a:cs typeface="Microsoft Sans Serif"/>
            </a:endParaRPr>
          </a:p>
          <a:p>
            <a:pPr marL="12700" marR="21590">
              <a:lnSpc>
                <a:spcPct val="108300"/>
              </a:lnSpc>
              <a:spcBef>
                <a:spcPts val="525"/>
              </a:spcBef>
            </a:pPr>
            <a:r>
              <a:rPr sz="2250" spc="-5" dirty="0">
                <a:latin typeface="Microsoft Sans Serif"/>
                <a:cs typeface="Microsoft Sans Serif"/>
              </a:rPr>
              <a:t>Obtains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feature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importance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from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estimator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removes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the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least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important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feature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 marL="12700" marR="5080">
              <a:lnSpc>
                <a:spcPct val="108300"/>
              </a:lnSpc>
            </a:pP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Repeats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the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process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by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removing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by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one,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800080"/>
                </a:solidFill>
                <a:latin typeface="Microsoft Sans Serif"/>
                <a:cs typeface="Microsoft Sans Serif"/>
              </a:rPr>
              <a:t>until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desired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number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of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features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obtained.</a:t>
            </a:r>
            <a:endParaRPr sz="225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7312" y="2752724"/>
            <a:ext cx="85724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7312" y="3495674"/>
            <a:ext cx="85724" cy="8572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436812" y="4438649"/>
            <a:ext cx="6991350" cy="1485900"/>
            <a:chOff x="1076325" y="4438649"/>
            <a:chExt cx="6991350" cy="1485900"/>
          </a:xfrm>
        </p:grpSpPr>
        <p:sp>
          <p:nvSpPr>
            <p:cNvPr id="9" name="object 9"/>
            <p:cNvSpPr/>
            <p:nvPr/>
          </p:nvSpPr>
          <p:spPr>
            <a:xfrm>
              <a:off x="1076325" y="4438649"/>
              <a:ext cx="6991350" cy="1485900"/>
            </a:xfrm>
            <a:custGeom>
              <a:avLst/>
              <a:gdLst/>
              <a:ahLst/>
              <a:cxnLst/>
              <a:rect l="l" t="t" r="r" b="b"/>
              <a:pathLst>
                <a:path w="6991350" h="1485900">
                  <a:moveTo>
                    <a:pt x="6991349" y="1485899"/>
                  </a:moveTo>
                  <a:lnTo>
                    <a:pt x="0" y="1485899"/>
                  </a:lnTo>
                  <a:lnTo>
                    <a:pt x="0" y="0"/>
                  </a:lnTo>
                  <a:lnTo>
                    <a:pt x="6991349" y="0"/>
                  </a:lnTo>
                  <a:lnTo>
                    <a:pt x="6991349" y="1485899"/>
                  </a:lnTo>
                  <a:close/>
                </a:path>
              </a:pathLst>
            </a:custGeom>
            <a:solidFill>
              <a:srgbClr val="D9D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6825" y="4600574"/>
              <a:ext cx="85724" cy="857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71687" y="4514849"/>
              <a:ext cx="2524125" cy="638175"/>
            </a:xfrm>
            <a:custGeom>
              <a:avLst/>
              <a:gdLst/>
              <a:ahLst/>
              <a:cxnLst/>
              <a:rect l="l" t="t" r="r" b="b"/>
              <a:pathLst>
                <a:path w="2524125" h="638175">
                  <a:moveTo>
                    <a:pt x="685800" y="33058"/>
                  </a:moveTo>
                  <a:lnTo>
                    <a:pt x="657618" y="977"/>
                  </a:lnTo>
                  <a:lnTo>
                    <a:pt x="652754" y="0"/>
                  </a:lnTo>
                  <a:lnTo>
                    <a:pt x="33058" y="0"/>
                  </a:lnTo>
                  <a:lnTo>
                    <a:pt x="977" y="28194"/>
                  </a:lnTo>
                  <a:lnTo>
                    <a:pt x="0" y="33058"/>
                  </a:lnTo>
                  <a:lnTo>
                    <a:pt x="0" y="228600"/>
                  </a:lnTo>
                  <a:lnTo>
                    <a:pt x="0" y="233654"/>
                  </a:lnTo>
                  <a:lnTo>
                    <a:pt x="28194" y="265734"/>
                  </a:lnTo>
                  <a:lnTo>
                    <a:pt x="33058" y="266700"/>
                  </a:lnTo>
                  <a:lnTo>
                    <a:pt x="652754" y="266700"/>
                  </a:lnTo>
                  <a:lnTo>
                    <a:pt x="684834" y="238518"/>
                  </a:lnTo>
                  <a:lnTo>
                    <a:pt x="685800" y="233654"/>
                  </a:lnTo>
                  <a:lnTo>
                    <a:pt x="685800" y="33058"/>
                  </a:lnTo>
                  <a:close/>
                </a:path>
                <a:path w="2524125" h="638175">
                  <a:moveTo>
                    <a:pt x="2524125" y="404533"/>
                  </a:moveTo>
                  <a:lnTo>
                    <a:pt x="2495943" y="372452"/>
                  </a:lnTo>
                  <a:lnTo>
                    <a:pt x="2491079" y="371475"/>
                  </a:lnTo>
                  <a:lnTo>
                    <a:pt x="2147608" y="371475"/>
                  </a:lnTo>
                  <a:lnTo>
                    <a:pt x="2115528" y="399669"/>
                  </a:lnTo>
                  <a:lnTo>
                    <a:pt x="2114550" y="404533"/>
                  </a:lnTo>
                  <a:lnTo>
                    <a:pt x="2114550" y="600075"/>
                  </a:lnTo>
                  <a:lnTo>
                    <a:pt x="2114550" y="605129"/>
                  </a:lnTo>
                  <a:lnTo>
                    <a:pt x="2142744" y="637209"/>
                  </a:lnTo>
                  <a:lnTo>
                    <a:pt x="2147608" y="638175"/>
                  </a:lnTo>
                  <a:lnTo>
                    <a:pt x="2491079" y="638175"/>
                  </a:lnTo>
                  <a:lnTo>
                    <a:pt x="2523159" y="609993"/>
                  </a:lnTo>
                  <a:lnTo>
                    <a:pt x="2524125" y="605129"/>
                  </a:lnTo>
                  <a:lnTo>
                    <a:pt x="2524125" y="404533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6825" y="5343524"/>
              <a:ext cx="85724" cy="857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52749" y="5257799"/>
              <a:ext cx="409575" cy="266700"/>
            </a:xfrm>
            <a:custGeom>
              <a:avLst/>
              <a:gdLst/>
              <a:ahLst/>
              <a:cxnLst/>
              <a:rect l="l" t="t" r="r" b="b"/>
              <a:pathLst>
                <a:path w="409575" h="266700">
                  <a:moveTo>
                    <a:pt x="376527" y="266699"/>
                  </a:moveTo>
                  <a:lnTo>
                    <a:pt x="33047" y="266699"/>
                  </a:lnTo>
                  <a:lnTo>
                    <a:pt x="28187" y="265733"/>
                  </a:lnTo>
                  <a:lnTo>
                    <a:pt x="966" y="238512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76527" y="0"/>
                  </a:lnTo>
                  <a:lnTo>
                    <a:pt x="408608" y="28187"/>
                  </a:lnTo>
                  <a:lnTo>
                    <a:pt x="409574" y="33047"/>
                  </a:lnTo>
                  <a:lnTo>
                    <a:pt x="409574" y="233652"/>
                  </a:lnTo>
                  <a:lnTo>
                    <a:pt x="381387" y="265733"/>
                  </a:lnTo>
                  <a:lnTo>
                    <a:pt x="376527" y="266699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36812" y="4438649"/>
            <a:ext cx="6991350" cy="148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7990">
              <a:tabLst>
                <a:tab pos="1095375" algn="l"/>
              </a:tabLst>
            </a:pPr>
            <a:r>
              <a:rPr sz="2250" dirty="0">
                <a:latin typeface="Microsoft Sans Serif"/>
                <a:cs typeface="Microsoft Sans Serif"/>
              </a:rPr>
              <a:t>Use	</a:t>
            </a:r>
            <a:r>
              <a:rPr b="1" dirty="0">
                <a:latin typeface="Courier New"/>
                <a:cs typeface="Courier New"/>
                <a:hlinkClick r:id="rId4"/>
              </a:rPr>
              <a:t>RFECV</a:t>
            </a:r>
            <a:r>
              <a:rPr b="1" spc="-459" dirty="0">
                <a:latin typeface="Courier New"/>
                <a:cs typeface="Courier New"/>
                <a:hlinkClick r:id="rId4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not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want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specify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desired</a:t>
            </a:r>
            <a:endParaRPr sz="2250">
              <a:latin typeface="Microsoft Sans Serif"/>
              <a:cs typeface="Microsoft Sans Serif"/>
            </a:endParaRPr>
          </a:p>
          <a:p>
            <a:pPr marL="427990">
              <a:spcBef>
                <a:spcPts val="225"/>
              </a:spcBef>
            </a:pPr>
            <a:r>
              <a:rPr sz="2250" dirty="0">
                <a:latin typeface="Microsoft Sans Serif"/>
                <a:cs typeface="Microsoft Sans Serif"/>
              </a:rPr>
              <a:t>number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RFE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 marL="427990" marR="139700">
              <a:lnSpc>
                <a:spcPct val="108300"/>
              </a:lnSpc>
            </a:pPr>
            <a:r>
              <a:rPr sz="2250" dirty="0">
                <a:latin typeface="Microsoft Sans Serif"/>
                <a:cs typeface="Microsoft Sans Serif"/>
              </a:rPr>
              <a:t>It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performs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RFE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cross-validation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loop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ﬁnd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 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optimal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number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of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features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56</a:t>
            </a:fld>
            <a:endParaRPr spc="-8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2487" y="552450"/>
            <a:ext cx="261937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 marL="189865"/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SelectFromModel</a:t>
            </a:r>
            <a:endParaRPr sz="225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987" y="2828924"/>
            <a:ext cx="85724" cy="857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494585" y="2743199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652751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52751" y="0"/>
                </a:lnTo>
                <a:lnTo>
                  <a:pt x="684832" y="28187"/>
                </a:lnTo>
                <a:lnTo>
                  <a:pt x="685799" y="33047"/>
                </a:lnTo>
                <a:lnTo>
                  <a:pt x="685799" y="233652"/>
                </a:lnTo>
                <a:lnTo>
                  <a:pt x="657612" y="265733"/>
                </a:lnTo>
                <a:lnTo>
                  <a:pt x="652751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51111" y="3114674"/>
            <a:ext cx="2743200" cy="266700"/>
          </a:xfrm>
          <a:custGeom>
            <a:avLst/>
            <a:gdLst/>
            <a:ahLst/>
            <a:cxnLst/>
            <a:rect l="l" t="t" r="r" b="b"/>
            <a:pathLst>
              <a:path w="2743200" h="266700">
                <a:moveTo>
                  <a:pt x="2710151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710151" y="0"/>
                </a:lnTo>
                <a:lnTo>
                  <a:pt x="2742232" y="28187"/>
                </a:lnTo>
                <a:lnTo>
                  <a:pt x="2743199" y="33047"/>
                </a:lnTo>
                <a:lnTo>
                  <a:pt x="2743199" y="233652"/>
                </a:lnTo>
                <a:lnTo>
                  <a:pt x="2715011" y="265733"/>
                </a:lnTo>
                <a:lnTo>
                  <a:pt x="2710151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22486" y="1152525"/>
            <a:ext cx="7620000" cy="1064907"/>
          </a:xfrm>
          <a:prstGeom prst="rect">
            <a:avLst/>
          </a:prstGeom>
          <a:solidFill>
            <a:srgbClr val="CFE2F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-5" dirty="0">
                <a:latin typeface="Microsoft Sans Serif"/>
                <a:cs typeface="Microsoft Sans Serif"/>
              </a:rPr>
              <a:t>Selects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desired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number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of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important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features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(as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speciﬁed</a:t>
            </a:r>
            <a:endParaRPr sz="2250">
              <a:latin typeface="Microsoft Sans Serif"/>
              <a:cs typeface="Microsoft Sans Serif"/>
            </a:endParaRPr>
          </a:p>
          <a:p>
            <a:pPr marR="258445">
              <a:lnSpc>
                <a:spcPct val="108300"/>
              </a:lnSpc>
            </a:pP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max_features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parameter)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above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certain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threshold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of </a:t>
            </a:r>
            <a:r>
              <a:rPr sz="2250" spc="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feature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importance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as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obtained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from</a:t>
            </a:r>
            <a:r>
              <a:rPr sz="2250" spc="30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the</a:t>
            </a:r>
            <a:r>
              <a:rPr sz="2250" spc="2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trained</a:t>
            </a:r>
            <a:r>
              <a:rPr sz="2250" spc="30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estimator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3063" y="4162424"/>
            <a:ext cx="85724" cy="8572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903862" y="4819649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>
                <a:moveTo>
                  <a:pt x="78610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86102" y="0"/>
                </a:lnTo>
                <a:lnTo>
                  <a:pt x="818183" y="28187"/>
                </a:lnTo>
                <a:lnTo>
                  <a:pt x="819149" y="33047"/>
                </a:lnTo>
                <a:lnTo>
                  <a:pt x="819149" y="233652"/>
                </a:lnTo>
                <a:lnTo>
                  <a:pt x="790962" y="265733"/>
                </a:lnTo>
                <a:lnTo>
                  <a:pt x="78610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84938" y="4819649"/>
            <a:ext cx="1095375" cy="266700"/>
          </a:xfrm>
          <a:custGeom>
            <a:avLst/>
            <a:gdLst/>
            <a:ahLst/>
            <a:cxnLst/>
            <a:rect l="l" t="t" r="r" b="b"/>
            <a:pathLst>
              <a:path w="1095375" h="266700">
                <a:moveTo>
                  <a:pt x="106232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062327" y="0"/>
                </a:lnTo>
                <a:lnTo>
                  <a:pt x="1094408" y="28187"/>
                </a:lnTo>
                <a:lnTo>
                  <a:pt x="1095374" y="33047"/>
                </a:lnTo>
                <a:lnTo>
                  <a:pt x="1095374" y="233652"/>
                </a:lnTo>
                <a:lnTo>
                  <a:pt x="1067187" y="265733"/>
                </a:lnTo>
                <a:lnTo>
                  <a:pt x="106232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37062" y="5191124"/>
            <a:ext cx="1371600" cy="266700"/>
          </a:xfrm>
          <a:custGeom>
            <a:avLst/>
            <a:gdLst/>
            <a:ahLst/>
            <a:cxnLst/>
            <a:rect l="l" t="t" r="r" b="b"/>
            <a:pathLst>
              <a:path w="1371600" h="266700">
                <a:moveTo>
                  <a:pt x="133855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338552" y="0"/>
                </a:lnTo>
                <a:lnTo>
                  <a:pt x="1370632" y="28187"/>
                </a:lnTo>
                <a:lnTo>
                  <a:pt x="1371599" y="33047"/>
                </a:lnTo>
                <a:lnTo>
                  <a:pt x="1371599" y="233652"/>
                </a:lnTo>
                <a:lnTo>
                  <a:pt x="1343412" y="265733"/>
                </a:lnTo>
                <a:lnTo>
                  <a:pt x="133855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38412" y="2625725"/>
            <a:ext cx="7173595" cy="28448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spcBef>
                <a:spcPts val="325"/>
              </a:spcBef>
            </a:pP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importance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obtained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via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spc="-5" dirty="0">
                <a:latin typeface="Courier New"/>
                <a:cs typeface="Courier New"/>
              </a:rPr>
              <a:t>coef_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endParaRPr sz="2250">
              <a:latin typeface="Microsoft Sans Serif"/>
              <a:cs typeface="Microsoft Sans Serif"/>
            </a:endParaRPr>
          </a:p>
          <a:p>
            <a:pPr marL="12700" marR="247650">
              <a:lnSpc>
                <a:spcPct val="108300"/>
              </a:lnSpc>
            </a:pPr>
            <a:r>
              <a:rPr b="1" dirty="0">
                <a:latin typeface="Courier New"/>
                <a:cs typeface="Courier New"/>
              </a:rPr>
              <a:t>feature_importances_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importance_getter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callable  </a:t>
            </a:r>
            <a:r>
              <a:rPr sz="2250" dirty="0">
                <a:latin typeface="Microsoft Sans Serif"/>
                <a:cs typeface="Microsoft Sans Serif"/>
              </a:rPr>
              <a:t>from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trained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estimator</a:t>
            </a:r>
            <a:endParaRPr sz="225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08300"/>
              </a:lnSpc>
              <a:spcBef>
                <a:spcPts val="1725"/>
              </a:spcBef>
            </a:pPr>
            <a:r>
              <a:rPr sz="2250" dirty="0">
                <a:latin typeface="Microsoft Sans Serif"/>
                <a:cs typeface="Microsoft Sans Serif"/>
              </a:rPr>
              <a:t>The feature </a:t>
            </a:r>
            <a:r>
              <a:rPr sz="2250" spc="-5" dirty="0">
                <a:latin typeface="Microsoft Sans Serif"/>
                <a:cs typeface="Microsoft Sans Serif"/>
              </a:rPr>
              <a:t>importance threshold </a:t>
            </a:r>
            <a:r>
              <a:rPr sz="2250" dirty="0">
                <a:latin typeface="Microsoft Sans Serif"/>
                <a:cs typeface="Microsoft Sans Serif"/>
              </a:rPr>
              <a:t>can be </a:t>
            </a:r>
            <a:r>
              <a:rPr sz="2250" spc="-5" dirty="0">
                <a:latin typeface="Microsoft Sans Serif"/>
                <a:cs typeface="Microsoft Sans Serif"/>
              </a:rPr>
              <a:t>speciﬁed either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numerically </a:t>
            </a:r>
            <a:r>
              <a:rPr sz="2250" dirty="0">
                <a:latin typeface="Microsoft Sans Serif"/>
                <a:cs typeface="Microsoft Sans Serif"/>
              </a:rPr>
              <a:t>or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through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string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argument </a:t>
            </a:r>
            <a:r>
              <a:rPr sz="2250" dirty="0">
                <a:latin typeface="Microsoft Sans Serif"/>
                <a:cs typeface="Microsoft Sans Serif"/>
              </a:rPr>
              <a:t>based on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built-in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heuristics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such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'mean</a:t>
            </a:r>
            <a:r>
              <a:rPr b="1" spc="-5" dirty="0">
                <a:latin typeface="Courier New"/>
                <a:cs typeface="Courier New"/>
              </a:rPr>
              <a:t>'</a:t>
            </a:r>
            <a:r>
              <a:rPr sz="2250" dirty="0">
                <a:latin typeface="Microsoft Sans Serif"/>
                <a:cs typeface="Microsoft Sans Serif"/>
              </a:rPr>
              <a:t>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'median'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ﬂoat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multiples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  these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like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spc="-5" dirty="0">
                <a:latin typeface="Courier New"/>
                <a:cs typeface="Courier New"/>
              </a:rPr>
              <a:t>'0.1*mean'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57</a:t>
            </a:fld>
            <a:endParaRPr spc="-85" dirty="0"/>
          </a:p>
        </p:txBody>
      </p:sp>
      <p:sp>
        <p:nvSpPr>
          <p:cNvPr id="12" name="object 12"/>
          <p:cNvSpPr txBox="1"/>
          <p:nvPr/>
        </p:nvSpPr>
        <p:spPr>
          <a:xfrm>
            <a:off x="2398749" y="5872163"/>
            <a:ext cx="7067550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 marL="170815"/>
            <a:r>
              <a:rPr sz="2250" dirty="0">
                <a:latin typeface="Microsoft Sans Serif"/>
                <a:cs typeface="Microsoft Sans Serif"/>
              </a:rPr>
              <a:t>Let's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look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concrete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example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SelectFromModel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3597" y="790575"/>
            <a:ext cx="5857875" cy="1628775"/>
          </a:xfrm>
          <a:custGeom>
            <a:avLst/>
            <a:gdLst/>
            <a:ahLst/>
            <a:cxnLst/>
            <a:rect l="l" t="t" r="r" b="b"/>
            <a:pathLst>
              <a:path w="5857875" h="1628775">
                <a:moveTo>
                  <a:pt x="5824826" y="1628774"/>
                </a:moveTo>
                <a:lnTo>
                  <a:pt x="33047" y="1628774"/>
                </a:lnTo>
                <a:lnTo>
                  <a:pt x="28187" y="1627808"/>
                </a:lnTo>
                <a:lnTo>
                  <a:pt x="966" y="1600587"/>
                </a:lnTo>
                <a:lnTo>
                  <a:pt x="0" y="1595727"/>
                </a:lnTo>
                <a:lnTo>
                  <a:pt x="0" y="15906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824826" y="0"/>
                </a:lnTo>
                <a:lnTo>
                  <a:pt x="5856906" y="28187"/>
                </a:lnTo>
                <a:lnTo>
                  <a:pt x="5857873" y="33047"/>
                </a:lnTo>
                <a:lnTo>
                  <a:pt x="5857873" y="1595727"/>
                </a:lnTo>
                <a:lnTo>
                  <a:pt x="5829686" y="1627808"/>
                </a:lnTo>
                <a:lnTo>
                  <a:pt x="5824826" y="1628774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38522" y="789305"/>
            <a:ext cx="450659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clf</a:t>
            </a:r>
            <a:r>
              <a:rPr sz="1200" b="1" spc="-1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1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LinearSVC(C=0.01,</a:t>
            </a:r>
            <a:r>
              <a:rPr sz="1200" b="1" spc="-1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penalty=</a:t>
            </a:r>
            <a:r>
              <a:rPr sz="1200" b="1" dirty="0">
                <a:solidFill>
                  <a:srgbClr val="A6E22E"/>
                </a:solidFill>
                <a:latin typeface="Courier New"/>
                <a:cs typeface="Courier New"/>
              </a:rPr>
              <a:t>"l1"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dual=</a:t>
            </a:r>
            <a:r>
              <a:rPr sz="1200" b="1" spc="-5" dirty="0">
                <a:solidFill>
                  <a:srgbClr val="F92572"/>
                </a:solidFill>
                <a:latin typeface="Courier New"/>
                <a:cs typeface="Courier New"/>
              </a:rPr>
              <a:t>False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) </a:t>
            </a:r>
            <a:r>
              <a:rPr sz="1200" b="1" spc="-70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clf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clf.fit(X, y)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clf.coef_</a:t>
            </a:r>
            <a:endParaRPr sz="12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1550">
              <a:latin typeface="Courier New"/>
              <a:cs typeface="Courier New"/>
            </a:endParaRPr>
          </a:p>
          <a:p>
            <a:pPr marL="12700" marR="735965">
              <a:lnSpc>
                <a:spcPct val="125000"/>
              </a:lnSpc>
              <a:spcBef>
                <a:spcPts val="5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model</a:t>
            </a:r>
            <a:r>
              <a:rPr sz="1200" b="1" spc="-3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3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SelectFromModel(clf,</a:t>
            </a:r>
            <a:r>
              <a:rPr sz="1200" b="1" spc="-3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prefit=</a:t>
            </a:r>
            <a:r>
              <a:rPr sz="1200" b="1" dirty="0">
                <a:solidFill>
                  <a:srgbClr val="F92572"/>
                </a:solidFill>
                <a:latin typeface="Courier New"/>
                <a:cs typeface="Courier New"/>
              </a:rPr>
              <a:t>True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)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X_new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model.transform(X)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2828924"/>
            <a:ext cx="85724" cy="857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903911" y="3114674"/>
            <a:ext cx="2057400" cy="266700"/>
          </a:xfrm>
          <a:custGeom>
            <a:avLst/>
            <a:gdLst/>
            <a:ahLst/>
            <a:cxnLst/>
            <a:rect l="l" t="t" r="r" b="b"/>
            <a:pathLst>
              <a:path w="2057400" h="266700">
                <a:moveTo>
                  <a:pt x="202435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024352" y="0"/>
                </a:lnTo>
                <a:lnTo>
                  <a:pt x="2056432" y="28187"/>
                </a:lnTo>
                <a:lnTo>
                  <a:pt x="2057399" y="33047"/>
                </a:lnTo>
                <a:lnTo>
                  <a:pt x="2057399" y="233652"/>
                </a:lnTo>
                <a:lnTo>
                  <a:pt x="2029211" y="265733"/>
                </a:lnTo>
                <a:lnTo>
                  <a:pt x="202435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38411" y="2625725"/>
            <a:ext cx="703834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Here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use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linear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support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vector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classiﬁer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get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coefﬁcients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SelectFromModel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transforme</a:t>
            </a:r>
            <a:r>
              <a:rPr sz="2250" spc="-125" dirty="0">
                <a:latin typeface="Microsoft Sans Serif"/>
                <a:cs typeface="Microsoft Sans Serif"/>
              </a:rPr>
              <a:t>r</a:t>
            </a:r>
            <a:r>
              <a:rPr sz="2250" dirty="0">
                <a:latin typeface="Microsoft Sans Serif"/>
                <a:cs typeface="Microsoft Sans Serif"/>
              </a:rPr>
              <a:t>.  It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ends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up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non-zero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weights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or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coefﬁcients.</a:t>
            </a:r>
            <a:endParaRPr sz="225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3571874"/>
            <a:ext cx="85724" cy="857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58</a:t>
            </a:fld>
            <a:endParaRPr spc="-8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59</a:t>
            </a:fld>
            <a:endParaRPr spc="-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7387" y="644525"/>
            <a:ext cx="461010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60" dirty="0">
                <a:solidFill>
                  <a:srgbClr val="000000"/>
                </a:solidFill>
                <a:latin typeface="Verdana"/>
                <a:cs typeface="Verdana"/>
              </a:rPr>
              <a:t>Sequential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90" dirty="0">
                <a:solidFill>
                  <a:srgbClr val="000000"/>
                </a:solidFill>
                <a:latin typeface="Verdana"/>
                <a:cs typeface="Verdana"/>
              </a:rPr>
              <a:t>feature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45" dirty="0">
                <a:solidFill>
                  <a:srgbClr val="000000"/>
                </a:solidFill>
                <a:latin typeface="Verdana"/>
                <a:cs typeface="Verdana"/>
              </a:rPr>
              <a:t>selection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2486" y="1333499"/>
            <a:ext cx="7620000" cy="742950"/>
          </a:xfrm>
          <a:prstGeom prst="rect">
            <a:avLst/>
          </a:prstGeom>
          <a:solidFill>
            <a:srgbClr val="CFE2F2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dirty="0">
                <a:latin typeface="Microsoft Sans Serif"/>
                <a:cs typeface="Microsoft Sans Serif"/>
              </a:rPr>
              <a:t>Performs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selecting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or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deselecting</a:t>
            </a:r>
            <a:endParaRPr sz="2250">
              <a:latin typeface="Microsoft Sans Serif"/>
              <a:cs typeface="Microsoft Sans Serif"/>
            </a:endParaRPr>
          </a:p>
          <a:p>
            <a:pPr algn="ctr">
              <a:spcBef>
                <a:spcPts val="225"/>
              </a:spcBef>
            </a:pP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features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one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by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one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0000CC"/>
                </a:solidFill>
                <a:latin typeface="Microsoft Sans Serif"/>
                <a:cs typeface="Microsoft Sans Serif"/>
              </a:rPr>
              <a:t>in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a</a:t>
            </a:r>
            <a:r>
              <a:rPr sz="2250" spc="1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greedy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manner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2260" y="2282825"/>
            <a:ext cx="412432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Uses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one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two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approaches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51112" y="2962275"/>
            <a:ext cx="2924175" cy="346249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 marL="334010"/>
            <a:r>
              <a:rPr sz="2250" dirty="0">
                <a:latin typeface="Microsoft Sans Serif"/>
                <a:cs typeface="Microsoft Sans Serif"/>
              </a:rPr>
              <a:t>Forward</a:t>
            </a:r>
            <a:r>
              <a:rPr sz="2250" spc="-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65962" y="2962275"/>
            <a:ext cx="2924175" cy="34624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 marL="230504"/>
            <a:r>
              <a:rPr sz="2250" dirty="0">
                <a:latin typeface="Microsoft Sans Serif"/>
                <a:cs typeface="Microsoft Sans Serif"/>
              </a:rPr>
              <a:t>Backward</a:t>
            </a:r>
            <a:r>
              <a:rPr sz="2250" spc="-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4324" y="3409949"/>
            <a:ext cx="4857750" cy="1485900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-5" dirty="0">
                <a:latin typeface="Microsoft Sans Serif"/>
                <a:cs typeface="Microsoft Sans Serif"/>
              </a:rPr>
              <a:t>Starting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zero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feature,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ﬁnds</a:t>
            </a:r>
            <a:endParaRPr sz="2250">
              <a:latin typeface="Microsoft Sans Serif"/>
              <a:cs typeface="Microsoft Sans Serif"/>
            </a:endParaRPr>
          </a:p>
          <a:p>
            <a:pPr marR="37465">
              <a:lnSpc>
                <a:spcPct val="108300"/>
              </a:lnSpc>
            </a:pPr>
            <a:r>
              <a:rPr sz="2250" dirty="0">
                <a:latin typeface="Microsoft Sans Serif"/>
                <a:cs typeface="Microsoft Sans Serif"/>
              </a:rPr>
              <a:t>one</a:t>
            </a:r>
            <a:r>
              <a:rPr sz="2250" spc="8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that</a:t>
            </a:r>
            <a:r>
              <a:rPr sz="2250" spc="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obtains</a:t>
            </a:r>
            <a:r>
              <a:rPr sz="2250" spc="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best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cross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validation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score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estimator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when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trained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that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4324" y="4962524"/>
            <a:ext cx="4857750" cy="742950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dirty="0">
                <a:latin typeface="Microsoft Sans Serif"/>
                <a:cs typeface="Microsoft Sans Serif"/>
              </a:rPr>
              <a:t>Repeats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process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by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adding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new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225"/>
              </a:spcBef>
            </a:pP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set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selected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08275" y="5905500"/>
            <a:ext cx="6391275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dirty="0">
                <a:latin typeface="Microsoft Sans Serif"/>
                <a:cs typeface="Microsoft Sans Serif"/>
              </a:rPr>
              <a:t>Stops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when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reach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desired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number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75449" y="3409950"/>
            <a:ext cx="3505200" cy="1857375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-5" dirty="0">
                <a:latin typeface="Microsoft Sans Serif"/>
                <a:cs typeface="Microsoft Sans Serif"/>
              </a:rPr>
              <a:t>Starting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all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endParaRPr sz="2250">
              <a:latin typeface="Microsoft Sans Serif"/>
              <a:cs typeface="Microsoft Sans Serif"/>
            </a:endParaRPr>
          </a:p>
          <a:p>
            <a:pPr marR="257175">
              <a:lnSpc>
                <a:spcPct val="108300"/>
              </a:lnSpc>
            </a:pP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removes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least </a:t>
            </a:r>
            <a:r>
              <a:rPr sz="225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important</a:t>
            </a:r>
            <a:r>
              <a:rPr sz="2250" dirty="0">
                <a:latin typeface="Microsoft Sans Serif"/>
                <a:cs typeface="Microsoft Sans Serif"/>
              </a:rPr>
              <a:t> features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one by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following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idea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forward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3412" y="1152524"/>
            <a:ext cx="85724" cy="857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3412" y="1895474"/>
            <a:ext cx="85724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3412" y="2638424"/>
            <a:ext cx="85724" cy="857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332038" y="3457575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55899" y="3890963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55899" y="4262438"/>
            <a:ext cx="95250" cy="9524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332038" y="4714875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28836" y="949326"/>
            <a:ext cx="7919720" cy="3959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590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direction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parameter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controls</a:t>
            </a:r>
            <a:r>
              <a:rPr sz="2250" spc="1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whether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forward</a:t>
            </a:r>
            <a:r>
              <a:rPr sz="2250" spc="1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backward </a:t>
            </a:r>
            <a:r>
              <a:rPr sz="2250" spc="-58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SFS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used.</a:t>
            </a:r>
            <a:endParaRPr sz="2250">
              <a:latin typeface="Microsoft Sans Serif"/>
              <a:cs typeface="Microsoft Sans Serif"/>
            </a:endParaRPr>
          </a:p>
          <a:p>
            <a:pPr marL="12700" marR="909955">
              <a:lnSpc>
                <a:spcPct val="108300"/>
              </a:lnSpc>
            </a:pPr>
            <a:r>
              <a:rPr sz="2250" dirty="0">
                <a:latin typeface="Microsoft Sans Serif"/>
                <a:cs typeface="Microsoft Sans Serif"/>
              </a:rPr>
              <a:t>In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general,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forward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backward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do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not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800080"/>
                </a:solidFill>
                <a:latin typeface="Microsoft Sans Serif"/>
                <a:cs typeface="Microsoft Sans Serif"/>
              </a:rPr>
              <a:t>yield </a:t>
            </a:r>
            <a:r>
              <a:rPr sz="2250" spc="-58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equivalent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results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 marL="12700" marR="179705">
              <a:lnSpc>
                <a:spcPct val="108300"/>
              </a:lnSpc>
            </a:pPr>
            <a:r>
              <a:rPr sz="2250" spc="-5" dirty="0">
                <a:latin typeface="Microsoft Sans Serif"/>
                <a:cs typeface="Microsoft Sans Serif"/>
              </a:rPr>
              <a:t>Select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direction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that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efﬁcient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required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number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features:</a:t>
            </a:r>
            <a:endParaRPr sz="2250">
              <a:latin typeface="Microsoft Sans Serif"/>
              <a:cs typeface="Microsoft Sans Serif"/>
            </a:endParaRPr>
          </a:p>
          <a:p>
            <a:pPr marL="440690">
              <a:spcBef>
                <a:spcPts val="825"/>
              </a:spcBef>
            </a:pPr>
            <a:r>
              <a:rPr sz="2250" dirty="0">
                <a:latin typeface="Microsoft Sans Serif"/>
                <a:cs typeface="Microsoft Sans Serif"/>
              </a:rPr>
              <a:t>When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want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7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out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10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features,</a:t>
            </a:r>
            <a:endParaRPr sz="2250">
              <a:latin typeface="Microsoft Sans Serif"/>
              <a:cs typeface="Microsoft Sans Serif"/>
            </a:endParaRPr>
          </a:p>
          <a:p>
            <a:pPr marL="869315" marR="307340">
              <a:lnSpc>
                <a:spcPct val="108300"/>
              </a:lnSpc>
              <a:spcBef>
                <a:spcPts val="525"/>
              </a:spcBef>
            </a:pPr>
            <a:r>
              <a:rPr sz="2250" dirty="0">
                <a:latin typeface="Microsoft Sans Serif"/>
                <a:cs typeface="Microsoft Sans Serif"/>
              </a:rPr>
              <a:t>Forward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would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perform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7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iterations.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Backward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would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only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perform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3.</a:t>
            </a:r>
            <a:endParaRPr sz="2250">
              <a:latin typeface="Microsoft Sans Serif"/>
              <a:cs typeface="Microsoft Sans Serif"/>
            </a:endParaRPr>
          </a:p>
          <a:p>
            <a:pPr marL="440690">
              <a:spcBef>
                <a:spcPts val="825"/>
              </a:spcBef>
            </a:pPr>
            <a:r>
              <a:rPr sz="2250" dirty="0">
                <a:latin typeface="Microsoft Sans Serif"/>
                <a:cs typeface="Microsoft Sans Serif"/>
              </a:rPr>
              <a:t>Backward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seems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reasonable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choice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here.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60</a:t>
            </a:fld>
            <a:endParaRPr spc="-8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237" y="1164431"/>
            <a:ext cx="85724" cy="8572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951911" y="1078706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652751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52751" y="0"/>
                </a:lnTo>
                <a:lnTo>
                  <a:pt x="684833" y="28187"/>
                </a:lnTo>
                <a:lnTo>
                  <a:pt x="685799" y="33047"/>
                </a:lnTo>
                <a:lnTo>
                  <a:pt x="685799" y="233652"/>
                </a:lnTo>
                <a:lnTo>
                  <a:pt x="657612" y="265733"/>
                </a:lnTo>
                <a:lnTo>
                  <a:pt x="652751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84362" y="1450181"/>
            <a:ext cx="2743200" cy="266700"/>
          </a:xfrm>
          <a:custGeom>
            <a:avLst/>
            <a:gdLst/>
            <a:ahLst/>
            <a:cxnLst/>
            <a:rect l="l" t="t" r="r" b="b"/>
            <a:pathLst>
              <a:path w="2743200" h="266700">
                <a:moveTo>
                  <a:pt x="2710151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710151" y="0"/>
                </a:lnTo>
                <a:lnTo>
                  <a:pt x="2742232" y="28187"/>
                </a:lnTo>
                <a:lnTo>
                  <a:pt x="2743199" y="33047"/>
                </a:lnTo>
                <a:lnTo>
                  <a:pt x="2743199" y="233652"/>
                </a:lnTo>
                <a:lnTo>
                  <a:pt x="2715011" y="265733"/>
                </a:lnTo>
                <a:lnTo>
                  <a:pt x="2710151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94536" y="1450181"/>
            <a:ext cx="409575" cy="266700"/>
          </a:xfrm>
          <a:custGeom>
            <a:avLst/>
            <a:gdLst/>
            <a:ahLst/>
            <a:cxnLst/>
            <a:rect l="l" t="t" r="r" b="b"/>
            <a:pathLst>
              <a:path w="409575" h="266700">
                <a:moveTo>
                  <a:pt x="37652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76527" y="0"/>
                </a:lnTo>
                <a:lnTo>
                  <a:pt x="408608" y="28187"/>
                </a:lnTo>
                <a:lnTo>
                  <a:pt x="409574" y="33047"/>
                </a:lnTo>
                <a:lnTo>
                  <a:pt x="409574" y="233652"/>
                </a:lnTo>
                <a:lnTo>
                  <a:pt x="381387" y="265733"/>
                </a:lnTo>
                <a:lnTo>
                  <a:pt x="37652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32761" y="1450181"/>
            <a:ext cx="2057400" cy="266700"/>
          </a:xfrm>
          <a:custGeom>
            <a:avLst/>
            <a:gdLst/>
            <a:ahLst/>
            <a:cxnLst/>
            <a:rect l="l" t="t" r="r" b="b"/>
            <a:pathLst>
              <a:path w="2057400" h="266700">
                <a:moveTo>
                  <a:pt x="202435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024352" y="0"/>
                </a:lnTo>
                <a:lnTo>
                  <a:pt x="2056433" y="28187"/>
                </a:lnTo>
                <a:lnTo>
                  <a:pt x="2057400" y="33047"/>
                </a:lnTo>
                <a:lnTo>
                  <a:pt x="2057400" y="233652"/>
                </a:lnTo>
                <a:lnTo>
                  <a:pt x="2029212" y="265733"/>
                </a:lnTo>
                <a:lnTo>
                  <a:pt x="202435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237" y="1907381"/>
            <a:ext cx="85724" cy="8572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075237" y="1821656"/>
            <a:ext cx="409575" cy="266700"/>
          </a:xfrm>
          <a:custGeom>
            <a:avLst/>
            <a:gdLst/>
            <a:ahLst/>
            <a:cxnLst/>
            <a:rect l="l" t="t" r="r" b="b"/>
            <a:pathLst>
              <a:path w="409575" h="266700">
                <a:moveTo>
                  <a:pt x="37652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76527" y="0"/>
                </a:lnTo>
                <a:lnTo>
                  <a:pt x="408608" y="28187"/>
                </a:lnTo>
                <a:lnTo>
                  <a:pt x="409574" y="33047"/>
                </a:lnTo>
                <a:lnTo>
                  <a:pt x="409574" y="233652"/>
                </a:lnTo>
                <a:lnTo>
                  <a:pt x="381387" y="265733"/>
                </a:lnTo>
                <a:lnTo>
                  <a:pt x="37652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22986" y="1821656"/>
            <a:ext cx="2057400" cy="266700"/>
          </a:xfrm>
          <a:custGeom>
            <a:avLst/>
            <a:gdLst/>
            <a:ahLst/>
            <a:cxnLst/>
            <a:rect l="l" t="t" r="r" b="b"/>
            <a:pathLst>
              <a:path w="2057400" h="266700">
                <a:moveTo>
                  <a:pt x="202435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024352" y="0"/>
                </a:lnTo>
                <a:lnTo>
                  <a:pt x="2056432" y="28187"/>
                </a:lnTo>
                <a:lnTo>
                  <a:pt x="2057399" y="33047"/>
                </a:lnTo>
                <a:lnTo>
                  <a:pt x="2057399" y="233652"/>
                </a:lnTo>
                <a:lnTo>
                  <a:pt x="2029211" y="265733"/>
                </a:lnTo>
                <a:lnTo>
                  <a:pt x="202435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1525" y="4483893"/>
            <a:ext cx="85725" cy="8572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279650" y="4398168"/>
            <a:ext cx="409575" cy="266700"/>
          </a:xfrm>
          <a:custGeom>
            <a:avLst/>
            <a:gdLst/>
            <a:ahLst/>
            <a:cxnLst/>
            <a:rect l="l" t="t" r="r" b="b"/>
            <a:pathLst>
              <a:path w="409575" h="266700">
                <a:moveTo>
                  <a:pt x="37652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76527" y="0"/>
                </a:lnTo>
                <a:lnTo>
                  <a:pt x="408608" y="28187"/>
                </a:lnTo>
                <a:lnTo>
                  <a:pt x="409574" y="33047"/>
                </a:lnTo>
                <a:lnTo>
                  <a:pt x="409574" y="233652"/>
                </a:lnTo>
                <a:lnTo>
                  <a:pt x="381387" y="265733"/>
                </a:lnTo>
                <a:lnTo>
                  <a:pt x="37652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1525" y="4855368"/>
            <a:ext cx="85725" cy="8572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279649" y="4769643"/>
            <a:ext cx="2057400" cy="266700"/>
          </a:xfrm>
          <a:custGeom>
            <a:avLst/>
            <a:gdLst/>
            <a:ahLst/>
            <a:cxnLst/>
            <a:rect l="l" t="t" r="r" b="b"/>
            <a:pathLst>
              <a:path w="2057400" h="266700">
                <a:moveTo>
                  <a:pt x="2024352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024352" y="0"/>
                </a:lnTo>
                <a:lnTo>
                  <a:pt x="2056432" y="28187"/>
                </a:lnTo>
                <a:lnTo>
                  <a:pt x="2057399" y="33047"/>
                </a:lnTo>
                <a:lnTo>
                  <a:pt x="2057399" y="233652"/>
                </a:lnTo>
                <a:lnTo>
                  <a:pt x="2029212" y="265732"/>
                </a:lnTo>
                <a:lnTo>
                  <a:pt x="202435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38325" y="961232"/>
            <a:ext cx="8448675" cy="445960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45720">
              <a:spcBef>
                <a:spcPts val="325"/>
              </a:spcBef>
            </a:pPr>
            <a:r>
              <a:rPr sz="2250" dirty="0">
                <a:latin typeface="Microsoft Sans Serif"/>
                <a:cs typeface="Microsoft Sans Serif"/>
              </a:rPr>
              <a:t>SFS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does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not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require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underlying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model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expose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coef_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or</a:t>
            </a:r>
            <a:endParaRPr sz="2250">
              <a:latin typeface="Microsoft Sans Serif"/>
              <a:cs typeface="Microsoft Sans Serif"/>
            </a:endParaRPr>
          </a:p>
          <a:p>
            <a:pPr marL="45720" marR="5080">
              <a:lnSpc>
                <a:spcPct val="108300"/>
              </a:lnSpc>
            </a:pPr>
            <a:r>
              <a:rPr b="1" dirty="0">
                <a:latin typeface="Courier New"/>
                <a:cs typeface="Courier New"/>
              </a:rPr>
              <a:t>feature_importances_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attributes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unlike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RFE</a:t>
            </a:r>
            <a:r>
              <a:rPr b="1" spc="-455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b="1" spc="-5" dirty="0">
                <a:latin typeface="Courier New"/>
                <a:cs typeface="Courier New"/>
              </a:rPr>
              <a:t>SelectFromModel</a:t>
            </a:r>
            <a:r>
              <a:rPr sz="2250" spc="-5" dirty="0">
                <a:latin typeface="Microsoft Sans Serif"/>
                <a:cs typeface="Microsoft Sans Serif"/>
              </a:rPr>
              <a:t>.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SFS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may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slower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RFE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SelectFromModel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needs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  </a:t>
            </a:r>
            <a:r>
              <a:rPr sz="2250" spc="-5" dirty="0">
                <a:latin typeface="Microsoft Sans Serif"/>
                <a:cs typeface="Microsoft Sans Serif"/>
              </a:rPr>
              <a:t>evaluate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more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models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compared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other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two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approaches.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15"/>
              </a:spcBef>
            </a:pPr>
            <a:endParaRPr sz="3200">
              <a:latin typeface="Microsoft Sans Serif"/>
              <a:cs typeface="Microsoft Sans Serif"/>
            </a:endParaRPr>
          </a:p>
          <a:p>
            <a:pPr marL="12700" marR="411480">
              <a:lnSpc>
                <a:spcPct val="116700"/>
              </a:lnSpc>
            </a:pP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example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backward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iteration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going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from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i="1" spc="-5" dirty="0">
                <a:solidFill>
                  <a:srgbClr val="800080"/>
                </a:solidFill>
                <a:latin typeface="Georgia"/>
                <a:cs typeface="Georgia"/>
              </a:rPr>
              <a:t>m </a:t>
            </a:r>
            <a:r>
              <a:rPr sz="2250" i="1" dirty="0">
                <a:solidFill>
                  <a:srgbClr val="800080"/>
                </a:solidFill>
                <a:latin typeface="Georgia"/>
                <a:cs typeface="Georg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i="1" spc="-5" dirty="0">
                <a:solidFill>
                  <a:srgbClr val="800080"/>
                </a:solidFill>
                <a:latin typeface="Georgia"/>
                <a:cs typeface="Georgia"/>
              </a:rPr>
              <a:t>m</a:t>
            </a:r>
            <a:r>
              <a:rPr sz="2250" i="1" spc="-45" dirty="0">
                <a:solidFill>
                  <a:srgbClr val="800080"/>
                </a:solidFill>
                <a:latin typeface="Georgia"/>
                <a:cs typeface="Georgia"/>
              </a:rPr>
              <a:t> </a:t>
            </a:r>
            <a:r>
              <a:rPr sz="2250" spc="500" dirty="0">
                <a:solidFill>
                  <a:srgbClr val="800080"/>
                </a:solidFill>
                <a:latin typeface="Cambria"/>
                <a:cs typeface="Cambria"/>
              </a:rPr>
              <a:t>−</a:t>
            </a:r>
            <a:r>
              <a:rPr sz="2250" spc="5" dirty="0">
                <a:solidFill>
                  <a:srgbClr val="800080"/>
                </a:solidFill>
                <a:latin typeface="Cambria"/>
                <a:cs typeface="Cambria"/>
              </a:rPr>
              <a:t> </a:t>
            </a:r>
            <a:r>
              <a:rPr sz="2250" spc="-125" dirty="0">
                <a:solidFill>
                  <a:srgbClr val="800080"/>
                </a:solidFill>
                <a:latin typeface="Cambria"/>
                <a:cs typeface="Cambria"/>
              </a:rPr>
              <a:t>1</a:t>
            </a:r>
            <a:r>
              <a:rPr sz="2250" spc="125" dirty="0">
                <a:solidFill>
                  <a:srgbClr val="800080"/>
                </a:solidFill>
                <a:latin typeface="Cambria"/>
                <a:cs typeface="Cambr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using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i="1" spc="5" dirty="0">
                <a:latin typeface="Georgia"/>
                <a:cs typeface="Georgia"/>
              </a:rPr>
              <a:t>k</a:t>
            </a:r>
            <a:r>
              <a:rPr sz="2250" spc="5" dirty="0">
                <a:latin typeface="Microsoft Sans Serif"/>
                <a:cs typeface="Microsoft Sans Serif"/>
              </a:rPr>
              <a:t>-fold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cross-validation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requires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ﬁtting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i="1" spc="-5" dirty="0">
                <a:latin typeface="Georgia"/>
                <a:cs typeface="Georgia"/>
              </a:rPr>
              <a:t>m</a:t>
            </a:r>
            <a:r>
              <a:rPr sz="2250" i="1" spc="-45" dirty="0">
                <a:latin typeface="Georgia"/>
                <a:cs typeface="Georgia"/>
              </a:rPr>
              <a:t> </a:t>
            </a:r>
            <a:r>
              <a:rPr sz="2250" spc="500" dirty="0">
                <a:latin typeface="Cambria"/>
                <a:cs typeface="Cambria"/>
              </a:rPr>
              <a:t>×</a:t>
            </a:r>
            <a:r>
              <a:rPr sz="2250" spc="5" dirty="0">
                <a:latin typeface="Cambria"/>
                <a:cs typeface="Cambria"/>
              </a:rPr>
              <a:t> </a:t>
            </a:r>
            <a:r>
              <a:rPr sz="2250" i="1" spc="-20" dirty="0">
                <a:latin typeface="Georgia"/>
                <a:cs typeface="Georgia"/>
              </a:rPr>
              <a:t>k</a:t>
            </a:r>
            <a:r>
              <a:rPr sz="2250" i="1" spc="150" dirty="0">
                <a:latin typeface="Georgia"/>
                <a:cs typeface="Georgia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models,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while</a:t>
            </a:r>
            <a:endParaRPr sz="2250">
              <a:latin typeface="Microsoft Sans Serif"/>
              <a:cs typeface="Microsoft Sans Serif"/>
            </a:endParaRPr>
          </a:p>
          <a:p>
            <a:pPr marL="440690">
              <a:spcBef>
                <a:spcPts val="1575"/>
              </a:spcBef>
            </a:pPr>
            <a:r>
              <a:rPr b="1" dirty="0">
                <a:latin typeface="Courier New"/>
                <a:cs typeface="Courier New"/>
              </a:rPr>
              <a:t>RFE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would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require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only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single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ﬁt,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endParaRPr sz="2250">
              <a:latin typeface="Microsoft Sans Serif"/>
              <a:cs typeface="Microsoft Sans Serif"/>
            </a:endParaRPr>
          </a:p>
          <a:p>
            <a:pPr marL="440690" marR="1224280">
              <a:lnSpc>
                <a:spcPct val="108300"/>
              </a:lnSpc>
            </a:pPr>
            <a:r>
              <a:rPr b="1" dirty="0">
                <a:latin typeface="Courier New"/>
                <a:cs typeface="Courier New"/>
              </a:rPr>
              <a:t>SelectFromModel</a:t>
            </a:r>
            <a:r>
              <a:rPr b="1" spc="145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performs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single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ﬁt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requires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no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iterations.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61</a:t>
            </a:fld>
            <a:endParaRPr spc="-8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62</a:t>
            </a:fld>
            <a:endParaRPr spc="-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4458" y="2800031"/>
            <a:ext cx="4526915" cy="93217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41705" marR="5080" indent="-929640">
              <a:lnSpc>
                <a:spcPct val="107800"/>
              </a:lnSpc>
              <a:spcBef>
                <a:spcPts val="90"/>
              </a:spcBef>
            </a:pPr>
            <a:r>
              <a:rPr sz="2900" spc="-170" dirty="0">
                <a:solidFill>
                  <a:srgbClr val="0000FF"/>
                </a:solidFill>
                <a:latin typeface="Verdana"/>
                <a:cs typeface="Verdana"/>
              </a:rPr>
              <a:t>Applying</a:t>
            </a:r>
            <a:r>
              <a:rPr sz="2900" spc="-2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200" dirty="0">
                <a:solidFill>
                  <a:srgbClr val="0000FF"/>
                </a:solidFill>
                <a:latin typeface="Verdana"/>
                <a:cs typeface="Verdana"/>
              </a:rPr>
              <a:t>transformations</a:t>
            </a:r>
            <a:r>
              <a:rPr sz="2900" spc="-204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235" dirty="0">
                <a:solidFill>
                  <a:srgbClr val="0000FF"/>
                </a:solidFill>
                <a:latin typeface="Verdana"/>
                <a:cs typeface="Verdana"/>
              </a:rPr>
              <a:t>to </a:t>
            </a:r>
            <a:r>
              <a:rPr sz="2900" spc="-100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160" dirty="0">
                <a:solidFill>
                  <a:srgbClr val="0000FF"/>
                </a:solidFill>
                <a:latin typeface="Verdana"/>
                <a:cs typeface="Verdana"/>
              </a:rPr>
              <a:t>diverse</a:t>
            </a:r>
            <a:r>
              <a:rPr sz="2900" spc="-2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900" spc="-175" dirty="0">
                <a:solidFill>
                  <a:srgbClr val="0000FF"/>
                </a:solidFill>
                <a:latin typeface="Verdana"/>
                <a:cs typeface="Verdana"/>
              </a:rPr>
              <a:t>features</a:t>
            </a:r>
            <a:endParaRPr sz="2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63</a:t>
            </a:fld>
            <a:endParaRPr spc="-85" dirty="0"/>
          </a:p>
        </p:txBody>
      </p:sp>
      <p:sp>
        <p:nvSpPr>
          <p:cNvPr id="2" name="object 2"/>
          <p:cNvSpPr txBox="1"/>
          <p:nvPr/>
        </p:nvSpPr>
        <p:spPr>
          <a:xfrm>
            <a:off x="2490787" y="1725613"/>
            <a:ext cx="6839584" cy="303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Generally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training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contains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diverse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such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numeric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categorical.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55"/>
              </a:spcBef>
            </a:pPr>
            <a:endParaRPr sz="3100">
              <a:latin typeface="Microsoft Sans Serif"/>
              <a:cs typeface="Microsoft Sans Serif"/>
            </a:endParaRPr>
          </a:p>
          <a:p>
            <a:pPr marL="12700" marR="427990">
              <a:lnSpc>
                <a:spcPct val="108300"/>
              </a:lnSpc>
            </a:pPr>
            <a:r>
              <a:rPr sz="2250" spc="-10" dirty="0">
                <a:latin typeface="Microsoft Sans Serif"/>
                <a:cs typeface="Microsoft Sans Serif"/>
              </a:rPr>
              <a:t>Different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types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processed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different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transformers.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5"/>
              </a:spcBef>
            </a:pPr>
            <a:endParaRPr sz="2050">
              <a:latin typeface="Microsoft Sans Serif"/>
              <a:cs typeface="Microsoft Sans Serif"/>
            </a:endParaRPr>
          </a:p>
          <a:p>
            <a:pPr marL="31115" marR="54610">
              <a:lnSpc>
                <a:spcPct val="108300"/>
              </a:lnSpc>
            </a:pPr>
            <a:r>
              <a:rPr sz="2250" dirty="0">
                <a:latin typeface="Microsoft Sans Serif"/>
                <a:cs typeface="Microsoft Sans Serif"/>
              </a:rPr>
              <a:t>Need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way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combine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different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transformers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20" dirty="0">
                <a:latin typeface="Microsoft Sans Serif"/>
                <a:cs typeface="Microsoft Sans Serif"/>
              </a:rPr>
              <a:t>seamlessly.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2486" y="1523999"/>
            <a:ext cx="2057400" cy="266700"/>
          </a:xfrm>
          <a:custGeom>
            <a:avLst/>
            <a:gdLst/>
            <a:ahLst/>
            <a:cxnLst/>
            <a:rect l="l" t="t" r="r" b="b"/>
            <a:pathLst>
              <a:path w="2057400" h="266700">
                <a:moveTo>
                  <a:pt x="2024351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024351" y="0"/>
                </a:lnTo>
                <a:lnTo>
                  <a:pt x="2056432" y="28187"/>
                </a:lnTo>
                <a:lnTo>
                  <a:pt x="2057399" y="33047"/>
                </a:lnTo>
                <a:lnTo>
                  <a:pt x="2057399" y="233652"/>
                </a:lnTo>
                <a:lnTo>
                  <a:pt x="2029212" y="265733"/>
                </a:lnTo>
                <a:lnTo>
                  <a:pt x="2024351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09786" y="1406525"/>
            <a:ext cx="7309484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sklearn.compose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has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useful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classes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methods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apply  transformation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subset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combine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them: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64</a:t>
            </a:fld>
            <a:endParaRPr spc="-85" dirty="0"/>
          </a:p>
        </p:txBody>
      </p:sp>
      <p:sp>
        <p:nvSpPr>
          <p:cNvPr id="4" name="object 4"/>
          <p:cNvSpPr txBox="1"/>
          <p:nvPr/>
        </p:nvSpPr>
        <p:spPr>
          <a:xfrm>
            <a:off x="2315350" y="2667000"/>
            <a:ext cx="3171825" cy="346249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 marL="321945"/>
            <a:r>
              <a:rPr sz="2250" spc="-10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ColumnTransformer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2986" y="2667000"/>
            <a:ext cx="3810000" cy="346249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 marL="43815"/>
            <a:r>
              <a:rPr sz="2250" spc="-15" dirty="0">
                <a:solidFill>
                  <a:srgbClr val="0F6ACC"/>
                </a:solidFill>
                <a:latin typeface="Microsoft Sans Serif"/>
                <a:cs typeface="Microsoft Sans Serif"/>
                <a:hlinkClick r:id="rId3"/>
              </a:rPr>
              <a:t>TransformedTargetRegressor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75793" y="606425"/>
            <a:ext cx="3913504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55" dirty="0">
                <a:solidFill>
                  <a:srgbClr val="000000"/>
                </a:solidFill>
                <a:latin typeface="Verdana"/>
                <a:cs typeface="Verdana"/>
              </a:rPr>
              <a:t>Composite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14" dirty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sz="2900" spc="-200" dirty="0">
                <a:solidFill>
                  <a:srgbClr val="000000"/>
                </a:solidFill>
                <a:latin typeface="Verdana"/>
                <a:cs typeface="Verdana"/>
              </a:rPr>
              <a:t>ransformer</a:t>
            </a:r>
            <a:endParaRPr sz="2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7525" y="1125537"/>
            <a:ext cx="331470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85" dirty="0">
                <a:solidFill>
                  <a:srgbClr val="0F6ACC"/>
                </a:solidFill>
                <a:latin typeface="Verdana"/>
                <a:cs typeface="Verdana"/>
                <a:hlinkClick r:id="rId2"/>
              </a:rPr>
              <a:t>ColumnTransformer</a:t>
            </a:r>
            <a:endParaRPr sz="29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60562" y="2076449"/>
            <a:ext cx="85725" cy="857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198686" y="2362199"/>
            <a:ext cx="2190750" cy="266700"/>
          </a:xfrm>
          <a:custGeom>
            <a:avLst/>
            <a:gdLst/>
            <a:ahLst/>
            <a:cxnLst/>
            <a:rect l="l" t="t" r="r" b="b"/>
            <a:pathLst>
              <a:path w="2190750" h="266700">
                <a:moveTo>
                  <a:pt x="215770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157702" y="0"/>
                </a:lnTo>
                <a:lnTo>
                  <a:pt x="2189782" y="28187"/>
                </a:lnTo>
                <a:lnTo>
                  <a:pt x="2190749" y="33047"/>
                </a:lnTo>
                <a:lnTo>
                  <a:pt x="2190749" y="233652"/>
                </a:lnTo>
                <a:lnTo>
                  <a:pt x="2162562" y="265733"/>
                </a:lnTo>
                <a:lnTo>
                  <a:pt x="215770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85988" y="1873250"/>
            <a:ext cx="7827645" cy="27686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spcBef>
                <a:spcPts val="325"/>
              </a:spcBef>
            </a:pPr>
            <a:r>
              <a:rPr sz="2250" dirty="0">
                <a:latin typeface="Microsoft Sans Serif"/>
                <a:cs typeface="Microsoft Sans Serif"/>
              </a:rPr>
              <a:t>It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applies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set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of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transformers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columns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array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or</a:t>
            </a:r>
            <a:endParaRPr sz="2250">
              <a:latin typeface="Microsoft Sans Serif"/>
              <a:cs typeface="Microsoft Sans Serif"/>
            </a:endParaRPr>
          </a:p>
          <a:p>
            <a:pPr marL="12700" marR="5080">
              <a:lnSpc>
                <a:spcPct val="108300"/>
              </a:lnSpc>
            </a:pPr>
            <a:r>
              <a:rPr b="1" dirty="0">
                <a:latin typeface="Courier New"/>
                <a:cs typeface="Courier New"/>
              </a:rPr>
              <a:t>pandas.DataFrame</a:t>
            </a:r>
            <a:r>
              <a:rPr sz="2250" dirty="0">
                <a:latin typeface="Microsoft Sans Serif"/>
                <a:cs typeface="Microsoft Sans Serif"/>
              </a:rPr>
              <a:t>,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concatenates</a:t>
            </a:r>
            <a:r>
              <a:rPr sz="2250" spc="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the</a:t>
            </a:r>
            <a:r>
              <a:rPr sz="2250" spc="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transformed</a:t>
            </a:r>
            <a:r>
              <a:rPr sz="2250" spc="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outputs</a:t>
            </a:r>
            <a:r>
              <a:rPr sz="2250" spc="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from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different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transformers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single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matrix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 marL="12700" marR="452120">
              <a:lnSpc>
                <a:spcPct val="108300"/>
              </a:lnSpc>
              <a:spcBef>
                <a:spcPts val="600"/>
              </a:spcBef>
            </a:pPr>
            <a:r>
              <a:rPr sz="2250" dirty="0">
                <a:latin typeface="Microsoft Sans Serif"/>
                <a:cs typeface="Microsoft Sans Serif"/>
              </a:rPr>
              <a:t>It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useful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transforming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heterogenous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data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applying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800080"/>
                </a:solidFill>
                <a:latin typeface="Microsoft Sans Serif"/>
                <a:cs typeface="Microsoft Sans Serif"/>
              </a:rPr>
              <a:t>different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transformers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to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separate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subsets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of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features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 marL="12700" marR="822960">
              <a:lnSpc>
                <a:spcPct val="108300"/>
              </a:lnSpc>
              <a:spcBef>
                <a:spcPts val="525"/>
              </a:spcBef>
            </a:pPr>
            <a:r>
              <a:rPr sz="2250" dirty="0">
                <a:latin typeface="Microsoft Sans Serif"/>
                <a:cs typeface="Microsoft Sans Serif"/>
              </a:rPr>
              <a:t>It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combines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different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selection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mechanisms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transformation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single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transformer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object.</a:t>
            </a:r>
            <a:endParaRPr sz="225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60562" y="3267074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60562" y="4076699"/>
            <a:ext cx="85725" cy="857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65</a:t>
            </a:fld>
            <a:endParaRPr spc="-8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1285874"/>
            <a:ext cx="85725" cy="8572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551111" y="1200149"/>
            <a:ext cx="2609850" cy="266700"/>
          </a:xfrm>
          <a:custGeom>
            <a:avLst/>
            <a:gdLst/>
            <a:ahLst/>
            <a:cxnLst/>
            <a:rect l="l" t="t" r="r" b="b"/>
            <a:pathLst>
              <a:path w="2609850" h="266700">
                <a:moveTo>
                  <a:pt x="2576801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576801" y="0"/>
                </a:lnTo>
                <a:lnTo>
                  <a:pt x="2608883" y="28187"/>
                </a:lnTo>
                <a:lnTo>
                  <a:pt x="2609849" y="33047"/>
                </a:lnTo>
                <a:lnTo>
                  <a:pt x="2609849" y="233652"/>
                </a:lnTo>
                <a:lnTo>
                  <a:pt x="2581661" y="265733"/>
                </a:lnTo>
                <a:lnTo>
                  <a:pt x="2576801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38412" y="1168400"/>
            <a:ext cx="2632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ColumnTransformer()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1733549"/>
            <a:ext cx="85725" cy="857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741612" y="217170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79736" y="2085974"/>
            <a:ext cx="6172200" cy="266700"/>
          </a:xfrm>
          <a:custGeom>
            <a:avLst/>
            <a:gdLst/>
            <a:ahLst/>
            <a:cxnLst/>
            <a:rect l="l" t="t" r="r" b="b"/>
            <a:pathLst>
              <a:path w="6172200" h="266700">
                <a:moveTo>
                  <a:pt x="6139150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139150" y="0"/>
                </a:lnTo>
                <a:lnTo>
                  <a:pt x="6171231" y="28187"/>
                </a:lnTo>
                <a:lnTo>
                  <a:pt x="6172198" y="33047"/>
                </a:lnTo>
                <a:lnTo>
                  <a:pt x="6172198" y="233652"/>
                </a:lnTo>
                <a:lnTo>
                  <a:pt x="6144010" y="265733"/>
                </a:lnTo>
                <a:lnTo>
                  <a:pt x="6139150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38412" y="1368426"/>
            <a:ext cx="6627495" cy="985519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spcBef>
                <a:spcPts val="1600"/>
              </a:spcBef>
            </a:pPr>
            <a:r>
              <a:rPr sz="2250" dirty="0">
                <a:latin typeface="Microsoft Sans Serif"/>
                <a:cs typeface="Microsoft Sans Serif"/>
              </a:rPr>
              <a:t>Each </a:t>
            </a:r>
            <a:r>
              <a:rPr sz="2250" spc="-5" dirty="0">
                <a:latin typeface="Microsoft Sans Serif"/>
                <a:cs typeface="Microsoft Sans Serif"/>
              </a:rPr>
              <a:t>tuple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has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format</a:t>
            </a:r>
            <a:endParaRPr sz="2250">
              <a:latin typeface="Microsoft Sans Serif"/>
              <a:cs typeface="Microsoft Sans Serif"/>
            </a:endParaRPr>
          </a:p>
          <a:p>
            <a:pPr marL="440690">
              <a:spcBef>
                <a:spcPts val="1200"/>
              </a:spcBef>
              <a:tabLst>
                <a:tab pos="4693285" algn="l"/>
              </a:tabLst>
            </a:pPr>
            <a:r>
              <a:rPr b="1" dirty="0">
                <a:latin typeface="Courier New"/>
                <a:cs typeface="Courier New"/>
              </a:rPr>
              <a:t>(estimatorName,estimator(...),	columnIndices)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12987" y="2836291"/>
            <a:ext cx="6858000" cy="1162050"/>
          </a:xfrm>
          <a:custGeom>
            <a:avLst/>
            <a:gdLst/>
            <a:ahLst/>
            <a:cxnLst/>
            <a:rect l="l" t="t" r="r" b="b"/>
            <a:pathLst>
              <a:path w="6858000" h="1162050">
                <a:moveTo>
                  <a:pt x="6824952" y="1162049"/>
                </a:moveTo>
                <a:lnTo>
                  <a:pt x="33047" y="1162049"/>
                </a:lnTo>
                <a:lnTo>
                  <a:pt x="28187" y="1161083"/>
                </a:lnTo>
                <a:lnTo>
                  <a:pt x="966" y="1133862"/>
                </a:lnTo>
                <a:lnTo>
                  <a:pt x="0" y="1129002"/>
                </a:lnTo>
                <a:lnTo>
                  <a:pt x="0" y="11239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824952" y="0"/>
                </a:lnTo>
                <a:lnTo>
                  <a:pt x="6857032" y="28187"/>
                </a:lnTo>
                <a:lnTo>
                  <a:pt x="6857999" y="33047"/>
                </a:lnTo>
                <a:lnTo>
                  <a:pt x="6857999" y="1129002"/>
                </a:lnTo>
                <a:lnTo>
                  <a:pt x="6829811" y="1161083"/>
                </a:lnTo>
                <a:lnTo>
                  <a:pt x="6824952" y="116204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47913" y="2835022"/>
            <a:ext cx="5238115" cy="13862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1193800" indent="-366395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column_trans = ColumnTransformer( </a:t>
            </a:r>
            <a:r>
              <a:rPr sz="1200" b="1" spc="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[(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'ageScaler'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CountVectorizer(),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 [0]]),</a:t>
            </a:r>
            <a:endParaRPr sz="1200">
              <a:latin typeface="Courier New"/>
              <a:cs typeface="Courier New"/>
            </a:endParaRPr>
          </a:p>
          <a:p>
            <a:pPr marL="378460" marR="5080" indent="91440">
              <a:lnSpc>
                <a:spcPct val="125000"/>
              </a:lnSpc>
            </a:pP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'genderEncoder'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6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OneHotEncoder(dtype=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'int'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),</a:t>
            </a:r>
            <a:r>
              <a:rPr sz="1200" b="1" spc="6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[1])], </a:t>
            </a:r>
            <a:r>
              <a:rPr sz="1200" b="1" spc="-70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remainder=</a:t>
            </a:r>
            <a:r>
              <a:rPr sz="1200" b="1" dirty="0">
                <a:solidFill>
                  <a:srgbClr val="A6E22E"/>
                </a:solidFill>
                <a:latin typeface="Courier New"/>
                <a:cs typeface="Courier New"/>
              </a:rPr>
              <a:t>'drop'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verbose_feature_names_out=</a:t>
            </a:r>
            <a:r>
              <a:rPr sz="1200" b="1" spc="-5" dirty="0">
                <a:solidFill>
                  <a:srgbClr val="F92572"/>
                </a:solidFill>
                <a:latin typeface="Courier New"/>
                <a:cs typeface="Courier New"/>
              </a:rPr>
              <a:t>False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66</a:t>
            </a:fld>
            <a:endParaRPr spc="-8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3765" y="401637"/>
            <a:ext cx="562737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Illustration</a:t>
            </a:r>
            <a:r>
              <a:rPr sz="2900" spc="-20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75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2900" spc="-20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70" dirty="0">
                <a:solidFill>
                  <a:srgbClr val="000000"/>
                </a:solidFill>
                <a:latin typeface="Verdana"/>
                <a:cs typeface="Verdana"/>
              </a:rPr>
              <a:t>Column</a:t>
            </a:r>
            <a:r>
              <a:rPr sz="2900" spc="-20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95" dirty="0">
                <a:solidFill>
                  <a:srgbClr val="000000"/>
                </a:solidFill>
                <a:latin typeface="Verdana"/>
                <a:cs typeface="Verdana"/>
              </a:rPr>
              <a:t>Transformer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03712" y="2492685"/>
            <a:ext cx="3286125" cy="2066925"/>
          </a:xfrm>
          <a:custGeom>
            <a:avLst/>
            <a:gdLst/>
            <a:ahLst/>
            <a:cxnLst/>
            <a:rect l="l" t="t" r="r" b="b"/>
            <a:pathLst>
              <a:path w="3286125" h="2066925">
                <a:moveTo>
                  <a:pt x="3286124" y="2066924"/>
                </a:moveTo>
                <a:lnTo>
                  <a:pt x="0" y="2066924"/>
                </a:lnTo>
                <a:lnTo>
                  <a:pt x="0" y="0"/>
                </a:lnTo>
                <a:lnTo>
                  <a:pt x="3286124" y="0"/>
                </a:lnTo>
                <a:lnTo>
                  <a:pt x="3286124" y="2066924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1310" y="3299135"/>
            <a:ext cx="9467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11200" algn="l"/>
              </a:tabLst>
            </a:pPr>
            <a:r>
              <a:rPr sz="2250" b="1" spc="235" dirty="0">
                <a:latin typeface="Verdana"/>
                <a:cs typeface="Verdana"/>
              </a:rPr>
              <a:t>X	</a:t>
            </a: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67</a:t>
            </a:fld>
            <a:endParaRPr spc="-85" dirty="0"/>
          </a:p>
        </p:txBody>
      </p:sp>
      <p:sp>
        <p:nvSpPr>
          <p:cNvPr id="5" name="object 5"/>
          <p:cNvSpPr txBox="1"/>
          <p:nvPr/>
        </p:nvSpPr>
        <p:spPr>
          <a:xfrm>
            <a:off x="4539554" y="3432486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6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96793" y="407066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96793" y="374681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96793" y="340391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96793" y="3061009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96793" y="288003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58693" y="2441885"/>
            <a:ext cx="20097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spcBef>
                <a:spcPts val="100"/>
              </a:spcBef>
              <a:tabLst>
                <a:tab pos="1198245" algn="l"/>
              </a:tabLst>
            </a:pPr>
            <a:r>
              <a:rPr sz="3375" spc="165" baseline="-17283" dirty="0">
                <a:latin typeface="Cambria"/>
                <a:cs typeface="Cambria"/>
              </a:rPr>
              <a:t>⎡</a:t>
            </a:r>
            <a:r>
              <a:rPr sz="2250" spc="110" dirty="0">
                <a:latin typeface="Cambria"/>
                <a:cs typeface="Cambria"/>
              </a:rPr>
              <a:t>20.0	</a:t>
            </a:r>
            <a:r>
              <a:rPr sz="2250" spc="15" dirty="0">
                <a:latin typeface="Cambria"/>
                <a:cs typeface="Cambria"/>
              </a:rPr>
              <a:t>‘</a:t>
            </a:r>
            <a:r>
              <a:rPr sz="2250" i="1" spc="15" dirty="0">
                <a:latin typeface="Georgia"/>
                <a:cs typeface="Georgia"/>
              </a:rPr>
              <a:t>male</a:t>
            </a:r>
            <a:r>
              <a:rPr sz="2325" spc="22" baseline="37634" dirty="0">
                <a:latin typeface="Cambria"/>
                <a:cs typeface="Cambria"/>
              </a:rPr>
              <a:t>′</a:t>
            </a:r>
            <a:endParaRPr sz="2325" baseline="37634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95330" y="2784785"/>
            <a:ext cx="18319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809625" algn="l"/>
              </a:tabLst>
            </a:pPr>
            <a:r>
              <a:rPr sz="2250" spc="-55" dirty="0">
                <a:latin typeface="Cambria"/>
                <a:cs typeface="Cambria"/>
              </a:rPr>
              <a:t>11.2	</a:t>
            </a:r>
            <a:r>
              <a:rPr sz="2250" spc="90" dirty="0">
                <a:latin typeface="Cambria"/>
                <a:cs typeface="Cambria"/>
              </a:rPr>
              <a:t>‘</a:t>
            </a:r>
            <a:r>
              <a:rPr sz="2250" i="1" spc="90" dirty="0">
                <a:latin typeface="Georgia"/>
                <a:cs typeface="Georgia"/>
              </a:rPr>
              <a:t>female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01210" y="2737161"/>
            <a:ext cx="8064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30" dirty="0">
                <a:latin typeface="Cambria"/>
                <a:cs typeface="Cambria"/>
              </a:rPr>
              <a:t>′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01210" y="3080060"/>
            <a:ext cx="8064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30" dirty="0">
                <a:latin typeface="Cambria"/>
                <a:cs typeface="Cambria"/>
              </a:rPr>
              <a:t>′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57230" y="3127684"/>
            <a:ext cx="190817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spcBef>
                <a:spcPts val="100"/>
              </a:spcBef>
              <a:tabLst>
                <a:tab pos="847725" algn="l"/>
              </a:tabLst>
            </a:pPr>
            <a:r>
              <a:rPr sz="2250" spc="-55" dirty="0">
                <a:latin typeface="Cambria"/>
                <a:cs typeface="Cambria"/>
              </a:rPr>
              <a:t>15.6	</a:t>
            </a:r>
            <a:r>
              <a:rPr sz="2250" spc="90" dirty="0">
                <a:latin typeface="Cambria"/>
                <a:cs typeface="Cambria"/>
              </a:rPr>
              <a:t>‘</a:t>
            </a:r>
            <a:r>
              <a:rPr sz="2250" i="1" spc="90" dirty="0">
                <a:latin typeface="Georgia"/>
                <a:cs typeface="Georgia"/>
              </a:rPr>
              <a:t>female</a:t>
            </a:r>
            <a:endParaRPr sz="2250">
              <a:latin typeface="Georgia"/>
              <a:cs typeface="Georgia"/>
            </a:endParaRPr>
          </a:p>
          <a:p>
            <a:pPr marL="50800">
              <a:tabLst>
                <a:tab pos="999490" algn="l"/>
              </a:tabLst>
            </a:pPr>
            <a:r>
              <a:rPr sz="2250" spc="-55" dirty="0">
                <a:latin typeface="Cambria"/>
                <a:cs typeface="Cambria"/>
              </a:rPr>
              <a:t>13.0	</a:t>
            </a:r>
            <a:r>
              <a:rPr sz="2250" spc="15" dirty="0">
                <a:latin typeface="Cambria"/>
                <a:cs typeface="Cambria"/>
              </a:rPr>
              <a:t>‘</a:t>
            </a:r>
            <a:r>
              <a:rPr sz="2250" i="1" spc="15" dirty="0">
                <a:latin typeface="Georgia"/>
                <a:cs typeface="Georgia"/>
              </a:rPr>
              <a:t>male</a:t>
            </a:r>
            <a:r>
              <a:rPr sz="2325" spc="22" baseline="37634" dirty="0">
                <a:latin typeface="Cambria"/>
                <a:cs typeface="Cambria"/>
              </a:rPr>
              <a:t>′</a:t>
            </a:r>
            <a:endParaRPr sz="2325" baseline="37634">
              <a:latin typeface="Cambria"/>
              <a:cs typeface="Cambria"/>
            </a:endParaRPr>
          </a:p>
          <a:p>
            <a:pPr marL="50800">
              <a:tabLst>
                <a:tab pos="999490" algn="l"/>
              </a:tabLst>
            </a:pPr>
            <a:r>
              <a:rPr sz="2250" spc="-55" dirty="0">
                <a:latin typeface="Cambria"/>
                <a:cs typeface="Cambria"/>
              </a:rPr>
              <a:t>18.6	</a:t>
            </a:r>
            <a:r>
              <a:rPr sz="2250" spc="15" dirty="0">
                <a:latin typeface="Cambria"/>
                <a:cs typeface="Cambria"/>
              </a:rPr>
              <a:t>‘</a:t>
            </a:r>
            <a:r>
              <a:rPr sz="2250" i="1" spc="15" dirty="0">
                <a:latin typeface="Georgia"/>
                <a:cs typeface="Georgia"/>
              </a:rPr>
              <a:t>male</a:t>
            </a:r>
            <a:r>
              <a:rPr sz="2325" spc="22" baseline="37634" dirty="0">
                <a:latin typeface="Cambria"/>
                <a:cs typeface="Cambria"/>
              </a:rPr>
              <a:t>′</a:t>
            </a:r>
            <a:endParaRPr sz="2325" baseline="37634">
              <a:latin typeface="Cambria"/>
              <a:cs typeface="Cambria"/>
            </a:endParaRPr>
          </a:p>
          <a:p>
            <a:pPr marL="50800">
              <a:tabLst>
                <a:tab pos="847725" algn="l"/>
              </a:tabLst>
            </a:pPr>
            <a:r>
              <a:rPr sz="2250" spc="-55" dirty="0">
                <a:latin typeface="Cambria"/>
                <a:cs typeface="Cambria"/>
              </a:rPr>
              <a:t>16.4	</a:t>
            </a:r>
            <a:r>
              <a:rPr sz="2250" spc="90" dirty="0">
                <a:latin typeface="Cambria"/>
                <a:cs typeface="Cambria"/>
              </a:rPr>
              <a:t>‘</a:t>
            </a:r>
            <a:r>
              <a:rPr sz="2250" i="1" spc="90" dirty="0">
                <a:latin typeface="Georgia"/>
                <a:cs typeface="Georgia"/>
              </a:rPr>
              <a:t>female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01210" y="4108761"/>
            <a:ext cx="8064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30" dirty="0">
                <a:latin typeface="Cambria"/>
                <a:cs typeface="Cambria"/>
              </a:rPr>
              <a:t>′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82768" y="407066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82768" y="374681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82768" y="340391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82768" y="3061009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82768" y="288003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82768" y="2527610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⎤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38336" y="1292225"/>
            <a:ext cx="7824470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Consider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following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matrix,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which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represent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weight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gender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class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students.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71674" y="4916488"/>
            <a:ext cx="7914640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Here,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ﬁrst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column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numeric,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20" dirty="0">
                <a:latin typeface="Microsoft Sans Serif"/>
                <a:cs typeface="Microsoft Sans Serif"/>
              </a:rPr>
              <a:t>however,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second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column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 </a:t>
            </a:r>
            <a:r>
              <a:rPr sz="2250" spc="-5" dirty="0">
                <a:latin typeface="Microsoft Sans Serif"/>
                <a:cs typeface="Microsoft Sans Serif"/>
              </a:rPr>
              <a:t> categorical,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therefore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different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transformers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have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applied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them.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9025" y="625475"/>
            <a:ext cx="7204709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In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this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example,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lets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apply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MaxAbsScaler</a:t>
            </a:r>
            <a:r>
              <a:rPr spc="3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numeric </a:t>
            </a:r>
            <a:r>
              <a:rPr spc="-58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column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OneHotEncoder</a:t>
            </a:r>
            <a:r>
              <a:rPr spc="2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categorical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column.</a:t>
            </a:r>
          </a:p>
        </p:txBody>
      </p:sp>
      <p:sp>
        <p:nvSpPr>
          <p:cNvPr id="3" name="object 3"/>
          <p:cNvSpPr/>
          <p:nvPr/>
        </p:nvSpPr>
        <p:spPr>
          <a:xfrm>
            <a:off x="1360488" y="4610100"/>
            <a:ext cx="3286125" cy="2047875"/>
          </a:xfrm>
          <a:custGeom>
            <a:avLst/>
            <a:gdLst/>
            <a:ahLst/>
            <a:cxnLst/>
            <a:rect l="l" t="t" r="r" b="b"/>
            <a:pathLst>
              <a:path w="3286125" h="2047875">
                <a:moveTo>
                  <a:pt x="0" y="0"/>
                </a:moveTo>
                <a:lnTo>
                  <a:pt x="3286124" y="0"/>
                </a:lnTo>
                <a:lnTo>
                  <a:pt x="3286124" y="2047874"/>
                </a:lnTo>
                <a:lnTo>
                  <a:pt x="0" y="2047874"/>
                </a:lnTo>
                <a:lnTo>
                  <a:pt x="0" y="0"/>
                </a:lnTo>
                <a:close/>
              </a:path>
            </a:pathLst>
          </a:custGeom>
          <a:solidFill>
            <a:srgbClr val="D9E9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48086" y="5416549"/>
            <a:ext cx="9467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11200" algn="l"/>
              </a:tabLst>
            </a:pPr>
            <a:r>
              <a:rPr sz="2250" b="1" spc="235" dirty="0">
                <a:latin typeface="Verdana"/>
                <a:cs typeface="Verdana"/>
              </a:rPr>
              <a:t>X	</a:t>
            </a: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6329" y="5549900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6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53568" y="618807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3568" y="58642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53568" y="55213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53568" y="51784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3568" y="4997449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28168" y="4559300"/>
            <a:ext cx="7829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spc="165" baseline="-17283" dirty="0">
                <a:latin typeface="Cambria"/>
                <a:cs typeface="Cambria"/>
              </a:rPr>
              <a:t>⎡</a:t>
            </a:r>
            <a:r>
              <a:rPr sz="2250" spc="110" dirty="0">
                <a:latin typeface="Cambria"/>
                <a:cs typeface="Cambria"/>
              </a:rPr>
              <a:t>20.0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75929" y="4559300"/>
            <a:ext cx="836294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250" spc="15" dirty="0">
                <a:latin typeface="Cambria"/>
                <a:cs typeface="Cambria"/>
              </a:rPr>
              <a:t>‘</a:t>
            </a:r>
            <a:r>
              <a:rPr sz="2250" i="1" spc="15" dirty="0">
                <a:latin typeface="Georgia"/>
                <a:cs typeface="Georgia"/>
              </a:rPr>
              <a:t>male</a:t>
            </a:r>
            <a:r>
              <a:rPr sz="2325" spc="22" baseline="37634" dirty="0">
                <a:latin typeface="Cambria"/>
                <a:cs typeface="Cambria"/>
              </a:rPr>
              <a:t>′</a:t>
            </a:r>
            <a:endParaRPr sz="2325" baseline="37634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52105" y="4902199"/>
            <a:ext cx="18319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809625" algn="l"/>
              </a:tabLst>
            </a:pPr>
            <a:r>
              <a:rPr sz="2250" spc="-55" dirty="0">
                <a:latin typeface="Cambria"/>
                <a:cs typeface="Cambria"/>
              </a:rPr>
              <a:t>11.2	</a:t>
            </a:r>
            <a:r>
              <a:rPr sz="2250" spc="90" dirty="0">
                <a:latin typeface="Cambria"/>
                <a:cs typeface="Cambria"/>
              </a:rPr>
              <a:t>‘</a:t>
            </a:r>
            <a:r>
              <a:rPr sz="2250" i="1" spc="90" dirty="0">
                <a:latin typeface="Georgia"/>
                <a:cs typeface="Georgia"/>
              </a:rPr>
              <a:t>female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7985" y="4854575"/>
            <a:ext cx="8064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30" dirty="0">
                <a:latin typeface="Cambria"/>
                <a:cs typeface="Cambria"/>
              </a:rPr>
              <a:t>′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57985" y="5197475"/>
            <a:ext cx="8064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30" dirty="0">
                <a:latin typeface="Cambria"/>
                <a:cs typeface="Cambria"/>
              </a:rPr>
              <a:t>′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14005" y="5245099"/>
            <a:ext cx="190817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spcBef>
                <a:spcPts val="100"/>
              </a:spcBef>
              <a:tabLst>
                <a:tab pos="847725" algn="l"/>
              </a:tabLst>
            </a:pPr>
            <a:r>
              <a:rPr sz="2250" spc="-55" dirty="0">
                <a:latin typeface="Cambria"/>
                <a:cs typeface="Cambria"/>
              </a:rPr>
              <a:t>15.6	</a:t>
            </a:r>
            <a:r>
              <a:rPr sz="2250" spc="90" dirty="0">
                <a:latin typeface="Cambria"/>
                <a:cs typeface="Cambria"/>
              </a:rPr>
              <a:t>‘</a:t>
            </a:r>
            <a:r>
              <a:rPr sz="2250" i="1" spc="90" dirty="0">
                <a:latin typeface="Georgia"/>
                <a:cs typeface="Georgia"/>
              </a:rPr>
              <a:t>female</a:t>
            </a:r>
            <a:endParaRPr sz="2250">
              <a:latin typeface="Georgia"/>
              <a:cs typeface="Georgia"/>
            </a:endParaRPr>
          </a:p>
          <a:p>
            <a:pPr marL="50800">
              <a:tabLst>
                <a:tab pos="999490" algn="l"/>
              </a:tabLst>
            </a:pPr>
            <a:r>
              <a:rPr sz="2250" spc="-55" dirty="0">
                <a:latin typeface="Cambria"/>
                <a:cs typeface="Cambria"/>
              </a:rPr>
              <a:t>13.0	</a:t>
            </a:r>
            <a:r>
              <a:rPr sz="2250" spc="15" dirty="0">
                <a:latin typeface="Cambria"/>
                <a:cs typeface="Cambria"/>
              </a:rPr>
              <a:t>‘</a:t>
            </a:r>
            <a:r>
              <a:rPr sz="2250" i="1" spc="15" dirty="0">
                <a:latin typeface="Georgia"/>
                <a:cs typeface="Georgia"/>
              </a:rPr>
              <a:t>male</a:t>
            </a:r>
            <a:r>
              <a:rPr sz="2325" spc="22" baseline="37634" dirty="0">
                <a:latin typeface="Cambria"/>
                <a:cs typeface="Cambria"/>
              </a:rPr>
              <a:t>′</a:t>
            </a:r>
            <a:endParaRPr sz="2325" baseline="37634">
              <a:latin typeface="Cambria"/>
              <a:cs typeface="Cambria"/>
            </a:endParaRPr>
          </a:p>
          <a:p>
            <a:pPr marL="50800">
              <a:tabLst>
                <a:tab pos="999490" algn="l"/>
              </a:tabLst>
            </a:pPr>
            <a:r>
              <a:rPr sz="2250" spc="-55" dirty="0">
                <a:latin typeface="Cambria"/>
                <a:cs typeface="Cambria"/>
              </a:rPr>
              <a:t>18.6	</a:t>
            </a:r>
            <a:r>
              <a:rPr sz="2250" spc="15" dirty="0">
                <a:latin typeface="Cambria"/>
                <a:cs typeface="Cambria"/>
              </a:rPr>
              <a:t>‘</a:t>
            </a:r>
            <a:r>
              <a:rPr sz="2250" i="1" spc="15" dirty="0">
                <a:latin typeface="Georgia"/>
                <a:cs typeface="Georgia"/>
              </a:rPr>
              <a:t>male</a:t>
            </a:r>
            <a:r>
              <a:rPr sz="2325" spc="22" baseline="37634" dirty="0">
                <a:latin typeface="Cambria"/>
                <a:cs typeface="Cambria"/>
              </a:rPr>
              <a:t>′</a:t>
            </a:r>
            <a:endParaRPr sz="2325" baseline="37634">
              <a:latin typeface="Cambria"/>
              <a:cs typeface="Cambria"/>
            </a:endParaRPr>
          </a:p>
          <a:p>
            <a:pPr marL="50800">
              <a:tabLst>
                <a:tab pos="847725" algn="l"/>
              </a:tabLst>
            </a:pPr>
            <a:r>
              <a:rPr sz="2250" spc="-55" dirty="0">
                <a:latin typeface="Cambria"/>
                <a:cs typeface="Cambria"/>
              </a:rPr>
              <a:t>16.4	</a:t>
            </a:r>
            <a:r>
              <a:rPr sz="2250" spc="90" dirty="0">
                <a:latin typeface="Cambria"/>
                <a:cs typeface="Cambria"/>
              </a:rPr>
              <a:t>‘</a:t>
            </a:r>
            <a:r>
              <a:rPr sz="2250" i="1" spc="90" dirty="0">
                <a:latin typeface="Georgia"/>
                <a:cs typeface="Georgia"/>
              </a:rPr>
              <a:t>female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7985" y="6226175"/>
            <a:ext cx="8064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30" dirty="0">
                <a:latin typeface="Cambria"/>
                <a:cs typeface="Cambria"/>
              </a:rPr>
              <a:t>′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39543" y="618807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39543" y="58642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39543" y="55213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39543" y="51784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39543" y="4997449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39543" y="4645025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⎤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513636" y="4610100"/>
            <a:ext cx="2990850" cy="2047875"/>
          </a:xfrm>
          <a:custGeom>
            <a:avLst/>
            <a:gdLst/>
            <a:ahLst/>
            <a:cxnLst/>
            <a:rect l="l" t="t" r="r" b="b"/>
            <a:pathLst>
              <a:path w="2990850" h="2047875">
                <a:moveTo>
                  <a:pt x="0" y="0"/>
                </a:moveTo>
                <a:lnTo>
                  <a:pt x="2990850" y="0"/>
                </a:lnTo>
                <a:lnTo>
                  <a:pt x="2990850" y="2047874"/>
                </a:lnTo>
                <a:lnTo>
                  <a:pt x="0" y="2047874"/>
                </a:lnTo>
                <a:lnTo>
                  <a:pt x="0" y="0"/>
                </a:lnTo>
                <a:close/>
              </a:path>
            </a:pathLst>
          </a:custGeom>
          <a:solidFill>
            <a:srgbClr val="E9D0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286006" y="5416549"/>
            <a:ext cx="2482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500" dirty="0">
                <a:latin typeface="Cambria"/>
                <a:cs typeface="Cambria"/>
              </a:rPr>
              <a:t>=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75834" y="5311774"/>
            <a:ext cx="3937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375" b="1" spc="165" baseline="-20987" dirty="0">
                <a:latin typeface="Verdana"/>
                <a:cs typeface="Verdana"/>
              </a:rPr>
              <a:t>X</a:t>
            </a:r>
            <a:r>
              <a:rPr sz="1550" b="1" spc="110" dirty="0">
                <a:latin typeface="Verdana"/>
                <a:cs typeface="Verdana"/>
              </a:rPr>
              <a:t>′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35204" y="5549900"/>
            <a:ext cx="3810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550" spc="-75" dirty="0">
                <a:latin typeface="Cambria"/>
                <a:cs typeface="Cambria"/>
              </a:rPr>
              <a:t>6</a:t>
            </a:r>
            <a:r>
              <a:rPr sz="1550" spc="360" dirty="0">
                <a:latin typeface="Cambria"/>
                <a:cs typeface="Cambria"/>
              </a:rPr>
              <a:t>×</a:t>
            </a:r>
            <a:r>
              <a:rPr sz="1550" spc="-75" dirty="0">
                <a:latin typeface="Cambria"/>
                <a:cs typeface="Cambria"/>
              </a:rPr>
              <a:t>3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92443" y="618807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⎣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92443" y="58642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92443" y="55213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92443" y="51784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92443" y="4997449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⎢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105430" y="5245099"/>
            <a:ext cx="24828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125" dirty="0">
                <a:latin typeface="Cambria"/>
                <a:cs typeface="Cambria"/>
              </a:rPr>
              <a:t>0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>
              <a:latin typeface="Cambria"/>
              <a:cs typeface="Cambria"/>
            </a:endParaRPr>
          </a:p>
          <a:p>
            <a:pPr marL="12700"/>
            <a:r>
              <a:rPr sz="2250" spc="-125" dirty="0">
                <a:latin typeface="Cambria"/>
                <a:cs typeface="Cambria"/>
              </a:rPr>
              <a:t>1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>
              <a:latin typeface="Cambria"/>
              <a:cs typeface="Cambria"/>
            </a:endParaRPr>
          </a:p>
          <a:p>
            <a:pPr marL="12700"/>
            <a:r>
              <a:rPr sz="2250" spc="-125" dirty="0">
                <a:latin typeface="Cambria"/>
                <a:cs typeface="Cambria"/>
              </a:rPr>
              <a:t>1</a:t>
            </a:r>
            <a:r>
              <a:rPr sz="2250" spc="160" dirty="0">
                <a:latin typeface="Cambria"/>
                <a:cs typeface="Cambria"/>
              </a:rPr>
              <a:t>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335518" y="618807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⎦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335518" y="58642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335518" y="55213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335518" y="5178424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335518" y="4997449"/>
            <a:ext cx="21653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710" dirty="0">
                <a:latin typeface="Cambria"/>
                <a:cs typeface="Cambria"/>
              </a:rPr>
              <a:t>⎥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503542" y="4559300"/>
            <a:ext cx="2150110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>
              <a:spcBef>
                <a:spcPts val="100"/>
              </a:spcBef>
              <a:tabLst>
                <a:tab pos="442595" algn="l"/>
                <a:tab pos="1099820" algn="l"/>
                <a:tab pos="1614170" algn="l"/>
              </a:tabLst>
            </a:pPr>
            <a:r>
              <a:rPr sz="3375" spc="1064" baseline="-17283" dirty="0">
                <a:latin typeface="Cambria"/>
                <a:cs typeface="Cambria"/>
              </a:rPr>
              <a:t>⎡	</a:t>
            </a:r>
            <a:r>
              <a:rPr sz="2250" spc="20" dirty="0">
                <a:latin typeface="Cambria"/>
                <a:cs typeface="Cambria"/>
              </a:rPr>
              <a:t>1.	0.	</a:t>
            </a:r>
            <a:r>
              <a:rPr sz="2250" spc="270" dirty="0">
                <a:latin typeface="Cambria"/>
                <a:cs typeface="Cambria"/>
              </a:rPr>
              <a:t>1.</a:t>
            </a:r>
            <a:r>
              <a:rPr sz="3375" spc="405" baseline="-17283" dirty="0">
                <a:latin typeface="Cambria"/>
                <a:cs typeface="Cambria"/>
              </a:rPr>
              <a:t>⎤</a:t>
            </a:r>
            <a:endParaRPr sz="3375" baseline="-17283">
              <a:latin typeface="Cambria"/>
              <a:cs typeface="Cambria"/>
            </a:endParaRPr>
          </a:p>
          <a:p>
            <a:pPr marL="299720">
              <a:tabLst>
                <a:tab pos="1099820" algn="l"/>
                <a:tab pos="1614170" algn="l"/>
              </a:tabLst>
            </a:pPr>
            <a:r>
              <a:rPr sz="2250" spc="-55" dirty="0">
                <a:latin typeface="Cambria"/>
                <a:cs typeface="Cambria"/>
              </a:rPr>
              <a:t>0.56	</a:t>
            </a:r>
            <a:r>
              <a:rPr sz="2250" spc="20" dirty="0">
                <a:latin typeface="Cambria"/>
                <a:cs typeface="Cambria"/>
              </a:rPr>
              <a:t>1.	0.</a:t>
            </a:r>
            <a:endParaRPr sz="2250">
              <a:latin typeface="Cambria"/>
              <a:cs typeface="Cambria"/>
            </a:endParaRPr>
          </a:p>
          <a:p>
            <a:pPr marL="299720">
              <a:tabLst>
                <a:tab pos="1099820" algn="l"/>
              </a:tabLst>
            </a:pPr>
            <a:r>
              <a:rPr sz="2250" spc="-55" dirty="0">
                <a:latin typeface="Cambria"/>
                <a:cs typeface="Cambria"/>
              </a:rPr>
              <a:t>0.78	</a:t>
            </a:r>
            <a:r>
              <a:rPr sz="2250" spc="20" dirty="0">
                <a:latin typeface="Cambria"/>
                <a:cs typeface="Cambria"/>
              </a:rPr>
              <a:t>1.</a:t>
            </a:r>
            <a:endParaRPr sz="2250">
              <a:latin typeface="Cambria"/>
              <a:cs typeface="Cambria"/>
            </a:endParaRPr>
          </a:p>
          <a:p>
            <a:pPr marL="299720">
              <a:tabLst>
                <a:tab pos="1099820" algn="l"/>
              </a:tabLst>
            </a:pPr>
            <a:r>
              <a:rPr sz="2250" spc="-55" dirty="0">
                <a:latin typeface="Cambria"/>
                <a:cs typeface="Cambria"/>
              </a:rPr>
              <a:t>0.65	</a:t>
            </a:r>
            <a:r>
              <a:rPr sz="2250" spc="20" dirty="0">
                <a:latin typeface="Cambria"/>
                <a:cs typeface="Cambria"/>
              </a:rPr>
              <a:t>0.</a:t>
            </a:r>
            <a:endParaRPr sz="2250">
              <a:latin typeface="Cambria"/>
              <a:cs typeface="Cambria"/>
            </a:endParaRPr>
          </a:p>
          <a:p>
            <a:pPr marL="299720" marR="338455">
              <a:tabLst>
                <a:tab pos="1099820" algn="l"/>
                <a:tab pos="1614170" algn="l"/>
              </a:tabLst>
            </a:pPr>
            <a:r>
              <a:rPr sz="2250" spc="-55" dirty="0">
                <a:latin typeface="Cambria"/>
                <a:cs typeface="Cambria"/>
              </a:rPr>
              <a:t>0.93	</a:t>
            </a:r>
            <a:r>
              <a:rPr sz="2250" spc="20" dirty="0">
                <a:latin typeface="Cambria"/>
                <a:cs typeface="Cambria"/>
              </a:rPr>
              <a:t>0. </a:t>
            </a:r>
            <a:r>
              <a:rPr sz="2250" spc="25" dirty="0">
                <a:latin typeface="Cambria"/>
                <a:cs typeface="Cambria"/>
              </a:rPr>
              <a:t> </a:t>
            </a:r>
            <a:r>
              <a:rPr sz="2250" spc="-125" dirty="0">
                <a:latin typeface="Cambria"/>
                <a:cs typeface="Cambria"/>
              </a:rPr>
              <a:t>0</a:t>
            </a:r>
            <a:r>
              <a:rPr sz="2250" spc="155" dirty="0">
                <a:latin typeface="Cambria"/>
                <a:cs typeface="Cambria"/>
              </a:rPr>
              <a:t>.</a:t>
            </a:r>
            <a:r>
              <a:rPr sz="2250" spc="-125" dirty="0">
                <a:latin typeface="Cambria"/>
                <a:cs typeface="Cambria"/>
              </a:rPr>
              <a:t>82</a:t>
            </a:r>
            <a:r>
              <a:rPr sz="2250" dirty="0">
                <a:latin typeface="Cambria"/>
                <a:cs typeface="Cambria"/>
              </a:rPr>
              <a:t>	</a:t>
            </a:r>
            <a:r>
              <a:rPr sz="2250" spc="-125" dirty="0">
                <a:latin typeface="Cambria"/>
                <a:cs typeface="Cambria"/>
              </a:rPr>
              <a:t>1</a:t>
            </a:r>
            <a:r>
              <a:rPr sz="2250" spc="160" dirty="0">
                <a:latin typeface="Cambria"/>
                <a:cs typeface="Cambria"/>
              </a:rPr>
              <a:t>.</a:t>
            </a:r>
            <a:r>
              <a:rPr sz="2250" dirty="0">
                <a:latin typeface="Cambria"/>
                <a:cs typeface="Cambria"/>
              </a:rPr>
              <a:t>	</a:t>
            </a:r>
            <a:r>
              <a:rPr sz="2250" spc="-125" dirty="0">
                <a:latin typeface="Cambria"/>
                <a:cs typeface="Cambria"/>
              </a:rPr>
              <a:t>0</a:t>
            </a:r>
            <a:r>
              <a:rPr sz="2250" spc="-110" dirty="0">
                <a:latin typeface="Cambria"/>
                <a:cs typeface="Cambria"/>
              </a:rPr>
              <a:t>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503487" y="1661294"/>
            <a:ext cx="6858000" cy="1266825"/>
          </a:xfrm>
          <a:custGeom>
            <a:avLst/>
            <a:gdLst/>
            <a:ahLst/>
            <a:cxnLst/>
            <a:rect l="l" t="t" r="r" b="b"/>
            <a:pathLst>
              <a:path w="6858000" h="1266825">
                <a:moveTo>
                  <a:pt x="6824952" y="1266824"/>
                </a:moveTo>
                <a:lnTo>
                  <a:pt x="33047" y="1266824"/>
                </a:lnTo>
                <a:lnTo>
                  <a:pt x="28187" y="1265858"/>
                </a:lnTo>
                <a:lnTo>
                  <a:pt x="966" y="1238637"/>
                </a:lnTo>
                <a:lnTo>
                  <a:pt x="0" y="1233777"/>
                </a:lnTo>
                <a:lnTo>
                  <a:pt x="0" y="12287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824952" y="0"/>
                </a:lnTo>
                <a:lnTo>
                  <a:pt x="6857032" y="28187"/>
                </a:lnTo>
                <a:lnTo>
                  <a:pt x="6857999" y="33047"/>
                </a:lnTo>
                <a:lnTo>
                  <a:pt x="6857999" y="1233777"/>
                </a:lnTo>
                <a:lnTo>
                  <a:pt x="6829811" y="1265857"/>
                </a:lnTo>
                <a:lnTo>
                  <a:pt x="6824952" y="1266824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538412" y="1660024"/>
            <a:ext cx="5238115" cy="16337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1468120" indent="-366395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column_trans = ColumnTransformer( </a:t>
            </a:r>
            <a:r>
              <a:rPr sz="1200" b="1" spc="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[(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'ageScaler'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MaxAbsScaler(),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 [0]]),</a:t>
            </a:r>
            <a:endParaRPr sz="1200">
              <a:latin typeface="Courier New"/>
              <a:cs typeface="Courier New"/>
            </a:endParaRPr>
          </a:p>
          <a:p>
            <a:pPr marL="378460" marR="5080" indent="91440">
              <a:lnSpc>
                <a:spcPct val="125000"/>
              </a:lnSpc>
            </a:pP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'genderEncoder'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6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OneHotEncoder(dtype=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'int'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),</a:t>
            </a:r>
            <a:r>
              <a:rPr sz="1200" b="1" spc="6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[1])], </a:t>
            </a:r>
            <a:r>
              <a:rPr sz="1200" b="1" spc="-70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remainder=</a:t>
            </a:r>
            <a:r>
              <a:rPr sz="1200" b="1" dirty="0">
                <a:solidFill>
                  <a:srgbClr val="A6E22E"/>
                </a:solidFill>
                <a:latin typeface="Courier New"/>
                <a:cs typeface="Courier New"/>
              </a:rPr>
              <a:t>'drop'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verbose_feature_names_out=</a:t>
            </a:r>
            <a:r>
              <a:rPr sz="1200" b="1" spc="-5" dirty="0">
                <a:solidFill>
                  <a:srgbClr val="F92572"/>
                </a:solidFill>
                <a:latin typeface="Courier New"/>
                <a:cs typeface="Courier New"/>
              </a:rPr>
              <a:t>False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column_trans.fit_transform(X)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373302" y="2989791"/>
            <a:ext cx="1800860" cy="1638300"/>
            <a:chOff x="2012815" y="2989791"/>
            <a:chExt cx="1800860" cy="1638300"/>
          </a:xfrm>
        </p:grpSpPr>
        <p:sp>
          <p:nvSpPr>
            <p:cNvPr id="43" name="object 43"/>
            <p:cNvSpPr/>
            <p:nvPr/>
          </p:nvSpPr>
          <p:spPr>
            <a:xfrm>
              <a:off x="2031872" y="3028258"/>
              <a:ext cx="1739264" cy="1581150"/>
            </a:xfrm>
            <a:custGeom>
              <a:avLst/>
              <a:gdLst/>
              <a:ahLst/>
              <a:cxnLst/>
              <a:rect l="l" t="t" r="r" b="b"/>
              <a:pathLst>
                <a:path w="1739264" h="1581150">
                  <a:moveTo>
                    <a:pt x="0" y="1580742"/>
                  </a:moveTo>
                  <a:lnTo>
                    <a:pt x="1738860" y="0"/>
                  </a:lnTo>
                </a:path>
              </a:pathLst>
            </a:custGeom>
            <a:ln w="381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89859" y="2989791"/>
              <a:ext cx="123189" cy="119380"/>
            </a:xfrm>
            <a:custGeom>
              <a:avLst/>
              <a:gdLst/>
              <a:ahLst/>
              <a:cxnLst/>
              <a:rect l="l" t="t" r="r" b="b"/>
              <a:pathLst>
                <a:path w="123189" h="119380">
                  <a:moveTo>
                    <a:pt x="77117" y="119146"/>
                  </a:moveTo>
                  <a:lnTo>
                    <a:pt x="0" y="34719"/>
                  </a:lnTo>
                  <a:lnTo>
                    <a:pt x="123188" y="0"/>
                  </a:lnTo>
                  <a:lnTo>
                    <a:pt x="77117" y="119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6132528" y="2970761"/>
            <a:ext cx="4295775" cy="3611245"/>
            <a:chOff x="4772040" y="2970760"/>
            <a:chExt cx="4295775" cy="3611245"/>
          </a:xfrm>
        </p:grpSpPr>
        <p:sp>
          <p:nvSpPr>
            <p:cNvPr id="46" name="object 46"/>
            <p:cNvSpPr/>
            <p:nvPr/>
          </p:nvSpPr>
          <p:spPr>
            <a:xfrm>
              <a:off x="4791065" y="2989785"/>
              <a:ext cx="1710689" cy="1580515"/>
            </a:xfrm>
            <a:custGeom>
              <a:avLst/>
              <a:gdLst/>
              <a:ahLst/>
              <a:cxnLst/>
              <a:rect l="l" t="t" r="r" b="b"/>
              <a:pathLst>
                <a:path w="1710689" h="1580514">
                  <a:moveTo>
                    <a:pt x="0" y="0"/>
                  </a:moveTo>
                  <a:lnTo>
                    <a:pt x="1710682" y="1580493"/>
                  </a:lnTo>
                </a:path>
              </a:pathLst>
            </a:custGeom>
            <a:ln w="38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421158" y="4489576"/>
              <a:ext cx="122555" cy="120014"/>
            </a:xfrm>
            <a:custGeom>
              <a:avLst/>
              <a:gdLst/>
              <a:ahLst/>
              <a:cxnLst/>
              <a:rect l="l" t="t" r="r" b="b"/>
              <a:pathLst>
                <a:path w="122554" h="120014">
                  <a:moveTo>
                    <a:pt x="0" y="83950"/>
                  </a:moveTo>
                  <a:lnTo>
                    <a:pt x="77346" y="0"/>
                  </a:lnTo>
                  <a:lnTo>
                    <a:pt x="122506" y="119429"/>
                  </a:lnTo>
                  <a:lnTo>
                    <a:pt x="0" y="839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820149" y="6353174"/>
              <a:ext cx="247650" cy="228600"/>
            </a:xfrm>
            <a:custGeom>
              <a:avLst/>
              <a:gdLst/>
              <a:ahLst/>
              <a:cxnLst/>
              <a:rect l="l" t="t" r="r" b="b"/>
              <a:pathLst>
                <a:path w="247650" h="228600">
                  <a:moveTo>
                    <a:pt x="24764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247649" y="0"/>
                  </a:lnTo>
                  <a:lnTo>
                    <a:pt x="247649" y="228599"/>
                  </a:lnTo>
                  <a:close/>
                </a:path>
              </a:pathLst>
            </a:custGeom>
            <a:solidFill>
              <a:srgbClr val="FFFF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0219580" y="6369050"/>
            <a:ext cx="161290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050" spc="-215" dirty="0">
                <a:solidFill>
                  <a:srgbClr val="111111"/>
                </a:solidFill>
                <a:latin typeface="Verdana"/>
                <a:cs typeface="Verdana"/>
              </a:rPr>
              <a:t>60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2486" y="1042988"/>
            <a:ext cx="3810000" cy="34624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-15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TransformedTargetRegressor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05285" y="401637"/>
            <a:ext cx="585470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14" dirty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sz="2900" spc="-200" dirty="0">
                <a:solidFill>
                  <a:srgbClr val="000000"/>
                </a:solidFill>
                <a:latin typeface="Verdana"/>
                <a:cs typeface="Verdana"/>
              </a:rPr>
              <a:t>ransforming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330" dirty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sz="2900" spc="-200" dirty="0">
                <a:solidFill>
                  <a:srgbClr val="000000"/>
                </a:solidFill>
                <a:latin typeface="Verdana"/>
                <a:cs typeface="Verdana"/>
              </a:rPr>
              <a:t>arget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204" dirty="0">
                <a:solidFill>
                  <a:srgbClr val="000000"/>
                </a:solidFill>
                <a:latin typeface="Verdana"/>
                <a:cs typeface="Verdana"/>
              </a:rPr>
              <a:t>for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14" dirty="0">
                <a:solidFill>
                  <a:srgbClr val="000000"/>
                </a:solidFill>
                <a:latin typeface="Verdana"/>
                <a:cs typeface="Verdana"/>
              </a:rPr>
              <a:t>Regression</a:t>
            </a:r>
            <a:endParaRPr sz="29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987" y="1576387"/>
            <a:ext cx="85724" cy="857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427787" y="1490662"/>
            <a:ext cx="142875" cy="266700"/>
          </a:xfrm>
          <a:custGeom>
            <a:avLst/>
            <a:gdLst/>
            <a:ahLst/>
            <a:cxnLst/>
            <a:rect l="l" t="t" r="r" b="b"/>
            <a:pathLst>
              <a:path w="142875" h="266700">
                <a:moveTo>
                  <a:pt x="10982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09827" y="0"/>
                </a:lnTo>
                <a:lnTo>
                  <a:pt x="141907" y="28187"/>
                </a:lnTo>
                <a:lnTo>
                  <a:pt x="142874" y="33047"/>
                </a:lnTo>
                <a:lnTo>
                  <a:pt x="142874" y="233652"/>
                </a:lnTo>
                <a:lnTo>
                  <a:pt x="114687" y="265733"/>
                </a:lnTo>
                <a:lnTo>
                  <a:pt x="10982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987" y="2395537"/>
            <a:ext cx="85724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2987" y="3205162"/>
            <a:ext cx="85724" cy="8572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551111" y="3119437"/>
            <a:ext cx="3562350" cy="266700"/>
          </a:xfrm>
          <a:custGeom>
            <a:avLst/>
            <a:gdLst/>
            <a:ahLst/>
            <a:cxnLst/>
            <a:rect l="l" t="t" r="r" b="b"/>
            <a:pathLst>
              <a:path w="3562350" h="266700">
                <a:moveTo>
                  <a:pt x="352930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529302" y="0"/>
                </a:lnTo>
                <a:lnTo>
                  <a:pt x="3561382" y="28187"/>
                </a:lnTo>
                <a:lnTo>
                  <a:pt x="3562349" y="33047"/>
                </a:lnTo>
                <a:lnTo>
                  <a:pt x="3562349" y="233652"/>
                </a:lnTo>
                <a:lnTo>
                  <a:pt x="3534161" y="265733"/>
                </a:lnTo>
                <a:lnTo>
                  <a:pt x="352930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61187" y="3119437"/>
            <a:ext cx="1228725" cy="266700"/>
          </a:xfrm>
          <a:custGeom>
            <a:avLst/>
            <a:gdLst/>
            <a:ahLst/>
            <a:cxnLst/>
            <a:rect l="l" t="t" r="r" b="b"/>
            <a:pathLst>
              <a:path w="1228725" h="266700">
                <a:moveTo>
                  <a:pt x="119567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195677" y="0"/>
                </a:lnTo>
                <a:lnTo>
                  <a:pt x="1227757" y="28187"/>
                </a:lnTo>
                <a:lnTo>
                  <a:pt x="1228724" y="33047"/>
                </a:lnTo>
                <a:lnTo>
                  <a:pt x="1228724" y="233652"/>
                </a:lnTo>
                <a:lnTo>
                  <a:pt x="1200536" y="265733"/>
                </a:lnTo>
                <a:lnTo>
                  <a:pt x="119567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51111" y="3490912"/>
            <a:ext cx="1504950" cy="266700"/>
          </a:xfrm>
          <a:custGeom>
            <a:avLst/>
            <a:gdLst/>
            <a:ahLst/>
            <a:cxnLst/>
            <a:rect l="l" t="t" r="r" b="b"/>
            <a:pathLst>
              <a:path w="1504950" h="266700">
                <a:moveTo>
                  <a:pt x="147190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471902" y="0"/>
                </a:lnTo>
                <a:lnTo>
                  <a:pt x="1503982" y="28187"/>
                </a:lnTo>
                <a:lnTo>
                  <a:pt x="1504949" y="33047"/>
                </a:lnTo>
                <a:lnTo>
                  <a:pt x="1504949" y="233652"/>
                </a:lnTo>
                <a:lnTo>
                  <a:pt x="1476762" y="265733"/>
                </a:lnTo>
                <a:lnTo>
                  <a:pt x="147190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38412" y="1373187"/>
            <a:ext cx="676084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32485">
              <a:lnSpc>
                <a:spcPct val="108300"/>
              </a:lnSpc>
              <a:spcBef>
                <a:spcPts val="100"/>
              </a:spcBef>
            </a:pPr>
            <a:r>
              <a:rPr sz="2250" spc="-85" dirty="0">
                <a:solidFill>
                  <a:srgbClr val="0000FF"/>
                </a:solidFill>
                <a:latin typeface="Microsoft Sans Serif"/>
                <a:cs typeface="Microsoft Sans Serif"/>
              </a:rPr>
              <a:t>T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ransforms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target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variable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y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before</a:t>
            </a:r>
            <a:r>
              <a:rPr sz="2250" spc="2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ﬁtting</a:t>
            </a:r>
            <a:r>
              <a:rPr sz="2250" spc="2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  </a:t>
            </a:r>
            <a:r>
              <a:rPr sz="2250" spc="-5" dirty="0">
                <a:latin typeface="Microsoft Sans Serif"/>
                <a:cs typeface="Microsoft Sans Serif"/>
              </a:rPr>
              <a:t>regression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model.</a:t>
            </a:r>
            <a:endParaRPr sz="2250">
              <a:latin typeface="Microsoft Sans Serif"/>
              <a:cs typeface="Microsoft Sans Serif"/>
            </a:endParaRPr>
          </a:p>
          <a:p>
            <a:pPr marL="12700" marR="5080">
              <a:lnSpc>
                <a:spcPct val="108300"/>
              </a:lnSpc>
              <a:spcBef>
                <a:spcPts val="600"/>
              </a:spcBef>
            </a:pP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predicted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mapped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back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original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space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via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inverse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transform.</a:t>
            </a:r>
            <a:endParaRPr sz="2250">
              <a:latin typeface="Microsoft Sans Serif"/>
              <a:cs typeface="Microsoft Sans Serif"/>
            </a:endParaRPr>
          </a:p>
          <a:p>
            <a:pPr marL="12700" marR="449580">
              <a:lnSpc>
                <a:spcPct val="108300"/>
              </a:lnSpc>
              <a:spcBef>
                <a:spcPts val="525"/>
              </a:spcBef>
            </a:pPr>
            <a:r>
              <a:rPr b="1" dirty="0">
                <a:latin typeface="Courier New"/>
                <a:cs typeface="Courier New"/>
              </a:rPr>
              <a:t>TransformedTargetRegressor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takes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regressor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  </a:t>
            </a:r>
            <a:r>
              <a:rPr b="1" dirty="0">
                <a:latin typeface="Courier New"/>
                <a:cs typeface="Courier New"/>
              </a:rPr>
              <a:t>transformer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applied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target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variable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as  arguments.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08834" y="4110038"/>
            <a:ext cx="7620000" cy="2563811"/>
          </a:xfrm>
          <a:custGeom>
            <a:avLst/>
            <a:gdLst/>
            <a:ahLst/>
            <a:cxnLst/>
            <a:rect l="l" t="t" r="r" b="b"/>
            <a:pathLst>
              <a:path w="7620000" h="2000250">
                <a:moveTo>
                  <a:pt x="7586951" y="2000249"/>
                </a:moveTo>
                <a:lnTo>
                  <a:pt x="33047" y="2000249"/>
                </a:lnTo>
                <a:lnTo>
                  <a:pt x="28187" y="1999283"/>
                </a:lnTo>
                <a:lnTo>
                  <a:pt x="966" y="1972062"/>
                </a:lnTo>
                <a:lnTo>
                  <a:pt x="0" y="1967201"/>
                </a:lnTo>
                <a:lnTo>
                  <a:pt x="0" y="19621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586951" y="0"/>
                </a:lnTo>
                <a:lnTo>
                  <a:pt x="7619031" y="28187"/>
                </a:lnTo>
                <a:lnTo>
                  <a:pt x="7619998" y="33047"/>
                </a:lnTo>
                <a:lnTo>
                  <a:pt x="7619998" y="1967201"/>
                </a:lnTo>
                <a:lnTo>
                  <a:pt x="7591811" y="1999282"/>
                </a:lnTo>
                <a:lnTo>
                  <a:pt x="7586951" y="200024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157411" y="4418329"/>
            <a:ext cx="5970270" cy="2089032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spcBef>
                <a:spcPts val="459"/>
              </a:spcBef>
            </a:pPr>
            <a:r>
              <a:rPr sz="1200" b="1" dirty="0">
                <a:solidFill>
                  <a:srgbClr val="F92572"/>
                </a:solidFill>
                <a:latin typeface="Courier New"/>
                <a:cs typeface="Courier New"/>
              </a:rPr>
              <a:t>import</a:t>
            </a:r>
            <a:r>
              <a:rPr sz="1200" b="1" spc="-30" dirty="0">
                <a:solidFill>
                  <a:srgbClr val="F92572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numpy</a:t>
            </a:r>
            <a:r>
              <a:rPr sz="1200" b="1" spc="-3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F92572"/>
                </a:solidFill>
                <a:latin typeface="Courier New"/>
                <a:cs typeface="Courier New"/>
              </a:rPr>
              <a:t>as</a:t>
            </a:r>
            <a:r>
              <a:rPr sz="1200" b="1" spc="-25" dirty="0">
                <a:solidFill>
                  <a:srgbClr val="F92572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np</a:t>
            </a:r>
            <a:endParaRPr sz="1200" dirty="0">
              <a:latin typeface="Courier New"/>
              <a:cs typeface="Courier New"/>
            </a:endParaRPr>
          </a:p>
          <a:p>
            <a:pPr marL="12700" marR="1010919">
              <a:lnSpc>
                <a:spcPct val="125000"/>
              </a:lnSpc>
            </a:pPr>
            <a:r>
              <a:rPr sz="1200" b="1" dirty="0">
                <a:solidFill>
                  <a:srgbClr val="F92572"/>
                </a:solidFill>
                <a:latin typeface="Courier New"/>
                <a:cs typeface="Courier New"/>
              </a:rPr>
              <a:t>from</a:t>
            </a:r>
            <a:r>
              <a:rPr sz="1200" b="1" spc="5" dirty="0">
                <a:solidFill>
                  <a:srgbClr val="F92572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sklearn.linear_model</a:t>
            </a:r>
            <a:r>
              <a:rPr sz="1200" b="1" spc="72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F92572"/>
                </a:solidFill>
                <a:latin typeface="Courier New"/>
                <a:cs typeface="Courier New"/>
              </a:rPr>
              <a:t>import</a:t>
            </a:r>
            <a:r>
              <a:rPr sz="1200" b="1" spc="720" dirty="0">
                <a:solidFill>
                  <a:srgbClr val="F92572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LinearRegression </a:t>
            </a:r>
            <a:r>
              <a:rPr sz="1200" b="1" spc="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F92572"/>
                </a:solidFill>
                <a:latin typeface="Courier New"/>
                <a:cs typeface="Courier New"/>
              </a:rPr>
              <a:t>from</a:t>
            </a:r>
            <a:r>
              <a:rPr sz="1200" b="1" spc="-35" dirty="0">
                <a:solidFill>
                  <a:srgbClr val="F92572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sklearn.compose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F92572"/>
                </a:solidFill>
                <a:latin typeface="Courier New"/>
                <a:cs typeface="Courier New"/>
              </a:rPr>
              <a:t>import</a:t>
            </a:r>
            <a:r>
              <a:rPr sz="1200" b="1" spc="-30" dirty="0">
                <a:solidFill>
                  <a:srgbClr val="F92572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TransformedTargetRegressor</a:t>
            </a:r>
            <a:endParaRPr sz="1200" dirty="0">
              <a:latin typeface="Courier New"/>
              <a:cs typeface="Courier New"/>
            </a:endParaRPr>
          </a:p>
          <a:p>
            <a:pPr marL="1270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tt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TransformedTargetRegressor(regressor=LinearRegression(),</a:t>
            </a:r>
            <a:endParaRPr sz="1200" dirty="0">
              <a:latin typeface="Courier New"/>
              <a:cs typeface="Courier New"/>
            </a:endParaRPr>
          </a:p>
          <a:p>
            <a:pPr marL="293878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func=np.log,</a:t>
            </a:r>
            <a:r>
              <a:rPr sz="1200" b="1" spc="-9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inverse_func=np.exp)</a:t>
            </a:r>
            <a:endParaRPr sz="1200" dirty="0">
              <a:latin typeface="Courier New"/>
              <a:cs typeface="Courier New"/>
            </a:endParaRPr>
          </a:p>
          <a:p>
            <a:pPr marL="12700" marR="3114675">
              <a:lnSpc>
                <a:spcPct val="125000"/>
              </a:lnSpc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X</a:t>
            </a:r>
            <a:r>
              <a:rPr sz="1200" b="1" spc="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np.arange(4).reshape(-1,</a:t>
            </a:r>
            <a:r>
              <a:rPr sz="1200" b="1" spc="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1) </a:t>
            </a:r>
            <a:r>
              <a:rPr sz="1200" b="1" spc="-70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y =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np.exp(2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* X).ravel() </a:t>
            </a:r>
            <a:r>
              <a:rPr sz="1200" b="1" spc="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tt.fit(X,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y)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69</a:t>
            </a:fld>
            <a:endParaRPr spc="-8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70</a:t>
            </a:fld>
            <a:endParaRPr spc="-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7313" y="2968624"/>
            <a:ext cx="7690484" cy="67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4250" spc="-195" dirty="0">
                <a:solidFill>
                  <a:srgbClr val="0000FF"/>
                </a:solidFill>
                <a:latin typeface="Verdana"/>
                <a:cs typeface="Verdana"/>
              </a:rPr>
              <a:t>Part</a:t>
            </a:r>
            <a:r>
              <a:rPr sz="4250" spc="-3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4250" spc="-535" dirty="0">
                <a:solidFill>
                  <a:srgbClr val="0000FF"/>
                </a:solidFill>
                <a:latin typeface="Verdana"/>
                <a:cs typeface="Verdana"/>
              </a:rPr>
              <a:t>3:</a:t>
            </a:r>
            <a:r>
              <a:rPr sz="4250" spc="-3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4250" spc="-270" dirty="0">
                <a:solidFill>
                  <a:srgbClr val="0000FF"/>
                </a:solidFill>
                <a:latin typeface="Verdana"/>
                <a:cs typeface="Verdana"/>
              </a:rPr>
              <a:t>Dimensionality</a:t>
            </a:r>
            <a:r>
              <a:rPr sz="4250" spc="-3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4250" spc="-270" dirty="0">
                <a:solidFill>
                  <a:srgbClr val="0000FF"/>
                </a:solidFill>
                <a:latin typeface="Verdana"/>
                <a:cs typeface="Verdana"/>
              </a:rPr>
              <a:t>reduction</a:t>
            </a:r>
            <a:endParaRPr sz="4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5312" y="3388518"/>
            <a:ext cx="2876550" cy="266700"/>
          </a:xfrm>
          <a:custGeom>
            <a:avLst/>
            <a:gdLst/>
            <a:ahLst/>
            <a:cxnLst/>
            <a:rect l="l" t="t" r="r" b="b"/>
            <a:pathLst>
              <a:path w="2876550" h="266700">
                <a:moveTo>
                  <a:pt x="284350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843502" y="0"/>
                </a:lnTo>
                <a:lnTo>
                  <a:pt x="2875582" y="28187"/>
                </a:lnTo>
                <a:lnTo>
                  <a:pt x="2876549" y="33047"/>
                </a:lnTo>
                <a:lnTo>
                  <a:pt x="2876549" y="233652"/>
                </a:lnTo>
                <a:lnTo>
                  <a:pt x="2848361" y="265733"/>
                </a:lnTo>
                <a:lnTo>
                  <a:pt x="284350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52612" y="1805607"/>
            <a:ext cx="8369934" cy="1881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4440" marR="1456055" algn="ctr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Another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way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reduce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number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through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unsupervised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dimensionality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reduction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techniques.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45"/>
              </a:spcBef>
            </a:pPr>
            <a:endParaRPr sz="2600">
              <a:latin typeface="Microsoft Sans Serif"/>
              <a:cs typeface="Microsoft Sans Serif"/>
            </a:endParaRPr>
          </a:p>
          <a:p>
            <a:pPr marL="12700"/>
            <a:r>
              <a:rPr b="1" dirty="0">
                <a:latin typeface="Courier New"/>
                <a:cs typeface="Courier New"/>
              </a:rPr>
              <a:t>sklearn.decomposition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module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has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number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APIs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this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task.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71</a:t>
            </a:fld>
            <a:endParaRPr spc="-85" dirty="0"/>
          </a:p>
        </p:txBody>
      </p:sp>
      <p:sp>
        <p:nvSpPr>
          <p:cNvPr id="4" name="object 4"/>
          <p:cNvSpPr txBox="1"/>
          <p:nvPr/>
        </p:nvSpPr>
        <p:spPr>
          <a:xfrm>
            <a:off x="3065462" y="4088606"/>
            <a:ext cx="5715000" cy="1064907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spc="-20" dirty="0">
                <a:latin typeface="Microsoft Sans Serif"/>
                <a:cs typeface="Microsoft Sans Serif"/>
              </a:rPr>
              <a:t>We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will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focus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how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perform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endParaRPr sz="2250">
              <a:latin typeface="Microsoft Sans Serif"/>
              <a:cs typeface="Microsoft Sans Serif"/>
            </a:endParaRPr>
          </a:p>
          <a:p>
            <a:pPr marL="101600" marR="93980" algn="ctr">
              <a:lnSpc>
                <a:spcPct val="108300"/>
              </a:lnSpc>
            </a:pPr>
            <a:r>
              <a:rPr sz="2250" spc="-5" dirty="0">
                <a:latin typeface="Microsoft Sans Serif"/>
                <a:cs typeface="Microsoft Sans Serif"/>
              </a:rPr>
              <a:t>reduction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principle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component</a:t>
            </a:r>
            <a:r>
              <a:rPr sz="225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analysis </a:t>
            </a:r>
            <a:r>
              <a:rPr sz="2250" spc="-58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(PCA)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sklearn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665287" y="1505386"/>
            <a:ext cx="9225842" cy="3143938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spcBef>
                <a:spcPts val="325"/>
              </a:spcBef>
            </a:pPr>
            <a:r>
              <a:rPr spc="-5" dirty="0">
                <a:solidFill>
                  <a:srgbClr val="0000FF"/>
                </a:solidFill>
              </a:rPr>
              <a:t>PCA</a:t>
            </a:r>
            <a:r>
              <a:rPr spc="-5" dirty="0">
                <a:solidFill>
                  <a:srgbClr val="000000"/>
                </a:solidFill>
              </a:rPr>
              <a:t>,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is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/>
              <a:t>linear</a:t>
            </a:r>
            <a:r>
              <a:rPr spc="30" dirty="0"/>
              <a:t> </a:t>
            </a:r>
            <a:r>
              <a:rPr spc="-5" dirty="0"/>
              <a:t>dimensionality</a:t>
            </a:r>
            <a:r>
              <a:rPr spc="25" dirty="0"/>
              <a:t> </a:t>
            </a:r>
            <a:r>
              <a:rPr spc="-5" dirty="0"/>
              <a:t>reduction</a:t>
            </a:r>
            <a:r>
              <a:rPr spc="25" dirty="0"/>
              <a:t> </a:t>
            </a:r>
            <a:r>
              <a:rPr spc="-5" dirty="0"/>
              <a:t>technique.</a:t>
            </a:r>
          </a:p>
          <a:p>
            <a:pPr marL="12700" marR="52705">
              <a:lnSpc>
                <a:spcPct val="108300"/>
              </a:lnSpc>
            </a:pPr>
            <a:r>
              <a:rPr dirty="0">
                <a:solidFill>
                  <a:srgbClr val="000000"/>
                </a:solidFill>
              </a:rPr>
              <a:t>It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uses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singular</a:t>
            </a:r>
            <a:r>
              <a:rPr spc="25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value</a:t>
            </a:r>
            <a:r>
              <a:rPr spc="20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decomposition</a:t>
            </a:r>
            <a:r>
              <a:rPr spc="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(SVD)</a:t>
            </a:r>
            <a:r>
              <a:rPr spc="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project </a:t>
            </a:r>
            <a:r>
              <a:rPr dirty="0">
                <a:solidFill>
                  <a:srgbClr val="000000"/>
                </a:solidFill>
              </a:rPr>
              <a:t> the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feature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matrix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or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/>
              <a:t>lower</a:t>
            </a:r>
            <a:r>
              <a:rPr spc="20" dirty="0"/>
              <a:t> </a:t>
            </a:r>
            <a:r>
              <a:rPr spc="-5" dirty="0"/>
              <a:t>dimensional</a:t>
            </a:r>
            <a:r>
              <a:rPr spc="20" dirty="0"/>
              <a:t> </a:t>
            </a:r>
            <a:r>
              <a:rPr spc="-5" dirty="0"/>
              <a:t>space</a:t>
            </a:r>
            <a:r>
              <a:rPr spc="-5" dirty="0">
                <a:solidFill>
                  <a:srgbClr val="000000"/>
                </a:solidFill>
              </a:rPr>
              <a:t>. </a:t>
            </a:r>
            <a:r>
              <a:rPr spc="-5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ﬁrst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principle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component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(PC)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is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in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CC"/>
                </a:solidFill>
              </a:rPr>
              <a:t>direction</a:t>
            </a:r>
            <a:r>
              <a:rPr spc="15" dirty="0">
                <a:solidFill>
                  <a:srgbClr val="0000CC"/>
                </a:solidFill>
              </a:rPr>
              <a:t> </a:t>
            </a:r>
            <a:r>
              <a:rPr dirty="0">
                <a:solidFill>
                  <a:srgbClr val="0000CC"/>
                </a:solidFill>
              </a:rPr>
              <a:t>of </a:t>
            </a:r>
            <a:r>
              <a:rPr spc="5" dirty="0">
                <a:solidFill>
                  <a:srgbClr val="0000CC"/>
                </a:solidFill>
              </a:rPr>
              <a:t> </a:t>
            </a:r>
            <a:r>
              <a:rPr spc="-5" dirty="0">
                <a:solidFill>
                  <a:srgbClr val="0000CC"/>
                </a:solidFill>
              </a:rPr>
              <a:t>maximum</a:t>
            </a:r>
            <a:r>
              <a:rPr spc="20" dirty="0">
                <a:solidFill>
                  <a:srgbClr val="0000CC"/>
                </a:solidFill>
              </a:rPr>
              <a:t> </a:t>
            </a:r>
            <a:r>
              <a:rPr spc="-5" dirty="0">
                <a:solidFill>
                  <a:srgbClr val="0000CC"/>
                </a:solidFill>
              </a:rPr>
              <a:t>variance</a:t>
            </a:r>
            <a:r>
              <a:rPr spc="25" dirty="0">
                <a:solidFill>
                  <a:srgbClr val="0000CC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in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data.</a:t>
            </a:r>
          </a:p>
          <a:p>
            <a:pPr marL="440690">
              <a:spcBef>
                <a:spcPts val="825"/>
              </a:spcBef>
            </a:pPr>
            <a:r>
              <a:rPr dirty="0">
                <a:solidFill>
                  <a:srgbClr val="000000"/>
                </a:solidFill>
              </a:rPr>
              <a:t>It</a:t>
            </a:r>
            <a:r>
              <a:rPr spc="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captures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5" dirty="0"/>
              <a:t>bulk</a:t>
            </a:r>
            <a:r>
              <a:rPr spc="2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5" dirty="0"/>
              <a:t>variance</a:t>
            </a:r>
            <a:r>
              <a:rPr spc="20" dirty="0"/>
              <a:t> </a:t>
            </a:r>
            <a:r>
              <a:rPr spc="-10" dirty="0">
                <a:solidFill>
                  <a:srgbClr val="000000"/>
                </a:solidFill>
              </a:rPr>
              <a:t>in</a:t>
            </a:r>
            <a:r>
              <a:rPr spc="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data.</a:t>
            </a:r>
          </a:p>
          <a:p>
            <a:pPr marL="12700" marR="5080">
              <a:lnSpc>
                <a:spcPct val="111100"/>
              </a:lnSpc>
              <a:spcBef>
                <a:spcPts val="450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15" dirty="0">
                <a:solidFill>
                  <a:srgbClr val="000000"/>
                </a:solidFill>
              </a:rPr>
              <a:t> </a:t>
            </a:r>
            <a:r>
              <a:rPr dirty="0"/>
              <a:t>subsequent</a:t>
            </a:r>
            <a:r>
              <a:rPr spc="20" dirty="0"/>
              <a:t> </a:t>
            </a:r>
            <a:r>
              <a:rPr dirty="0"/>
              <a:t>PCs</a:t>
            </a:r>
            <a:r>
              <a:rPr spc="20" dirty="0"/>
              <a:t> </a:t>
            </a:r>
            <a:r>
              <a:rPr dirty="0">
                <a:solidFill>
                  <a:srgbClr val="000000"/>
                </a:solidFill>
              </a:rPr>
              <a:t>are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A52929"/>
                </a:solidFill>
              </a:rPr>
              <a:t>orthogonal</a:t>
            </a:r>
            <a:r>
              <a:rPr spc="20" dirty="0">
                <a:solidFill>
                  <a:srgbClr val="A52929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spc="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ﬁrst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PC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 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spc="-5" dirty="0"/>
              <a:t>gradually</a:t>
            </a:r>
            <a:r>
              <a:rPr spc="20" dirty="0"/>
              <a:t> </a:t>
            </a:r>
            <a:r>
              <a:rPr dirty="0"/>
              <a:t>capture</a:t>
            </a:r>
            <a:r>
              <a:rPr spc="25" dirty="0"/>
              <a:t> </a:t>
            </a:r>
            <a:r>
              <a:rPr spc="-5" dirty="0"/>
              <a:t>lesser</a:t>
            </a:r>
            <a:r>
              <a:rPr spc="20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spc="-5" dirty="0"/>
              <a:t>lesser</a:t>
            </a:r>
            <a:r>
              <a:rPr spc="25" dirty="0"/>
              <a:t> </a:t>
            </a:r>
            <a:r>
              <a:rPr spc="-5" dirty="0"/>
              <a:t>variance</a:t>
            </a:r>
            <a:r>
              <a:rPr spc="20" dirty="0"/>
              <a:t> </a:t>
            </a:r>
            <a:r>
              <a:rPr spc="-10" dirty="0">
                <a:solidFill>
                  <a:srgbClr val="000000"/>
                </a:solidFill>
              </a:rPr>
              <a:t>in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data. </a:t>
            </a:r>
            <a:r>
              <a:rPr spc="-58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We </a:t>
            </a:r>
            <a:r>
              <a:rPr dirty="0">
                <a:solidFill>
                  <a:srgbClr val="000000"/>
                </a:solidFill>
              </a:rPr>
              <a:t>can </a:t>
            </a:r>
            <a:r>
              <a:rPr spc="-5" dirty="0">
                <a:solidFill>
                  <a:srgbClr val="0000CC"/>
                </a:solidFill>
              </a:rPr>
              <a:t>select </a:t>
            </a:r>
            <a:r>
              <a:rPr dirty="0">
                <a:solidFill>
                  <a:srgbClr val="0000CC"/>
                </a:solidFill>
              </a:rPr>
              <a:t>ﬁrst </a:t>
            </a:r>
            <a:r>
              <a:rPr i="1" spc="-20" dirty="0">
                <a:solidFill>
                  <a:srgbClr val="0000CC"/>
                </a:solidFill>
                <a:latin typeface="Georgia"/>
                <a:cs typeface="Georgia"/>
              </a:rPr>
              <a:t>k</a:t>
            </a:r>
            <a:r>
              <a:rPr i="1" spc="-15" dirty="0">
                <a:solidFill>
                  <a:srgbClr val="0000CC"/>
                </a:solidFill>
                <a:latin typeface="Georgia"/>
                <a:cs typeface="Georgia"/>
              </a:rPr>
              <a:t> </a:t>
            </a:r>
            <a:r>
              <a:rPr dirty="0">
                <a:solidFill>
                  <a:srgbClr val="0000CC"/>
                </a:solidFill>
              </a:rPr>
              <a:t>PCs </a:t>
            </a:r>
            <a:r>
              <a:rPr dirty="0">
                <a:solidFill>
                  <a:srgbClr val="000000"/>
                </a:solidFill>
              </a:rPr>
              <a:t>such that we are </a:t>
            </a:r>
            <a:r>
              <a:rPr spc="-5" dirty="0">
                <a:solidFill>
                  <a:srgbClr val="000000"/>
                </a:solidFill>
              </a:rPr>
              <a:t>able </a:t>
            </a:r>
            <a:r>
              <a:rPr dirty="0">
                <a:solidFill>
                  <a:srgbClr val="000000"/>
                </a:solidFill>
              </a:rPr>
              <a:t>to 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capture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/>
              <a:t>desired</a:t>
            </a:r>
            <a:r>
              <a:rPr spc="25" dirty="0"/>
              <a:t> </a:t>
            </a:r>
            <a:r>
              <a:rPr spc="-5" dirty="0"/>
              <a:t>variance</a:t>
            </a:r>
            <a:r>
              <a:rPr spc="20" dirty="0"/>
              <a:t> </a:t>
            </a:r>
            <a:r>
              <a:rPr spc="-10" dirty="0">
                <a:solidFill>
                  <a:srgbClr val="000000"/>
                </a:solidFill>
              </a:rPr>
              <a:t>in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176390" y="725487"/>
            <a:ext cx="151257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85" dirty="0">
                <a:solidFill>
                  <a:srgbClr val="000000"/>
                </a:solidFill>
                <a:latin typeface="Verdana"/>
                <a:cs typeface="Verdana"/>
              </a:rPr>
              <a:t>PCA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220" dirty="0">
                <a:solidFill>
                  <a:srgbClr val="000000"/>
                </a:solidFill>
                <a:latin typeface="Verdana"/>
                <a:cs typeface="Verdana"/>
              </a:rPr>
              <a:t>101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12987" y="5333999"/>
            <a:ext cx="7429500" cy="742950"/>
            <a:chOff x="952500" y="5333999"/>
            <a:chExt cx="7429500" cy="742950"/>
          </a:xfrm>
        </p:grpSpPr>
        <p:sp>
          <p:nvSpPr>
            <p:cNvPr id="11" name="object 11"/>
            <p:cNvSpPr/>
            <p:nvPr/>
          </p:nvSpPr>
          <p:spPr>
            <a:xfrm>
              <a:off x="952500" y="5333999"/>
              <a:ext cx="7429500" cy="742950"/>
            </a:xfrm>
            <a:custGeom>
              <a:avLst/>
              <a:gdLst/>
              <a:ahLst/>
              <a:cxnLst/>
              <a:rect l="l" t="t" r="r" b="b"/>
              <a:pathLst>
                <a:path w="7429500" h="742950">
                  <a:moveTo>
                    <a:pt x="7429499" y="742949"/>
                  </a:moveTo>
                  <a:lnTo>
                    <a:pt x="0" y="742949"/>
                  </a:lnTo>
                  <a:lnTo>
                    <a:pt x="0" y="0"/>
                  </a:lnTo>
                  <a:lnTo>
                    <a:pt x="7429499" y="0"/>
                  </a:lnTo>
                  <a:lnTo>
                    <a:pt x="7429499" y="74294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2500" y="5410199"/>
              <a:ext cx="3429000" cy="266700"/>
            </a:xfrm>
            <a:custGeom>
              <a:avLst/>
              <a:gdLst/>
              <a:ahLst/>
              <a:cxnLst/>
              <a:rect l="l" t="t" r="r" b="b"/>
              <a:pathLst>
                <a:path w="3429000" h="266700">
                  <a:moveTo>
                    <a:pt x="3395952" y="266699"/>
                  </a:moveTo>
                  <a:lnTo>
                    <a:pt x="33047" y="266699"/>
                  </a:lnTo>
                  <a:lnTo>
                    <a:pt x="28187" y="265733"/>
                  </a:lnTo>
                  <a:lnTo>
                    <a:pt x="966" y="238512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395952" y="0"/>
                  </a:lnTo>
                  <a:lnTo>
                    <a:pt x="3428032" y="28187"/>
                  </a:lnTo>
                  <a:lnTo>
                    <a:pt x="3428999" y="33047"/>
                  </a:lnTo>
                  <a:lnTo>
                    <a:pt x="3428999" y="233652"/>
                  </a:lnTo>
                  <a:lnTo>
                    <a:pt x="3400811" y="265733"/>
                  </a:lnTo>
                  <a:lnTo>
                    <a:pt x="3395952" y="266699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312987" y="5333999"/>
            <a:ext cx="7429500" cy="742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b="1" dirty="0">
                <a:latin typeface="Courier New"/>
                <a:cs typeface="Courier New"/>
              </a:rPr>
              <a:t>sklearn.decomposition.PCA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API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used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performing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225"/>
              </a:spcBef>
            </a:pPr>
            <a:r>
              <a:rPr sz="2250" dirty="0">
                <a:latin typeface="Microsoft Sans Serif"/>
                <a:cs typeface="Microsoft Sans Serif"/>
              </a:rPr>
              <a:t>PCA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based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dimensionality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reduction.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9146" y="644525"/>
            <a:ext cx="256540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85" dirty="0">
                <a:solidFill>
                  <a:srgbClr val="000000"/>
                </a:solidFill>
                <a:latin typeface="Verdana"/>
                <a:cs typeface="Verdana"/>
              </a:rPr>
              <a:t>PCA</a:t>
            </a:r>
            <a:r>
              <a:rPr sz="2900" spc="-24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90" dirty="0">
                <a:solidFill>
                  <a:srgbClr val="000000"/>
                </a:solidFill>
                <a:latin typeface="Verdana"/>
                <a:cs typeface="Verdana"/>
              </a:rPr>
              <a:t>illustration</a:t>
            </a:r>
            <a:endParaRPr sz="29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4028" y="4829174"/>
            <a:ext cx="85725" cy="85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54053" y="4549776"/>
            <a:ext cx="3641725" cy="178752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8100">
              <a:spcBef>
                <a:spcPts val="925"/>
              </a:spcBef>
            </a:pPr>
            <a:r>
              <a:rPr sz="2250" spc="-5" dirty="0">
                <a:latin typeface="Microsoft Sans Serif"/>
                <a:cs typeface="Microsoft Sans Serif"/>
              </a:rPr>
              <a:t>Blue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dots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points.</a:t>
            </a:r>
            <a:endParaRPr sz="2250">
              <a:latin typeface="Microsoft Sans Serif"/>
              <a:cs typeface="Microsoft Sans Serif"/>
            </a:endParaRPr>
          </a:p>
          <a:p>
            <a:pPr marL="38100">
              <a:spcBef>
                <a:spcPts val="825"/>
              </a:spcBef>
            </a:pPr>
            <a:r>
              <a:rPr sz="2250" i="1" spc="40" dirty="0">
                <a:latin typeface="Georgia"/>
                <a:cs typeface="Georgia"/>
              </a:rPr>
              <a:t>x</a:t>
            </a:r>
            <a:r>
              <a:rPr sz="2325" spc="60" baseline="-10752" dirty="0">
                <a:latin typeface="Cambria"/>
                <a:cs typeface="Cambria"/>
              </a:rPr>
              <a:t>1</a:t>
            </a:r>
            <a:r>
              <a:rPr sz="2325" spc="562" baseline="-10752" dirty="0">
                <a:latin typeface="Cambria"/>
                <a:cs typeface="Cambr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i="1" spc="40" dirty="0">
                <a:latin typeface="Georgia"/>
                <a:cs typeface="Georgia"/>
              </a:rPr>
              <a:t>x</a:t>
            </a:r>
            <a:r>
              <a:rPr sz="2325" spc="60" baseline="-10752" dirty="0">
                <a:latin typeface="Cambria"/>
                <a:cs typeface="Cambria"/>
              </a:rPr>
              <a:t>2</a:t>
            </a:r>
            <a:r>
              <a:rPr sz="2325" spc="562" baseline="-10752" dirty="0">
                <a:latin typeface="Cambria"/>
                <a:cs typeface="Cambr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features.</a:t>
            </a:r>
            <a:endParaRPr sz="2250">
              <a:latin typeface="Microsoft Sans Serif"/>
              <a:cs typeface="Microsoft Sans Serif"/>
            </a:endParaRPr>
          </a:p>
          <a:p>
            <a:pPr marL="38100" marR="30480">
              <a:lnSpc>
                <a:spcPct val="116700"/>
              </a:lnSpc>
              <a:spcBef>
                <a:spcPts val="525"/>
              </a:spcBef>
            </a:pPr>
            <a:r>
              <a:rPr sz="2250" i="1" spc="65" dirty="0">
                <a:latin typeface="Georgia"/>
                <a:cs typeface="Georgia"/>
              </a:rPr>
              <a:t>C</a:t>
            </a:r>
            <a:r>
              <a:rPr sz="2325" spc="97" baseline="-14336" dirty="0">
                <a:latin typeface="Cambria"/>
                <a:cs typeface="Cambria"/>
              </a:rPr>
              <a:t>1</a:t>
            </a:r>
            <a:r>
              <a:rPr sz="2250" spc="65" dirty="0">
                <a:latin typeface="Microsoft Sans Serif"/>
                <a:cs typeface="Microsoft Sans Serif"/>
              </a:rPr>
              <a:t>,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i="1" spc="40" dirty="0">
                <a:latin typeface="Georgia"/>
                <a:cs typeface="Georgia"/>
              </a:rPr>
              <a:t>C</a:t>
            </a:r>
            <a:r>
              <a:rPr sz="2325" spc="60" baseline="-14336" dirty="0">
                <a:latin typeface="Cambria"/>
                <a:cs typeface="Cambria"/>
              </a:rPr>
              <a:t>2</a:t>
            </a:r>
            <a:r>
              <a:rPr sz="2325" spc="600" baseline="-14336" dirty="0">
                <a:latin typeface="Cambria"/>
                <a:cs typeface="Cambr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i="1" spc="40" dirty="0">
                <a:latin typeface="Georgia"/>
                <a:cs typeface="Georgia"/>
              </a:rPr>
              <a:t>C</a:t>
            </a:r>
            <a:r>
              <a:rPr sz="2325" spc="60" baseline="-14336" dirty="0">
                <a:latin typeface="Cambria"/>
                <a:cs typeface="Cambria"/>
              </a:rPr>
              <a:t>3</a:t>
            </a:r>
            <a:r>
              <a:rPr sz="2325" spc="600" baseline="-14336" dirty="0">
                <a:latin typeface="Cambria"/>
                <a:cs typeface="Cambr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candidate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PCs.</a:t>
            </a:r>
            <a:endParaRPr sz="225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4028" y="5276849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4028" y="5743574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5651" y="1478769"/>
            <a:ext cx="4434839" cy="29507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17622" y="1595922"/>
            <a:ext cx="3912362" cy="287990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5896" y="4914899"/>
            <a:ext cx="85724" cy="857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691321" y="4683126"/>
            <a:ext cx="3378200" cy="119697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210"/>
              </a:spcBef>
            </a:pPr>
            <a:r>
              <a:rPr sz="2250" i="1" spc="-1205" dirty="0">
                <a:latin typeface="Georgia"/>
                <a:cs typeface="Georgia"/>
              </a:rPr>
              <a:t>𝑥</a:t>
            </a:r>
            <a:r>
              <a:rPr sz="2250" i="1" spc="180" dirty="0">
                <a:latin typeface="Georgia"/>
                <a:cs typeface="Georgia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represents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projection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  data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points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candidate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20" dirty="0">
                <a:latin typeface="Microsoft Sans Serif"/>
                <a:cs typeface="Microsoft Sans Serif"/>
              </a:rPr>
              <a:t>vector.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73</a:t>
            </a:fld>
            <a:endParaRPr spc="-85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2490" y="2037110"/>
            <a:ext cx="4573270" cy="1939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25095" algn="just">
              <a:lnSpc>
                <a:spcPct val="1083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Out of 3 </a:t>
            </a:r>
            <a:r>
              <a:rPr spc="-5" dirty="0">
                <a:solidFill>
                  <a:srgbClr val="000000"/>
                </a:solidFill>
              </a:rPr>
              <a:t>candidate </a:t>
            </a:r>
            <a:r>
              <a:rPr dirty="0">
                <a:solidFill>
                  <a:srgbClr val="000000"/>
                </a:solidFill>
              </a:rPr>
              <a:t>vectors to 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project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on,</a:t>
            </a:r>
            <a:r>
              <a:rPr spc="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vector</a:t>
            </a:r>
            <a:r>
              <a:rPr spc="10" dirty="0">
                <a:solidFill>
                  <a:srgbClr val="0000FF"/>
                </a:solidFill>
              </a:rPr>
              <a:t> </a:t>
            </a:r>
            <a:r>
              <a:rPr i="1" spc="40" dirty="0">
                <a:solidFill>
                  <a:srgbClr val="0000FF"/>
                </a:solidFill>
                <a:latin typeface="Georgia"/>
                <a:cs typeface="Georgia"/>
              </a:rPr>
              <a:t>C</a:t>
            </a:r>
            <a:r>
              <a:rPr sz="2325" spc="60" baseline="-14336" dirty="0">
                <a:solidFill>
                  <a:srgbClr val="0000FF"/>
                </a:solidFill>
                <a:latin typeface="Cambria"/>
                <a:cs typeface="Cambria"/>
              </a:rPr>
              <a:t>1</a:t>
            </a:r>
            <a:r>
              <a:rPr sz="2325" spc="585" baseline="-14336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>
                <a:solidFill>
                  <a:srgbClr val="000000"/>
                </a:solidFill>
              </a:rPr>
              <a:t>captures</a:t>
            </a:r>
            <a:endParaRPr>
              <a:latin typeface="Cambria"/>
              <a:cs typeface="Cambria"/>
            </a:endParaRPr>
          </a:p>
          <a:p>
            <a:pPr marL="38100" marR="30480" algn="just">
              <a:lnSpc>
                <a:spcPct val="112500"/>
              </a:lnSpc>
              <a:spcBef>
                <a:spcPts val="110"/>
              </a:spcBef>
            </a:pPr>
            <a:r>
              <a:rPr dirty="0"/>
              <a:t>most of the </a:t>
            </a:r>
            <a:r>
              <a:rPr spc="-5" dirty="0"/>
              <a:t>variance</a:t>
            </a:r>
            <a:r>
              <a:rPr spc="-5" dirty="0">
                <a:solidFill>
                  <a:srgbClr val="000000"/>
                </a:solidFill>
              </a:rPr>
              <a:t>, </a:t>
            </a:r>
            <a:r>
              <a:rPr dirty="0">
                <a:solidFill>
                  <a:srgbClr val="000000"/>
                </a:solidFill>
              </a:rPr>
              <a:t>hence </a:t>
            </a:r>
            <a:r>
              <a:rPr spc="-10" dirty="0">
                <a:solidFill>
                  <a:srgbClr val="000000"/>
                </a:solidFill>
              </a:rPr>
              <a:t>it is </a:t>
            </a:r>
            <a:r>
              <a:rPr dirty="0">
                <a:solidFill>
                  <a:srgbClr val="000000"/>
                </a:solidFill>
              </a:rPr>
              <a:t>the </a:t>
            </a:r>
            <a:r>
              <a:rPr spc="-585" dirty="0">
                <a:solidFill>
                  <a:srgbClr val="000000"/>
                </a:solidFill>
              </a:rPr>
              <a:t> </a:t>
            </a:r>
            <a:r>
              <a:rPr dirty="0"/>
              <a:t>ﬁrst PC </a:t>
            </a:r>
            <a:r>
              <a:rPr dirty="0">
                <a:solidFill>
                  <a:srgbClr val="000000"/>
                </a:solidFill>
              </a:rPr>
              <a:t>and </a:t>
            </a:r>
            <a:r>
              <a:rPr i="1" spc="65" dirty="0">
                <a:solidFill>
                  <a:srgbClr val="B12121"/>
                </a:solidFill>
                <a:latin typeface="Georgia"/>
                <a:cs typeface="Georgia"/>
              </a:rPr>
              <a:t>C</a:t>
            </a:r>
            <a:r>
              <a:rPr sz="2325" spc="97" baseline="-14336" dirty="0">
                <a:solidFill>
                  <a:srgbClr val="B12121"/>
                </a:solidFill>
                <a:latin typeface="Cambria"/>
                <a:cs typeface="Cambria"/>
              </a:rPr>
              <a:t>2</a:t>
            </a:r>
            <a:r>
              <a:rPr spc="65" dirty="0">
                <a:solidFill>
                  <a:srgbClr val="000000"/>
                </a:solidFill>
              </a:rPr>
              <a:t>, </a:t>
            </a:r>
            <a:r>
              <a:rPr spc="-5" dirty="0">
                <a:solidFill>
                  <a:srgbClr val="000000"/>
                </a:solidFill>
              </a:rPr>
              <a:t>which </a:t>
            </a:r>
            <a:r>
              <a:rPr spc="-10" dirty="0">
                <a:solidFill>
                  <a:srgbClr val="000000"/>
                </a:solidFill>
              </a:rPr>
              <a:t>is </a:t>
            </a:r>
            <a:r>
              <a:rPr spc="-5" dirty="0">
                <a:solidFill>
                  <a:srgbClr val="000000"/>
                </a:solidFill>
              </a:rPr>
              <a:t>orthogonal </a:t>
            </a:r>
            <a:r>
              <a:rPr spc="-5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it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is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/>
              <a:t>second</a:t>
            </a:r>
            <a:r>
              <a:rPr spc="20" dirty="0"/>
              <a:t> </a:t>
            </a:r>
            <a:r>
              <a:rPr dirty="0"/>
              <a:t>PC</a:t>
            </a:r>
            <a:endParaRPr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3017" y="588232"/>
            <a:ext cx="3972877" cy="26457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9696" y="3742154"/>
            <a:ext cx="3673580" cy="27010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74</a:t>
            </a:fld>
            <a:endParaRPr spc="-8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8802" y="4921249"/>
            <a:ext cx="7109459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965" marR="5080" indent="-2374900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After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applying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PCA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choosing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only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ﬁrst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PC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reduce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dimension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data.</a:t>
            </a:r>
            <a:endParaRPr sz="225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99" y="575919"/>
            <a:ext cx="5774530" cy="413798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75</a:t>
            </a:fld>
            <a:endParaRPr spc="-85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76</a:t>
            </a:fld>
            <a:endParaRPr spc="-8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4254" y="2968624"/>
            <a:ext cx="7117080" cy="67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4250" spc="-195" dirty="0">
                <a:solidFill>
                  <a:srgbClr val="0000FF"/>
                </a:solidFill>
                <a:latin typeface="Verdana"/>
                <a:cs typeface="Verdana"/>
              </a:rPr>
              <a:t>Part</a:t>
            </a:r>
            <a:r>
              <a:rPr sz="4250" spc="-3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4250" spc="-535" dirty="0">
                <a:solidFill>
                  <a:srgbClr val="0000FF"/>
                </a:solidFill>
                <a:latin typeface="Verdana"/>
                <a:cs typeface="Verdana"/>
              </a:rPr>
              <a:t>4:</a:t>
            </a:r>
            <a:r>
              <a:rPr sz="4250" spc="-3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4250" spc="-215" dirty="0">
                <a:solidFill>
                  <a:srgbClr val="0000FF"/>
                </a:solidFill>
                <a:latin typeface="Verdana"/>
                <a:cs typeface="Verdana"/>
              </a:rPr>
              <a:t>Chaining</a:t>
            </a:r>
            <a:r>
              <a:rPr sz="4250" spc="-31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4250" spc="-295" dirty="0">
                <a:solidFill>
                  <a:srgbClr val="0000FF"/>
                </a:solidFill>
                <a:latin typeface="Verdana"/>
                <a:cs typeface="Verdana"/>
              </a:rPr>
              <a:t>transformers</a:t>
            </a:r>
            <a:endParaRPr sz="4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5513" y="1068387"/>
            <a:ext cx="7141845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preprocessing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transformations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are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applied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one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after </a:t>
            </a:r>
            <a:r>
              <a:rPr spc="-5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another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input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feature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matrix.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8212" y="3540248"/>
            <a:ext cx="7200900" cy="742950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dirty="0">
                <a:latin typeface="Microsoft Sans Serif"/>
                <a:cs typeface="Microsoft Sans Serif"/>
              </a:rPr>
              <a:t>It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important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apply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exactly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same</a:t>
            </a:r>
            <a:r>
              <a:rPr sz="2250" spc="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transformation</a:t>
            </a:r>
            <a:r>
              <a:rPr sz="2250" spc="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225"/>
              </a:spcBef>
            </a:pPr>
            <a:r>
              <a:rPr sz="2250" spc="-5" dirty="0">
                <a:latin typeface="Microsoft Sans Serif"/>
                <a:cs typeface="Microsoft Sans Serif"/>
              </a:rPr>
              <a:t>training,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evaluation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test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set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in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the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same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order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5513" y="4516438"/>
            <a:ext cx="7014209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spc="-10" dirty="0">
                <a:latin typeface="Microsoft Sans Serif"/>
                <a:cs typeface="Microsoft Sans Serif"/>
              </a:rPr>
              <a:t>Failing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would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lead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incorrect</a:t>
            </a:r>
            <a:r>
              <a:rPr sz="2250" spc="2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predictions</a:t>
            </a:r>
            <a:r>
              <a:rPr sz="2250" spc="2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from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model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due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distribution</a:t>
            </a:r>
            <a:r>
              <a:rPr sz="2250" spc="20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CC"/>
                </a:solidFill>
                <a:latin typeface="Microsoft Sans Serif"/>
                <a:cs typeface="Microsoft Sans Serif"/>
              </a:rPr>
              <a:t>shift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hence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incorrect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 performance</a:t>
            </a:r>
            <a:r>
              <a:rPr sz="2250" spc="20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evaluation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46487" y="2000249"/>
            <a:ext cx="4572000" cy="1143000"/>
          </a:xfrm>
          <a:custGeom>
            <a:avLst/>
            <a:gdLst/>
            <a:ahLst/>
            <a:cxnLst/>
            <a:rect l="l" t="t" r="r" b="b"/>
            <a:pathLst>
              <a:path w="4572000" h="1143000">
                <a:moveTo>
                  <a:pt x="4538951" y="1142999"/>
                </a:moveTo>
                <a:lnTo>
                  <a:pt x="33047" y="1142999"/>
                </a:lnTo>
                <a:lnTo>
                  <a:pt x="28187" y="1142033"/>
                </a:lnTo>
                <a:lnTo>
                  <a:pt x="966" y="1114812"/>
                </a:lnTo>
                <a:lnTo>
                  <a:pt x="0" y="1109952"/>
                </a:lnTo>
                <a:lnTo>
                  <a:pt x="0" y="11048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4538951" y="0"/>
                </a:lnTo>
                <a:lnTo>
                  <a:pt x="4571032" y="28187"/>
                </a:lnTo>
                <a:lnTo>
                  <a:pt x="4571999" y="33047"/>
                </a:lnTo>
                <a:lnTo>
                  <a:pt x="4571999" y="1109952"/>
                </a:lnTo>
                <a:lnTo>
                  <a:pt x="4543811" y="1142033"/>
                </a:lnTo>
                <a:lnTo>
                  <a:pt x="4538951" y="114299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81411" y="1998979"/>
            <a:ext cx="3500754" cy="9398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spcBef>
                <a:spcPts val="4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SimpleImputer()</a:t>
            </a:r>
            <a:endParaRPr sz="1200">
              <a:latin typeface="Courier New"/>
              <a:cs typeface="Courier New"/>
            </a:endParaRPr>
          </a:p>
          <a:p>
            <a:pPr marL="12700" marR="645160">
              <a:lnSpc>
                <a:spcPct val="125000"/>
              </a:lnSpc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X_imputed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si.fit_transform(X)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ss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=StandardScaler()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X_scaled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4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ss.fit_transform(X_imputed)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77</a:t>
            </a:fld>
            <a:endParaRPr spc="-8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78</a:t>
            </a:fld>
            <a:endParaRPr spc="-85" dirty="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346324" y="2771775"/>
          <a:ext cx="6848475" cy="2570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49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b="1" spc="-95" dirty="0">
                          <a:latin typeface="Verdana"/>
                          <a:cs typeface="Verdana"/>
                        </a:rPr>
                        <a:t>Class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b="1" spc="-160" dirty="0">
                          <a:latin typeface="Verdana"/>
                          <a:cs typeface="Verdana"/>
                        </a:rPr>
                        <a:t>Usage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599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75" dirty="0">
                          <a:latin typeface="Verdana"/>
                          <a:cs typeface="Verdana"/>
                        </a:rPr>
                        <a:t>Pipeline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52069" marR="331470">
                        <a:lnSpc>
                          <a:spcPct val="10760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Constructs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chain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multiple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transformers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to  </a:t>
                      </a:r>
                      <a:r>
                        <a:rPr sz="1800" spc="-110" dirty="0">
                          <a:latin typeface="Verdana"/>
                          <a:cs typeface="Verdana"/>
                        </a:rPr>
                        <a:t>execute </a:t>
                      </a:r>
                      <a:r>
                        <a:rPr sz="1800" spc="-80" dirty="0">
                          <a:latin typeface="Verdana"/>
                          <a:cs typeface="Verdana"/>
                        </a:rPr>
                        <a:t>a </a:t>
                      </a:r>
                      <a:r>
                        <a:rPr sz="1800" spc="-150" dirty="0">
                          <a:latin typeface="Verdana"/>
                          <a:cs typeface="Verdana"/>
                        </a:rPr>
                        <a:t>ﬁxed </a:t>
                      </a:r>
                      <a:r>
                        <a:rPr sz="1800" spc="-90" dirty="0">
                          <a:latin typeface="Verdana"/>
                          <a:cs typeface="Verdana"/>
                        </a:rPr>
                        <a:t>sequence </a:t>
                      </a:r>
                      <a:r>
                        <a:rPr sz="1800" spc="-114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steps 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in </a:t>
                      </a:r>
                      <a:r>
                        <a:rPr sz="1800" spc="-125" dirty="0">
                          <a:latin typeface="Verdana"/>
                          <a:cs typeface="Verdana"/>
                        </a:rPr>
                        <a:t>data </a:t>
                      </a:r>
                      <a:r>
                        <a:rPr sz="18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preprocessing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modelling.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599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100" dirty="0">
                          <a:latin typeface="Verdana"/>
                          <a:cs typeface="Verdana"/>
                        </a:rPr>
                        <a:t>FeatureUnion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52069" marR="598170" algn="just">
                        <a:lnSpc>
                          <a:spcPct val="107600"/>
                        </a:lnSpc>
                        <a:spcBef>
                          <a:spcPts val="170"/>
                        </a:spcBef>
                      </a:pPr>
                      <a:r>
                        <a:rPr sz="1800" spc="-100" dirty="0">
                          <a:latin typeface="Verdana"/>
                          <a:cs typeface="Verdana"/>
                        </a:rPr>
                        <a:t>Combines </a:t>
                      </a:r>
                      <a:r>
                        <a:rPr sz="1800" spc="-155" dirty="0">
                          <a:latin typeface="Verdana"/>
                          <a:cs typeface="Verdana"/>
                        </a:rPr>
                        <a:t>output </a:t>
                      </a:r>
                      <a:r>
                        <a:rPr sz="1800" spc="-165" dirty="0">
                          <a:latin typeface="Verdana"/>
                          <a:cs typeface="Verdana"/>
                        </a:rPr>
                        <a:t>from </a:t>
                      </a:r>
                      <a:r>
                        <a:rPr sz="1800" spc="-100" dirty="0">
                          <a:latin typeface="Verdana"/>
                          <a:cs typeface="Verdana"/>
                        </a:rPr>
                        <a:t>several </a:t>
                      </a:r>
                      <a:r>
                        <a:rPr sz="1800" spc="-140" dirty="0">
                          <a:latin typeface="Verdana"/>
                          <a:cs typeface="Verdana"/>
                        </a:rPr>
                        <a:t>transformer </a:t>
                      </a:r>
                      <a:r>
                        <a:rPr sz="1800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objects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by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creating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new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transformer</a:t>
                      </a:r>
                      <a:r>
                        <a:rPr sz="18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from  </a:t>
                      </a:r>
                      <a:r>
                        <a:rPr sz="1800" spc="-165" dirty="0">
                          <a:latin typeface="Verdana"/>
                          <a:cs typeface="Verdana"/>
                        </a:rPr>
                        <a:t>them.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333625" y="520701"/>
            <a:ext cx="7185025" cy="1857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8760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The</a:t>
            </a:r>
            <a:r>
              <a:rPr sz="2250" spc="2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sklearn.pipeline</a:t>
            </a:r>
            <a:r>
              <a:rPr sz="2250" spc="30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module</a:t>
            </a:r>
            <a:r>
              <a:rPr sz="2250" spc="3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provides</a:t>
            </a:r>
            <a:r>
              <a:rPr sz="2250" spc="3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202529"/>
                </a:solidFill>
                <a:latin typeface="Microsoft Sans Serif"/>
                <a:cs typeface="Microsoft Sans Serif"/>
              </a:rPr>
              <a:t>utilities</a:t>
            </a:r>
            <a:r>
              <a:rPr sz="2250" spc="3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to</a:t>
            </a:r>
            <a:r>
              <a:rPr sz="2250" spc="3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202529"/>
                </a:solidFill>
                <a:latin typeface="Microsoft Sans Serif"/>
                <a:cs typeface="Microsoft Sans Serif"/>
              </a:rPr>
              <a:t>build</a:t>
            </a:r>
            <a:r>
              <a:rPr sz="2250" spc="3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a </a:t>
            </a:r>
            <a:r>
              <a:rPr sz="2250" spc="-58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composite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15" dirty="0">
                <a:solidFill>
                  <a:srgbClr val="0000FF"/>
                </a:solidFill>
                <a:latin typeface="Microsoft Sans Serif"/>
                <a:cs typeface="Microsoft Sans Serif"/>
              </a:rPr>
              <a:t>estimator,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as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a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chain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of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transformers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and </a:t>
            </a:r>
            <a:r>
              <a:rPr sz="2250" spc="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estimators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450">
              <a:latin typeface="Microsoft Sans Serif"/>
              <a:cs typeface="Microsoft Sans Serif"/>
            </a:endParaRPr>
          </a:p>
          <a:p>
            <a:pPr marL="25400"/>
            <a:r>
              <a:rPr sz="2250" dirty="0">
                <a:latin typeface="Microsoft Sans Serif"/>
                <a:cs typeface="Microsoft Sans Serif"/>
              </a:rPr>
              <a:t>There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two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classes: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(i)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Pipeline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(ii)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FeatureUnion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2486" y="514350"/>
            <a:ext cx="4457700" cy="352425"/>
          </a:xfrm>
          <a:custGeom>
            <a:avLst/>
            <a:gdLst/>
            <a:ahLst/>
            <a:cxnLst/>
            <a:rect l="l" t="t" r="r" b="b"/>
            <a:pathLst>
              <a:path w="4457700" h="352425">
                <a:moveTo>
                  <a:pt x="4424651" y="352424"/>
                </a:moveTo>
                <a:lnTo>
                  <a:pt x="33047" y="352424"/>
                </a:lnTo>
                <a:lnTo>
                  <a:pt x="28187" y="351458"/>
                </a:lnTo>
                <a:lnTo>
                  <a:pt x="966" y="324237"/>
                </a:lnTo>
                <a:lnTo>
                  <a:pt x="0" y="319377"/>
                </a:lnTo>
                <a:lnTo>
                  <a:pt x="0" y="3143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4424651" y="0"/>
                </a:lnTo>
                <a:lnTo>
                  <a:pt x="4456732" y="28187"/>
                </a:lnTo>
                <a:lnTo>
                  <a:pt x="4457699" y="33047"/>
                </a:lnTo>
                <a:lnTo>
                  <a:pt x="4457699" y="319377"/>
                </a:lnTo>
                <a:lnTo>
                  <a:pt x="4429511" y="351458"/>
                </a:lnTo>
                <a:lnTo>
                  <a:pt x="4424651" y="352424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9786" y="480694"/>
            <a:ext cx="4484370" cy="382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spcBef>
                <a:spcPts val="140"/>
              </a:spcBef>
            </a:pPr>
            <a:r>
              <a:rPr sz="2300" b="1" spc="20" dirty="0">
                <a:solidFill>
                  <a:srgbClr val="000000"/>
                </a:solidFill>
                <a:latin typeface="Courier New"/>
                <a:cs typeface="Courier New"/>
              </a:rPr>
              <a:t>sklearn.pipeline.Pipeline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79</a:t>
            </a:fld>
            <a:endParaRPr spc="-85" dirty="0"/>
          </a:p>
        </p:txBody>
      </p:sp>
      <p:sp>
        <p:nvSpPr>
          <p:cNvPr id="4" name="object 4"/>
          <p:cNvSpPr txBox="1"/>
          <p:nvPr/>
        </p:nvSpPr>
        <p:spPr>
          <a:xfrm>
            <a:off x="2109787" y="1320800"/>
            <a:ext cx="7045325" cy="3778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Sequentially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apply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list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CC"/>
                </a:solidFill>
                <a:latin typeface="Microsoft Sans Serif"/>
                <a:cs typeface="Microsoft Sans Serif"/>
              </a:rPr>
              <a:t>transformers</a:t>
            </a:r>
            <a:r>
              <a:rPr sz="2250" spc="25" dirty="0">
                <a:solidFill>
                  <a:srgbClr val="0000CC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estimators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5"/>
              </a:spcBef>
            </a:pPr>
            <a:endParaRPr sz="2050">
              <a:latin typeface="Microsoft Sans Serif"/>
              <a:cs typeface="Microsoft Sans Serif"/>
            </a:endParaRPr>
          </a:p>
          <a:p>
            <a:pPr marL="12700" marR="799465">
              <a:lnSpc>
                <a:spcPct val="108300"/>
              </a:lnSpc>
            </a:pP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Intermediate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0000FF"/>
                </a:solidFill>
                <a:latin typeface="Microsoft Sans Serif"/>
                <a:cs typeface="Microsoft Sans Serif"/>
              </a:rPr>
              <a:t>steps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of</a:t>
            </a:r>
            <a:r>
              <a:rPr sz="2250" spc="2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the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pipeline</a:t>
            </a:r>
            <a:r>
              <a:rPr sz="2250" spc="2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must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be </a:t>
            </a:r>
            <a:r>
              <a:rPr sz="2250" spc="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‘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transformers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’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that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is,</a:t>
            </a:r>
            <a:r>
              <a:rPr sz="2250" spc="2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they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must</a:t>
            </a:r>
            <a:r>
              <a:rPr sz="2250" spc="2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implement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ﬁt</a:t>
            </a:r>
            <a:r>
              <a:rPr sz="2250" spc="25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and </a:t>
            </a:r>
            <a:r>
              <a:rPr sz="2250" spc="-58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A52929"/>
                </a:solidFill>
                <a:latin typeface="Microsoft Sans Serif"/>
                <a:cs typeface="Microsoft Sans Serif"/>
              </a:rPr>
              <a:t>transform</a:t>
            </a:r>
            <a:r>
              <a:rPr sz="2250" spc="20" dirty="0">
                <a:solidFill>
                  <a:srgbClr val="A529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methods.</a:t>
            </a:r>
            <a:endParaRPr sz="2250">
              <a:latin typeface="Microsoft Sans Serif"/>
              <a:cs typeface="Microsoft Sans Serif"/>
            </a:endParaRPr>
          </a:p>
          <a:p>
            <a:pPr marL="40005">
              <a:spcBef>
                <a:spcPts val="1950"/>
              </a:spcBef>
            </a:pP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The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ﬁnal</a:t>
            </a:r>
            <a:r>
              <a:rPr sz="225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estimator</a:t>
            </a:r>
            <a:r>
              <a:rPr sz="225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only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needs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to</a:t>
            </a:r>
            <a:r>
              <a:rPr sz="2250" spc="2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implement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A52929"/>
                </a:solidFill>
                <a:latin typeface="Microsoft Sans Serif"/>
                <a:cs typeface="Microsoft Sans Serif"/>
              </a:rPr>
              <a:t>ﬁt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.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5"/>
              </a:spcBef>
            </a:pPr>
            <a:endParaRPr sz="2050">
              <a:latin typeface="Microsoft Sans Serif"/>
              <a:cs typeface="Microsoft Sans Serif"/>
            </a:endParaRPr>
          </a:p>
          <a:p>
            <a:pPr marL="12700" marR="654685">
              <a:lnSpc>
                <a:spcPct val="108300"/>
              </a:lnSpc>
            </a:pP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The</a:t>
            </a:r>
            <a:r>
              <a:rPr sz="2250" spc="1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purpose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of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the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pipeline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202529"/>
                </a:solidFill>
                <a:latin typeface="Microsoft Sans Serif"/>
                <a:cs typeface="Microsoft Sans Serif"/>
              </a:rPr>
              <a:t>is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to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assemble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several </a:t>
            </a:r>
            <a:r>
              <a:rPr sz="2250" spc="-58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steps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that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can</a:t>
            </a:r>
            <a:r>
              <a:rPr sz="2250" spc="2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be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cross-validated</a:t>
            </a:r>
            <a:r>
              <a:rPr sz="2250" spc="2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together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202529"/>
                </a:solidFill>
                <a:latin typeface="Microsoft Sans Serif"/>
                <a:cs typeface="Microsoft Sans Serif"/>
              </a:rPr>
              <a:t>while </a:t>
            </a:r>
            <a:r>
              <a:rPr sz="2250" spc="-5" dirty="0">
                <a:solidFill>
                  <a:srgbClr val="202529"/>
                </a:solidFill>
                <a:latin typeface="Microsoft Sans Serif"/>
                <a:cs typeface="Microsoft Sans Serif"/>
              </a:rPr>
              <a:t> setting</a:t>
            </a:r>
            <a:r>
              <a:rPr sz="2250" spc="20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202529"/>
                </a:solidFill>
                <a:latin typeface="Microsoft Sans Serif"/>
                <a:cs typeface="Microsoft Sans Serif"/>
              </a:rPr>
              <a:t>different</a:t>
            </a:r>
            <a:r>
              <a:rPr sz="2250" spc="25" dirty="0">
                <a:solidFill>
                  <a:srgbClr val="202529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202529"/>
                </a:solidFill>
                <a:latin typeface="Microsoft Sans Serif"/>
                <a:cs typeface="Microsoft Sans Serif"/>
              </a:rPr>
              <a:t>parameters.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60487" y="1704975"/>
            <a:ext cx="4248150" cy="2295525"/>
            <a:chOff x="0" y="1704974"/>
            <a:chExt cx="4248150" cy="2295525"/>
          </a:xfrm>
        </p:grpSpPr>
        <p:sp>
          <p:nvSpPr>
            <p:cNvPr id="3" name="object 3"/>
            <p:cNvSpPr/>
            <p:nvPr/>
          </p:nvSpPr>
          <p:spPr>
            <a:xfrm>
              <a:off x="0" y="1704974"/>
              <a:ext cx="1371600" cy="266700"/>
            </a:xfrm>
            <a:custGeom>
              <a:avLst/>
              <a:gdLst/>
              <a:ahLst/>
              <a:cxnLst/>
              <a:rect l="l" t="t" r="r" b="b"/>
              <a:pathLst>
                <a:path w="1371600" h="266700">
                  <a:moveTo>
                    <a:pt x="1338552" y="266699"/>
                  </a:moveTo>
                  <a:lnTo>
                    <a:pt x="33047" y="266699"/>
                  </a:lnTo>
                  <a:lnTo>
                    <a:pt x="28187" y="265733"/>
                  </a:lnTo>
                  <a:lnTo>
                    <a:pt x="966" y="238512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38552" y="0"/>
                  </a:lnTo>
                  <a:lnTo>
                    <a:pt x="1370632" y="28187"/>
                  </a:lnTo>
                  <a:lnTo>
                    <a:pt x="1371599" y="33047"/>
                  </a:lnTo>
                  <a:lnTo>
                    <a:pt x="1371599" y="233652"/>
                  </a:lnTo>
                  <a:lnTo>
                    <a:pt x="1343412" y="265733"/>
                  </a:lnTo>
                  <a:lnTo>
                    <a:pt x="1338552" y="266699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000249"/>
              <a:ext cx="4248150" cy="2000250"/>
            </a:xfrm>
            <a:custGeom>
              <a:avLst/>
              <a:gdLst/>
              <a:ahLst/>
              <a:cxnLst/>
              <a:rect l="l" t="t" r="r" b="b"/>
              <a:pathLst>
                <a:path w="4248150" h="2000250">
                  <a:moveTo>
                    <a:pt x="4248149" y="2000249"/>
                  </a:moveTo>
                  <a:lnTo>
                    <a:pt x="0" y="2000249"/>
                  </a:lnTo>
                  <a:lnTo>
                    <a:pt x="0" y="0"/>
                  </a:lnTo>
                  <a:lnTo>
                    <a:pt x="4248149" y="0"/>
                  </a:lnTo>
                  <a:lnTo>
                    <a:pt x="4248149" y="2000249"/>
                  </a:lnTo>
                  <a:close/>
                </a:path>
              </a:pathLst>
            </a:custGeom>
            <a:solidFill>
              <a:srgbClr val="D9D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2162174"/>
              <a:ext cx="85724" cy="857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28612" y="2447924"/>
              <a:ext cx="2333625" cy="638175"/>
            </a:xfrm>
            <a:custGeom>
              <a:avLst/>
              <a:gdLst/>
              <a:ahLst/>
              <a:cxnLst/>
              <a:rect l="l" t="t" r="r" b="b"/>
              <a:pathLst>
                <a:path w="2333625" h="638175">
                  <a:moveTo>
                    <a:pt x="2057400" y="404533"/>
                  </a:moveTo>
                  <a:lnTo>
                    <a:pt x="2029218" y="372452"/>
                  </a:lnTo>
                  <a:lnTo>
                    <a:pt x="2024354" y="371475"/>
                  </a:lnTo>
                  <a:lnTo>
                    <a:pt x="0" y="371475"/>
                  </a:lnTo>
                  <a:lnTo>
                    <a:pt x="0" y="638175"/>
                  </a:lnTo>
                  <a:lnTo>
                    <a:pt x="2024354" y="638175"/>
                  </a:lnTo>
                  <a:lnTo>
                    <a:pt x="2056434" y="609993"/>
                  </a:lnTo>
                  <a:lnTo>
                    <a:pt x="2057400" y="605129"/>
                  </a:lnTo>
                  <a:lnTo>
                    <a:pt x="2057400" y="404533"/>
                  </a:lnTo>
                  <a:close/>
                </a:path>
                <a:path w="2333625" h="638175">
                  <a:moveTo>
                    <a:pt x="2333625" y="0"/>
                  </a:moveTo>
                  <a:lnTo>
                    <a:pt x="33058" y="0"/>
                  </a:lnTo>
                  <a:lnTo>
                    <a:pt x="28194" y="977"/>
                  </a:lnTo>
                  <a:lnTo>
                    <a:pt x="977" y="28194"/>
                  </a:lnTo>
                  <a:lnTo>
                    <a:pt x="0" y="33058"/>
                  </a:lnTo>
                  <a:lnTo>
                    <a:pt x="0" y="233654"/>
                  </a:lnTo>
                  <a:lnTo>
                    <a:pt x="28194" y="265734"/>
                  </a:lnTo>
                  <a:lnTo>
                    <a:pt x="33058" y="266700"/>
                  </a:lnTo>
                  <a:lnTo>
                    <a:pt x="2333625" y="2667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3352799"/>
              <a:ext cx="85724" cy="8572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292012" y="401637"/>
            <a:ext cx="304038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60" dirty="0">
                <a:solidFill>
                  <a:srgbClr val="000000"/>
                </a:solidFill>
                <a:latin typeface="Verdana"/>
                <a:cs typeface="Verdana"/>
              </a:rPr>
              <a:t>Creating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00" dirty="0">
                <a:solidFill>
                  <a:srgbClr val="000000"/>
                </a:solidFill>
                <a:latin typeface="Verdana"/>
                <a:cs typeface="Verdana"/>
              </a:rPr>
              <a:t>Pipelines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60488" y="4481512"/>
            <a:ext cx="1781175" cy="266700"/>
          </a:xfrm>
          <a:custGeom>
            <a:avLst/>
            <a:gdLst/>
            <a:ahLst/>
            <a:cxnLst/>
            <a:rect l="l" t="t" r="r" b="b"/>
            <a:pathLst>
              <a:path w="1781175" h="266700">
                <a:moveTo>
                  <a:pt x="174812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748127" y="0"/>
                </a:lnTo>
                <a:lnTo>
                  <a:pt x="1780207" y="28187"/>
                </a:lnTo>
                <a:lnTo>
                  <a:pt x="1781174" y="33047"/>
                </a:lnTo>
                <a:lnTo>
                  <a:pt x="1781174" y="233652"/>
                </a:lnTo>
                <a:lnTo>
                  <a:pt x="1752987" y="265733"/>
                </a:lnTo>
                <a:lnTo>
                  <a:pt x="174812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47787" y="4449762"/>
            <a:ext cx="18091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make_pipeline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6413" y="1880393"/>
            <a:ext cx="3568065" cy="2037714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spcBef>
                <a:spcPts val="940"/>
              </a:spcBef>
            </a:pPr>
            <a:r>
              <a:rPr sz="2250" dirty="0">
                <a:latin typeface="Microsoft Sans Serif"/>
                <a:cs typeface="Microsoft Sans Serif"/>
              </a:rPr>
              <a:t>It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takes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list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spcBef>
                <a:spcPts val="675"/>
              </a:spcBef>
            </a:pPr>
            <a:r>
              <a:rPr b="1" dirty="0">
                <a:latin typeface="Courier New"/>
                <a:cs typeface="Courier New"/>
              </a:rPr>
              <a:t>('estimatorName',</a:t>
            </a:r>
            <a:endParaRPr>
              <a:latin typeface="Courier New"/>
              <a:cs typeface="Courier New"/>
            </a:endParaRPr>
          </a:p>
          <a:p>
            <a:pPr marL="12700">
              <a:spcBef>
                <a:spcPts val="315"/>
              </a:spcBef>
            </a:pPr>
            <a:r>
              <a:rPr b="1" dirty="0">
                <a:latin typeface="Courier New"/>
                <a:cs typeface="Courier New"/>
              </a:rPr>
              <a:t>estimator(...))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tuples.</a:t>
            </a:r>
            <a:endParaRPr sz="2250">
              <a:latin typeface="Microsoft Sans Serif"/>
              <a:cs typeface="Microsoft Sans Serif"/>
            </a:endParaRPr>
          </a:p>
          <a:p>
            <a:pPr marL="12700" marR="5080">
              <a:lnSpc>
                <a:spcPct val="108300"/>
              </a:lnSpc>
              <a:spcBef>
                <a:spcPts val="605"/>
              </a:spcBef>
            </a:pP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-5" dirty="0">
                <a:latin typeface="Microsoft Sans Serif"/>
                <a:cs typeface="Microsoft Sans Serif"/>
              </a:rPr>
              <a:t> pipeline</a:t>
            </a:r>
            <a:r>
              <a:rPr sz="225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object </a:t>
            </a:r>
            <a:r>
              <a:rPr sz="2250" dirty="0">
                <a:latin typeface="Microsoft Sans Serif"/>
                <a:cs typeface="Microsoft Sans Serif"/>
              </a:rPr>
              <a:t>exposes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interface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last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step.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7788" y="1135062"/>
            <a:ext cx="6786245" cy="83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2485">
              <a:spcBef>
                <a:spcPts val="100"/>
              </a:spcBef>
            </a:pPr>
            <a:r>
              <a:rPr sz="2250" spc="-45" dirty="0">
                <a:latin typeface="Microsoft Sans Serif"/>
                <a:cs typeface="Microsoft Sans Serif"/>
              </a:rPr>
              <a:t>Two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ways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create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pipeline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object.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spcBef>
                <a:spcPts val="1535"/>
              </a:spcBef>
            </a:pPr>
            <a:r>
              <a:rPr b="1" dirty="0">
                <a:latin typeface="Courier New"/>
                <a:cs typeface="Courier New"/>
              </a:rPr>
              <a:t>Pipeline()</a:t>
            </a:r>
            <a:endParaRPr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60487" y="4776787"/>
            <a:ext cx="4248150" cy="819150"/>
            <a:chOff x="0" y="4776787"/>
            <a:chExt cx="4248150" cy="819150"/>
          </a:xfrm>
        </p:grpSpPr>
        <p:sp>
          <p:nvSpPr>
            <p:cNvPr id="14" name="object 14"/>
            <p:cNvSpPr/>
            <p:nvPr/>
          </p:nvSpPr>
          <p:spPr>
            <a:xfrm>
              <a:off x="0" y="4776787"/>
              <a:ext cx="4248150" cy="819150"/>
            </a:xfrm>
            <a:custGeom>
              <a:avLst/>
              <a:gdLst/>
              <a:ahLst/>
              <a:cxnLst/>
              <a:rect l="l" t="t" r="r" b="b"/>
              <a:pathLst>
                <a:path w="4248150" h="819150">
                  <a:moveTo>
                    <a:pt x="4248149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4248149" y="0"/>
                  </a:lnTo>
                  <a:lnTo>
                    <a:pt x="4248149" y="819149"/>
                  </a:lnTo>
                  <a:close/>
                </a:path>
              </a:pathLst>
            </a:custGeom>
            <a:solidFill>
              <a:srgbClr val="C8D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4938712"/>
              <a:ext cx="85724" cy="8572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776412" y="4735512"/>
            <a:ext cx="3805554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It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takes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number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estimator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objects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40" dirty="0">
                <a:latin typeface="Microsoft Sans Serif"/>
                <a:cs typeface="Microsoft Sans Serif"/>
              </a:rPr>
              <a:t>only.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12043" y="2425637"/>
            <a:ext cx="4610100" cy="1524000"/>
          </a:xfrm>
          <a:custGeom>
            <a:avLst/>
            <a:gdLst/>
            <a:ahLst/>
            <a:cxnLst/>
            <a:rect l="l" t="t" r="r" b="b"/>
            <a:pathLst>
              <a:path w="4610100" h="1524000">
                <a:moveTo>
                  <a:pt x="4577051" y="1523999"/>
                </a:moveTo>
                <a:lnTo>
                  <a:pt x="33047" y="1523999"/>
                </a:lnTo>
                <a:lnTo>
                  <a:pt x="28187" y="1523032"/>
                </a:lnTo>
                <a:lnTo>
                  <a:pt x="966" y="1495812"/>
                </a:lnTo>
                <a:lnTo>
                  <a:pt x="0" y="1490952"/>
                </a:lnTo>
                <a:lnTo>
                  <a:pt x="0" y="14858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4577051" y="0"/>
                </a:lnTo>
                <a:lnTo>
                  <a:pt x="4609132" y="28187"/>
                </a:lnTo>
                <a:lnTo>
                  <a:pt x="4610099" y="33047"/>
                </a:lnTo>
                <a:lnTo>
                  <a:pt x="4610099" y="1490952"/>
                </a:lnTo>
                <a:lnTo>
                  <a:pt x="4581911" y="1523032"/>
                </a:lnTo>
                <a:lnTo>
                  <a:pt x="4577051" y="152399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846969" y="2424368"/>
            <a:ext cx="3592195" cy="1408077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spcBef>
                <a:spcPts val="4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estimators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[</a:t>
            </a:r>
            <a:endParaRPr sz="1200">
              <a:latin typeface="Courier New"/>
              <a:cs typeface="Courier New"/>
            </a:endParaRPr>
          </a:p>
          <a:p>
            <a:pPr marL="195580" marR="5080">
              <a:lnSpc>
                <a:spcPct val="125000"/>
              </a:lnSpc>
            </a:pP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'simpleImputer'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SimpleImputer()), </a:t>
            </a:r>
            <a:r>
              <a:rPr sz="1200" b="1" spc="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'standardScaler'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-1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StandardScaler()),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]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pipe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Pipeline(steps=estimators)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12043" y="4776787"/>
            <a:ext cx="4610100" cy="628650"/>
          </a:xfrm>
          <a:custGeom>
            <a:avLst/>
            <a:gdLst/>
            <a:ahLst/>
            <a:cxnLst/>
            <a:rect l="l" t="t" r="r" b="b"/>
            <a:pathLst>
              <a:path w="4610100" h="628650">
                <a:moveTo>
                  <a:pt x="4577051" y="628649"/>
                </a:moveTo>
                <a:lnTo>
                  <a:pt x="33047" y="628649"/>
                </a:lnTo>
                <a:lnTo>
                  <a:pt x="28187" y="627683"/>
                </a:lnTo>
                <a:lnTo>
                  <a:pt x="966" y="600462"/>
                </a:lnTo>
                <a:lnTo>
                  <a:pt x="0" y="595602"/>
                </a:lnTo>
                <a:lnTo>
                  <a:pt x="0" y="5905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4577051" y="0"/>
                </a:lnTo>
                <a:lnTo>
                  <a:pt x="4609132" y="28187"/>
                </a:lnTo>
                <a:lnTo>
                  <a:pt x="4610099" y="33047"/>
                </a:lnTo>
                <a:lnTo>
                  <a:pt x="4610099" y="595602"/>
                </a:lnTo>
                <a:lnTo>
                  <a:pt x="4581911" y="627683"/>
                </a:lnTo>
                <a:lnTo>
                  <a:pt x="4577051" y="62864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846968" y="4775517"/>
            <a:ext cx="3500754" cy="4826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spcBef>
                <a:spcPts val="4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pipe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make_pipeline(SimpleImputer(),</a:t>
            </a:r>
            <a:endParaRPr sz="1200">
              <a:latin typeface="Courier New"/>
              <a:cs typeface="Courier New"/>
            </a:endParaRPr>
          </a:p>
          <a:p>
            <a:pPr marL="1932939">
              <a:spcBef>
                <a:spcPts val="3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StandardScaler())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80</a:t>
            </a:fld>
            <a:endParaRPr spc="-85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61897" y="3727322"/>
            <a:ext cx="4610100" cy="1524000"/>
          </a:xfrm>
          <a:custGeom>
            <a:avLst/>
            <a:gdLst/>
            <a:ahLst/>
            <a:cxnLst/>
            <a:rect l="l" t="t" r="r" b="b"/>
            <a:pathLst>
              <a:path w="4610100" h="1524000">
                <a:moveTo>
                  <a:pt x="4577051" y="1523999"/>
                </a:moveTo>
                <a:lnTo>
                  <a:pt x="33047" y="1523999"/>
                </a:lnTo>
                <a:lnTo>
                  <a:pt x="28187" y="1523032"/>
                </a:lnTo>
                <a:lnTo>
                  <a:pt x="966" y="1495812"/>
                </a:lnTo>
                <a:lnTo>
                  <a:pt x="0" y="1490952"/>
                </a:lnTo>
                <a:lnTo>
                  <a:pt x="0" y="14858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4577051" y="0"/>
                </a:lnTo>
                <a:lnTo>
                  <a:pt x="4609132" y="28187"/>
                </a:lnTo>
                <a:lnTo>
                  <a:pt x="4610099" y="33047"/>
                </a:lnTo>
                <a:lnTo>
                  <a:pt x="4610099" y="1490952"/>
                </a:lnTo>
                <a:lnTo>
                  <a:pt x="4581911" y="1523032"/>
                </a:lnTo>
                <a:lnTo>
                  <a:pt x="4577051" y="152399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96823" y="3726052"/>
            <a:ext cx="3592195" cy="18530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spcBef>
                <a:spcPts val="4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estimators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[</a:t>
            </a:r>
            <a:endParaRPr sz="1200">
              <a:latin typeface="Courier New"/>
              <a:cs typeface="Courier New"/>
            </a:endParaRPr>
          </a:p>
          <a:p>
            <a:pPr marL="195580" marR="5080">
              <a:lnSpc>
                <a:spcPct val="125000"/>
              </a:lnSpc>
            </a:pP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'simpleImputer'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SimpleImputer()), </a:t>
            </a:r>
            <a:r>
              <a:rPr sz="1200" b="1" spc="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'standardScaler'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-1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StandardScaler()),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]</a:t>
            </a:r>
            <a:endParaRPr sz="1200">
              <a:latin typeface="Courier New"/>
              <a:cs typeface="Courier New"/>
            </a:endParaRPr>
          </a:p>
          <a:p>
            <a:pPr marL="12700" marR="553720">
              <a:lnSpc>
                <a:spcPct val="125000"/>
              </a:lnSpc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pipe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Pipeline(steps=estimators)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pipe.fit_transform(X)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14597" y="1590674"/>
            <a:ext cx="4505325" cy="1524000"/>
          </a:xfrm>
          <a:custGeom>
            <a:avLst/>
            <a:gdLst/>
            <a:ahLst/>
            <a:cxnLst/>
            <a:rect l="l" t="t" r="r" b="b"/>
            <a:pathLst>
              <a:path w="4505325" h="1524000">
                <a:moveTo>
                  <a:pt x="4472276" y="1523999"/>
                </a:moveTo>
                <a:lnTo>
                  <a:pt x="33047" y="1523999"/>
                </a:lnTo>
                <a:lnTo>
                  <a:pt x="28187" y="1523032"/>
                </a:lnTo>
                <a:lnTo>
                  <a:pt x="966" y="1495812"/>
                </a:lnTo>
                <a:lnTo>
                  <a:pt x="0" y="1490952"/>
                </a:lnTo>
                <a:lnTo>
                  <a:pt x="0" y="14858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4472276" y="0"/>
                </a:lnTo>
                <a:lnTo>
                  <a:pt x="4504357" y="28187"/>
                </a:lnTo>
                <a:lnTo>
                  <a:pt x="4505324" y="33047"/>
                </a:lnTo>
                <a:lnTo>
                  <a:pt x="4505324" y="1490952"/>
                </a:lnTo>
                <a:lnTo>
                  <a:pt x="4477136" y="1523032"/>
                </a:lnTo>
                <a:lnTo>
                  <a:pt x="4472276" y="152399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49521" y="1589405"/>
            <a:ext cx="3500754" cy="9398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spcBef>
                <a:spcPts val="4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SimpleImputer()</a:t>
            </a:r>
            <a:endParaRPr sz="1200">
              <a:latin typeface="Courier New"/>
              <a:cs typeface="Courier New"/>
            </a:endParaRPr>
          </a:p>
          <a:p>
            <a:pPr marL="12700" marR="645160">
              <a:lnSpc>
                <a:spcPct val="125000"/>
              </a:lnSpc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X_imputed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si.fit_transform(X)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ss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=StandardScaler()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X_scaled</a:t>
            </a:r>
            <a:r>
              <a:rPr sz="1200" b="1" spc="-5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4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ss.fit_transform(X_imputed)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81</a:t>
            </a:fld>
            <a:endParaRPr spc="-85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30573" y="949325"/>
            <a:ext cx="213804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000000"/>
                </a:solidFill>
              </a:rPr>
              <a:t>Without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pipeline: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05090" y="3098926"/>
            <a:ext cx="174117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-5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pipeline: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3064" y="644525"/>
            <a:ext cx="6179185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00" dirty="0">
                <a:solidFill>
                  <a:srgbClr val="000000"/>
                </a:solidFill>
                <a:latin typeface="Verdana"/>
                <a:cs typeface="Verdana"/>
              </a:rPr>
              <a:t>Accessing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75" dirty="0">
                <a:solidFill>
                  <a:srgbClr val="000000"/>
                </a:solidFill>
                <a:latin typeface="Verdana"/>
                <a:cs typeface="Verdana"/>
              </a:rPr>
              <a:t>individual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45" dirty="0">
                <a:solidFill>
                  <a:srgbClr val="000000"/>
                </a:solidFill>
                <a:latin typeface="Verdana"/>
                <a:cs typeface="Verdana"/>
              </a:rPr>
              <a:t>steps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80" dirty="0">
                <a:solidFill>
                  <a:srgbClr val="000000"/>
                </a:solidFill>
                <a:latin typeface="Verdana"/>
                <a:cs typeface="Verdana"/>
              </a:rPr>
              <a:t>in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05" dirty="0">
                <a:solidFill>
                  <a:srgbClr val="000000"/>
                </a:solidFill>
                <a:latin typeface="Verdana"/>
                <a:cs typeface="Verdana"/>
              </a:rPr>
              <a:t>Pipeline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09272" y="1638299"/>
            <a:ext cx="4610100" cy="1524000"/>
          </a:xfrm>
          <a:custGeom>
            <a:avLst/>
            <a:gdLst/>
            <a:ahLst/>
            <a:cxnLst/>
            <a:rect l="l" t="t" r="r" b="b"/>
            <a:pathLst>
              <a:path w="4610100" h="1524000">
                <a:moveTo>
                  <a:pt x="4577051" y="1523999"/>
                </a:moveTo>
                <a:lnTo>
                  <a:pt x="33047" y="1523999"/>
                </a:lnTo>
                <a:lnTo>
                  <a:pt x="28187" y="1523032"/>
                </a:lnTo>
                <a:lnTo>
                  <a:pt x="966" y="1495812"/>
                </a:lnTo>
                <a:lnTo>
                  <a:pt x="0" y="1490952"/>
                </a:lnTo>
                <a:lnTo>
                  <a:pt x="0" y="14858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4577051" y="0"/>
                </a:lnTo>
                <a:lnTo>
                  <a:pt x="4609132" y="28187"/>
                </a:lnTo>
                <a:lnTo>
                  <a:pt x="4610099" y="33047"/>
                </a:lnTo>
                <a:lnTo>
                  <a:pt x="4610099" y="1490952"/>
                </a:lnTo>
                <a:lnTo>
                  <a:pt x="4581911" y="1523032"/>
                </a:lnTo>
                <a:lnTo>
                  <a:pt x="4577051" y="152399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44198" y="1637029"/>
            <a:ext cx="3409315" cy="1413206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spcBef>
                <a:spcPts val="4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estimators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[</a:t>
            </a:r>
            <a:endParaRPr sz="1200">
              <a:latin typeface="Courier New"/>
              <a:cs typeface="Courier New"/>
            </a:endParaRPr>
          </a:p>
          <a:p>
            <a:pPr marL="195580" marR="5080">
              <a:lnSpc>
                <a:spcPct val="125000"/>
              </a:lnSpc>
            </a:pP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'simpleImputer'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-2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SimpleImputer()), </a:t>
            </a:r>
            <a:r>
              <a:rPr sz="1200" b="1" spc="-70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'pca'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PCA()),</a:t>
            </a:r>
            <a:endParaRPr sz="1200">
              <a:latin typeface="Courier New"/>
              <a:cs typeface="Courier New"/>
            </a:endParaRPr>
          </a:p>
          <a:p>
            <a:pPr marL="195580">
              <a:spcBef>
                <a:spcPts val="360"/>
              </a:spcBef>
            </a:pP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'regressor'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-3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LinearRegression())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]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pipe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Pipeline(steps=estimators)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44622" y="3530202"/>
            <a:ext cx="3905250" cy="2590800"/>
            <a:chOff x="4284135" y="3530202"/>
            <a:chExt cx="3905250" cy="2590800"/>
          </a:xfrm>
        </p:grpSpPr>
        <p:sp>
          <p:nvSpPr>
            <p:cNvPr id="6" name="object 6"/>
            <p:cNvSpPr/>
            <p:nvPr/>
          </p:nvSpPr>
          <p:spPr>
            <a:xfrm>
              <a:off x="4284135" y="3530202"/>
              <a:ext cx="3905250" cy="2590800"/>
            </a:xfrm>
            <a:custGeom>
              <a:avLst/>
              <a:gdLst/>
              <a:ahLst/>
              <a:cxnLst/>
              <a:rect l="l" t="t" r="r" b="b"/>
              <a:pathLst>
                <a:path w="3905250" h="2590800">
                  <a:moveTo>
                    <a:pt x="3905249" y="2590799"/>
                  </a:moveTo>
                  <a:lnTo>
                    <a:pt x="0" y="2590799"/>
                  </a:lnTo>
                  <a:lnTo>
                    <a:pt x="0" y="0"/>
                  </a:lnTo>
                  <a:lnTo>
                    <a:pt x="3905249" y="0"/>
                  </a:lnTo>
                  <a:lnTo>
                    <a:pt x="3905249" y="2590799"/>
                  </a:lnTo>
                  <a:close/>
                </a:path>
              </a:pathLst>
            </a:custGeom>
            <a:solidFill>
              <a:srgbClr val="C8D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6110" y="4577952"/>
              <a:ext cx="85725" cy="857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84235" y="4492227"/>
              <a:ext cx="2743200" cy="266700"/>
            </a:xfrm>
            <a:custGeom>
              <a:avLst/>
              <a:gdLst/>
              <a:ahLst/>
              <a:cxnLst/>
              <a:rect l="l" t="t" r="r" b="b"/>
              <a:pathLst>
                <a:path w="2743200" h="266700">
                  <a:moveTo>
                    <a:pt x="2710152" y="266699"/>
                  </a:moveTo>
                  <a:lnTo>
                    <a:pt x="33047" y="266699"/>
                  </a:lnTo>
                  <a:lnTo>
                    <a:pt x="28187" y="265733"/>
                  </a:lnTo>
                  <a:lnTo>
                    <a:pt x="966" y="238512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0152" y="0"/>
                  </a:lnTo>
                  <a:lnTo>
                    <a:pt x="2742232" y="28187"/>
                  </a:lnTo>
                  <a:lnTo>
                    <a:pt x="2743199" y="33047"/>
                  </a:lnTo>
                  <a:lnTo>
                    <a:pt x="2743199" y="233652"/>
                  </a:lnTo>
                  <a:lnTo>
                    <a:pt x="2715012" y="265733"/>
                  </a:lnTo>
                  <a:lnTo>
                    <a:pt x="2710152" y="266699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6110" y="4949427"/>
              <a:ext cx="85725" cy="857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084235" y="4863702"/>
              <a:ext cx="1781175" cy="266700"/>
            </a:xfrm>
            <a:custGeom>
              <a:avLst/>
              <a:gdLst/>
              <a:ahLst/>
              <a:cxnLst/>
              <a:rect l="l" t="t" r="r" b="b"/>
              <a:pathLst>
                <a:path w="1781175" h="266700">
                  <a:moveTo>
                    <a:pt x="1748127" y="266699"/>
                  </a:moveTo>
                  <a:lnTo>
                    <a:pt x="33047" y="266699"/>
                  </a:lnTo>
                  <a:lnTo>
                    <a:pt x="28187" y="265733"/>
                  </a:lnTo>
                  <a:lnTo>
                    <a:pt x="966" y="238512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748127" y="0"/>
                  </a:lnTo>
                  <a:lnTo>
                    <a:pt x="1780207" y="28187"/>
                  </a:lnTo>
                  <a:lnTo>
                    <a:pt x="1781174" y="33047"/>
                  </a:lnTo>
                  <a:lnTo>
                    <a:pt x="1781174" y="233652"/>
                  </a:lnTo>
                  <a:lnTo>
                    <a:pt x="1752987" y="265733"/>
                  </a:lnTo>
                  <a:lnTo>
                    <a:pt x="1748127" y="266699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6110" y="5397102"/>
              <a:ext cx="85725" cy="857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084235" y="5311377"/>
              <a:ext cx="962025" cy="266700"/>
            </a:xfrm>
            <a:custGeom>
              <a:avLst/>
              <a:gdLst/>
              <a:ahLst/>
              <a:cxnLst/>
              <a:rect l="l" t="t" r="r" b="b"/>
              <a:pathLst>
                <a:path w="962025" h="266700">
                  <a:moveTo>
                    <a:pt x="928977" y="266699"/>
                  </a:moveTo>
                  <a:lnTo>
                    <a:pt x="33047" y="266699"/>
                  </a:lnTo>
                  <a:lnTo>
                    <a:pt x="28187" y="265733"/>
                  </a:lnTo>
                  <a:lnTo>
                    <a:pt x="966" y="238512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928977" y="0"/>
                  </a:lnTo>
                  <a:lnTo>
                    <a:pt x="961058" y="28187"/>
                  </a:lnTo>
                  <a:lnTo>
                    <a:pt x="962024" y="33047"/>
                  </a:lnTo>
                  <a:lnTo>
                    <a:pt x="962024" y="233652"/>
                  </a:lnTo>
                  <a:lnTo>
                    <a:pt x="933837" y="265733"/>
                  </a:lnTo>
                  <a:lnTo>
                    <a:pt x="928977" y="266699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6110" y="5835252"/>
              <a:ext cx="85725" cy="857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084235" y="5749527"/>
              <a:ext cx="1504950" cy="266700"/>
            </a:xfrm>
            <a:custGeom>
              <a:avLst/>
              <a:gdLst/>
              <a:ahLst/>
              <a:cxnLst/>
              <a:rect l="l" t="t" r="r" b="b"/>
              <a:pathLst>
                <a:path w="1504950" h="266700">
                  <a:moveTo>
                    <a:pt x="1471902" y="266699"/>
                  </a:moveTo>
                  <a:lnTo>
                    <a:pt x="33047" y="266699"/>
                  </a:lnTo>
                  <a:lnTo>
                    <a:pt x="28187" y="265732"/>
                  </a:lnTo>
                  <a:lnTo>
                    <a:pt x="966" y="238512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71902" y="0"/>
                  </a:lnTo>
                  <a:lnTo>
                    <a:pt x="1503982" y="28187"/>
                  </a:lnTo>
                  <a:lnTo>
                    <a:pt x="1504949" y="33047"/>
                  </a:lnTo>
                  <a:lnTo>
                    <a:pt x="1504949" y="233652"/>
                  </a:lnTo>
                  <a:lnTo>
                    <a:pt x="1476762" y="265732"/>
                  </a:lnTo>
                  <a:lnTo>
                    <a:pt x="1471902" y="266699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644622" y="3530202"/>
            <a:ext cx="3905250" cy="2590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second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estimator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endParaRPr sz="2250">
              <a:latin typeface="Microsoft Sans Serif"/>
              <a:cs typeface="Microsoft Sans Serif"/>
            </a:endParaRPr>
          </a:p>
          <a:p>
            <a:pPr>
              <a:spcBef>
                <a:spcPts val="225"/>
              </a:spcBef>
            </a:pPr>
            <a:r>
              <a:rPr sz="2250" dirty="0">
                <a:latin typeface="Microsoft Sans Serif"/>
                <a:cs typeface="Microsoft Sans Serif"/>
              </a:rPr>
              <a:t>accessed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following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4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ways:</a:t>
            </a:r>
            <a:endParaRPr sz="2250">
              <a:latin typeface="Microsoft Sans Serif"/>
              <a:cs typeface="Microsoft Sans Serif"/>
            </a:endParaRPr>
          </a:p>
          <a:p>
            <a:pPr marL="796925" marR="356235">
              <a:lnSpc>
                <a:spcPct val="135400"/>
              </a:lnSpc>
              <a:spcBef>
                <a:spcPts val="1035"/>
              </a:spcBef>
            </a:pPr>
            <a:r>
              <a:rPr b="1" dirty="0">
                <a:latin typeface="Courier New"/>
                <a:cs typeface="Courier New"/>
              </a:rPr>
              <a:t>pipe.named_steps.pca  pipe.steps[1]</a:t>
            </a:r>
            <a:endParaRPr>
              <a:latin typeface="Courier New"/>
              <a:cs typeface="Courier New"/>
            </a:endParaRPr>
          </a:p>
          <a:p>
            <a:pPr marL="796925">
              <a:spcBef>
                <a:spcPts val="1365"/>
              </a:spcBef>
            </a:pPr>
            <a:r>
              <a:rPr b="1" dirty="0">
                <a:latin typeface="Courier New"/>
                <a:cs typeface="Courier New"/>
              </a:rPr>
              <a:t>pipe[1]</a:t>
            </a:r>
            <a:endParaRPr>
              <a:latin typeface="Courier New"/>
              <a:cs typeface="Courier New"/>
            </a:endParaRPr>
          </a:p>
          <a:p>
            <a:pPr marL="796925">
              <a:spcBef>
                <a:spcPts val="1290"/>
              </a:spcBef>
            </a:pPr>
            <a:r>
              <a:rPr b="1" dirty="0">
                <a:latin typeface="Courier New"/>
                <a:cs typeface="Courier New"/>
              </a:rPr>
              <a:t>pipe['pca']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82</a:t>
            </a:fld>
            <a:endParaRPr spc="-85" dirty="0"/>
          </a:p>
        </p:txBody>
      </p:sp>
      <p:sp>
        <p:nvSpPr>
          <p:cNvPr id="16" name="object 16"/>
          <p:cNvSpPr txBox="1"/>
          <p:nvPr/>
        </p:nvSpPr>
        <p:spPr>
          <a:xfrm>
            <a:off x="1862007" y="3530203"/>
            <a:ext cx="2724150" cy="1628775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 marL="401955"/>
            <a:r>
              <a:rPr sz="2250" spc="-55" dirty="0">
                <a:latin typeface="Microsoft Sans Serif"/>
                <a:cs typeface="Microsoft Sans Serif"/>
              </a:rPr>
              <a:t>Total</a:t>
            </a:r>
            <a:r>
              <a:rPr sz="2250" spc="-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#</a:t>
            </a:r>
            <a:r>
              <a:rPr sz="2250" spc="-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steps:</a:t>
            </a:r>
            <a:r>
              <a:rPr sz="2250" spc="-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3</a:t>
            </a:r>
            <a:endParaRPr sz="2250">
              <a:latin typeface="Microsoft Sans Serif"/>
              <a:cs typeface="Microsoft Sans Serif"/>
            </a:endParaRPr>
          </a:p>
          <a:p>
            <a:pPr marL="457200" indent="-315595">
              <a:spcBef>
                <a:spcPts val="1350"/>
              </a:spcBef>
              <a:buAutoNum type="arabicPeriod"/>
              <a:tabLst>
                <a:tab pos="457834" algn="l"/>
              </a:tabLst>
            </a:pPr>
            <a:r>
              <a:rPr sz="2250" spc="-5" dirty="0">
                <a:latin typeface="Microsoft Sans Serif"/>
                <a:cs typeface="Microsoft Sans Serif"/>
              </a:rPr>
              <a:t>SimpleImputer</a:t>
            </a:r>
            <a:endParaRPr sz="2250">
              <a:latin typeface="Microsoft Sans Serif"/>
              <a:cs typeface="Microsoft Sans Serif"/>
            </a:endParaRPr>
          </a:p>
          <a:p>
            <a:pPr marL="457200" indent="-315595">
              <a:spcBef>
                <a:spcPts val="225"/>
              </a:spcBef>
              <a:buAutoNum type="arabicPeriod"/>
              <a:tabLst>
                <a:tab pos="457834" algn="l"/>
              </a:tabLst>
            </a:pPr>
            <a:r>
              <a:rPr sz="2250" dirty="0">
                <a:latin typeface="Microsoft Sans Serif"/>
                <a:cs typeface="Microsoft Sans Serif"/>
              </a:rPr>
              <a:t>PCA</a:t>
            </a:r>
            <a:endParaRPr sz="2250">
              <a:latin typeface="Microsoft Sans Serif"/>
              <a:cs typeface="Microsoft Sans Serif"/>
            </a:endParaRPr>
          </a:p>
          <a:p>
            <a:pPr marL="457200" indent="-315595">
              <a:spcBef>
                <a:spcPts val="225"/>
              </a:spcBef>
              <a:buAutoNum type="arabicPeriod"/>
              <a:tabLst>
                <a:tab pos="457834" algn="l"/>
              </a:tabLst>
            </a:pPr>
            <a:r>
              <a:rPr sz="2250" spc="-5" dirty="0">
                <a:latin typeface="Microsoft Sans Serif"/>
                <a:cs typeface="Microsoft Sans Serif"/>
              </a:rPr>
              <a:t>LinearRegression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084" y="749300"/>
            <a:ext cx="764540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00" dirty="0">
                <a:solidFill>
                  <a:srgbClr val="000000"/>
                </a:solidFill>
                <a:latin typeface="Verdana"/>
                <a:cs typeface="Verdana"/>
              </a:rPr>
              <a:t>Accessing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95" dirty="0">
                <a:solidFill>
                  <a:srgbClr val="000000"/>
                </a:solidFill>
                <a:latin typeface="Verdana"/>
                <a:cs typeface="Verdana"/>
              </a:rPr>
              <a:t>parameters</a:t>
            </a:r>
            <a:r>
              <a:rPr sz="2900" spc="-20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75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2900" spc="-20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20" dirty="0">
                <a:solidFill>
                  <a:srgbClr val="000000"/>
                </a:solidFill>
                <a:latin typeface="Verdana"/>
                <a:cs typeface="Verdana"/>
              </a:rPr>
              <a:t>each</a:t>
            </a:r>
            <a:r>
              <a:rPr sz="2900" spc="-20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65" dirty="0">
                <a:solidFill>
                  <a:srgbClr val="000000"/>
                </a:solidFill>
                <a:latin typeface="Verdana"/>
                <a:cs typeface="Verdana"/>
              </a:rPr>
              <a:t>step</a:t>
            </a:r>
            <a:r>
              <a:rPr sz="2900" spc="-20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80" dirty="0">
                <a:solidFill>
                  <a:srgbClr val="000000"/>
                </a:solidFill>
                <a:latin typeface="Verdana"/>
                <a:cs typeface="Verdana"/>
              </a:rPr>
              <a:t>in</a:t>
            </a:r>
            <a:r>
              <a:rPr sz="2900" spc="-20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05" dirty="0">
                <a:solidFill>
                  <a:srgbClr val="000000"/>
                </a:solidFill>
                <a:latin typeface="Verdana"/>
                <a:cs typeface="Verdana"/>
              </a:rPr>
              <a:t>Pipeline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46612" y="2190749"/>
            <a:ext cx="3838575" cy="266700"/>
          </a:xfrm>
          <a:custGeom>
            <a:avLst/>
            <a:gdLst/>
            <a:ahLst/>
            <a:cxnLst/>
            <a:rect l="l" t="t" r="r" b="b"/>
            <a:pathLst>
              <a:path w="3838575" h="266700">
                <a:moveTo>
                  <a:pt x="380552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805527" y="0"/>
                </a:lnTo>
                <a:lnTo>
                  <a:pt x="3837607" y="28187"/>
                </a:lnTo>
                <a:lnTo>
                  <a:pt x="3838574" y="33047"/>
                </a:lnTo>
                <a:lnTo>
                  <a:pt x="3838574" y="233652"/>
                </a:lnTo>
                <a:lnTo>
                  <a:pt x="3810386" y="265733"/>
                </a:lnTo>
                <a:lnTo>
                  <a:pt x="380552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313611" y="2562224"/>
            <a:ext cx="1514475" cy="266700"/>
          </a:xfrm>
          <a:custGeom>
            <a:avLst/>
            <a:gdLst/>
            <a:ahLst/>
            <a:cxnLst/>
            <a:rect l="l" t="t" r="r" b="b"/>
            <a:pathLst>
              <a:path w="1514475" h="266700">
                <a:moveTo>
                  <a:pt x="148142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481427" y="0"/>
                </a:lnTo>
                <a:lnTo>
                  <a:pt x="1513508" y="28187"/>
                </a:lnTo>
                <a:lnTo>
                  <a:pt x="1514474" y="33047"/>
                </a:lnTo>
                <a:lnTo>
                  <a:pt x="1514474" y="233652"/>
                </a:lnTo>
                <a:lnTo>
                  <a:pt x="1486287" y="265733"/>
                </a:lnTo>
                <a:lnTo>
                  <a:pt x="148142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22486" y="2933699"/>
            <a:ext cx="2057400" cy="266700"/>
          </a:xfrm>
          <a:custGeom>
            <a:avLst/>
            <a:gdLst/>
            <a:ahLst/>
            <a:cxnLst/>
            <a:rect l="l" t="t" r="r" b="b"/>
            <a:pathLst>
              <a:path w="2057400" h="266700">
                <a:moveTo>
                  <a:pt x="2024351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024351" y="0"/>
                </a:lnTo>
                <a:lnTo>
                  <a:pt x="2056432" y="28187"/>
                </a:lnTo>
                <a:lnTo>
                  <a:pt x="2057399" y="33047"/>
                </a:lnTo>
                <a:lnTo>
                  <a:pt x="2057399" y="233652"/>
                </a:lnTo>
                <a:lnTo>
                  <a:pt x="2029212" y="265733"/>
                </a:lnTo>
                <a:lnTo>
                  <a:pt x="2024351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09787" y="1701800"/>
            <a:ext cx="7376795" cy="149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  <a:tabLst>
                <a:tab pos="4321175" algn="l"/>
              </a:tabLst>
            </a:pPr>
            <a:r>
              <a:rPr sz="2250" dirty="0">
                <a:latin typeface="Microsoft Sans Serif"/>
                <a:cs typeface="Microsoft Sans Serif"/>
              </a:rPr>
              <a:t>Parameters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estimators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pipeline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accessed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using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&lt;estimator&gt;</a:t>
            </a:r>
            <a:r>
              <a:rPr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b="1" dirty="0">
                <a:latin typeface="Courier New"/>
                <a:cs typeface="Courier New"/>
              </a:rPr>
              <a:t>&lt;parameterName&gt;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syntax,  note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two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underscores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between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&lt;estimator&gt;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spcBef>
                <a:spcPts val="675"/>
              </a:spcBef>
            </a:pPr>
            <a:r>
              <a:rPr b="1" dirty="0">
                <a:latin typeface="Courier New"/>
                <a:cs typeface="Courier New"/>
              </a:rPr>
              <a:t>&lt;parameterName&gt;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62325" y="3510771"/>
            <a:ext cx="5943600" cy="2000250"/>
          </a:xfrm>
          <a:custGeom>
            <a:avLst/>
            <a:gdLst/>
            <a:ahLst/>
            <a:cxnLst/>
            <a:rect l="l" t="t" r="r" b="b"/>
            <a:pathLst>
              <a:path w="5943600" h="2000250">
                <a:moveTo>
                  <a:pt x="5910550" y="2000249"/>
                </a:moveTo>
                <a:lnTo>
                  <a:pt x="33047" y="2000249"/>
                </a:lnTo>
                <a:lnTo>
                  <a:pt x="28187" y="1999283"/>
                </a:lnTo>
                <a:lnTo>
                  <a:pt x="966" y="1972062"/>
                </a:lnTo>
                <a:lnTo>
                  <a:pt x="0" y="1967201"/>
                </a:lnTo>
                <a:lnTo>
                  <a:pt x="0" y="19621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910550" y="0"/>
                </a:lnTo>
                <a:lnTo>
                  <a:pt x="5942631" y="28187"/>
                </a:lnTo>
                <a:lnTo>
                  <a:pt x="5943598" y="33047"/>
                </a:lnTo>
                <a:lnTo>
                  <a:pt x="5943598" y="1967201"/>
                </a:lnTo>
                <a:lnTo>
                  <a:pt x="5915411" y="1999282"/>
                </a:lnTo>
                <a:lnTo>
                  <a:pt x="5910550" y="200024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97250" y="3509502"/>
            <a:ext cx="3500754" cy="18851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spcBef>
                <a:spcPts val="4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estimators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[</a:t>
            </a:r>
            <a:endParaRPr sz="1200">
              <a:latin typeface="Courier New"/>
              <a:cs typeface="Courier New"/>
            </a:endParaRPr>
          </a:p>
          <a:p>
            <a:pPr marL="195580" marR="96520">
              <a:lnSpc>
                <a:spcPct val="125000"/>
              </a:lnSpc>
            </a:pP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'simpleImputer'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-2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SimpleImputer()), </a:t>
            </a:r>
            <a:r>
              <a:rPr sz="1200" b="1" spc="-70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'pca'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PCA()),</a:t>
            </a:r>
            <a:endParaRPr sz="1200">
              <a:latin typeface="Courier New"/>
              <a:cs typeface="Courier New"/>
            </a:endParaRPr>
          </a:p>
          <a:p>
            <a:pPr marL="195580">
              <a:spcBef>
                <a:spcPts val="360"/>
              </a:spcBef>
            </a:pP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'regressor'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-3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LinearRegression())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]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pipe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Pipeline(steps=estimators)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800"/>
              </a:spcBef>
              <a:tabLst>
                <a:tab pos="1932939" algn="l"/>
              </a:tabLst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pipe.set_params(pca</a:t>
            </a:r>
            <a:r>
              <a:rPr sz="1200" b="1" u="heavy" dirty="0">
                <a:solidFill>
                  <a:srgbClr val="DDDDDD"/>
                </a:solidFill>
                <a:uFill>
                  <a:solidFill>
                    <a:srgbClr val="DCDCDC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n_components</a:t>
            </a:r>
            <a:r>
              <a:rPr sz="1200" b="1" spc="-4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4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2)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56107" y="5886259"/>
            <a:ext cx="1647825" cy="266700"/>
          </a:xfrm>
          <a:custGeom>
            <a:avLst/>
            <a:gdLst/>
            <a:ahLst/>
            <a:cxnLst/>
            <a:rect l="l" t="t" r="r" b="b"/>
            <a:pathLst>
              <a:path w="1647825" h="266700">
                <a:moveTo>
                  <a:pt x="161477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614777" y="0"/>
                </a:lnTo>
                <a:lnTo>
                  <a:pt x="1646857" y="28187"/>
                </a:lnTo>
                <a:lnTo>
                  <a:pt x="1647824" y="33047"/>
                </a:lnTo>
                <a:lnTo>
                  <a:pt x="1647824" y="233652"/>
                </a:lnTo>
                <a:lnTo>
                  <a:pt x="1619636" y="265733"/>
                </a:lnTo>
                <a:lnTo>
                  <a:pt x="161477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03981" y="5886259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65275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52752" y="0"/>
                </a:lnTo>
                <a:lnTo>
                  <a:pt x="684832" y="28187"/>
                </a:lnTo>
                <a:lnTo>
                  <a:pt x="685799" y="33047"/>
                </a:lnTo>
                <a:lnTo>
                  <a:pt x="685799" y="233652"/>
                </a:lnTo>
                <a:lnTo>
                  <a:pt x="657611" y="265733"/>
                </a:lnTo>
                <a:lnTo>
                  <a:pt x="65275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09783" y="5797359"/>
            <a:ext cx="758380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above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example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n_components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PCA()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step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set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after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09783" y="6168834"/>
            <a:ext cx="24085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spc="-5" dirty="0">
                <a:latin typeface="Microsoft Sans Serif"/>
                <a:cs typeface="Microsoft Sans Serif"/>
              </a:rPr>
              <a:t>pipeline</a:t>
            </a:r>
            <a:r>
              <a:rPr sz="2250" spc="-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-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created.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19580" y="6369050"/>
            <a:ext cx="173990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050" spc="-85" dirty="0">
                <a:solidFill>
                  <a:srgbClr val="111111"/>
                </a:solidFill>
                <a:latin typeface="Verdana"/>
                <a:cs typeface="Verdana"/>
              </a:rPr>
              <a:t>75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7185" y="644525"/>
            <a:ext cx="593090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70" dirty="0">
                <a:solidFill>
                  <a:srgbClr val="000000"/>
                </a:solidFill>
                <a:latin typeface="Verdana"/>
                <a:cs typeface="Verdana"/>
              </a:rPr>
              <a:t>Performing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95" dirty="0">
                <a:solidFill>
                  <a:srgbClr val="000000"/>
                </a:solidFill>
                <a:latin typeface="Verdana"/>
                <a:cs typeface="Verdana"/>
              </a:rPr>
              <a:t>grid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35" dirty="0">
                <a:solidFill>
                  <a:srgbClr val="000000"/>
                </a:solidFill>
                <a:latin typeface="Verdana"/>
                <a:cs typeface="Verdana"/>
              </a:rPr>
              <a:t>search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240" dirty="0">
                <a:solidFill>
                  <a:srgbClr val="000000"/>
                </a:solidFill>
                <a:latin typeface="Verdana"/>
                <a:cs typeface="Verdana"/>
              </a:rPr>
              <a:t>with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55" dirty="0">
                <a:solidFill>
                  <a:srgbClr val="000000"/>
                </a:solidFill>
                <a:latin typeface="Verdana"/>
                <a:cs typeface="Verdana"/>
              </a:rPr>
              <a:t>pipeline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09787" y="1492250"/>
            <a:ext cx="7014845" cy="7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By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using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naming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convention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nested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parameters,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grid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search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implemented.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2011" y="2584609"/>
            <a:ext cx="7620000" cy="1609725"/>
          </a:xfrm>
          <a:custGeom>
            <a:avLst/>
            <a:gdLst/>
            <a:ahLst/>
            <a:cxnLst/>
            <a:rect l="l" t="t" r="r" b="b"/>
            <a:pathLst>
              <a:path w="7620000" h="1609725">
                <a:moveTo>
                  <a:pt x="7586951" y="1609724"/>
                </a:moveTo>
                <a:lnTo>
                  <a:pt x="33047" y="1609724"/>
                </a:lnTo>
                <a:lnTo>
                  <a:pt x="28187" y="1608757"/>
                </a:lnTo>
                <a:lnTo>
                  <a:pt x="966" y="1581537"/>
                </a:lnTo>
                <a:lnTo>
                  <a:pt x="0" y="1576677"/>
                </a:lnTo>
                <a:lnTo>
                  <a:pt x="0" y="15716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586951" y="0"/>
                </a:lnTo>
                <a:lnTo>
                  <a:pt x="7619031" y="28187"/>
                </a:lnTo>
                <a:lnTo>
                  <a:pt x="7619998" y="33047"/>
                </a:lnTo>
                <a:lnTo>
                  <a:pt x="7619998" y="1576677"/>
                </a:lnTo>
                <a:lnTo>
                  <a:pt x="7591811" y="1608757"/>
                </a:lnTo>
                <a:lnTo>
                  <a:pt x="7586951" y="1609724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66936" y="2583338"/>
            <a:ext cx="5055870" cy="2049278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spcBef>
                <a:spcPts val="4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param_grid</a:t>
            </a:r>
            <a:r>
              <a:rPr sz="1200" b="1" spc="1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1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dict(imputer=[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'passthrough'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endParaRPr sz="1200">
              <a:latin typeface="Courier New"/>
              <a:cs typeface="Courier New"/>
            </a:endParaRPr>
          </a:p>
          <a:p>
            <a:pPr marL="2481580" marR="1102360">
              <a:lnSpc>
                <a:spcPct val="125000"/>
              </a:lnSpc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SimpleImputer(),  KNNImputer()],</a:t>
            </a:r>
            <a:endParaRPr sz="1200">
              <a:latin typeface="Courier New"/>
              <a:cs typeface="Courier New"/>
            </a:endParaRPr>
          </a:p>
          <a:p>
            <a:pPr marL="1658620" marR="279400">
              <a:lnSpc>
                <a:spcPct val="125000"/>
              </a:lnSpc>
              <a:tabLst>
                <a:tab pos="2115820" algn="l"/>
              </a:tabLst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clf=[SVC(),</a:t>
            </a:r>
            <a:r>
              <a:rPr sz="1200" b="1" spc="-10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LogisticRegression()],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clf</a:t>
            </a:r>
            <a:r>
              <a:rPr sz="1200" b="1" u="heavy" dirty="0">
                <a:solidFill>
                  <a:srgbClr val="DDDDDD"/>
                </a:solidFill>
                <a:uFill>
                  <a:solidFill>
                    <a:srgbClr val="DCDCDC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C=[0.1,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10,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 100])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grid_search</a:t>
            </a:r>
            <a:r>
              <a:rPr sz="1200" b="1" spc="-3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3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GridSearchCV(pipe,</a:t>
            </a:r>
            <a:r>
              <a:rPr sz="1200" b="1" spc="-3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param_grid=param_grid)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4681537"/>
            <a:ext cx="85725" cy="8572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551111" y="4595812"/>
            <a:ext cx="133350" cy="266700"/>
          </a:xfrm>
          <a:custGeom>
            <a:avLst/>
            <a:gdLst/>
            <a:ahLst/>
            <a:cxnLst/>
            <a:rect l="l" t="t" r="r" b="b"/>
            <a:pathLst>
              <a:path w="133350" h="266700">
                <a:moveTo>
                  <a:pt x="10030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00302" y="0"/>
                </a:lnTo>
                <a:lnTo>
                  <a:pt x="132383" y="28187"/>
                </a:lnTo>
                <a:lnTo>
                  <a:pt x="133349" y="33047"/>
                </a:lnTo>
                <a:lnTo>
                  <a:pt x="133349" y="233652"/>
                </a:lnTo>
                <a:lnTo>
                  <a:pt x="105162" y="265733"/>
                </a:lnTo>
                <a:lnTo>
                  <a:pt x="10030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5500687"/>
            <a:ext cx="85725" cy="8572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360987" y="5414962"/>
            <a:ext cx="828675" cy="266700"/>
          </a:xfrm>
          <a:custGeom>
            <a:avLst/>
            <a:gdLst/>
            <a:ahLst/>
            <a:cxnLst/>
            <a:rect l="l" t="t" r="r" b="b"/>
            <a:pathLst>
              <a:path w="828675" h="266700">
                <a:moveTo>
                  <a:pt x="79562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95627" y="0"/>
                </a:lnTo>
                <a:lnTo>
                  <a:pt x="827708" y="28187"/>
                </a:lnTo>
                <a:lnTo>
                  <a:pt x="828674" y="33047"/>
                </a:lnTo>
                <a:lnTo>
                  <a:pt x="828674" y="233652"/>
                </a:lnTo>
                <a:lnTo>
                  <a:pt x="800487" y="265733"/>
                </a:lnTo>
                <a:lnTo>
                  <a:pt x="79562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38412" y="4478337"/>
            <a:ext cx="7154545" cy="1587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3505">
              <a:lnSpc>
                <a:spcPct val="1083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inverse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regularization,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lower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its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stronger  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regularization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is.</a:t>
            </a:r>
            <a:endParaRPr sz="2250">
              <a:latin typeface="Microsoft Sans Serif"/>
              <a:cs typeface="Microsoft Sans Serif"/>
            </a:endParaRPr>
          </a:p>
          <a:p>
            <a:pPr marL="12700" marR="5080">
              <a:lnSpc>
                <a:spcPct val="108300"/>
              </a:lnSpc>
              <a:spcBef>
                <a:spcPts val="600"/>
              </a:spcBef>
              <a:tabLst>
                <a:tab pos="3509645" algn="l"/>
              </a:tabLst>
            </a:pPr>
            <a:r>
              <a:rPr sz="225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example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above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clf</a:t>
            </a:r>
            <a:r>
              <a:rPr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b="1" dirty="0">
                <a:latin typeface="Courier New"/>
                <a:cs typeface="Courier New"/>
              </a:rPr>
              <a:t>C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provides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set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  </a:t>
            </a:r>
            <a:r>
              <a:rPr sz="2250" spc="-5" dirty="0">
                <a:latin typeface="Microsoft Sans Serif"/>
                <a:cs typeface="Microsoft Sans Serif"/>
              </a:rPr>
              <a:t>grid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search.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84</a:t>
            </a:fld>
            <a:endParaRPr spc="-85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4267" y="644525"/>
            <a:ext cx="3576954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20" dirty="0">
                <a:solidFill>
                  <a:srgbClr val="000000"/>
                </a:solidFill>
                <a:latin typeface="Verdana"/>
                <a:cs typeface="Verdana"/>
              </a:rPr>
              <a:t>Caching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200" dirty="0">
                <a:solidFill>
                  <a:srgbClr val="000000"/>
                </a:solidFill>
                <a:latin typeface="Verdana"/>
                <a:cs typeface="Verdana"/>
              </a:rPr>
              <a:t>transformers</a:t>
            </a:r>
            <a:endParaRPr sz="29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1495424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1943099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3124199"/>
            <a:ext cx="85725" cy="857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637336" y="3038474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>
                <a:moveTo>
                  <a:pt x="78610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1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86102" y="0"/>
                </a:lnTo>
                <a:lnTo>
                  <a:pt x="818183" y="28187"/>
                </a:lnTo>
                <a:lnTo>
                  <a:pt x="819149" y="33047"/>
                </a:lnTo>
                <a:lnTo>
                  <a:pt x="819149" y="233652"/>
                </a:lnTo>
                <a:lnTo>
                  <a:pt x="790962" y="265733"/>
                </a:lnTo>
                <a:lnTo>
                  <a:pt x="78610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987" y="3943349"/>
            <a:ext cx="85725" cy="8572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551111" y="3857624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>
                <a:moveTo>
                  <a:pt x="786102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1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86102" y="0"/>
                </a:lnTo>
                <a:lnTo>
                  <a:pt x="818182" y="28187"/>
                </a:lnTo>
                <a:lnTo>
                  <a:pt x="819149" y="33047"/>
                </a:lnTo>
                <a:lnTo>
                  <a:pt x="819149" y="233652"/>
                </a:lnTo>
                <a:lnTo>
                  <a:pt x="790962" y="265732"/>
                </a:lnTo>
                <a:lnTo>
                  <a:pt x="78610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0311" y="4229099"/>
            <a:ext cx="1790700" cy="266700"/>
          </a:xfrm>
          <a:custGeom>
            <a:avLst/>
            <a:gdLst/>
            <a:ahLst/>
            <a:cxnLst/>
            <a:rect l="l" t="t" r="r" b="b"/>
            <a:pathLst>
              <a:path w="1790700" h="266700">
                <a:moveTo>
                  <a:pt x="1757652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757652" y="0"/>
                </a:lnTo>
                <a:lnTo>
                  <a:pt x="1789732" y="28187"/>
                </a:lnTo>
                <a:lnTo>
                  <a:pt x="1790699" y="33047"/>
                </a:lnTo>
                <a:lnTo>
                  <a:pt x="1790699" y="233652"/>
                </a:lnTo>
                <a:lnTo>
                  <a:pt x="1762512" y="265732"/>
                </a:lnTo>
                <a:lnTo>
                  <a:pt x="175765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38411" y="1216026"/>
            <a:ext cx="7157720" cy="329247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spcBef>
                <a:spcPts val="925"/>
              </a:spcBef>
            </a:pPr>
            <a:r>
              <a:rPr sz="2250" spc="-10" dirty="0">
                <a:latin typeface="Microsoft Sans Serif"/>
                <a:cs typeface="Microsoft Sans Serif"/>
              </a:rPr>
              <a:t>Transforming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computationally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expensive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step.</a:t>
            </a:r>
            <a:endParaRPr sz="2250">
              <a:latin typeface="Microsoft Sans Serif"/>
              <a:cs typeface="Microsoft Sans Serif"/>
            </a:endParaRPr>
          </a:p>
          <a:p>
            <a:pPr marL="12700" marR="5080">
              <a:lnSpc>
                <a:spcPct val="108300"/>
              </a:lnSpc>
              <a:spcBef>
                <a:spcPts val="600"/>
              </a:spcBef>
            </a:pP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grid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search,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transformers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need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not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applied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every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parameter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conﬁguration.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applied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only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once,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transformed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reused.</a:t>
            </a:r>
            <a:endParaRPr sz="2250">
              <a:latin typeface="Microsoft Sans Serif"/>
              <a:cs typeface="Microsoft Sans Serif"/>
            </a:endParaRPr>
          </a:p>
          <a:p>
            <a:pPr marL="12700" marR="294005">
              <a:lnSpc>
                <a:spcPct val="108300"/>
              </a:lnSpc>
              <a:spcBef>
                <a:spcPts val="525"/>
              </a:spcBef>
            </a:pPr>
            <a:r>
              <a:rPr sz="2250" spc="-5" dirty="0">
                <a:latin typeface="Microsoft Sans Serif"/>
                <a:cs typeface="Microsoft Sans Serif"/>
              </a:rPr>
              <a:t>This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achieved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by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setting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memory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parameter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  </a:t>
            </a:r>
            <a:r>
              <a:rPr sz="2250" spc="-5" dirty="0">
                <a:latin typeface="Microsoft Sans Serif"/>
                <a:cs typeface="Microsoft Sans Serif"/>
              </a:rPr>
              <a:t>pipeline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object.</a:t>
            </a:r>
            <a:endParaRPr sz="2250">
              <a:latin typeface="Microsoft Sans Serif"/>
              <a:cs typeface="Microsoft Sans Serif"/>
            </a:endParaRPr>
          </a:p>
          <a:p>
            <a:pPr marL="12700" marR="484505">
              <a:lnSpc>
                <a:spcPct val="108300"/>
              </a:lnSpc>
              <a:spcBef>
                <a:spcPts val="600"/>
              </a:spcBef>
            </a:pPr>
            <a:r>
              <a:rPr b="1" dirty="0">
                <a:latin typeface="Courier New"/>
                <a:cs typeface="Courier New"/>
              </a:rPr>
              <a:t>memory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take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either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location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directory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string  </a:t>
            </a:r>
            <a:r>
              <a:rPr sz="2250" dirty="0">
                <a:latin typeface="Microsoft Sans Serif"/>
                <a:cs typeface="Microsoft Sans Serif"/>
              </a:rPr>
              <a:t>format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joblib.Memory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object.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22486" y="4733924"/>
            <a:ext cx="7620000" cy="1581150"/>
          </a:xfrm>
          <a:custGeom>
            <a:avLst/>
            <a:gdLst/>
            <a:ahLst/>
            <a:cxnLst/>
            <a:rect l="l" t="t" r="r" b="b"/>
            <a:pathLst>
              <a:path w="7620000" h="1581150">
                <a:moveTo>
                  <a:pt x="7586951" y="1581149"/>
                </a:moveTo>
                <a:lnTo>
                  <a:pt x="33047" y="1581149"/>
                </a:lnTo>
                <a:lnTo>
                  <a:pt x="28187" y="1580183"/>
                </a:lnTo>
                <a:lnTo>
                  <a:pt x="966" y="1552962"/>
                </a:lnTo>
                <a:lnTo>
                  <a:pt x="0" y="1548102"/>
                </a:lnTo>
                <a:lnTo>
                  <a:pt x="0" y="15430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586951" y="0"/>
                </a:lnTo>
                <a:lnTo>
                  <a:pt x="7619031" y="28187"/>
                </a:lnTo>
                <a:lnTo>
                  <a:pt x="7619998" y="33047"/>
                </a:lnTo>
                <a:lnTo>
                  <a:pt x="7619998" y="1548102"/>
                </a:lnTo>
                <a:lnTo>
                  <a:pt x="7591811" y="1580183"/>
                </a:lnTo>
                <a:lnTo>
                  <a:pt x="7586951" y="158114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57411" y="4732654"/>
            <a:ext cx="5878830" cy="1597872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spcBef>
                <a:spcPts val="4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estimators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[</a:t>
            </a:r>
            <a:endParaRPr sz="1200">
              <a:latin typeface="Courier New"/>
              <a:cs typeface="Courier New"/>
            </a:endParaRPr>
          </a:p>
          <a:p>
            <a:pPr marL="195580" marR="2473960">
              <a:lnSpc>
                <a:spcPct val="125000"/>
              </a:lnSpc>
            </a:pP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'simpleImputer'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-2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SimpleImputer()), </a:t>
            </a:r>
            <a:r>
              <a:rPr sz="1200" b="1" spc="-70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'pca'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 PCA(2)),</a:t>
            </a:r>
            <a:endParaRPr sz="1200">
              <a:latin typeface="Courier New"/>
              <a:cs typeface="Courier New"/>
            </a:endParaRPr>
          </a:p>
          <a:p>
            <a:pPr marL="195580">
              <a:spcBef>
                <a:spcPts val="359"/>
              </a:spcBef>
            </a:pP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'regressor'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-3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LinearRegression())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]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pipe</a:t>
            </a:r>
            <a:r>
              <a:rPr sz="1200" b="1" spc="-2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2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Pipeline(steps=estimators,</a:t>
            </a:r>
            <a:r>
              <a:rPr sz="1200" b="1" spc="-2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memory</a:t>
            </a:r>
            <a:r>
              <a:rPr sz="1200" b="1" spc="-2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2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A6E22E"/>
                </a:solidFill>
                <a:latin typeface="Courier New"/>
                <a:cs typeface="Courier New"/>
              </a:rPr>
              <a:t>'/path/to/cache/dir'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85</a:t>
            </a:fld>
            <a:endParaRPr spc="-85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1987" y="1343024"/>
            <a:ext cx="85724" cy="857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1987" y="2533649"/>
            <a:ext cx="85724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1987" y="3343274"/>
            <a:ext cx="85724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1987" y="3790949"/>
            <a:ext cx="85724" cy="857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104186" y="3705224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652751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52751" y="0"/>
                </a:lnTo>
                <a:lnTo>
                  <a:pt x="684832" y="28187"/>
                </a:lnTo>
                <a:lnTo>
                  <a:pt x="685799" y="33047"/>
                </a:lnTo>
                <a:lnTo>
                  <a:pt x="685799" y="233652"/>
                </a:lnTo>
                <a:lnTo>
                  <a:pt x="657612" y="265733"/>
                </a:lnTo>
                <a:lnTo>
                  <a:pt x="652751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70111" y="4076699"/>
            <a:ext cx="1238250" cy="266700"/>
          </a:xfrm>
          <a:custGeom>
            <a:avLst/>
            <a:gdLst/>
            <a:ahLst/>
            <a:cxnLst/>
            <a:rect l="l" t="t" r="r" b="b"/>
            <a:pathLst>
              <a:path w="1238250" h="266700">
                <a:moveTo>
                  <a:pt x="120520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205202" y="0"/>
                </a:lnTo>
                <a:lnTo>
                  <a:pt x="1237283" y="28187"/>
                </a:lnTo>
                <a:lnTo>
                  <a:pt x="1238249" y="33047"/>
                </a:lnTo>
                <a:lnTo>
                  <a:pt x="1238249" y="233652"/>
                </a:lnTo>
                <a:lnTo>
                  <a:pt x="1210062" y="265733"/>
                </a:lnTo>
                <a:lnTo>
                  <a:pt x="120520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94386" y="4076699"/>
            <a:ext cx="1104900" cy="266700"/>
          </a:xfrm>
          <a:custGeom>
            <a:avLst/>
            <a:gdLst/>
            <a:ahLst/>
            <a:cxnLst/>
            <a:rect l="l" t="t" r="r" b="b"/>
            <a:pathLst>
              <a:path w="1104900" h="266700">
                <a:moveTo>
                  <a:pt x="107185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071852" y="0"/>
                </a:lnTo>
                <a:lnTo>
                  <a:pt x="1103933" y="28187"/>
                </a:lnTo>
                <a:lnTo>
                  <a:pt x="1104900" y="33047"/>
                </a:lnTo>
                <a:lnTo>
                  <a:pt x="1104900" y="233652"/>
                </a:lnTo>
                <a:lnTo>
                  <a:pt x="1076712" y="265733"/>
                </a:lnTo>
                <a:lnTo>
                  <a:pt x="107185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1987" y="4972049"/>
            <a:ext cx="85724" cy="8572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6494462" y="4886324"/>
            <a:ext cx="1095375" cy="266700"/>
          </a:xfrm>
          <a:custGeom>
            <a:avLst/>
            <a:gdLst/>
            <a:ahLst/>
            <a:cxnLst/>
            <a:rect l="l" t="t" r="r" b="b"/>
            <a:pathLst>
              <a:path w="1095375" h="266700">
                <a:moveTo>
                  <a:pt x="106232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062327" y="0"/>
                </a:lnTo>
                <a:lnTo>
                  <a:pt x="1094408" y="28187"/>
                </a:lnTo>
                <a:lnTo>
                  <a:pt x="1095375" y="33047"/>
                </a:lnTo>
                <a:lnTo>
                  <a:pt x="1095375" y="233652"/>
                </a:lnTo>
                <a:lnTo>
                  <a:pt x="1067186" y="265733"/>
                </a:lnTo>
                <a:lnTo>
                  <a:pt x="106232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57411" y="1139825"/>
            <a:ext cx="7708900" cy="4768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3510">
              <a:lnSpc>
                <a:spcPct val="108300"/>
              </a:lnSpc>
              <a:spcBef>
                <a:spcPts val="100"/>
              </a:spcBef>
            </a:pP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Combines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multiple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steps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of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end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to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end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ML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single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object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such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missing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value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imputation,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feature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scaling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encoding,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model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training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cross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validation.</a:t>
            </a:r>
            <a:endParaRPr sz="2250">
              <a:latin typeface="Microsoft Sans Serif"/>
              <a:cs typeface="Microsoft Sans Serif"/>
            </a:endParaRPr>
          </a:p>
          <a:p>
            <a:pPr marL="12700" marR="1239520">
              <a:lnSpc>
                <a:spcPct val="108300"/>
              </a:lnSpc>
              <a:spcBef>
                <a:spcPts val="600"/>
              </a:spcBef>
            </a:pP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Enables</a:t>
            </a:r>
            <a:r>
              <a:rPr sz="2250" spc="1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800080"/>
                </a:solidFill>
                <a:latin typeface="Microsoft Sans Serif"/>
                <a:cs typeface="Microsoft Sans Serif"/>
              </a:rPr>
              <a:t>joint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grid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search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over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parameters</a:t>
            </a:r>
            <a:r>
              <a:rPr sz="2250" spc="20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all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estimators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pipeline.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spcBef>
                <a:spcPts val="750"/>
              </a:spcBef>
            </a:pPr>
            <a:r>
              <a:rPr sz="2250" dirty="0">
                <a:latin typeface="Microsoft Sans Serif"/>
                <a:cs typeface="Microsoft Sans Serif"/>
              </a:rPr>
              <a:t>Makes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conﬁguring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tuning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end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quick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35" dirty="0">
                <a:latin typeface="Microsoft Sans Serif"/>
                <a:cs typeface="Microsoft Sans Serif"/>
              </a:rPr>
              <a:t>easy.</a:t>
            </a:r>
            <a:endParaRPr sz="2250">
              <a:latin typeface="Microsoft Sans Serif"/>
              <a:cs typeface="Microsoft Sans Serif"/>
            </a:endParaRPr>
          </a:p>
          <a:p>
            <a:pPr marL="12700">
              <a:spcBef>
                <a:spcPts val="825"/>
              </a:spcBef>
            </a:pPr>
            <a:r>
              <a:rPr sz="2250" spc="-10" dirty="0">
                <a:solidFill>
                  <a:srgbClr val="800080"/>
                </a:solidFill>
                <a:latin typeface="Microsoft Sans Serif"/>
                <a:cs typeface="Microsoft Sans Serif"/>
              </a:rPr>
              <a:t>Offers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convenience</a:t>
            </a:r>
            <a:r>
              <a:rPr sz="2250" spc="-5" dirty="0">
                <a:latin typeface="Microsoft Sans Serif"/>
                <a:cs typeface="Microsoft Sans Serif"/>
              </a:rPr>
              <a:t>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developer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has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call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fit()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endParaRPr sz="2250">
              <a:latin typeface="Microsoft Sans Serif"/>
              <a:cs typeface="Microsoft Sans Serif"/>
            </a:endParaRPr>
          </a:p>
          <a:p>
            <a:pPr marL="12700" marR="99060">
              <a:lnSpc>
                <a:spcPct val="108300"/>
              </a:lnSpc>
            </a:pPr>
            <a:r>
              <a:rPr b="1" dirty="0">
                <a:latin typeface="Courier New"/>
                <a:cs typeface="Courier New"/>
              </a:rPr>
              <a:t>predict()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methods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only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Pipeline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object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(assuming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last  </a:t>
            </a:r>
            <a:r>
              <a:rPr sz="2250" dirty="0">
                <a:latin typeface="Microsoft Sans Serif"/>
                <a:cs typeface="Microsoft Sans Serif"/>
              </a:rPr>
              <a:t>step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pipeline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estimator).</a:t>
            </a:r>
            <a:endParaRPr sz="2250">
              <a:latin typeface="Microsoft Sans Serif"/>
              <a:cs typeface="Microsoft Sans Serif"/>
            </a:endParaRPr>
          </a:p>
          <a:p>
            <a:pPr marL="12700" marR="793115">
              <a:lnSpc>
                <a:spcPct val="108300"/>
              </a:lnSpc>
              <a:spcBef>
                <a:spcPts val="525"/>
              </a:spcBef>
            </a:pP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Reduces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800080"/>
                </a:solidFill>
                <a:latin typeface="Microsoft Sans Serif"/>
                <a:cs typeface="Microsoft Sans Serif"/>
              </a:rPr>
              <a:t>code</a:t>
            </a:r>
            <a:r>
              <a:rPr sz="2250" spc="25" dirty="0">
                <a:solidFill>
                  <a:srgbClr val="800080"/>
                </a:solidFill>
                <a:latin typeface="Microsoft Sans Serif"/>
                <a:cs typeface="Microsoft Sans Serif"/>
              </a:rPr>
              <a:t> </a:t>
            </a:r>
            <a:r>
              <a:rPr sz="2250" spc="-5" dirty="0">
                <a:solidFill>
                  <a:srgbClr val="800080"/>
                </a:solidFill>
                <a:latin typeface="Microsoft Sans Serif"/>
                <a:cs typeface="Microsoft Sans Serif"/>
              </a:rPr>
              <a:t>duplicatio</a:t>
            </a:r>
            <a:r>
              <a:rPr sz="2250" spc="-10" dirty="0">
                <a:solidFill>
                  <a:srgbClr val="800080"/>
                </a:solidFill>
                <a:latin typeface="Microsoft Sans Serif"/>
                <a:cs typeface="Microsoft Sans Serif"/>
              </a:rPr>
              <a:t>n</a:t>
            </a:r>
            <a:r>
              <a:rPr sz="2250" dirty="0">
                <a:latin typeface="Microsoft Sans Serif"/>
                <a:cs typeface="Microsoft Sans Serif"/>
              </a:rPr>
              <a:t>: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Pipeline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object,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one  doesn't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have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repeat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code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preprocessing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 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transforming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test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86</a:t>
            </a:fld>
            <a:endParaRPr spc="-85" dirty="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949897" y="411162"/>
            <a:ext cx="378460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60" dirty="0">
                <a:solidFill>
                  <a:srgbClr val="000000"/>
                </a:solidFill>
                <a:latin typeface="Verdana"/>
                <a:cs typeface="Verdana"/>
              </a:rPr>
              <a:t>Advantages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75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55" dirty="0">
                <a:solidFill>
                  <a:srgbClr val="000000"/>
                </a:solidFill>
                <a:latin typeface="Verdana"/>
                <a:cs typeface="Verdana"/>
              </a:rPr>
              <a:t>pipeline</a:t>
            </a:r>
            <a:endParaRPr sz="2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2962" y="1428749"/>
            <a:ext cx="85725" cy="857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2962" y="1876424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2962" y="2686049"/>
            <a:ext cx="85725" cy="857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351087" y="2600324"/>
            <a:ext cx="1647825" cy="266700"/>
          </a:xfrm>
          <a:custGeom>
            <a:avLst/>
            <a:gdLst/>
            <a:ahLst/>
            <a:cxnLst/>
            <a:rect l="l" t="t" r="r" b="b"/>
            <a:pathLst>
              <a:path w="1647825" h="266700">
                <a:moveTo>
                  <a:pt x="161477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614777" y="0"/>
                </a:lnTo>
                <a:lnTo>
                  <a:pt x="1646858" y="28187"/>
                </a:lnTo>
                <a:lnTo>
                  <a:pt x="1647824" y="33047"/>
                </a:lnTo>
                <a:lnTo>
                  <a:pt x="1647824" y="233652"/>
                </a:lnTo>
                <a:lnTo>
                  <a:pt x="1619637" y="265733"/>
                </a:lnTo>
                <a:lnTo>
                  <a:pt x="161477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37087" y="2600324"/>
            <a:ext cx="1095375" cy="266700"/>
          </a:xfrm>
          <a:custGeom>
            <a:avLst/>
            <a:gdLst/>
            <a:ahLst/>
            <a:cxnLst/>
            <a:rect l="l" t="t" r="r" b="b"/>
            <a:pathLst>
              <a:path w="1095375" h="266700">
                <a:moveTo>
                  <a:pt x="1062327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062327" y="0"/>
                </a:lnTo>
                <a:lnTo>
                  <a:pt x="1094407" y="28187"/>
                </a:lnTo>
                <a:lnTo>
                  <a:pt x="1095374" y="33047"/>
                </a:lnTo>
                <a:lnTo>
                  <a:pt x="1095374" y="233652"/>
                </a:lnTo>
                <a:lnTo>
                  <a:pt x="1067187" y="265733"/>
                </a:lnTo>
                <a:lnTo>
                  <a:pt x="1062327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38388" y="1086722"/>
            <a:ext cx="7395845" cy="216471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 indent="1270">
              <a:lnSpc>
                <a:spcPct val="115900"/>
              </a:lnSpc>
              <a:spcBef>
                <a:spcPts val="509"/>
              </a:spcBef>
            </a:pPr>
            <a:r>
              <a:rPr sz="2650" spc="-260" dirty="0">
                <a:solidFill>
                  <a:srgbClr val="202529"/>
                </a:solidFill>
                <a:latin typeface="Lucida Sans Unicode"/>
                <a:cs typeface="Lucida Sans Unicode"/>
              </a:rPr>
              <a:t>C</a:t>
            </a:r>
            <a:r>
              <a:rPr sz="2650" spc="-260" dirty="0">
                <a:solidFill>
                  <a:srgbClr val="202529"/>
                </a:solidFill>
                <a:latin typeface="Comic Sans MS"/>
                <a:cs typeface="Comic Sans MS"/>
              </a:rPr>
              <a:t>oncatenates </a:t>
            </a:r>
            <a:r>
              <a:rPr sz="2650" spc="-310" dirty="0">
                <a:solidFill>
                  <a:srgbClr val="202529"/>
                </a:solidFill>
                <a:latin typeface="Comic Sans MS"/>
                <a:cs typeface="Comic Sans MS"/>
              </a:rPr>
              <a:t>results </a:t>
            </a:r>
            <a:r>
              <a:rPr sz="2650" spc="-409" dirty="0">
                <a:solidFill>
                  <a:srgbClr val="202529"/>
                </a:solidFill>
                <a:latin typeface="Comic Sans MS"/>
                <a:cs typeface="Comic Sans MS"/>
              </a:rPr>
              <a:t>of</a:t>
            </a:r>
            <a:r>
              <a:rPr sz="2650" spc="-405" dirty="0">
                <a:solidFill>
                  <a:srgbClr val="202529"/>
                </a:solidFill>
                <a:latin typeface="Comic Sans MS"/>
                <a:cs typeface="Comic Sans MS"/>
              </a:rPr>
              <a:t> </a:t>
            </a:r>
            <a:r>
              <a:rPr sz="2650" spc="-250" dirty="0">
                <a:solidFill>
                  <a:srgbClr val="202529"/>
                </a:solidFill>
                <a:latin typeface="Comic Sans MS"/>
                <a:cs typeface="Comic Sans MS"/>
              </a:rPr>
              <a:t>multiple </a:t>
            </a:r>
            <a:r>
              <a:rPr sz="2650" spc="-365" dirty="0">
                <a:solidFill>
                  <a:srgbClr val="202529"/>
                </a:solidFill>
                <a:latin typeface="Comic Sans MS"/>
                <a:cs typeface="Comic Sans MS"/>
              </a:rPr>
              <a:t>transformer</a:t>
            </a:r>
            <a:r>
              <a:rPr sz="2650" spc="-360" dirty="0">
                <a:solidFill>
                  <a:srgbClr val="202529"/>
                </a:solidFill>
                <a:latin typeface="Comic Sans MS"/>
                <a:cs typeface="Comic Sans MS"/>
              </a:rPr>
              <a:t> </a:t>
            </a:r>
            <a:r>
              <a:rPr sz="2650" spc="-280" dirty="0">
                <a:solidFill>
                  <a:srgbClr val="202529"/>
                </a:solidFill>
                <a:latin typeface="Comic Sans MS"/>
                <a:cs typeface="Comic Sans MS"/>
              </a:rPr>
              <a:t>objects. </a:t>
            </a:r>
            <a:r>
              <a:rPr sz="2650" spc="-275" dirty="0">
                <a:solidFill>
                  <a:srgbClr val="202529"/>
                </a:solidFill>
                <a:latin typeface="Comic Sans MS"/>
                <a:cs typeface="Comic Sans MS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Applies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list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transformer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objects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in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parallel,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their </a:t>
            </a:r>
            <a:r>
              <a:rPr sz="2250" dirty="0">
                <a:latin typeface="Microsoft Sans Serif"/>
                <a:cs typeface="Microsoft Sans Serif"/>
              </a:rPr>
              <a:t> outputs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are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concatenated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side-by-side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into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larger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matrix.</a:t>
            </a:r>
            <a:endParaRPr sz="2250">
              <a:latin typeface="Microsoft Sans Serif"/>
              <a:cs typeface="Microsoft Sans Serif"/>
            </a:endParaRPr>
          </a:p>
          <a:p>
            <a:pPr marL="12700" marR="24765">
              <a:lnSpc>
                <a:spcPct val="108300"/>
              </a:lnSpc>
              <a:spcBef>
                <a:spcPts val="525"/>
              </a:spcBef>
            </a:pPr>
            <a:r>
              <a:rPr b="1" dirty="0">
                <a:latin typeface="Courier New"/>
                <a:cs typeface="Courier New"/>
              </a:rPr>
              <a:t>FeatureUnion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urier New"/>
                <a:cs typeface="Courier New"/>
              </a:rPr>
              <a:t>Pipeline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can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used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create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complex  </a:t>
            </a:r>
            <a:r>
              <a:rPr sz="2250" dirty="0">
                <a:latin typeface="Microsoft Sans Serif"/>
                <a:cs typeface="Microsoft Sans Serif"/>
              </a:rPr>
              <a:t>transformers.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22487" y="509588"/>
            <a:ext cx="5172075" cy="352425"/>
          </a:xfrm>
          <a:custGeom>
            <a:avLst/>
            <a:gdLst/>
            <a:ahLst/>
            <a:cxnLst/>
            <a:rect l="l" t="t" r="r" b="b"/>
            <a:pathLst>
              <a:path w="5172075" h="352425">
                <a:moveTo>
                  <a:pt x="5139025" y="352424"/>
                </a:moveTo>
                <a:lnTo>
                  <a:pt x="33047" y="352424"/>
                </a:lnTo>
                <a:lnTo>
                  <a:pt x="28187" y="351458"/>
                </a:lnTo>
                <a:lnTo>
                  <a:pt x="966" y="324237"/>
                </a:lnTo>
                <a:lnTo>
                  <a:pt x="0" y="319377"/>
                </a:lnTo>
                <a:lnTo>
                  <a:pt x="0" y="3143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139025" y="0"/>
                </a:lnTo>
                <a:lnTo>
                  <a:pt x="5171107" y="28187"/>
                </a:lnTo>
                <a:lnTo>
                  <a:pt x="5172074" y="33047"/>
                </a:lnTo>
                <a:lnTo>
                  <a:pt x="5172074" y="319377"/>
                </a:lnTo>
                <a:lnTo>
                  <a:pt x="5143886" y="351458"/>
                </a:lnTo>
                <a:lnTo>
                  <a:pt x="5139025" y="352424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09787" y="475932"/>
            <a:ext cx="5197475" cy="382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spcBef>
                <a:spcPts val="140"/>
              </a:spcBef>
            </a:pPr>
            <a:r>
              <a:rPr sz="2300" b="1" spc="20" dirty="0">
                <a:solidFill>
                  <a:srgbClr val="000000"/>
                </a:solidFill>
                <a:latin typeface="Courier New"/>
                <a:cs typeface="Courier New"/>
              </a:rPr>
              <a:t>sklearn.pipeline.FeatureUnion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87</a:t>
            </a:fld>
            <a:endParaRPr spc="-85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4514" y="401637"/>
            <a:ext cx="6433185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170" dirty="0">
                <a:solidFill>
                  <a:srgbClr val="000000"/>
                </a:solidFill>
                <a:latin typeface="Verdana"/>
                <a:cs typeface="Verdana"/>
              </a:rPr>
              <a:t>Combining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14" dirty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sz="2900" spc="-190" dirty="0">
                <a:solidFill>
                  <a:srgbClr val="000000"/>
                </a:solidFill>
                <a:latin typeface="Verdana"/>
                <a:cs typeface="Verdana"/>
              </a:rPr>
              <a:t>ransformers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70" dirty="0">
                <a:solidFill>
                  <a:srgbClr val="000000"/>
                </a:solidFill>
                <a:latin typeface="Verdana"/>
                <a:cs typeface="Verdana"/>
              </a:rPr>
              <a:t>and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00" dirty="0">
                <a:solidFill>
                  <a:srgbClr val="000000"/>
                </a:solidFill>
                <a:latin typeface="Verdana"/>
                <a:cs typeface="Verdana"/>
              </a:rPr>
              <a:t>Pipelines</a:t>
            </a:r>
            <a:endParaRPr sz="29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7787" y="1333499"/>
            <a:ext cx="85725" cy="857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855911" y="1247774"/>
            <a:ext cx="1924050" cy="266700"/>
          </a:xfrm>
          <a:custGeom>
            <a:avLst/>
            <a:gdLst/>
            <a:ahLst/>
            <a:cxnLst/>
            <a:rect l="l" t="t" r="r" b="b"/>
            <a:pathLst>
              <a:path w="1924050" h="266700">
                <a:moveTo>
                  <a:pt x="1891002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891002" y="0"/>
                </a:lnTo>
                <a:lnTo>
                  <a:pt x="1923082" y="28187"/>
                </a:lnTo>
                <a:lnTo>
                  <a:pt x="1924049" y="33047"/>
                </a:lnTo>
                <a:lnTo>
                  <a:pt x="1924049" y="233652"/>
                </a:lnTo>
                <a:lnTo>
                  <a:pt x="1895862" y="265733"/>
                </a:lnTo>
                <a:lnTo>
                  <a:pt x="1891002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7787" y="1781174"/>
            <a:ext cx="85725" cy="857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046413" y="2219325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84537" y="2133599"/>
            <a:ext cx="4391025" cy="266700"/>
          </a:xfrm>
          <a:custGeom>
            <a:avLst/>
            <a:gdLst/>
            <a:ahLst/>
            <a:cxnLst/>
            <a:rect l="l" t="t" r="r" b="b"/>
            <a:pathLst>
              <a:path w="4391025" h="266700">
                <a:moveTo>
                  <a:pt x="4357976" y="266699"/>
                </a:moveTo>
                <a:lnTo>
                  <a:pt x="33047" y="266699"/>
                </a:lnTo>
                <a:lnTo>
                  <a:pt x="28187" y="265733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4357976" y="0"/>
                </a:lnTo>
                <a:lnTo>
                  <a:pt x="4390057" y="28187"/>
                </a:lnTo>
                <a:lnTo>
                  <a:pt x="4391024" y="33047"/>
                </a:lnTo>
                <a:lnTo>
                  <a:pt x="4391024" y="233652"/>
                </a:lnTo>
                <a:lnTo>
                  <a:pt x="4362836" y="265733"/>
                </a:lnTo>
                <a:lnTo>
                  <a:pt x="4357976" y="2666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43211" y="1054100"/>
            <a:ext cx="4916170" cy="1347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600"/>
              </a:lnSpc>
              <a:spcBef>
                <a:spcPts val="95"/>
              </a:spcBef>
            </a:pPr>
            <a:r>
              <a:rPr b="1" dirty="0">
                <a:latin typeface="Courier New"/>
                <a:cs typeface="Courier New"/>
              </a:rPr>
              <a:t>FeatureUnion()</a:t>
            </a:r>
            <a:r>
              <a:rPr b="1" spc="-459" dirty="0">
                <a:latin typeface="Courier New"/>
                <a:cs typeface="Courier New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accepts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list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tuples.  </a:t>
            </a:r>
            <a:r>
              <a:rPr sz="2250" dirty="0">
                <a:latin typeface="Microsoft Sans Serif"/>
                <a:cs typeface="Microsoft Sans Serif"/>
              </a:rPr>
              <a:t>Each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tuple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format:</a:t>
            </a:r>
            <a:endParaRPr sz="2250">
              <a:latin typeface="Microsoft Sans Serif"/>
              <a:cs typeface="Microsoft Sans Serif"/>
            </a:endParaRPr>
          </a:p>
          <a:p>
            <a:pPr marL="440690">
              <a:spcBef>
                <a:spcPts val="1200"/>
              </a:spcBef>
            </a:pPr>
            <a:r>
              <a:rPr b="1" dirty="0">
                <a:latin typeface="Courier New"/>
                <a:cs typeface="Courier New"/>
              </a:rPr>
              <a:t>('estimatorName',estimator(...))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22486" y="2666999"/>
            <a:ext cx="7620000" cy="2667000"/>
          </a:xfrm>
          <a:custGeom>
            <a:avLst/>
            <a:gdLst/>
            <a:ahLst/>
            <a:cxnLst/>
            <a:rect l="l" t="t" r="r" b="b"/>
            <a:pathLst>
              <a:path w="7620000" h="2667000">
                <a:moveTo>
                  <a:pt x="7586951" y="2666999"/>
                </a:moveTo>
                <a:lnTo>
                  <a:pt x="33047" y="2666999"/>
                </a:lnTo>
                <a:lnTo>
                  <a:pt x="28187" y="2666032"/>
                </a:lnTo>
                <a:lnTo>
                  <a:pt x="966" y="2638811"/>
                </a:lnTo>
                <a:lnTo>
                  <a:pt x="0" y="2633952"/>
                </a:lnTo>
                <a:lnTo>
                  <a:pt x="0" y="26288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586951" y="0"/>
                </a:lnTo>
                <a:lnTo>
                  <a:pt x="7619031" y="28187"/>
                </a:lnTo>
                <a:lnTo>
                  <a:pt x="7619998" y="33047"/>
                </a:lnTo>
                <a:lnTo>
                  <a:pt x="7619998" y="2633952"/>
                </a:lnTo>
                <a:lnTo>
                  <a:pt x="7591811" y="2666032"/>
                </a:lnTo>
                <a:lnTo>
                  <a:pt x="7586951" y="2666999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57412" y="2665730"/>
            <a:ext cx="6976109" cy="297645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spcBef>
                <a:spcPts val="459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num_pipeline</a:t>
            </a:r>
            <a:r>
              <a:rPr sz="1200" b="1" spc="7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7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Pipeline([(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'selector'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,ColumnTransformer([(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'select_first_4'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endParaRPr sz="1200">
              <a:latin typeface="Courier New"/>
              <a:cs typeface="Courier New"/>
            </a:endParaRPr>
          </a:p>
          <a:p>
            <a:pPr marL="5225415" marR="370840" indent="-635">
              <a:lnSpc>
                <a:spcPct val="125000"/>
              </a:lnSpc>
            </a:pP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'passthrough'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 </a:t>
            </a:r>
            <a:r>
              <a:rPr sz="1200" b="1" spc="-7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slice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(0,4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))])),</a:t>
            </a:r>
            <a:endParaRPr sz="1200">
              <a:latin typeface="Courier New"/>
              <a:cs typeface="Courier New"/>
            </a:endParaRPr>
          </a:p>
          <a:p>
            <a:pPr marL="2298700" marR="462915">
              <a:lnSpc>
                <a:spcPct val="125000"/>
              </a:lnSpc>
            </a:pP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'imputer'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1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SimpleImputer(strategy=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"median"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)), </a:t>
            </a:r>
            <a:r>
              <a:rPr sz="1200" b="1" spc="-70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dirty="0">
                <a:solidFill>
                  <a:srgbClr val="A6E22E"/>
                </a:solidFill>
                <a:latin typeface="Courier New"/>
                <a:cs typeface="Courier New"/>
              </a:rPr>
              <a:t>'std_scaler'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-1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StandardScaler()),</a:t>
            </a:r>
            <a:endParaRPr sz="1200">
              <a:latin typeface="Courier New"/>
              <a:cs typeface="Courier New"/>
            </a:endParaRPr>
          </a:p>
          <a:p>
            <a:pPr marL="220726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])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cat_pipeline</a:t>
            </a:r>
            <a:r>
              <a:rPr sz="1200" b="1" spc="5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6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ColumnTransformer([(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'label_binarizer'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6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LabelBinarizer(),[4]),</a:t>
            </a:r>
            <a:endParaRPr sz="1200">
              <a:latin typeface="Courier New"/>
              <a:cs typeface="Courier New"/>
            </a:endParaRPr>
          </a:p>
          <a:p>
            <a:pPr marL="312166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])</a:t>
            </a:r>
            <a:endParaRPr sz="1200">
              <a:latin typeface="Courier New"/>
              <a:cs typeface="Courier New"/>
            </a:endParaRPr>
          </a:p>
          <a:p>
            <a:pPr marL="12700">
              <a:spcBef>
                <a:spcPts val="360"/>
              </a:spcBef>
            </a:pP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full_pipeline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=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FeatureUnion(transformer_list=</a:t>
            </a:r>
            <a:endParaRPr sz="1200">
              <a:latin typeface="Courier New"/>
              <a:cs typeface="Courier New"/>
            </a:endParaRPr>
          </a:p>
          <a:p>
            <a:pPr marL="2755900" marR="1193800" indent="-92075">
              <a:lnSpc>
                <a:spcPct val="125000"/>
              </a:lnSpc>
            </a:pP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[(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"num_pipeline"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num_pipeline), </a:t>
            </a:r>
            <a:r>
              <a:rPr sz="1200" b="1" spc="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(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"cat_pipeline"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,</a:t>
            </a:r>
            <a:r>
              <a:rPr sz="1200" b="1" spc="-2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cat_pipeline),])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88</a:t>
            </a:fld>
            <a:endParaRPr spc="-85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6647" y="254000"/>
            <a:ext cx="5971540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900" spc="-90" dirty="0">
                <a:solidFill>
                  <a:srgbClr val="000000"/>
                </a:solidFill>
                <a:latin typeface="Verdana"/>
                <a:cs typeface="Verdana"/>
              </a:rPr>
              <a:t>V</a:t>
            </a:r>
            <a:r>
              <a:rPr sz="2900" spc="-145" dirty="0">
                <a:solidFill>
                  <a:srgbClr val="000000"/>
                </a:solidFill>
                <a:latin typeface="Verdana"/>
                <a:cs typeface="Verdana"/>
              </a:rPr>
              <a:t>isualizing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55" dirty="0">
                <a:solidFill>
                  <a:srgbClr val="000000"/>
                </a:solidFill>
                <a:latin typeface="Verdana"/>
                <a:cs typeface="Verdana"/>
              </a:rPr>
              <a:t>Composite</a:t>
            </a:r>
            <a:r>
              <a:rPr sz="2900" spc="-2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900" spc="-114" dirty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sz="2900" spc="-190" dirty="0">
                <a:solidFill>
                  <a:srgbClr val="000000"/>
                </a:solidFill>
                <a:latin typeface="Verdana"/>
                <a:cs typeface="Verdana"/>
              </a:rPr>
              <a:t>ransformers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84486" y="1266825"/>
            <a:ext cx="6096000" cy="1152525"/>
          </a:xfrm>
          <a:custGeom>
            <a:avLst/>
            <a:gdLst/>
            <a:ahLst/>
            <a:cxnLst/>
            <a:rect l="l" t="t" r="r" b="b"/>
            <a:pathLst>
              <a:path w="6096000" h="1152525">
                <a:moveTo>
                  <a:pt x="6062951" y="1152524"/>
                </a:moveTo>
                <a:lnTo>
                  <a:pt x="33047" y="1152524"/>
                </a:lnTo>
                <a:lnTo>
                  <a:pt x="28187" y="1151558"/>
                </a:lnTo>
                <a:lnTo>
                  <a:pt x="966" y="1124337"/>
                </a:lnTo>
                <a:lnTo>
                  <a:pt x="0" y="1119477"/>
                </a:lnTo>
                <a:lnTo>
                  <a:pt x="0" y="11144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062951" y="0"/>
                </a:lnTo>
                <a:lnTo>
                  <a:pt x="6095032" y="28187"/>
                </a:lnTo>
                <a:lnTo>
                  <a:pt x="6095998" y="33047"/>
                </a:lnTo>
                <a:lnTo>
                  <a:pt x="6095998" y="1119477"/>
                </a:lnTo>
                <a:lnTo>
                  <a:pt x="6067811" y="1151558"/>
                </a:lnTo>
                <a:lnTo>
                  <a:pt x="6062951" y="1152524"/>
                </a:lnTo>
                <a:close/>
              </a:path>
            </a:pathLst>
          </a:custGeom>
          <a:solidFill>
            <a:srgbClr val="2628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19411" y="1265555"/>
            <a:ext cx="46901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25320">
              <a:lnSpc>
                <a:spcPct val="125000"/>
              </a:lnSpc>
              <a:spcBef>
                <a:spcPts val="100"/>
              </a:spcBef>
            </a:pPr>
            <a:r>
              <a:rPr sz="1200" b="1" dirty="0">
                <a:solidFill>
                  <a:srgbClr val="F92572"/>
                </a:solidFill>
                <a:latin typeface="Courier New"/>
                <a:cs typeface="Courier New"/>
              </a:rPr>
              <a:t>from</a:t>
            </a:r>
            <a:r>
              <a:rPr sz="1200" b="1" spc="-35" dirty="0">
                <a:solidFill>
                  <a:srgbClr val="F92572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sklearn</a:t>
            </a:r>
            <a:r>
              <a:rPr sz="1200" b="1" spc="-40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F92572"/>
                </a:solidFill>
                <a:latin typeface="Courier New"/>
                <a:cs typeface="Courier New"/>
              </a:rPr>
              <a:t>import</a:t>
            </a:r>
            <a:r>
              <a:rPr sz="1200" b="1" spc="-30" dirty="0">
                <a:solidFill>
                  <a:srgbClr val="F92572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set_config </a:t>
            </a:r>
            <a:r>
              <a:rPr sz="1200" b="1" spc="-705" dirty="0">
                <a:solidFill>
                  <a:srgbClr val="DDDDDD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set_config(display=</a:t>
            </a:r>
            <a:r>
              <a:rPr sz="1200" b="1" spc="-5" dirty="0">
                <a:solidFill>
                  <a:srgbClr val="A6E22E"/>
                </a:solidFill>
                <a:latin typeface="Courier New"/>
                <a:cs typeface="Courier New"/>
              </a:rPr>
              <a:t>'diagram'</a:t>
            </a:r>
            <a:r>
              <a:rPr sz="1200" b="1" spc="-5" dirty="0">
                <a:solidFill>
                  <a:srgbClr val="DDDDDD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ct val="125000"/>
              </a:lnSpc>
            </a:pPr>
            <a:r>
              <a:rPr sz="1200" b="1" dirty="0">
                <a:solidFill>
                  <a:srgbClr val="74705D"/>
                </a:solidFill>
                <a:latin typeface="Courier New"/>
                <a:cs typeface="Courier New"/>
              </a:rPr>
              <a:t>#</a:t>
            </a:r>
            <a:r>
              <a:rPr sz="1200" b="1" spc="-15" dirty="0">
                <a:solidFill>
                  <a:srgbClr val="74705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74705D"/>
                </a:solidFill>
                <a:latin typeface="Courier New"/>
                <a:cs typeface="Courier New"/>
              </a:rPr>
              <a:t>displays</a:t>
            </a:r>
            <a:r>
              <a:rPr sz="1200" b="1" spc="-15" dirty="0">
                <a:solidFill>
                  <a:srgbClr val="74705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74705D"/>
                </a:solidFill>
                <a:latin typeface="Courier New"/>
                <a:cs typeface="Courier New"/>
              </a:rPr>
              <a:t>HTML</a:t>
            </a:r>
            <a:r>
              <a:rPr sz="1200" b="1" spc="-15" dirty="0">
                <a:solidFill>
                  <a:srgbClr val="74705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74705D"/>
                </a:solidFill>
                <a:latin typeface="Courier New"/>
                <a:cs typeface="Courier New"/>
              </a:rPr>
              <a:t>representation</a:t>
            </a:r>
            <a:r>
              <a:rPr sz="1200" b="1" spc="-15" dirty="0">
                <a:solidFill>
                  <a:srgbClr val="74705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74705D"/>
                </a:solidFill>
                <a:latin typeface="Courier New"/>
                <a:cs typeface="Courier New"/>
              </a:rPr>
              <a:t>in</a:t>
            </a:r>
            <a:r>
              <a:rPr sz="1200" b="1" spc="-15" dirty="0">
                <a:solidFill>
                  <a:srgbClr val="74705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74705D"/>
                </a:solidFill>
                <a:latin typeface="Courier New"/>
                <a:cs typeface="Courier New"/>
              </a:rPr>
              <a:t>a</a:t>
            </a:r>
            <a:r>
              <a:rPr sz="1200" b="1" spc="-15" dirty="0">
                <a:solidFill>
                  <a:srgbClr val="74705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74705D"/>
                </a:solidFill>
                <a:latin typeface="Courier New"/>
                <a:cs typeface="Courier New"/>
              </a:rPr>
              <a:t>jupyter</a:t>
            </a:r>
            <a:r>
              <a:rPr sz="1200" b="1" spc="-10" dirty="0">
                <a:solidFill>
                  <a:srgbClr val="74705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74705D"/>
                </a:solidFill>
                <a:latin typeface="Courier New"/>
                <a:cs typeface="Courier New"/>
              </a:rPr>
              <a:t>context </a:t>
            </a:r>
            <a:r>
              <a:rPr sz="1200" b="1" spc="-710" dirty="0">
                <a:solidFill>
                  <a:srgbClr val="74705D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DDDDD"/>
                </a:solidFill>
                <a:latin typeface="Courier New"/>
                <a:cs typeface="Courier New"/>
              </a:rPr>
              <a:t>full_pipeline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3864" y="3291224"/>
            <a:ext cx="5589933" cy="323272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89658" y="2730500"/>
            <a:ext cx="450469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It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creates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following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visualization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89</a:t>
            </a:fld>
            <a:endParaRPr spc="-85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fld id="{81D60167-4931-47E6-BA6A-407CBD079E47}" type="slidenum">
              <a:rPr spc="-85" dirty="0"/>
              <a:pPr marL="38100">
                <a:lnSpc>
                  <a:spcPts val="1120"/>
                </a:lnSpc>
              </a:pPr>
              <a:t>90</a:t>
            </a:fld>
            <a:endParaRPr spc="-85" dirty="0"/>
          </a:p>
        </p:txBody>
      </p:sp>
      <p:sp>
        <p:nvSpPr>
          <p:cNvPr id="2" name="object 2"/>
          <p:cNvSpPr txBox="1"/>
          <p:nvPr/>
        </p:nvSpPr>
        <p:spPr>
          <a:xfrm>
            <a:off x="3808808" y="1211262"/>
            <a:ext cx="42570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50" dirty="0">
                <a:latin typeface="Microsoft Sans Serif"/>
                <a:cs typeface="Microsoft Sans Serif"/>
              </a:rPr>
              <a:t>That's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it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from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data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preprocessing.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9749" y="2000249"/>
            <a:ext cx="5715000" cy="742950"/>
          </a:xfrm>
          <a:prstGeom prst="rect">
            <a:avLst/>
          </a:prstGeom>
          <a:solidFill>
            <a:srgbClr val="E9D0DB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spc="-5" dirty="0">
                <a:latin typeface="Microsoft Sans Serif"/>
                <a:cs typeface="Microsoft Sans Serif"/>
              </a:rPr>
              <a:t>Only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way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master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is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to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practice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it</a:t>
            </a:r>
            <a:r>
              <a:rPr sz="2250" spc="2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with</a:t>
            </a:r>
            <a:endParaRPr sz="2250">
              <a:latin typeface="Microsoft Sans Serif"/>
              <a:cs typeface="Microsoft Sans Serif"/>
            </a:endParaRPr>
          </a:p>
          <a:p>
            <a:pPr algn="ctr">
              <a:spcBef>
                <a:spcPts val="225"/>
              </a:spcBef>
            </a:pPr>
            <a:r>
              <a:rPr sz="2250" spc="-5" dirty="0">
                <a:latin typeface="Microsoft Sans Serif"/>
                <a:cs typeface="Microsoft Sans Serif"/>
              </a:rPr>
              <a:t>examples.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9749" y="3109913"/>
            <a:ext cx="5715000" cy="1064907"/>
          </a:xfrm>
          <a:prstGeom prst="rect">
            <a:avLst/>
          </a:prstGeom>
          <a:solidFill>
            <a:srgbClr val="D9D1E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dirty="0">
                <a:latin typeface="Microsoft Sans Serif"/>
                <a:cs typeface="Microsoft Sans Serif"/>
              </a:rPr>
              <a:t>Read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  <a:hlinkClick r:id="rId2"/>
              </a:rPr>
              <a:t>more</a:t>
            </a:r>
            <a:r>
              <a:rPr sz="2250" spc="15" dirty="0">
                <a:latin typeface="Microsoft Sans Serif"/>
                <a:cs typeface="Microsoft Sans Serif"/>
                <a:hlinkClick r:id="rId2"/>
              </a:rPr>
              <a:t> </a:t>
            </a:r>
            <a:r>
              <a:rPr sz="2250" dirty="0">
                <a:latin typeface="Microsoft Sans Serif"/>
                <a:cs typeface="Microsoft Sans Serif"/>
                <a:hlinkClick r:id="rId2"/>
              </a:rPr>
              <a:t>about</a:t>
            </a:r>
            <a:r>
              <a:rPr sz="2250" spc="15" dirty="0">
                <a:latin typeface="Microsoft Sans Serif"/>
                <a:cs typeface="Microsoft Sans Serif"/>
                <a:hlinkClick r:id="rId2"/>
              </a:rPr>
              <a:t> </a:t>
            </a:r>
            <a:r>
              <a:rPr sz="2250" dirty="0">
                <a:latin typeface="Microsoft Sans Serif"/>
                <a:cs typeface="Microsoft Sans Serif"/>
                <a:hlinkClick r:id="rId2"/>
              </a:rPr>
              <a:t>these</a:t>
            </a:r>
            <a:r>
              <a:rPr sz="2250" spc="15" dirty="0">
                <a:latin typeface="Microsoft Sans Serif"/>
                <a:cs typeface="Microsoft Sans Serif"/>
                <a:hlinkClick r:id="rId2"/>
              </a:rPr>
              <a:t> </a:t>
            </a:r>
            <a:r>
              <a:rPr sz="2250" dirty="0">
                <a:latin typeface="Microsoft Sans Serif"/>
                <a:cs typeface="Microsoft Sans Serif"/>
                <a:hlinkClick r:id="rId2"/>
              </a:rPr>
              <a:t>methods</a:t>
            </a:r>
            <a:r>
              <a:rPr sz="2250" spc="15" dirty="0">
                <a:latin typeface="Microsoft Sans Serif"/>
                <a:cs typeface="Microsoft Sans Serif"/>
                <a:hlinkClick r:id="rId2"/>
              </a:rPr>
              <a:t> </a:t>
            </a:r>
            <a:r>
              <a:rPr sz="2250" spc="-10" dirty="0">
                <a:latin typeface="Microsoft Sans Serif"/>
                <a:cs typeface="Microsoft Sans Serif"/>
                <a:hlinkClick r:id="rId2"/>
              </a:rPr>
              <a:t>in</a:t>
            </a:r>
            <a:r>
              <a:rPr sz="2250" spc="15" dirty="0">
                <a:latin typeface="Microsoft Sans Serif"/>
                <a:cs typeface="Microsoft Sans Serif"/>
                <a:hlinkClick r:id="rId2"/>
              </a:rPr>
              <a:t> </a:t>
            </a:r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sklearn</a:t>
            </a:r>
            <a:endParaRPr sz="2250">
              <a:latin typeface="Microsoft Sans Serif"/>
              <a:cs typeface="Microsoft Sans Serif"/>
            </a:endParaRPr>
          </a:p>
          <a:p>
            <a:pPr marL="442595" marR="434975" algn="ctr">
              <a:lnSpc>
                <a:spcPct val="108300"/>
              </a:lnSpc>
            </a:pPr>
            <a:r>
              <a:rPr sz="2250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user</a:t>
            </a:r>
            <a:r>
              <a:rPr sz="2250" spc="15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 </a:t>
            </a:r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guide</a:t>
            </a:r>
            <a:r>
              <a:rPr sz="2250" spc="20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 </a:t>
            </a:r>
            <a:r>
              <a:rPr sz="2250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on</a:t>
            </a:r>
            <a:r>
              <a:rPr sz="2250" spc="20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 </a:t>
            </a:r>
            <a:r>
              <a:rPr sz="2250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data</a:t>
            </a:r>
            <a:r>
              <a:rPr sz="2250" spc="20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 </a:t>
            </a:r>
            <a:r>
              <a:rPr sz="2250" spc="-5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transformation</a:t>
            </a:r>
            <a:r>
              <a:rPr sz="2250" spc="15" dirty="0">
                <a:solidFill>
                  <a:srgbClr val="0F6ACC"/>
                </a:solidFill>
                <a:latin typeface="Microsoft Sans Serif"/>
                <a:cs typeface="Microsoft Sans Serif"/>
                <a:hlinkClick r:id="rId2"/>
              </a:rPr>
              <a:t> </a:t>
            </a:r>
            <a:r>
              <a:rPr sz="2250" dirty="0">
                <a:latin typeface="Microsoft Sans Serif"/>
                <a:cs typeface="Microsoft Sans Serif"/>
                <a:hlinkClick r:id="rId2"/>
              </a:rPr>
              <a:t>and </a:t>
            </a:r>
            <a:r>
              <a:rPr sz="2250" spc="-58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documentation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of</a:t>
            </a:r>
            <a:r>
              <a:rPr sz="2250" spc="2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different</a:t>
            </a:r>
            <a:r>
              <a:rPr sz="2250" spc="30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classes.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1314</TotalTime>
  <Words>6135</Words>
  <Application>Microsoft Office PowerPoint</Application>
  <PresentationFormat>Custom</PresentationFormat>
  <Paragraphs>1084</Paragraphs>
  <Slides>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103" baseType="lpstr">
      <vt:lpstr>Arial</vt:lpstr>
      <vt:lpstr>Calibri</vt:lpstr>
      <vt:lpstr>Cambria</vt:lpstr>
      <vt:lpstr>Cambria Math</vt:lpstr>
      <vt:lpstr>Comic Sans MS</vt:lpstr>
      <vt:lpstr>Courier New</vt:lpstr>
      <vt:lpstr>Georgia</vt:lpstr>
      <vt:lpstr>Lucida Sans Unicode</vt:lpstr>
      <vt:lpstr>Microsoft Sans Serif</vt:lpstr>
      <vt:lpstr>Segoe UI Symbol</vt:lpstr>
      <vt:lpstr>Times New Roman</vt:lpstr>
      <vt:lpstr>Verdana</vt:lpstr>
      <vt:lpstr>Office Theme</vt:lpstr>
      <vt:lpstr>Data Preprocessing</vt:lpstr>
      <vt:lpstr>PowerPoint Presentation</vt:lpstr>
      <vt:lpstr>PowerPoint Presentation</vt:lpstr>
      <vt:lpstr>PowerPoint Presentation</vt:lpstr>
      <vt:lpstr>Transformer methods</vt:lpstr>
      <vt:lpstr>Part 1. Feature extraction</vt:lpstr>
      <vt:lpstr>PowerPoint Presentation</vt:lpstr>
      <vt:lpstr>DictVectorizer</vt:lpstr>
      <vt:lpstr>Part 2: Data Cleaning</vt:lpstr>
      <vt:lpstr>Handling missing values</vt:lpstr>
      <vt:lpstr>PowerPoint Presentation</vt:lpstr>
      <vt:lpstr>SimpleImputer</vt:lpstr>
      <vt:lpstr>PowerPoint Presentation</vt:lpstr>
      <vt:lpstr>Example: KNNImputer</vt:lpstr>
      <vt:lpstr>Computing Euclidean distance in presence of  missing values</vt:lpstr>
      <vt:lpstr>⎡ 1. 2. nan⎤</vt:lpstr>
      <vt:lpstr>In this way, we can ﬁll up the missing values with KNNImputer.</vt:lpstr>
      <vt:lpstr>Marking imputed values</vt:lpstr>
      <vt:lpstr>1.2 Numeric transformers</vt:lpstr>
      <vt:lpstr>PowerPoint Presentation</vt:lpstr>
      <vt:lpstr>StandardScaler</vt:lpstr>
      <vt:lpstr>MinMaxScaler</vt:lpstr>
      <vt:lpstr>MaxAbsScaler</vt:lpstr>
      <vt:lpstr>RobustScaler()</vt:lpstr>
      <vt:lpstr>FunctionTransformer</vt:lpstr>
      <vt:lpstr>KBinsDiscretizer</vt:lpstr>
      <vt:lpstr>1.2 Categorical transformers</vt:lpstr>
      <vt:lpstr>OneHotEncoder</vt:lpstr>
      <vt:lpstr>LabelEncoder</vt:lpstr>
      <vt:lpstr>OrdinalEncoder</vt:lpstr>
      <vt:lpstr>LabelBinarizer</vt:lpstr>
      <vt:lpstr>MultiLabelBinarizer</vt:lpstr>
      <vt:lpstr>add_dummy_feature</vt:lpstr>
      <vt:lpstr>Part 2: Feature selection</vt:lpstr>
      <vt:lpstr>Most relevant features </vt:lpstr>
      <vt:lpstr>Feature Selection in ML</vt:lpstr>
      <vt:lpstr>PowerPoint Presentation</vt:lpstr>
      <vt:lpstr>PowerPoint Presentation</vt:lpstr>
      <vt:lpstr>Filter Methods</vt:lpstr>
      <vt:lpstr>Filter Methods</vt:lpstr>
      <vt:lpstr>χ^2 test</vt:lpstr>
      <vt:lpstr>Wrapper-based methods</vt:lpstr>
      <vt:lpstr>Wrapper-based methods</vt:lpstr>
      <vt:lpstr>Wrapper-based methods</vt:lpstr>
      <vt:lpstr>Sometimes in a real world dataset, all features do not  contribute well enough towards ﬁtting a model.</vt:lpstr>
      <vt:lpstr>Filter based feature selection  methods</vt:lpstr>
      <vt:lpstr>Removing features with low variance</vt:lpstr>
      <vt:lpstr>Univariate feature selection</vt:lpstr>
      <vt:lpstr>PowerPoint Presentation</vt:lpstr>
      <vt:lpstr>Univariate scoring function</vt:lpstr>
      <vt:lpstr>Mutual information (MI)</vt:lpstr>
      <vt:lpstr>SelectKBest</vt:lpstr>
      <vt:lpstr>GenericUnivariateSelect</vt:lpstr>
      <vt:lpstr>Do not use regression feature scoring  function with a classiﬁcation problem. It will  lead to useless results.</vt:lpstr>
      <vt:lpstr>Wrapper based ﬁlter selection</vt:lpstr>
      <vt:lpstr>Recursive Feature Elimination (RFE)</vt:lpstr>
      <vt:lpstr>PowerPoint Presentation</vt:lpstr>
      <vt:lpstr>PowerPoint Presentation</vt:lpstr>
      <vt:lpstr>Sequential feature selection</vt:lpstr>
      <vt:lpstr>PowerPoint Presentation</vt:lpstr>
      <vt:lpstr>PowerPoint Presentation</vt:lpstr>
      <vt:lpstr>Applying transformations to  diverse features</vt:lpstr>
      <vt:lpstr>PowerPoint Presentation</vt:lpstr>
      <vt:lpstr>Composite Transformer</vt:lpstr>
      <vt:lpstr>ColumnTransformer</vt:lpstr>
      <vt:lpstr>ColumnTransformer()</vt:lpstr>
      <vt:lpstr>Illustration of Column Transformer</vt:lpstr>
      <vt:lpstr>In this example, lets apply MaxAbsScaler on the numeric  column and OneHotEncoder on categorical column.</vt:lpstr>
      <vt:lpstr>Transforming Target for Regression</vt:lpstr>
      <vt:lpstr>Part 3: Dimensionality reduction</vt:lpstr>
      <vt:lpstr>PowerPoint Presentation</vt:lpstr>
      <vt:lpstr>PCA 101</vt:lpstr>
      <vt:lpstr>PCA illustration</vt:lpstr>
      <vt:lpstr>Out of 3 candidate vectors to  project data on, vector C1 captures most of the variance, hence it is the  ﬁrst PC and C2, which is orthogonal  to it is the second PC</vt:lpstr>
      <vt:lpstr>PowerPoint Presentation</vt:lpstr>
      <vt:lpstr>Part 4: Chaining transformers</vt:lpstr>
      <vt:lpstr>The preprocessing transformations are applied one after  another on the input feature matrix.</vt:lpstr>
      <vt:lpstr>PowerPoint Presentation</vt:lpstr>
      <vt:lpstr>sklearn.pipeline.Pipeline</vt:lpstr>
      <vt:lpstr>Creating Pipelines</vt:lpstr>
      <vt:lpstr>Without pipeline:</vt:lpstr>
      <vt:lpstr>Accessing individual steps in Pipeline</vt:lpstr>
      <vt:lpstr>Accessing parameters of each step in Pipeline</vt:lpstr>
      <vt:lpstr>Performing grid search with pipeline</vt:lpstr>
      <vt:lpstr>Caching transformers</vt:lpstr>
      <vt:lpstr>Advantages of pipeline</vt:lpstr>
      <vt:lpstr>sklearn.pipeline.FeatureUnion</vt:lpstr>
      <vt:lpstr>Combining Transformers and Pipelines</vt:lpstr>
      <vt:lpstr>Visualizing Composite Transformers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Preprocessing</dc:title>
  <dc:creator>SNU</dc:creator>
  <cp:lastModifiedBy>DEBAJYOTI BISWAS</cp:lastModifiedBy>
  <cp:revision>14</cp:revision>
  <dcterms:created xsi:type="dcterms:W3CDTF">2023-02-20T04:30:43Z</dcterms:created>
  <dcterms:modified xsi:type="dcterms:W3CDTF">2024-08-01T03:23:38Z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2022-09-12T00:00:00Z</vt:filetime>
  </property>
  <property fmtid="{D5CDD505-2E9C-101B-9397-08002B2CF9AE}" pid="3" name="Creator">
    <vt:lpwstr>Chromium</vt:lpwstr>
  </property>
  <property fmtid="{D5CDD505-2E9C-101B-9397-08002B2CF9AE}" pid="4" name="LastSaved">
    <vt:filetime>2023-02-20T00:00:00Z</vt:filetime>
  </property>
</Properties>
</file>